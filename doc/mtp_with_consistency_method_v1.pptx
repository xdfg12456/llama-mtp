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0" r:id="rId10"/>
    <p:sldId id="266" r:id="rId11"/>
    <p:sldId id="267" r:id="rId12"/>
    <p:sldId id="269" r:id="rId13"/>
    <p:sldId id="270" r:id="rId14"/>
    <p:sldId id="272" r:id="rId15"/>
    <p:sldId id="273" r:id="rId16"/>
    <p:sldId id="277" r:id="rId17"/>
    <p:sldId id="268" r:id="rId18"/>
    <p:sldId id="282" r:id="rId19"/>
    <p:sldId id="284" r:id="rId20"/>
    <p:sldId id="285" r:id="rId21"/>
    <p:sldId id="283" r:id="rId22"/>
    <p:sldId id="286" r:id="rId23"/>
    <p:sldId id="287" r:id="rId24"/>
    <p:sldId id="288" r:id="rId25"/>
    <p:sldId id="289" r:id="rId26"/>
    <p:sldId id="290" r:id="rId27"/>
    <p:sldId id="291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陳 九龍" initials="陳九" lastIdx="2" clrIdx="0">
    <p:extLst>
      <p:ext uri="{19B8F6BF-5375-455C-9EA6-DF929625EA0E}">
        <p15:presenceInfo xmlns:p15="http://schemas.microsoft.com/office/powerpoint/2012/main" userId="ac9c5ce5846d834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DEF6"/>
    <a:srgbClr val="F4ECFA"/>
    <a:srgbClr val="FFD9D9"/>
    <a:srgbClr val="E1CCF0"/>
    <a:srgbClr val="FFBDBD"/>
    <a:srgbClr val="D8BEEC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967" autoAdjust="0"/>
  </p:normalViewPr>
  <p:slideViewPr>
    <p:cSldViewPr snapToGrid="0">
      <p:cViewPr varScale="1">
        <p:scale>
          <a:sx n="94" d="100"/>
          <a:sy n="94" d="100"/>
        </p:scale>
        <p:origin x="117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BDD37CE-6CDA-215C-4DD9-4B66855AF0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72A98A1-E786-682A-BAA2-DD58CB4065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2C71C-3914-42D5-B995-B912727F46CE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28BB9B5-D863-566A-04E9-2DB7E3302B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97E260-DB04-7ADD-3EA1-E78C4C5669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652CF-8462-4E11-A08C-167A8EFB4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4422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EF2EC2-8746-4753-8458-2ED9A5172172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40A98-DCF1-4378-8414-2ECEE4C892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06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consistency-method </a:t>
            </a:r>
            <a:r>
              <a:rPr lang="zh-TW" altLang="en-US" dirty="0"/>
              <a:t>無強調</a:t>
            </a:r>
            <a:br>
              <a:rPr lang="en-US" altLang="zh-TW" dirty="0"/>
            </a:br>
            <a:r>
              <a:rPr lang="en-US" altLang="zh-TW" dirty="0"/>
              <a:t>motivation </a:t>
            </a:r>
            <a:r>
              <a:rPr lang="zh-TW" altLang="en-US" dirty="0"/>
              <a:t>描述太簡要</a:t>
            </a:r>
          </a:p>
          <a:p>
            <a:endParaRPr lang="zh-TW" altLang="en-US" dirty="0"/>
          </a:p>
          <a:p>
            <a:r>
              <a:rPr lang="zh-TW" altLang="en-US" dirty="0"/>
              <a:t>畫圖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上標括號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刪掉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4634-E03F-AF66-60D4-9E9D033D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C8B9A-55D7-725F-92E8-70380118D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BC7E8-298A-FD2B-1E0D-C57615334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B453C-C33D-ADC3-C131-3141E1355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76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917F-EBDC-EB46-A7BA-315CE34E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86EC9-CB1F-95DF-DA60-6EACF1A12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829D1-D037-211C-7B86-967D19293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278B1-447E-B011-931E-FE422F5B1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963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C8543-7AA4-92A7-B252-22D89A44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8F80C-9DCE-819A-25AF-BAEEEF951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B2AD5-2449-7256-6736-3900A1E9C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E20D7-DCF0-9DF2-8FB8-1E05515E6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533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7DD52-0FAF-345F-9912-90F0329A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AEAE5-A2C0-BF09-CED8-AF53A4B24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C4A2-6F60-C1E0-909E-F95CC6CD3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35F89-881E-E2C7-65EC-ED35B18900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58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7594-A613-C428-BF95-70C2C15D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68E46-B6E0-363A-C1DC-AC07831FD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DF4B1-24D0-43A9-DF60-B31EB688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D5FB-8001-12A9-FDCA-824E0EE02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868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36706-125F-12CD-ED88-32DB4F204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5DFABF-0F4B-17DB-9B73-CD861D592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C61054-A3D2-D90E-AD64-6ADFA43B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0C32E3-FB2F-12A4-ABFE-3AB72273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AE3071-30B2-2E48-7183-339660AA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61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FE1B37-0C43-C999-5BF0-51FED140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634840-298B-44A1-FA53-DDB379F74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EF8D6E-02C3-2D00-DDF6-2AFA4CDA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3E862-FB60-A35B-2ADE-3437F06F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9BA38B-5551-1C15-BC2B-9439EFB6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48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1EE5A2-7F90-D27C-7020-E04E96AD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1BAE32-8AAA-F09E-626F-B6292B938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94C3A9-0C7F-D73C-9F2B-636ECE13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E6853D-C6E6-4CDD-00D7-7ACC8FBF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4CE597-821C-4CA9-4386-8201E9CB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564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73FE62-152D-7604-6000-F2DDB1C6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0982AF-5704-E2D3-105B-3A34BDF39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BEF807-4EAD-29D2-5A62-D0A4532EA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8A0BA5-03CC-F63B-E377-219B959B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74FC20-8679-797E-8A11-1D3764B7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2FF951-111D-C927-09A7-2211D2C0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993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B5D226-C9B6-3BBE-EF04-DB6C600B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BA24F8-CB9E-E67A-4FCA-ADFEF5471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44AC94-2A98-0EE9-92AA-ABF09F0A6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D700161-931D-A4B1-155B-89A7F1081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F0A7546-4DD4-DFB7-319B-211F3BD84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3093A68-7182-C563-0CCE-8DF81B3C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9CC9754-F380-999D-1FB4-A782AAAD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B166EC6-3664-9F35-4A47-3CF0757B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433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3B556-3D9B-52F3-1A54-F5DEE64B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3341AF2-7C80-8F75-8A62-F5DCFFAB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1C16671-9987-63BC-F084-74F8FCA5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EDBBDA-06AF-D594-BA30-ADF3D01E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48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8F9C8E-DB37-7C04-BF0A-121BEA03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3DB21BB-1FD5-16D4-0490-B6A682C0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A19B9A-B74F-728E-E037-3BCD755E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43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D5348-76F1-E3D5-9FCA-4608645C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06E907-1BE4-FC3F-2EC0-0FE7F2D1F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7FFD92-730F-22E4-D51E-2C72765EF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4B48D6-28A5-D0AC-3F5C-F910CCF5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CF954A-A576-30C1-5458-2C8826F8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E6B147-712B-92CA-55E3-EDD15C41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7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D81DA-15D8-1E90-FFDC-E361A2AA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12FE043-DA9A-A2B6-292E-EBB1CCA1C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9D4375-50F8-D10C-2673-7838E60EC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A8E83C-11F5-9F26-B6F9-D7E03316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BACB56-4815-8764-6844-F414EBE6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451016-B0C5-4A91-A833-D1847D50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96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674EA3-1A91-41C9-2183-FA9EAD40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7419D6D-6CB7-ABE3-2732-F4A40234E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635167-FD48-130A-1E87-A48830A5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CC9F14-04C4-267B-3B2C-4152F730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9765AE-5066-CC7E-D0E8-8C3655C0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59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4E562CA-401B-256A-317F-B0F0B7F1E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0C12EE1-1F1A-B63F-1F84-7F4341A33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5C80A5-2CAD-3CE3-F489-CB8A2DA6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0343FC-03B2-AD54-2B03-33656782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EF3D64-808D-5EF2-A26B-90E86805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117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69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FB96DA5-76AA-FB61-F287-6D9FFB51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65D6D5-2CE3-B0A2-A3C0-FF4392E75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193A39-297C-A4FF-4971-77EEDFCCA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4F6AA4-6C08-2494-E486-1D9E14270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7633C7-5887-851F-8072-7808047D7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AAEA7-375C-44A8-9289-5769353442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45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260836" y="6629400"/>
            <a:ext cx="717804" cy="15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1544715"/>
            <a:ext cx="12191695" cy="1289925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22376" y="175991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Multi-Token Prediction with Consistency Method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8116" y="2358841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Selective Distribution Consistency + Latent </a:t>
            </a:r>
            <a:r>
              <a:rPr lang="en-US" sz="16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Consistency Matching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34256" y="3703319"/>
            <a:ext cx="3520440" cy="868679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334256" y="370331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Reporter：</a:t>
            </a:r>
            <a:r>
              <a:rPr lang="zh-TW" alt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陳九龍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0759736" y="6629400"/>
            <a:ext cx="1218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1" y="320040"/>
            <a:ext cx="12192001" cy="411480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129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CONTENTS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188C588C-89B1-3410-1BC0-F158F5EF5E71}"/>
              </a:ext>
            </a:extLst>
          </p:cNvPr>
          <p:cNvGrpSpPr/>
          <p:nvPr/>
        </p:nvGrpSpPr>
        <p:grpSpPr>
          <a:xfrm>
            <a:off x="1097280" y="1397367"/>
            <a:ext cx="2910543" cy="720000"/>
            <a:chOff x="1097280" y="1397367"/>
            <a:chExt cx="2910543" cy="720000"/>
          </a:xfrm>
        </p:grpSpPr>
        <p:sp>
          <p:nvSpPr>
            <p:cNvPr id="6" name="Text 4"/>
            <p:cNvSpPr/>
            <p:nvPr/>
          </p:nvSpPr>
          <p:spPr>
            <a:xfrm>
              <a:off x="1097280" y="1397367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01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0084C671-A121-F9CE-3A25-92393B0D7CEE}"/>
                </a:ext>
              </a:extLst>
            </p:cNvPr>
            <p:cNvGrpSpPr/>
            <p:nvPr/>
          </p:nvGrpSpPr>
          <p:grpSpPr>
            <a:xfrm>
              <a:off x="1996143" y="1577340"/>
              <a:ext cx="2011680" cy="338328"/>
              <a:chOff x="1783080" y="1572768"/>
              <a:chExt cx="2011680" cy="338328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1783080" y="15727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Introduction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1783080" y="17830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4 ~ Page 7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391DDADA-07BF-0C03-9DCD-D25D9F435617}"/>
              </a:ext>
            </a:extLst>
          </p:cNvPr>
          <p:cNvGrpSpPr/>
          <p:nvPr/>
        </p:nvGrpSpPr>
        <p:grpSpPr>
          <a:xfrm>
            <a:off x="1097280" y="3055428"/>
            <a:ext cx="3084103" cy="720000"/>
            <a:chOff x="1097280" y="3055428"/>
            <a:chExt cx="2910543" cy="720000"/>
          </a:xfrm>
        </p:grpSpPr>
        <p:sp>
          <p:nvSpPr>
            <p:cNvPr id="9" name="Text 7"/>
            <p:cNvSpPr/>
            <p:nvPr/>
          </p:nvSpPr>
          <p:spPr>
            <a:xfrm>
              <a:off x="1097280" y="3055428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02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24E3DAC9-E439-A9DD-8BA2-93CF689E1CAA}"/>
                </a:ext>
              </a:extLst>
            </p:cNvPr>
            <p:cNvGrpSpPr/>
            <p:nvPr/>
          </p:nvGrpSpPr>
          <p:grpSpPr>
            <a:xfrm>
              <a:off x="1996143" y="3180681"/>
              <a:ext cx="2011680" cy="338328"/>
              <a:chOff x="6995160" y="1572768"/>
              <a:chExt cx="2011680" cy="338328"/>
            </a:xfrm>
          </p:grpSpPr>
          <p:sp>
            <p:nvSpPr>
              <p:cNvPr id="10" name="Text 8"/>
              <p:cNvSpPr/>
              <p:nvPr/>
            </p:nvSpPr>
            <p:spPr>
              <a:xfrm>
                <a:off x="6995160" y="15727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Related works / MTP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6995160" y="17830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9 ~ Page 11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DE0F1279-943B-DD6C-31C3-643CAE5F9529}"/>
              </a:ext>
            </a:extLst>
          </p:cNvPr>
          <p:cNvGrpSpPr/>
          <p:nvPr/>
        </p:nvGrpSpPr>
        <p:grpSpPr>
          <a:xfrm>
            <a:off x="1087737" y="4745736"/>
            <a:ext cx="2920086" cy="720000"/>
            <a:chOff x="1087737" y="4745736"/>
            <a:chExt cx="2920086" cy="720000"/>
          </a:xfrm>
        </p:grpSpPr>
        <p:sp>
          <p:nvSpPr>
            <p:cNvPr id="12" name="Text 10"/>
            <p:cNvSpPr/>
            <p:nvPr/>
          </p:nvSpPr>
          <p:spPr>
            <a:xfrm>
              <a:off x="1087737" y="474573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03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5E40D145-1165-CB8C-9694-7AE66D4BB3A6}"/>
                </a:ext>
              </a:extLst>
            </p:cNvPr>
            <p:cNvGrpSpPr/>
            <p:nvPr/>
          </p:nvGrpSpPr>
          <p:grpSpPr>
            <a:xfrm>
              <a:off x="1996143" y="4942332"/>
              <a:ext cx="2011680" cy="338328"/>
              <a:chOff x="1783080" y="3081528"/>
              <a:chExt cx="2011680" cy="338328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1783080" y="308152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Proposed method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783080" y="329184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13 ~ Page 15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E15B758C-2D4E-41E8-B8A6-6A175BC47746}"/>
              </a:ext>
            </a:extLst>
          </p:cNvPr>
          <p:cNvGrpSpPr/>
          <p:nvPr/>
        </p:nvGrpSpPr>
        <p:grpSpPr>
          <a:xfrm>
            <a:off x="6365289" y="1429784"/>
            <a:ext cx="2916759" cy="720000"/>
            <a:chOff x="6365289" y="1540365"/>
            <a:chExt cx="2916759" cy="720000"/>
          </a:xfrm>
        </p:grpSpPr>
        <p:sp>
          <p:nvSpPr>
            <p:cNvPr id="15" name="Text 13"/>
            <p:cNvSpPr/>
            <p:nvPr/>
          </p:nvSpPr>
          <p:spPr>
            <a:xfrm>
              <a:off x="6365289" y="1540365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04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7BCD5C17-E437-C85B-92EE-E42458873CD6}"/>
                </a:ext>
              </a:extLst>
            </p:cNvPr>
            <p:cNvGrpSpPr/>
            <p:nvPr/>
          </p:nvGrpSpPr>
          <p:grpSpPr>
            <a:xfrm>
              <a:off x="7270368" y="1744951"/>
              <a:ext cx="2011680" cy="338328"/>
              <a:chOff x="6995160" y="3081528"/>
              <a:chExt cx="2011680" cy="338328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6995160" y="308152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Experiment results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6995160" y="329184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17 ~ Page 24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9F6D134-707D-E129-668B-29B1897D77A1}"/>
              </a:ext>
            </a:extLst>
          </p:cNvPr>
          <p:cNvGrpSpPr/>
          <p:nvPr/>
        </p:nvGrpSpPr>
        <p:grpSpPr>
          <a:xfrm>
            <a:off x="6365289" y="2912121"/>
            <a:ext cx="2916759" cy="720000"/>
            <a:chOff x="6365289" y="2995326"/>
            <a:chExt cx="2916759" cy="720000"/>
          </a:xfrm>
        </p:grpSpPr>
        <p:sp>
          <p:nvSpPr>
            <p:cNvPr id="18" name="Text 16"/>
            <p:cNvSpPr/>
            <p:nvPr/>
          </p:nvSpPr>
          <p:spPr>
            <a:xfrm>
              <a:off x="6365289" y="299532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05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01FB5000-A7C2-0EF2-9717-AE1CB7B6E68E}"/>
                </a:ext>
              </a:extLst>
            </p:cNvPr>
            <p:cNvGrpSpPr/>
            <p:nvPr/>
          </p:nvGrpSpPr>
          <p:grpSpPr>
            <a:xfrm>
              <a:off x="7270368" y="3215826"/>
              <a:ext cx="2011680" cy="338328"/>
              <a:chOff x="4389120" y="4773168"/>
              <a:chExt cx="2011680" cy="338328"/>
            </a:xfrm>
          </p:grpSpPr>
          <p:sp>
            <p:nvSpPr>
              <p:cNvPr id="19" name="Text 17"/>
              <p:cNvSpPr/>
              <p:nvPr/>
            </p:nvSpPr>
            <p:spPr>
              <a:xfrm>
                <a:off x="4389120" y="47731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Conclusion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4389120" y="49834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26 ~ Page 27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0768614" y="6629400"/>
            <a:ext cx="1210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Introduction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23560" y="4361688"/>
            <a:ext cx="2543896" cy="101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ONE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Background — Multi-token prediction for faster generation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 的目標：一次 forward 不只預測下一個 token，也讓多個 draft models 預測更遠的 future tokens。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 flipV="1">
            <a:off x="3084909" y="2338920"/>
            <a:ext cx="1080000" cy="5504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92024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Input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t₀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55462" y="1920239"/>
            <a:ext cx="1800000" cy="900000"/>
          </a:xfrm>
          <a:prstGeom prst="rect">
            <a:avLst/>
          </a:prstGeom>
          <a:solidFill>
            <a:srgbClr val="FFF3C8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Model</a:t>
            </a:r>
          </a:p>
          <a:p>
            <a:pPr marL="0" indent="0" algn="ctr">
              <a:buNone/>
            </a:pP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(target + draft)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16568" y="192024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Output: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</a:t>
            </a:r>
            <a:r>
              <a:rPr lang="en-US" altLang="zh-TW" sz="1600" b="1" baseline="-250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… </a:t>
            </a:r>
            <a:r>
              <a:rPr lang="en-US" altLang="zh-TW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</a:t>
            </a:r>
            <a:r>
              <a:rPr lang="en-US" altLang="zh-TW" sz="1600" b="1" baseline="-250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k</a:t>
            </a:r>
            <a:endParaRPr lang="en-US" sz="1600" baseline="-25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10058400" cy="502920"/>
          </a:xfrm>
          <a:prstGeom prst="rect">
            <a:avLst/>
          </a:prstGeom>
          <a:solidFill>
            <a:srgbClr val="EEF5F7"/>
          </a:solidFill>
          <a:ln>
            <a:solidFill>
              <a:srgbClr val="C8D6D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核心假設：若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draft</a:t>
            </a:r>
            <a:r>
              <a:rPr lang="zh-TW" alt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的預測與主模型一致，self-speculative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decoding 就能一次接受多個 </a:t>
            </a: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token，降低實際</a:t>
            </a:r>
            <a:r>
              <a:rPr lang="zh-TW" alt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推論</a:t>
            </a: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成本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746A784-61D3-BDE6-778F-9F611E4AB0D3}"/>
              </a:ext>
            </a:extLst>
          </p:cNvPr>
          <p:cNvSpPr/>
          <p:nvPr/>
        </p:nvSpPr>
        <p:spPr>
          <a:xfrm flipV="1">
            <a:off x="7346015" y="2374104"/>
            <a:ext cx="1080000" cy="5504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28286FF-E264-6FDB-CE49-CF64B2E2E71A}"/>
              </a:ext>
            </a:extLst>
          </p:cNvPr>
          <p:cNvSpPr txBox="1"/>
          <p:nvPr/>
        </p:nvSpPr>
        <p:spPr>
          <a:xfrm>
            <a:off x="1051560" y="4836219"/>
            <a:ext cx="6920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model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預測越遠的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看到的訓練目標越困難，因此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通常快速升高。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model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預測越遠的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更加難被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model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接受。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407806" y="6629400"/>
            <a:ext cx="5708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5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Motivation — deeper </a:t>
            </a:r>
            <a:r>
              <a:rPr lang="en-US" sz="160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draft model </a:t>
            </a: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are harder to optimize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標準 MTP 只用 CE loss 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訓練每個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target, draft 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model，但不同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model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之間缺少明確的一致性約束。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1540" y="2112264"/>
            <a:ext cx="2340000" cy="1080000"/>
          </a:xfrm>
          <a:prstGeom prst="rect">
            <a:avLst/>
          </a:prstGeom>
          <a:solidFill>
            <a:srgbClr val="FBE8E4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問題 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Draft model</a:t>
            </a:r>
            <a:r>
              <a:rPr lang="zh-TW" alt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預測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越</a:t>
            </a:r>
            <a:r>
              <a:rPr lang="zh-TW" alt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遠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，PPL 越高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25112" y="2112264"/>
            <a:ext cx="2340000" cy="1080000"/>
          </a:xfrm>
          <a:prstGeom prst="rect">
            <a:avLst/>
          </a:prstGeom>
          <a:solidFill>
            <a:srgbClr val="FFF3C8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問題 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Target model </a:t>
            </a: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accepte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tokens 不穩定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60577" y="2112264"/>
            <a:ext cx="2340000" cy="1080000"/>
          </a:xfrm>
          <a:prstGeom prst="rect">
            <a:avLst/>
          </a:prstGeom>
          <a:solidFill>
            <a:srgbClr val="FBE8E4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問題 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生成品質</a:t>
            </a:r>
            <a:r>
              <a:rPr lang="zh-TW" alt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無法最大程度提升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1540" y="4823682"/>
            <a:ext cx="10195560" cy="438912"/>
          </a:xfrm>
          <a:prstGeom prst="rect">
            <a:avLst/>
          </a:prstGeom>
          <a:solidFill>
            <a:srgbClr val="EEF5F7"/>
          </a:solidFill>
          <a:ln>
            <a:solidFill>
              <a:srgbClr val="C8D6D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研究焦點：在不改變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MTP baseline </a:t>
            </a:r>
            <a:r>
              <a:rPr lang="zh-TW" alt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架構的前提下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，用 consistency-method 強化 draft model。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319029" y="6629400"/>
            <a:ext cx="6596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6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Research goal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8D6D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Goal：在既有 MTP 架構上加入 selective distribution consistency 與 latent </a:t>
            </a:r>
            <a:r>
              <a:rPr lang="en-US" sz="12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consistency，使</a:t>
            </a: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model </a:t>
            </a:r>
            <a:r>
              <a:rPr lang="en-US" sz="12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同時改善</a:t>
            </a: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PPL、acceptance 與 generative quality。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32304" y="2660904"/>
            <a:ext cx="292608" cy="0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90288" y="2660904"/>
            <a:ext cx="292608" cy="0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748272" y="2660904"/>
            <a:ext cx="292608" cy="0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8906256" y="2660904"/>
            <a:ext cx="292608" cy="0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1719072" cy="658368"/>
          </a:xfrm>
          <a:prstGeom prst="rect">
            <a:avLst/>
          </a:prstGeom>
          <a:solidFill>
            <a:srgbClr val="FFFFFF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 baseline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98064" y="2331720"/>
            <a:ext cx="1719072" cy="658368"/>
          </a:xfrm>
          <a:prstGeom prst="rect">
            <a:avLst/>
          </a:prstGeom>
          <a:solidFill>
            <a:srgbClr val="E8F2F6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Add SDC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(KL with confidence)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6048" y="2331720"/>
            <a:ext cx="1719072" cy="658368"/>
          </a:xfrm>
          <a:prstGeom prst="rect">
            <a:avLst/>
          </a:prstGeom>
          <a:solidFill>
            <a:srgbClr val="E7F4EC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Add LCM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(latent matching)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14032" y="2331720"/>
            <a:ext cx="1719072" cy="658368"/>
          </a:xfrm>
          <a:prstGeom prst="rect">
            <a:avLst/>
          </a:prstGeom>
          <a:solidFill>
            <a:srgbClr val="FFF3C8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Train on 10B </a:t>
            </a:r>
            <a:r>
              <a:rPr lang="en-US" sz="12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openwebtext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72016" y="2331720"/>
            <a:ext cx="1719072" cy="658368"/>
          </a:xfrm>
          <a:prstGeom prst="rect">
            <a:avLst/>
          </a:prstGeom>
          <a:solidFill>
            <a:srgbClr val="FFFFFF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Evaluate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PPL / GenPPL / Accept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42519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SDC：用 teacher distribution </a:t>
            </a: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約束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sz="14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student，並用</a:t>
            </a: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confidence mask 過濾不可靠 token。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LCM：在 embedding / hidden representation 層級進行一致性對齊。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SDC+LCM：同時對齊 token distribution 與 latent representation。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384280" y="66294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7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Contributions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600200" y="1252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Selective Distribution Consistency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00200" y="152704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將 consistency regularization 轉成適合 MTP draft model 的 KL loss。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2487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Confidence-aware distillation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76148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只在 teacher confidence </a:t>
            </a:r>
            <a:r>
              <a:rPr lang="en-US" sz="12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足夠的位置進行分佈蒸餾，避免噪聲</a:t>
            </a: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00200" y="3721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+ LCM joint training</a:t>
            </a:r>
          </a:p>
        </p:txBody>
      </p:sp>
      <p:sp>
        <p:nvSpPr>
          <p:cNvPr id="16" name="Text 14"/>
          <p:cNvSpPr/>
          <p:nvPr/>
        </p:nvSpPr>
        <p:spPr>
          <a:xfrm>
            <a:off x="1600200" y="399592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同時約束 token-level distribution 與 latent representation，改善生成品質與接受率。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4E6999E-C590-4981-6881-A6D8D661F83B}"/>
              </a:ext>
            </a:extLst>
          </p:cNvPr>
          <p:cNvSpPr/>
          <p:nvPr/>
        </p:nvSpPr>
        <p:spPr>
          <a:xfrm>
            <a:off x="653396" y="1099656"/>
            <a:ext cx="720000" cy="720000"/>
          </a:xfrm>
          <a:prstGeom prst="rect">
            <a:avLst/>
          </a:prstGeom>
          <a:solidFill>
            <a:srgbClr val="5B839B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3B93BB8-F6A8-1662-6AFA-87F1DD71AFB1}"/>
              </a:ext>
            </a:extLst>
          </p:cNvPr>
          <p:cNvSpPr/>
          <p:nvPr/>
        </p:nvSpPr>
        <p:spPr>
          <a:xfrm>
            <a:off x="653396" y="2401488"/>
            <a:ext cx="720000" cy="720000"/>
          </a:xfrm>
          <a:prstGeom prst="rect">
            <a:avLst/>
          </a:prstGeom>
          <a:solidFill>
            <a:srgbClr val="5B839B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059B001-AC70-22A1-C08C-0E5FF1CD6836}"/>
              </a:ext>
            </a:extLst>
          </p:cNvPr>
          <p:cNvSpPr/>
          <p:nvPr/>
        </p:nvSpPr>
        <p:spPr>
          <a:xfrm>
            <a:off x="664493" y="3635928"/>
            <a:ext cx="720000" cy="720000"/>
          </a:xfrm>
          <a:prstGeom prst="rect">
            <a:avLst/>
          </a:prstGeom>
          <a:solidFill>
            <a:srgbClr val="5B839B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558726" y="6629400"/>
            <a:ext cx="419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Related works / MTP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Text 1"/>
          <p:cNvSpPr/>
          <p:nvPr/>
        </p:nvSpPr>
        <p:spPr>
          <a:xfrm>
            <a:off x="10830757" y="6629400"/>
            <a:ext cx="1147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Part2: Related works / MTP</a:t>
            </a: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Multi-Token Prediction architecture</a:t>
            </a: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8C43E5C1-A5F7-E08B-6CC0-50D658AC909C}"/>
              </a:ext>
            </a:extLst>
          </p:cNvPr>
          <p:cNvGrpSpPr/>
          <p:nvPr/>
        </p:nvGrpSpPr>
        <p:grpSpPr>
          <a:xfrm>
            <a:off x="545128" y="6120824"/>
            <a:ext cx="3615647" cy="458284"/>
            <a:chOff x="47811" y="6200937"/>
            <a:chExt cx="3615647" cy="458284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227B8893-0082-DE7A-8D4D-E0778065AD40}"/>
                </a:ext>
              </a:extLst>
            </p:cNvPr>
            <p:cNvSpPr txBox="1"/>
            <p:nvPr/>
          </p:nvSpPr>
          <p:spPr>
            <a:xfrm>
              <a:off x="47811" y="6289889"/>
              <a:ext cx="1353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Input Token</a:t>
              </a:r>
              <a:endParaRPr lang="zh-TW" altLang="en-US" dirty="0"/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E670EA16-E1FC-48D3-ECAC-194DD122D4F9}"/>
                </a:ext>
              </a:extLst>
            </p:cNvPr>
            <p:cNvGrpSpPr/>
            <p:nvPr/>
          </p:nvGrpSpPr>
          <p:grpSpPr>
            <a:xfrm>
              <a:off x="1401541" y="6200937"/>
              <a:ext cx="2261917" cy="433276"/>
              <a:chOff x="1185214" y="6200937"/>
              <a:chExt cx="2261917" cy="4332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C96421B2-B35B-6B6E-152C-F91A10ED7BE3}"/>
                      </a:ext>
                    </a:extLst>
                  </p:cNvPr>
                  <p:cNvSpPr/>
                  <p:nvPr/>
                </p:nvSpPr>
                <p:spPr>
                  <a:xfrm>
                    <a:off x="1185214" y="6264881"/>
                    <a:ext cx="351683" cy="369332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C96421B2-B35B-6B6E-152C-F91A10ED7BE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214" y="6264881"/>
                    <a:ext cx="35168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7176D048-9897-9DED-DD93-E45DB68F274D}"/>
                      </a:ext>
                    </a:extLst>
                  </p:cNvPr>
                  <p:cNvSpPr/>
                  <p:nvPr/>
                </p:nvSpPr>
                <p:spPr>
                  <a:xfrm>
                    <a:off x="1678022" y="6264881"/>
                    <a:ext cx="351683" cy="369332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7176D048-9897-9DED-DD93-E45DB68F27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8022" y="6264881"/>
                    <a:ext cx="35168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95DB94C-8812-159A-4442-CA854BFAE433}"/>
                  </a:ext>
                </a:extLst>
              </p:cNvPr>
              <p:cNvSpPr txBox="1"/>
              <p:nvPr/>
            </p:nvSpPr>
            <p:spPr>
              <a:xfrm>
                <a:off x="2170167" y="6200937"/>
                <a:ext cx="568251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dirty="0"/>
                  <a:t>… …</a:t>
                </a:r>
                <a:endParaRPr lang="zh-TW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760B9962-B18E-E242-7A80-9B4693ABDA73}"/>
                      </a:ext>
                    </a:extLst>
                  </p:cNvPr>
                  <p:cNvSpPr/>
                  <p:nvPr/>
                </p:nvSpPr>
                <p:spPr>
                  <a:xfrm>
                    <a:off x="2878880" y="6264881"/>
                    <a:ext cx="568251" cy="369332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760B9962-B18E-E242-7A80-9B4693ABDA7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78880" y="6264881"/>
                    <a:ext cx="5682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7CE40BDD-15E7-FF61-C403-04B199135A25}"/>
              </a:ext>
            </a:extLst>
          </p:cNvPr>
          <p:cNvGrpSpPr/>
          <p:nvPr/>
        </p:nvGrpSpPr>
        <p:grpSpPr>
          <a:xfrm>
            <a:off x="545128" y="3105810"/>
            <a:ext cx="3990547" cy="3070004"/>
            <a:chOff x="-479210" y="3292106"/>
            <a:chExt cx="3990547" cy="3070004"/>
          </a:xfrm>
        </p:grpSpPr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E41BF910-18F3-0D67-ADDA-9381B1852D91}"/>
                </a:ext>
              </a:extLst>
            </p:cNvPr>
            <p:cNvSpPr/>
            <p:nvPr/>
          </p:nvSpPr>
          <p:spPr>
            <a:xfrm>
              <a:off x="331472" y="3680892"/>
              <a:ext cx="3179865" cy="2463211"/>
            </a:xfrm>
            <a:prstGeom prst="round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D74D9E31-DB6B-9C8E-E6DD-DC81A5BBCEDD}"/>
                </a:ext>
              </a:extLst>
            </p:cNvPr>
            <p:cNvSpPr/>
            <p:nvPr/>
          </p:nvSpPr>
          <p:spPr>
            <a:xfrm>
              <a:off x="640734" y="5475895"/>
              <a:ext cx="2601124" cy="607553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Embedding Layer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3B0A5A25-2ED5-31F9-875E-28B7680FE294}"/>
                </a:ext>
              </a:extLst>
            </p:cNvPr>
            <p:cNvGrpSpPr/>
            <p:nvPr/>
          </p:nvGrpSpPr>
          <p:grpSpPr>
            <a:xfrm>
              <a:off x="640734" y="4591204"/>
              <a:ext cx="2601124" cy="665883"/>
              <a:chOff x="1626094" y="3075858"/>
              <a:chExt cx="2999172" cy="774092"/>
            </a:xfrm>
          </p:grpSpPr>
          <p:sp>
            <p:nvSpPr>
              <p:cNvPr id="36" name="矩形: 圓角 35">
                <a:extLst>
                  <a:ext uri="{FF2B5EF4-FFF2-40B4-BE49-F238E27FC236}">
                    <a16:creationId xmlns:a16="http://schemas.microsoft.com/office/drawing/2014/main" id="{8F6BDD36-EDEC-B53F-CD4D-AEA828D67157}"/>
                  </a:ext>
                </a:extLst>
              </p:cNvPr>
              <p:cNvSpPr/>
              <p:nvPr/>
            </p:nvSpPr>
            <p:spPr>
              <a:xfrm>
                <a:off x="1731146" y="3143667"/>
                <a:ext cx="2894120" cy="706283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Embedding Layer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矩形: 圓角 36">
                    <a:extLst>
                      <a:ext uri="{FF2B5EF4-FFF2-40B4-BE49-F238E27FC236}">
                        <a16:creationId xmlns:a16="http://schemas.microsoft.com/office/drawing/2014/main" id="{275D349D-365A-5D7D-0BA5-E56EEF2FAEBB}"/>
                      </a:ext>
                    </a:extLst>
                  </p:cNvPr>
                  <p:cNvSpPr/>
                  <p:nvPr/>
                </p:nvSpPr>
                <p:spPr>
                  <a:xfrm>
                    <a:off x="1626094" y="3075858"/>
                    <a:ext cx="2894120" cy="706283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Transformer Block </a:t>
                    </a:r>
                    <a14:m>
                      <m:oMath xmlns:m="http://schemas.openxmlformats.org/officeDocument/2006/math">
                        <m: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zh-TW" altLang="en-US" b="0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altLang="zh-TW" b="0" dirty="0">
                        <a:solidFill>
                          <a:schemeClr val="tx1"/>
                        </a:solidFill>
                      </a:rPr>
                      <a:t>L</a:t>
                    </a:r>
                  </a:p>
                </p:txBody>
              </p:sp>
            </mc:Choice>
            <mc:Fallback xmlns="">
              <p:sp>
                <p:nvSpPr>
                  <p:cNvPr id="37" name="矩形: 圓角 36">
                    <a:extLst>
                      <a:ext uri="{FF2B5EF4-FFF2-40B4-BE49-F238E27FC236}">
                        <a16:creationId xmlns:a16="http://schemas.microsoft.com/office/drawing/2014/main" id="{275D349D-365A-5D7D-0BA5-E56EEF2FAE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6094" y="3075858"/>
                    <a:ext cx="2894120" cy="706283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B210C8D8-7F70-0C2B-EDA9-4E764EC5A105}"/>
                </a:ext>
              </a:extLst>
            </p:cNvPr>
            <p:cNvSpPr/>
            <p:nvPr/>
          </p:nvSpPr>
          <p:spPr>
            <a:xfrm>
              <a:off x="640734" y="3739715"/>
              <a:ext cx="2601124" cy="60755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hidden layer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箭號: 向上 31">
              <a:extLst>
                <a:ext uri="{FF2B5EF4-FFF2-40B4-BE49-F238E27FC236}">
                  <a16:creationId xmlns:a16="http://schemas.microsoft.com/office/drawing/2014/main" id="{4A57F663-63F4-A84D-A7C2-590874465FAE}"/>
                </a:ext>
              </a:extLst>
            </p:cNvPr>
            <p:cNvSpPr/>
            <p:nvPr/>
          </p:nvSpPr>
          <p:spPr>
            <a:xfrm>
              <a:off x="1814896" y="6163557"/>
              <a:ext cx="161688" cy="198553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箭號: 向上 32">
              <a:extLst>
                <a:ext uri="{FF2B5EF4-FFF2-40B4-BE49-F238E27FC236}">
                  <a16:creationId xmlns:a16="http://schemas.microsoft.com/office/drawing/2014/main" id="{F42EB6FD-5217-E696-917E-6E5575EE07BE}"/>
                </a:ext>
              </a:extLst>
            </p:cNvPr>
            <p:cNvSpPr/>
            <p:nvPr/>
          </p:nvSpPr>
          <p:spPr>
            <a:xfrm>
              <a:off x="1814896" y="5267214"/>
              <a:ext cx="161688" cy="198553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箭號: 向上 33">
              <a:extLst>
                <a:ext uri="{FF2B5EF4-FFF2-40B4-BE49-F238E27FC236}">
                  <a16:creationId xmlns:a16="http://schemas.microsoft.com/office/drawing/2014/main" id="{5B79B0C1-FFAB-FE39-AD40-7A5B3D48393B}"/>
                </a:ext>
              </a:extLst>
            </p:cNvPr>
            <p:cNvSpPr/>
            <p:nvPr/>
          </p:nvSpPr>
          <p:spPr>
            <a:xfrm>
              <a:off x="1814896" y="4373197"/>
              <a:ext cx="161688" cy="198553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417D5546-6CD9-5FB7-7727-02B79C679C56}"/>
                </a:ext>
              </a:extLst>
            </p:cNvPr>
            <p:cNvSpPr txBox="1"/>
            <p:nvPr/>
          </p:nvSpPr>
          <p:spPr>
            <a:xfrm>
              <a:off x="-479210" y="3292106"/>
              <a:ext cx="2510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Shared Trunk Network</a:t>
              </a:r>
              <a:endParaRPr lang="zh-TW" altLang="en-US" dirty="0"/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564D8A92-4225-C515-6632-01A674C114EA}"/>
              </a:ext>
            </a:extLst>
          </p:cNvPr>
          <p:cNvGrpSpPr/>
          <p:nvPr/>
        </p:nvGrpSpPr>
        <p:grpSpPr>
          <a:xfrm>
            <a:off x="2823905" y="3053135"/>
            <a:ext cx="5910103" cy="474681"/>
            <a:chOff x="2654618" y="3043672"/>
            <a:chExt cx="5910103" cy="474681"/>
          </a:xfrm>
        </p:grpSpPr>
        <p:sp>
          <p:nvSpPr>
            <p:cNvPr id="39" name="箭號: 向上 38">
              <a:extLst>
                <a:ext uri="{FF2B5EF4-FFF2-40B4-BE49-F238E27FC236}">
                  <a16:creationId xmlns:a16="http://schemas.microsoft.com/office/drawing/2014/main" id="{FE33D9D5-C52F-037D-F0BE-6DE76EB553A9}"/>
                </a:ext>
              </a:extLst>
            </p:cNvPr>
            <p:cNvSpPr/>
            <p:nvPr/>
          </p:nvSpPr>
          <p:spPr>
            <a:xfrm>
              <a:off x="2654618" y="3086353"/>
              <a:ext cx="161688" cy="43200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箭號: 上彎 39">
              <a:extLst>
                <a:ext uri="{FF2B5EF4-FFF2-40B4-BE49-F238E27FC236}">
                  <a16:creationId xmlns:a16="http://schemas.microsoft.com/office/drawing/2014/main" id="{891115AF-5B5A-0ED3-98FA-87B43103AD9D}"/>
                </a:ext>
              </a:extLst>
            </p:cNvPr>
            <p:cNvSpPr/>
            <p:nvPr/>
          </p:nvSpPr>
          <p:spPr>
            <a:xfrm>
              <a:off x="2711107" y="3043672"/>
              <a:ext cx="2917349" cy="304478"/>
            </a:xfrm>
            <a:prstGeom prst="bent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1" name="箭號: 上彎 40">
              <a:extLst>
                <a:ext uri="{FF2B5EF4-FFF2-40B4-BE49-F238E27FC236}">
                  <a16:creationId xmlns:a16="http://schemas.microsoft.com/office/drawing/2014/main" id="{A975311E-7EE8-48E2-1978-BF3712F6BB10}"/>
                </a:ext>
              </a:extLst>
            </p:cNvPr>
            <p:cNvSpPr/>
            <p:nvPr/>
          </p:nvSpPr>
          <p:spPr>
            <a:xfrm>
              <a:off x="5544171" y="3043672"/>
              <a:ext cx="3020550" cy="304478"/>
            </a:xfrm>
            <a:prstGeom prst="bent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154DEBAC-A7A2-9C52-6117-5D4F34984E50}"/>
              </a:ext>
            </a:extLst>
          </p:cNvPr>
          <p:cNvGrpSpPr/>
          <p:nvPr/>
        </p:nvGrpSpPr>
        <p:grpSpPr>
          <a:xfrm>
            <a:off x="1590919" y="1600954"/>
            <a:ext cx="8240542" cy="1440847"/>
            <a:chOff x="1403832" y="1568746"/>
            <a:chExt cx="8240542" cy="1440847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5244741F-B424-3715-CBEC-8E8C79D68552}"/>
                </a:ext>
              </a:extLst>
            </p:cNvPr>
            <p:cNvGrpSpPr/>
            <p:nvPr/>
          </p:nvGrpSpPr>
          <p:grpSpPr>
            <a:xfrm>
              <a:off x="1403832" y="1572359"/>
              <a:ext cx="2496659" cy="1437234"/>
              <a:chOff x="5015648" y="1510684"/>
              <a:chExt cx="2761191" cy="1590626"/>
            </a:xfrm>
          </p:grpSpPr>
          <p:sp>
            <p:nvSpPr>
              <p:cNvPr id="44" name="矩形: 圓角 43">
                <a:extLst>
                  <a:ext uri="{FF2B5EF4-FFF2-40B4-BE49-F238E27FC236}">
                    <a16:creationId xmlns:a16="http://schemas.microsoft.com/office/drawing/2014/main" id="{8A4821BB-4A0A-91F4-36A0-3609A20D1238}"/>
                  </a:ext>
                </a:extLst>
              </p:cNvPr>
              <p:cNvSpPr/>
              <p:nvPr/>
            </p:nvSpPr>
            <p:spPr>
              <a:xfrm>
                <a:off x="5157926" y="1889000"/>
                <a:ext cx="2618913" cy="1212310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矩形: 圓角 44">
                <a:extLst>
                  <a:ext uri="{FF2B5EF4-FFF2-40B4-BE49-F238E27FC236}">
                    <a16:creationId xmlns:a16="http://schemas.microsoft.com/office/drawing/2014/main" id="{9174BA99-5FD4-2133-A867-E3AB089838E6}"/>
                  </a:ext>
                </a:extLst>
              </p:cNvPr>
              <p:cNvSpPr/>
              <p:nvPr/>
            </p:nvSpPr>
            <p:spPr>
              <a:xfrm>
                <a:off x="5402061" y="2135609"/>
                <a:ext cx="2130641" cy="719091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Transformer Block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8F87F7AF-5EC3-DC0C-F471-8DC2EBFA48AA}"/>
                  </a:ext>
                </a:extLst>
              </p:cNvPr>
              <p:cNvSpPr txBox="1"/>
              <p:nvPr/>
            </p:nvSpPr>
            <p:spPr>
              <a:xfrm>
                <a:off x="5015648" y="1510684"/>
                <a:ext cx="1473929" cy="408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MTP Head 1</a:t>
                </a:r>
                <a:endParaRPr lang="zh-TW" altLang="en-US" dirty="0"/>
              </a:p>
            </p:txBody>
          </p:sp>
          <p:sp>
            <p:nvSpPr>
              <p:cNvPr id="47" name="箭號: 向上 46">
                <a:extLst>
                  <a:ext uri="{FF2B5EF4-FFF2-40B4-BE49-F238E27FC236}">
                    <a16:creationId xmlns:a16="http://schemas.microsoft.com/office/drawing/2014/main" id="{00A6C228-C15D-F068-01E1-D0BB335D1B86}"/>
                  </a:ext>
                </a:extLst>
              </p:cNvPr>
              <p:cNvSpPr/>
              <p:nvPr/>
            </p:nvSpPr>
            <p:spPr>
              <a:xfrm>
                <a:off x="6396361" y="1583173"/>
                <a:ext cx="186431" cy="230819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6241E75B-291D-DCB1-2B83-178284D97A37}"/>
                </a:ext>
              </a:extLst>
            </p:cNvPr>
            <p:cNvGrpSpPr/>
            <p:nvPr/>
          </p:nvGrpSpPr>
          <p:grpSpPr>
            <a:xfrm>
              <a:off x="4211450" y="1568746"/>
              <a:ext cx="2496659" cy="1437234"/>
              <a:chOff x="5015648" y="1510684"/>
              <a:chExt cx="2761191" cy="1590626"/>
            </a:xfrm>
          </p:grpSpPr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8A2C7EF4-2292-7DCE-1DEA-AC70C00E794E}"/>
                  </a:ext>
                </a:extLst>
              </p:cNvPr>
              <p:cNvSpPr/>
              <p:nvPr/>
            </p:nvSpPr>
            <p:spPr>
              <a:xfrm>
                <a:off x="5157926" y="1889000"/>
                <a:ext cx="2618913" cy="1212310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: 圓角 49">
                <a:extLst>
                  <a:ext uri="{FF2B5EF4-FFF2-40B4-BE49-F238E27FC236}">
                    <a16:creationId xmlns:a16="http://schemas.microsoft.com/office/drawing/2014/main" id="{FF13D42F-4D83-8FD7-5995-1ADA14F5CE91}"/>
                  </a:ext>
                </a:extLst>
              </p:cNvPr>
              <p:cNvSpPr/>
              <p:nvPr/>
            </p:nvSpPr>
            <p:spPr>
              <a:xfrm>
                <a:off x="5402061" y="2135609"/>
                <a:ext cx="2130641" cy="719091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Transformer Block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E84C5157-DE62-AD74-BC01-BEF2DD2C5F63}"/>
                  </a:ext>
                </a:extLst>
              </p:cNvPr>
              <p:cNvSpPr txBox="1"/>
              <p:nvPr/>
            </p:nvSpPr>
            <p:spPr>
              <a:xfrm>
                <a:off x="5015648" y="1510684"/>
                <a:ext cx="1473929" cy="408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MTP Head 2</a:t>
                </a:r>
                <a:endParaRPr lang="zh-TW" altLang="en-US" dirty="0"/>
              </a:p>
            </p:txBody>
          </p:sp>
          <p:sp>
            <p:nvSpPr>
              <p:cNvPr id="52" name="箭號: 向上 51">
                <a:extLst>
                  <a:ext uri="{FF2B5EF4-FFF2-40B4-BE49-F238E27FC236}">
                    <a16:creationId xmlns:a16="http://schemas.microsoft.com/office/drawing/2014/main" id="{0B56BD44-B623-C225-B832-CC36664B6744}"/>
                  </a:ext>
                </a:extLst>
              </p:cNvPr>
              <p:cNvSpPr/>
              <p:nvPr/>
            </p:nvSpPr>
            <p:spPr>
              <a:xfrm>
                <a:off x="6396361" y="1583173"/>
                <a:ext cx="186431" cy="230819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081D907E-75C3-5C12-BA87-3D67F028F09B}"/>
                </a:ext>
              </a:extLst>
            </p:cNvPr>
            <p:cNvGrpSpPr/>
            <p:nvPr/>
          </p:nvGrpSpPr>
          <p:grpSpPr>
            <a:xfrm>
              <a:off x="7147715" y="1570626"/>
              <a:ext cx="2496659" cy="1437234"/>
              <a:chOff x="5015648" y="1510684"/>
              <a:chExt cx="2761191" cy="1590626"/>
            </a:xfrm>
          </p:grpSpPr>
          <p:sp>
            <p:nvSpPr>
              <p:cNvPr id="54" name="矩形: 圓角 53">
                <a:extLst>
                  <a:ext uri="{FF2B5EF4-FFF2-40B4-BE49-F238E27FC236}">
                    <a16:creationId xmlns:a16="http://schemas.microsoft.com/office/drawing/2014/main" id="{0D069134-A8DE-DB3B-C2E7-3AB5B2A94A50}"/>
                  </a:ext>
                </a:extLst>
              </p:cNvPr>
              <p:cNvSpPr/>
              <p:nvPr/>
            </p:nvSpPr>
            <p:spPr>
              <a:xfrm>
                <a:off x="5157926" y="1889000"/>
                <a:ext cx="2618913" cy="1212310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55" name="矩形: 圓角 54">
                <a:extLst>
                  <a:ext uri="{FF2B5EF4-FFF2-40B4-BE49-F238E27FC236}">
                    <a16:creationId xmlns:a16="http://schemas.microsoft.com/office/drawing/2014/main" id="{C731E410-FD63-F22D-2378-4114B76B9FEE}"/>
                  </a:ext>
                </a:extLst>
              </p:cNvPr>
              <p:cNvSpPr/>
              <p:nvPr/>
            </p:nvSpPr>
            <p:spPr>
              <a:xfrm>
                <a:off x="5402061" y="2135609"/>
                <a:ext cx="2130641" cy="719091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Transformer Block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111C2AE9-5CF8-02CD-EB7A-C9262322F44E}"/>
                  </a:ext>
                </a:extLst>
              </p:cNvPr>
              <p:cNvSpPr txBox="1"/>
              <p:nvPr/>
            </p:nvSpPr>
            <p:spPr>
              <a:xfrm>
                <a:off x="5015648" y="1510684"/>
                <a:ext cx="1473929" cy="408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MTP Head K</a:t>
                </a:r>
                <a:endParaRPr lang="zh-TW" altLang="en-US" dirty="0"/>
              </a:p>
            </p:txBody>
          </p:sp>
          <p:sp>
            <p:nvSpPr>
              <p:cNvPr id="57" name="箭號: 向上 56">
                <a:extLst>
                  <a:ext uri="{FF2B5EF4-FFF2-40B4-BE49-F238E27FC236}">
                    <a16:creationId xmlns:a16="http://schemas.microsoft.com/office/drawing/2014/main" id="{5B7C456D-0DFE-F0AD-0AF7-A7A126809611}"/>
                  </a:ext>
                </a:extLst>
              </p:cNvPr>
              <p:cNvSpPr/>
              <p:nvPr/>
            </p:nvSpPr>
            <p:spPr>
              <a:xfrm>
                <a:off x="6396361" y="1583173"/>
                <a:ext cx="186431" cy="230819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9D308BDC-6DD4-997C-1324-C3A74C916B13}"/>
                </a:ext>
              </a:extLst>
            </p:cNvPr>
            <p:cNvSpPr txBox="1"/>
            <p:nvPr/>
          </p:nvSpPr>
          <p:spPr>
            <a:xfrm>
              <a:off x="6708107" y="2284266"/>
              <a:ext cx="56825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dirty="0"/>
                <a:t>… …</a:t>
              </a:r>
              <a:endParaRPr lang="zh-TW" altLang="en-US" dirty="0"/>
            </a:p>
          </p:txBody>
        </p:sp>
      </p:grp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8C0DF537-A743-4131-4AD6-11A576126F40}"/>
              </a:ext>
            </a:extLst>
          </p:cNvPr>
          <p:cNvSpPr/>
          <p:nvPr/>
        </p:nvSpPr>
        <p:spPr>
          <a:xfrm>
            <a:off x="1469116" y="1250305"/>
            <a:ext cx="8484145" cy="36976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Position-wise FFN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9813407C-8571-9B1F-03F6-0BE6058BFA7B}"/>
              </a:ext>
            </a:extLst>
          </p:cNvPr>
          <p:cNvGrpSpPr/>
          <p:nvPr/>
        </p:nvGrpSpPr>
        <p:grpSpPr>
          <a:xfrm>
            <a:off x="545128" y="724529"/>
            <a:ext cx="9353470" cy="468605"/>
            <a:chOff x="47811" y="1058033"/>
            <a:chExt cx="9353470" cy="468605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80B00B47-67B2-A662-D0C0-A702A8F0A8E9}"/>
                </a:ext>
              </a:extLst>
            </p:cNvPr>
            <p:cNvSpPr txBox="1"/>
            <p:nvPr/>
          </p:nvSpPr>
          <p:spPr>
            <a:xfrm>
              <a:off x="47811" y="1150374"/>
              <a:ext cx="1454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Output Token</a:t>
              </a:r>
              <a:endParaRPr lang="zh-TW" altLang="en-US" dirty="0"/>
            </a:p>
          </p:txBody>
        </p: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B6B3EE4D-6C91-5E6A-4138-88A336C479FB}"/>
                </a:ext>
              </a:extLst>
            </p:cNvPr>
            <p:cNvGrpSpPr/>
            <p:nvPr/>
          </p:nvGrpSpPr>
          <p:grpSpPr>
            <a:xfrm>
              <a:off x="1617869" y="1058033"/>
              <a:ext cx="7783412" cy="468605"/>
              <a:chOff x="1617869" y="1058033"/>
              <a:chExt cx="7783412" cy="468605"/>
            </a:xfrm>
          </p:grpSpPr>
          <p:grpSp>
            <p:nvGrpSpPr>
              <p:cNvPr id="64" name="群組 63">
                <a:extLst>
                  <a:ext uri="{FF2B5EF4-FFF2-40B4-BE49-F238E27FC236}">
                    <a16:creationId xmlns:a16="http://schemas.microsoft.com/office/drawing/2014/main" id="{C181C5A4-CB6A-9EC5-43E9-856E8423990A}"/>
                  </a:ext>
                </a:extLst>
              </p:cNvPr>
              <p:cNvGrpSpPr/>
              <p:nvPr/>
            </p:nvGrpSpPr>
            <p:grpSpPr>
              <a:xfrm>
                <a:off x="1617869" y="1093362"/>
                <a:ext cx="1822850" cy="433276"/>
                <a:chOff x="1401542" y="6225945"/>
                <a:chExt cx="1822850" cy="43327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矩形 74">
                      <a:extLst>
                        <a:ext uri="{FF2B5EF4-FFF2-40B4-BE49-F238E27FC236}">
                          <a16:creationId xmlns:a16="http://schemas.microsoft.com/office/drawing/2014/main" id="{E8F273A4-6537-81E7-5188-C807DF210F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01542" y="6289889"/>
                      <a:ext cx="351683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5" name="矩形 74">
                      <a:extLst>
                        <a:ext uri="{FF2B5EF4-FFF2-40B4-BE49-F238E27FC236}">
                          <a16:creationId xmlns:a16="http://schemas.microsoft.com/office/drawing/2014/main" id="{E8F273A4-6537-81E7-5188-C807DF210F7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01542" y="6289889"/>
                      <a:ext cx="351683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76C4E416-E83B-ACB7-08F7-3FF2B5F219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94349" y="6289889"/>
                      <a:ext cx="360000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76C4E416-E83B-ACB7-08F7-3FF2B5F219C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94349" y="6289889"/>
                      <a:ext cx="360000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8C17652F-787E-D956-FF4D-C50E025B0F89}"/>
                    </a:ext>
                  </a:extLst>
                </p:cNvPr>
                <p:cNvSpPr txBox="1"/>
                <p:nvPr/>
              </p:nvSpPr>
              <p:spPr>
                <a:xfrm>
                  <a:off x="2288837" y="6225945"/>
                  <a:ext cx="56825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TW" dirty="0"/>
                    <a:t>… …</a:t>
                  </a:r>
                  <a:endParaRPr lang="zh-TW" alt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E666BF87-860F-B499-8974-80C8AA9ABD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4392" y="6289889"/>
                      <a:ext cx="360000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E666BF87-860F-B499-8974-80C8AA9ABD7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4392" y="6289889"/>
                      <a:ext cx="360000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5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7A161CCD-65AC-6D02-7A44-212DC4727313}"/>
                  </a:ext>
                </a:extLst>
              </p:cNvPr>
              <p:cNvGrpSpPr/>
              <p:nvPr/>
            </p:nvGrpSpPr>
            <p:grpSpPr>
              <a:xfrm>
                <a:off x="4111267" y="1058033"/>
                <a:ext cx="2031093" cy="433276"/>
                <a:chOff x="1081945" y="6225945"/>
                <a:chExt cx="2031093" cy="43327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矩形 70">
                      <a:extLst>
                        <a:ext uri="{FF2B5EF4-FFF2-40B4-BE49-F238E27FC236}">
                          <a16:creationId xmlns:a16="http://schemas.microsoft.com/office/drawing/2014/main" id="{821DA31A-D807-06D4-CD03-E007385A99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1945" y="6289889"/>
                      <a:ext cx="351683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baseline="-25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1" name="矩形 70">
                      <a:extLst>
                        <a:ext uri="{FF2B5EF4-FFF2-40B4-BE49-F238E27FC236}">
                          <a16:creationId xmlns:a16="http://schemas.microsoft.com/office/drawing/2014/main" id="{821DA31A-D807-06D4-CD03-E007385A995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81945" y="6289889"/>
                      <a:ext cx="351683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5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矩形 71">
                      <a:extLst>
                        <a:ext uri="{FF2B5EF4-FFF2-40B4-BE49-F238E27FC236}">
                          <a16:creationId xmlns:a16="http://schemas.microsoft.com/office/drawing/2014/main" id="{76C4EBC5-5944-DFAB-571C-9FEC73F054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4753" y="6289889"/>
                      <a:ext cx="351683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baseline="-25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2" name="矩形 71">
                      <a:extLst>
                        <a:ext uri="{FF2B5EF4-FFF2-40B4-BE49-F238E27FC236}">
                          <a16:creationId xmlns:a16="http://schemas.microsoft.com/office/drawing/2014/main" id="{76C4EBC5-5944-DFAB-571C-9FEC73F0541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74753" y="6289889"/>
                      <a:ext cx="351683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5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E72ADD5D-AE16-F8D1-AD61-EE83955BFA79}"/>
                    </a:ext>
                  </a:extLst>
                </p:cNvPr>
                <p:cNvSpPr txBox="1"/>
                <p:nvPr/>
              </p:nvSpPr>
              <p:spPr>
                <a:xfrm>
                  <a:off x="1951487" y="6225945"/>
                  <a:ext cx="56825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TW" dirty="0"/>
                    <a:t>… …</a:t>
                  </a:r>
                  <a:endParaRPr lang="zh-TW" alt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矩形 73">
                      <a:extLst>
                        <a:ext uri="{FF2B5EF4-FFF2-40B4-BE49-F238E27FC236}">
                          <a16:creationId xmlns:a16="http://schemas.microsoft.com/office/drawing/2014/main" id="{38BEDFF7-EAD9-883B-905D-8FBF0241A4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44788" y="6289889"/>
                      <a:ext cx="568250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baseline="-25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4" name="矩形 73">
                      <a:extLst>
                        <a:ext uri="{FF2B5EF4-FFF2-40B4-BE49-F238E27FC236}">
                          <a16:creationId xmlns:a16="http://schemas.microsoft.com/office/drawing/2014/main" id="{38BEDFF7-EAD9-883B-905D-8FBF0241A43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44788" y="6289889"/>
                      <a:ext cx="568250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31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6" name="群組 65">
                <a:extLst>
                  <a:ext uri="{FF2B5EF4-FFF2-40B4-BE49-F238E27FC236}">
                    <a16:creationId xmlns:a16="http://schemas.microsoft.com/office/drawing/2014/main" id="{BE47FB69-2BE5-B288-1C2C-8B48A7505BB2}"/>
                  </a:ext>
                </a:extLst>
              </p:cNvPr>
              <p:cNvGrpSpPr/>
              <p:nvPr/>
            </p:nvGrpSpPr>
            <p:grpSpPr>
              <a:xfrm>
                <a:off x="6965560" y="1058033"/>
                <a:ext cx="2435721" cy="433276"/>
                <a:chOff x="1064189" y="6225945"/>
                <a:chExt cx="2435721" cy="43327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矩形 66">
                      <a:extLst>
                        <a:ext uri="{FF2B5EF4-FFF2-40B4-BE49-F238E27FC236}">
                          <a16:creationId xmlns:a16="http://schemas.microsoft.com/office/drawing/2014/main" id="{695BF23E-44AF-CC59-C489-F61BBB900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4189" y="6289889"/>
                      <a:ext cx="351683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baseline="-25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7" name="矩形 66">
                      <a:extLst>
                        <a:ext uri="{FF2B5EF4-FFF2-40B4-BE49-F238E27FC236}">
                          <a16:creationId xmlns:a16="http://schemas.microsoft.com/office/drawing/2014/main" id="{695BF23E-44AF-CC59-C489-F61BBB9006E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64189" y="6289889"/>
                      <a:ext cx="351683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634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矩形 67">
                      <a:extLst>
                        <a:ext uri="{FF2B5EF4-FFF2-40B4-BE49-F238E27FC236}">
                          <a16:creationId xmlns:a16="http://schemas.microsoft.com/office/drawing/2014/main" id="{41C92049-8F0C-C791-4179-23987A0F38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997" y="6289889"/>
                      <a:ext cx="544449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baseline="-25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8" name="矩形 67">
                      <a:extLst>
                        <a:ext uri="{FF2B5EF4-FFF2-40B4-BE49-F238E27FC236}">
                          <a16:creationId xmlns:a16="http://schemas.microsoft.com/office/drawing/2014/main" id="{41C92049-8F0C-C791-4179-23987A0F380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56997" y="6289889"/>
                      <a:ext cx="544449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634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E149DFC9-CC0D-3F49-D530-727EF1849846}"/>
                    </a:ext>
                  </a:extLst>
                </p:cNvPr>
                <p:cNvSpPr txBox="1"/>
                <p:nvPr/>
              </p:nvSpPr>
              <p:spPr>
                <a:xfrm>
                  <a:off x="2120166" y="6225945"/>
                  <a:ext cx="568251" cy="369332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zh-TW" dirty="0"/>
                    <a:t>… …</a:t>
                  </a:r>
                  <a:endParaRPr lang="zh-TW" alt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矩形 69">
                      <a:extLst>
                        <a:ext uri="{FF2B5EF4-FFF2-40B4-BE49-F238E27FC236}">
                          <a16:creationId xmlns:a16="http://schemas.microsoft.com/office/drawing/2014/main" id="{A883EED4-E6F5-FEA3-FE36-334FFB71CB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31221" y="6289889"/>
                      <a:ext cx="768689" cy="369332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TW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altLang="zh-TW" baseline="-25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矩形 69">
                      <a:extLst>
                        <a:ext uri="{FF2B5EF4-FFF2-40B4-BE49-F238E27FC236}">
                          <a16:creationId xmlns:a16="http://schemas.microsoft.com/office/drawing/2014/main" id="{A883EED4-E6F5-FEA3-FE36-334FFB71CB6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31221" y="6289889"/>
                      <a:ext cx="768689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781" b="-634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87394BAF-B8A1-8AE8-D4D5-A084CED03D0E}"/>
              </a:ext>
            </a:extLst>
          </p:cNvPr>
          <p:cNvSpPr txBox="1"/>
          <p:nvPr/>
        </p:nvSpPr>
        <p:spPr>
          <a:xfrm>
            <a:off x="4844937" y="4583036"/>
            <a:ext cx="64788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對應標準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next-token prediction (target model)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model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模型架構重點：計算成本主要集中在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shared trunk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；多個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的額外成本相對較小，因此可用於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token prediction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475720" y="662940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10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Part2: Related works / MTP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Baseline training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107899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8D6D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未加入 consistency 時，每個 head 只根據自己的 target offset 計算 CE loss。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E19BF25-9735-8D18-1732-C1D72C93C50A}"/>
              </a:ext>
            </a:extLst>
          </p:cNvPr>
          <p:cNvSpPr txBox="1"/>
          <p:nvPr/>
        </p:nvSpPr>
        <p:spPr>
          <a:xfrm>
            <a:off x="685800" y="5653884"/>
            <a:ext cx="9756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優點：架構簡單，與標準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訓練流程相容。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限制：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distribution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可能與可靠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 / 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不一致。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0DB2690-6F5C-99B3-EA4D-A28717A4F9C9}"/>
              </a:ext>
            </a:extLst>
          </p:cNvPr>
          <p:cNvGrpSpPr/>
          <p:nvPr/>
        </p:nvGrpSpPr>
        <p:grpSpPr>
          <a:xfrm>
            <a:off x="793461" y="2624041"/>
            <a:ext cx="3756816" cy="2330611"/>
            <a:chOff x="997647" y="2064747"/>
            <a:chExt cx="3756816" cy="2330611"/>
          </a:xfrm>
        </p:grpSpPr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D27D74E4-D606-FD57-3680-5D8C248CF416}"/>
                </a:ext>
              </a:extLst>
            </p:cNvPr>
            <p:cNvSpPr/>
            <p:nvPr/>
          </p:nvSpPr>
          <p:spPr>
            <a:xfrm>
              <a:off x="997647" y="3738410"/>
              <a:ext cx="3756816" cy="65694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Shared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6B13D94C-EAAF-98FB-26BC-A3FF955B202B}"/>
                </a:ext>
              </a:extLst>
            </p:cNvPr>
            <p:cNvGrpSpPr/>
            <p:nvPr/>
          </p:nvGrpSpPr>
          <p:grpSpPr>
            <a:xfrm>
              <a:off x="997647" y="2064747"/>
              <a:ext cx="3756816" cy="1577318"/>
              <a:chOff x="997647" y="2064747"/>
              <a:chExt cx="3756816" cy="1577318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42F8B22D-63E6-B10E-00F2-3B91626D0D72}"/>
                  </a:ext>
                </a:extLst>
              </p:cNvPr>
              <p:cNvGrpSpPr/>
              <p:nvPr/>
            </p:nvGrpSpPr>
            <p:grpSpPr>
              <a:xfrm>
                <a:off x="997647" y="2064747"/>
                <a:ext cx="3756816" cy="1577318"/>
                <a:chOff x="1189606" y="2432455"/>
                <a:chExt cx="3756816" cy="1577318"/>
              </a:xfrm>
            </p:grpSpPr>
            <p:grpSp>
              <p:nvGrpSpPr>
                <p:cNvPr id="21" name="群組 20">
                  <a:extLst>
                    <a:ext uri="{FF2B5EF4-FFF2-40B4-BE49-F238E27FC236}">
                      <a16:creationId xmlns:a16="http://schemas.microsoft.com/office/drawing/2014/main" id="{E7DDFE72-7E31-FF34-9BD6-3AB52D31DDAE}"/>
                    </a:ext>
                  </a:extLst>
                </p:cNvPr>
                <p:cNvGrpSpPr/>
                <p:nvPr/>
              </p:nvGrpSpPr>
              <p:grpSpPr>
                <a:xfrm>
                  <a:off x="1189606" y="2432455"/>
                  <a:ext cx="3756816" cy="996039"/>
                  <a:chOff x="1189606" y="2646026"/>
                  <a:chExt cx="3756816" cy="996039"/>
                </a:xfrm>
              </p:grpSpPr>
              <p:sp>
                <p:nvSpPr>
                  <p:cNvPr id="28" name="矩形: 圓角 27">
                    <a:extLst>
                      <a:ext uri="{FF2B5EF4-FFF2-40B4-BE49-F238E27FC236}">
                        <a16:creationId xmlns:a16="http://schemas.microsoft.com/office/drawing/2014/main" id="{29183A70-3519-4022-A8AB-6905C95AEF9B}"/>
                      </a:ext>
                    </a:extLst>
                  </p:cNvPr>
                  <p:cNvSpPr/>
                  <p:nvPr/>
                </p:nvSpPr>
                <p:spPr>
                  <a:xfrm>
                    <a:off x="1189606" y="2654423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1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" name="矩形: 圓角 28">
                    <a:extLst>
                      <a:ext uri="{FF2B5EF4-FFF2-40B4-BE49-F238E27FC236}">
                        <a16:creationId xmlns:a16="http://schemas.microsoft.com/office/drawing/2014/main" id="{1FE55618-178A-B171-B85C-739224691B24}"/>
                      </a:ext>
                    </a:extLst>
                  </p:cNvPr>
                  <p:cNvSpPr/>
                  <p:nvPr/>
                </p:nvSpPr>
                <p:spPr>
                  <a:xfrm>
                    <a:off x="2336303" y="2648089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2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" name="文字方塊 29">
                    <a:extLst>
                      <a:ext uri="{FF2B5EF4-FFF2-40B4-BE49-F238E27FC236}">
                        <a16:creationId xmlns:a16="http://schemas.microsoft.com/office/drawing/2014/main" id="{94B20C0F-DFF8-EF56-2642-5DA45DB64922}"/>
                      </a:ext>
                    </a:extLst>
                  </p:cNvPr>
                  <p:cNvSpPr txBox="1"/>
                  <p:nvPr/>
                </p:nvSpPr>
                <p:spPr>
                  <a:xfrm>
                    <a:off x="3357237" y="2698844"/>
                    <a:ext cx="5682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/>
                      <a:t>… …</a:t>
                    </a:r>
                    <a:endParaRPr lang="zh-TW" altLang="en-US" dirty="0"/>
                  </a:p>
                </p:txBody>
              </p:sp>
              <p:sp>
                <p:nvSpPr>
                  <p:cNvPr id="31" name="矩形: 圓角 30">
                    <a:extLst>
                      <a:ext uri="{FF2B5EF4-FFF2-40B4-BE49-F238E27FC236}">
                        <a16:creationId xmlns:a16="http://schemas.microsoft.com/office/drawing/2014/main" id="{86AE9CAA-01C5-29CC-3C23-A645C6715C86}"/>
                      </a:ext>
                    </a:extLst>
                  </p:cNvPr>
                  <p:cNvSpPr/>
                  <p:nvPr/>
                </p:nvSpPr>
                <p:spPr>
                  <a:xfrm>
                    <a:off x="3925488" y="2646026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K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" name="箭號: 上彎 31">
                    <a:extLst>
                      <a:ext uri="{FF2B5EF4-FFF2-40B4-BE49-F238E27FC236}">
                        <a16:creationId xmlns:a16="http://schemas.microsoft.com/office/drawing/2014/main" id="{00F0454B-B828-A058-B546-413F73374959}"/>
                      </a:ext>
                    </a:extLst>
                  </p:cNvPr>
                  <p:cNvSpPr/>
                  <p:nvPr/>
                </p:nvSpPr>
                <p:spPr>
                  <a:xfrm>
                    <a:off x="2210540" y="3256009"/>
                    <a:ext cx="602206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3" name="箭號: 上彎 32">
                    <a:extLst>
                      <a:ext uri="{FF2B5EF4-FFF2-40B4-BE49-F238E27FC236}">
                        <a16:creationId xmlns:a16="http://schemas.microsoft.com/office/drawing/2014/main" id="{B87B3718-F907-12D5-20F8-827941911018}"/>
                      </a:ext>
                    </a:extLst>
                  </p:cNvPr>
                  <p:cNvSpPr/>
                  <p:nvPr/>
                </p:nvSpPr>
                <p:spPr>
                  <a:xfrm>
                    <a:off x="2548322" y="3256009"/>
                    <a:ext cx="1871282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34" name="箭號: 上彎 33">
                    <a:extLst>
                      <a:ext uri="{FF2B5EF4-FFF2-40B4-BE49-F238E27FC236}">
                        <a16:creationId xmlns:a16="http://schemas.microsoft.com/office/drawing/2014/main" id="{BFE6D144-ECAE-AA6B-EC85-2A5739AC2A77}"/>
                      </a:ext>
                    </a:extLst>
                  </p:cNvPr>
                  <p:cNvSpPr/>
                  <p:nvPr/>
                </p:nvSpPr>
                <p:spPr>
                  <a:xfrm flipH="1">
                    <a:off x="1454462" y="3256009"/>
                    <a:ext cx="862088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22" name="群組 21">
                  <a:extLst>
                    <a:ext uri="{FF2B5EF4-FFF2-40B4-BE49-F238E27FC236}">
                      <a16:creationId xmlns:a16="http://schemas.microsoft.com/office/drawing/2014/main" id="{8F400DC1-865C-75AF-057D-35EC25A91648}"/>
                    </a:ext>
                  </a:extLst>
                </p:cNvPr>
                <p:cNvGrpSpPr/>
                <p:nvPr/>
              </p:nvGrpSpPr>
              <p:grpSpPr>
                <a:xfrm>
                  <a:off x="1733345" y="3068176"/>
                  <a:ext cx="2902647" cy="941597"/>
                  <a:chOff x="1653159" y="2701033"/>
                  <a:chExt cx="2902647" cy="941597"/>
                </a:xfrm>
              </p:grpSpPr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FBDC415E-631D-B932-8A74-0454B3707534}"/>
                      </a:ext>
                    </a:extLst>
                  </p:cNvPr>
                  <p:cNvSpPr/>
                  <p:nvPr/>
                </p:nvSpPr>
                <p:spPr>
                  <a:xfrm>
                    <a:off x="1653159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6574E9D8-B709-B1DF-31F3-77708BD1CE07}"/>
                      </a:ext>
                    </a:extLst>
                  </p:cNvPr>
                  <p:cNvSpPr/>
                  <p:nvPr/>
                </p:nvSpPr>
                <p:spPr>
                  <a:xfrm>
                    <a:off x="2849206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29CF474B-6B19-9354-7133-DA5658FBE7A1}"/>
                      </a:ext>
                    </a:extLst>
                  </p:cNvPr>
                  <p:cNvSpPr/>
                  <p:nvPr/>
                </p:nvSpPr>
                <p:spPr>
                  <a:xfrm>
                    <a:off x="4430039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D19A49E2-CA27-4793-6BA2-DC2D6DA9561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972039" y="1899981"/>
                    <a:ext cx="144000" cy="2772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27" name="箭號: 向下 26">
                    <a:extLst>
                      <a:ext uri="{FF2B5EF4-FFF2-40B4-BE49-F238E27FC236}">
                        <a16:creationId xmlns:a16="http://schemas.microsoft.com/office/drawing/2014/main" id="{E9EAC942-2DFC-AFF9-4A25-B4CBDCF1788D}"/>
                      </a:ext>
                    </a:extLst>
                  </p:cNvPr>
                  <p:cNvSpPr/>
                  <p:nvPr/>
                </p:nvSpPr>
                <p:spPr>
                  <a:xfrm>
                    <a:off x="2431366" y="3227138"/>
                    <a:ext cx="190347" cy="415492"/>
                  </a:xfrm>
                  <a:prstGeom prst="down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</p:grpSp>
          </p:grp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C0BF961-DFEF-2814-05B8-C7C8959E8718}"/>
                  </a:ext>
                </a:extLst>
              </p:cNvPr>
              <p:cNvSpPr/>
              <p:nvPr/>
            </p:nvSpPr>
            <p:spPr>
              <a:xfrm>
                <a:off x="2124589" y="3008203"/>
                <a:ext cx="125767" cy="61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81D46F92-4F3B-1499-18FA-813A0E81E5C7}"/>
              </a:ext>
            </a:extLst>
          </p:cNvPr>
          <p:cNvGrpSpPr/>
          <p:nvPr/>
        </p:nvGrpSpPr>
        <p:grpSpPr>
          <a:xfrm>
            <a:off x="661764" y="1524859"/>
            <a:ext cx="3964602" cy="1067017"/>
            <a:chOff x="661764" y="1524859"/>
            <a:chExt cx="3964602" cy="1067017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A0526EC1-9C16-8C5E-8FD0-1E0E6D0CDD58}"/>
                </a:ext>
              </a:extLst>
            </p:cNvPr>
            <p:cNvSpPr/>
            <p:nvPr/>
          </p:nvSpPr>
          <p:spPr>
            <a:xfrm>
              <a:off x="661764" y="1526922"/>
              <a:ext cx="1143293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F12C196F-E3A5-BDC8-3792-6C92081AD5D3}"/>
                </a:ext>
              </a:extLst>
            </p:cNvPr>
            <p:cNvSpPr/>
            <p:nvPr/>
          </p:nvSpPr>
          <p:spPr>
            <a:xfrm>
              <a:off x="1895754" y="1524859"/>
              <a:ext cx="1143292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0E854134-7155-B096-7AA0-D25A817CC56B}"/>
                </a:ext>
              </a:extLst>
            </p:cNvPr>
            <p:cNvSpPr txBox="1"/>
            <p:nvPr/>
          </p:nvSpPr>
          <p:spPr>
            <a:xfrm>
              <a:off x="2983065" y="1577676"/>
              <a:ext cx="56825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dirty="0"/>
                <a:t>… …</a:t>
              </a:r>
              <a:endParaRPr lang="zh-TW" altLang="en-US" dirty="0"/>
            </a:p>
          </p:txBody>
        </p:sp>
        <p:sp>
          <p:nvSpPr>
            <p:cNvPr id="39" name="矩形: 圓角 38">
              <a:extLst>
                <a:ext uri="{FF2B5EF4-FFF2-40B4-BE49-F238E27FC236}">
                  <a16:creationId xmlns:a16="http://schemas.microsoft.com/office/drawing/2014/main" id="{AC3EFFC5-65D8-3C57-ED7A-5FF9168A1D63}"/>
                </a:ext>
              </a:extLst>
            </p:cNvPr>
            <p:cNvSpPr/>
            <p:nvPr/>
          </p:nvSpPr>
          <p:spPr>
            <a:xfrm>
              <a:off x="3512991" y="1524859"/>
              <a:ext cx="1113375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K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94A4BE25-2A6D-3EA1-D733-CFA2C87C3627}"/>
                </a:ext>
              </a:extLst>
            </p:cNvPr>
            <p:cNvGrpSpPr/>
            <p:nvPr/>
          </p:nvGrpSpPr>
          <p:grpSpPr>
            <a:xfrm>
              <a:off x="1064954" y="2205820"/>
              <a:ext cx="408075" cy="386056"/>
              <a:chOff x="1064954" y="2205820"/>
              <a:chExt cx="408075" cy="386056"/>
            </a:xfrm>
          </p:grpSpPr>
          <p:sp>
            <p:nvSpPr>
              <p:cNvPr id="47" name="箭號: 向上 46">
                <a:extLst>
                  <a:ext uri="{FF2B5EF4-FFF2-40B4-BE49-F238E27FC236}">
                    <a16:creationId xmlns:a16="http://schemas.microsoft.com/office/drawing/2014/main" id="{AAD734F2-50CD-932A-C900-AB3767DF9A6A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箭號: 向上 47">
                <a:extLst>
                  <a:ext uri="{FF2B5EF4-FFF2-40B4-BE49-F238E27FC236}">
                    <a16:creationId xmlns:a16="http://schemas.microsoft.com/office/drawing/2014/main" id="{F747AFEB-DE94-2A0A-A81D-34B98E131BC9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152FE89E-8FF2-54A0-48A0-0FBD97C262FD}"/>
                </a:ext>
              </a:extLst>
            </p:cNvPr>
            <p:cNvGrpSpPr/>
            <p:nvPr/>
          </p:nvGrpSpPr>
          <p:grpSpPr>
            <a:xfrm>
              <a:off x="2250939" y="2205820"/>
              <a:ext cx="408075" cy="386056"/>
              <a:chOff x="1064954" y="2205820"/>
              <a:chExt cx="408075" cy="386056"/>
            </a:xfrm>
          </p:grpSpPr>
          <p:sp>
            <p:nvSpPr>
              <p:cNvPr id="45" name="箭號: 向上 44">
                <a:extLst>
                  <a:ext uri="{FF2B5EF4-FFF2-40B4-BE49-F238E27FC236}">
                    <a16:creationId xmlns:a16="http://schemas.microsoft.com/office/drawing/2014/main" id="{365C9BCA-84BB-7387-895A-663483E95F67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箭號: 向上 45">
                <a:extLst>
                  <a:ext uri="{FF2B5EF4-FFF2-40B4-BE49-F238E27FC236}">
                    <a16:creationId xmlns:a16="http://schemas.microsoft.com/office/drawing/2014/main" id="{D2302F61-FB3F-8275-B456-22B4F251388A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396292E6-83EB-EFB5-CD4A-719FFFF412BA}"/>
                </a:ext>
              </a:extLst>
            </p:cNvPr>
            <p:cNvGrpSpPr/>
            <p:nvPr/>
          </p:nvGrpSpPr>
          <p:grpSpPr>
            <a:xfrm>
              <a:off x="3910042" y="2182215"/>
              <a:ext cx="408075" cy="386056"/>
              <a:chOff x="1064954" y="2205820"/>
              <a:chExt cx="408075" cy="386056"/>
            </a:xfrm>
          </p:grpSpPr>
          <p:sp>
            <p:nvSpPr>
              <p:cNvPr id="43" name="箭號: 向上 42">
                <a:extLst>
                  <a:ext uri="{FF2B5EF4-FFF2-40B4-BE49-F238E27FC236}">
                    <a16:creationId xmlns:a16="http://schemas.microsoft.com/office/drawing/2014/main" id="{1A3DA002-23AC-6BB0-6FC7-E49205907C6C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箭號: 向上 43">
                <a:extLst>
                  <a:ext uri="{FF2B5EF4-FFF2-40B4-BE49-F238E27FC236}">
                    <a16:creationId xmlns:a16="http://schemas.microsoft.com/office/drawing/2014/main" id="{7D574673-444E-0A6F-C43C-DD4AD1A0BD8A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FF75840B-9137-D44E-83C2-3C00295E77D3}"/>
              </a:ext>
            </a:extLst>
          </p:cNvPr>
          <p:cNvGrpSpPr/>
          <p:nvPr/>
        </p:nvGrpSpPr>
        <p:grpSpPr>
          <a:xfrm>
            <a:off x="4729325" y="1162178"/>
            <a:ext cx="2441359" cy="1200329"/>
            <a:chOff x="4831952" y="1346844"/>
            <a:chExt cx="2441359" cy="1200329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62761AEA-8BCB-04B5-7E8A-4F782574E681}"/>
                </a:ext>
              </a:extLst>
            </p:cNvPr>
            <p:cNvSpPr txBox="1"/>
            <p:nvPr/>
          </p:nvSpPr>
          <p:spPr>
            <a:xfrm>
              <a:off x="4831952" y="1346844"/>
              <a:ext cx="244135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300000"/>
                </a:lnSpc>
                <a:buFont typeface="Arial" panose="020B0604020202020204" pitchFamily="34" charset="0"/>
                <a:buChar char="•"/>
              </a:pPr>
              <a:r>
                <a:rPr lang="en-US" altLang="zh-TW" dirty="0"/>
                <a:t>Forward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/>
                <a:t>Backward</a:t>
              </a:r>
            </a:p>
          </p:txBody>
        </p:sp>
        <p:sp>
          <p:nvSpPr>
            <p:cNvPr id="51" name="箭號: 向上 50">
              <a:extLst>
                <a:ext uri="{FF2B5EF4-FFF2-40B4-BE49-F238E27FC236}">
                  <a16:creationId xmlns:a16="http://schemas.microsoft.com/office/drawing/2014/main" id="{5E987716-527A-F54D-3068-06826A6AA132}"/>
                </a:ext>
              </a:extLst>
            </p:cNvPr>
            <p:cNvSpPr/>
            <p:nvPr/>
          </p:nvSpPr>
          <p:spPr>
            <a:xfrm>
              <a:off x="4879090" y="1688203"/>
              <a:ext cx="215809" cy="386056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箭號: 向上 51">
              <a:extLst>
                <a:ext uri="{FF2B5EF4-FFF2-40B4-BE49-F238E27FC236}">
                  <a16:creationId xmlns:a16="http://schemas.microsoft.com/office/drawing/2014/main" id="{66196920-872C-09B7-95B9-8F7EB1F49E0A}"/>
                </a:ext>
              </a:extLst>
            </p:cNvPr>
            <p:cNvSpPr/>
            <p:nvPr/>
          </p:nvSpPr>
          <p:spPr>
            <a:xfrm>
              <a:off x="4880218" y="2131127"/>
              <a:ext cx="215809" cy="386056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96971C90-30E2-127C-CFAA-9C3051E9D81C}"/>
              </a:ext>
            </a:extLst>
          </p:cNvPr>
          <p:cNvSpPr/>
          <p:nvPr/>
        </p:nvSpPr>
        <p:spPr>
          <a:xfrm>
            <a:off x="6137598" y="1503537"/>
            <a:ext cx="4279037" cy="299195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/>
              <a:t>z = </a:t>
            </a:r>
            <a:r>
              <a:rPr lang="en-US" altLang="zh-TW" dirty="0" err="1"/>
              <a:t>model.shared</a:t>
            </a:r>
            <a:r>
              <a:rPr lang="en-US" altLang="zh-TW" dirty="0"/>
              <a:t>(x)</a:t>
            </a:r>
          </a:p>
          <a:p>
            <a:r>
              <a:rPr lang="en-US" altLang="zh-TW" dirty="0"/>
              <a:t>d = </a:t>
            </a:r>
            <a:r>
              <a:rPr lang="en-US" altLang="zh-TW" dirty="0" err="1"/>
              <a:t>z.detach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d.requires_grad</a:t>
            </a:r>
            <a:r>
              <a:rPr lang="en-US" altLang="zh-TW" dirty="0"/>
              <a:t> = True</a:t>
            </a:r>
          </a:p>
          <a:p>
            <a:endParaRPr lang="en-US" altLang="zh-TW" dirty="0"/>
          </a:p>
          <a:p>
            <a:r>
              <a:rPr lang="en-US" altLang="zh-TW" dirty="0"/>
              <a:t>for </a:t>
            </a:r>
            <a:r>
              <a:rPr lang="en-US" altLang="zh-TW" dirty="0" err="1"/>
              <a:t>i</a:t>
            </a:r>
            <a:r>
              <a:rPr lang="en-US" altLang="zh-TW" dirty="0"/>
              <a:t> in range(n):</a:t>
            </a:r>
          </a:p>
          <a:p>
            <a:r>
              <a:rPr lang="en-US" altLang="zh-TW" dirty="0"/>
              <a:t>    p = </a:t>
            </a:r>
            <a:r>
              <a:rPr lang="en-US" altLang="zh-TW" dirty="0" err="1"/>
              <a:t>model.head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](d)</a:t>
            </a:r>
          </a:p>
          <a:p>
            <a:r>
              <a:rPr lang="en-US" altLang="zh-TW" dirty="0"/>
              <a:t>    loss(p, y[</a:t>
            </a:r>
            <a:r>
              <a:rPr lang="en-US" altLang="zh-TW" dirty="0" err="1"/>
              <a:t>i</a:t>
            </a:r>
            <a:r>
              <a:rPr lang="en-US" altLang="zh-TW" dirty="0"/>
              <a:t>]).backward()</a:t>
            </a:r>
          </a:p>
          <a:p>
            <a:r>
              <a:rPr lang="en-US" altLang="zh-TW" dirty="0"/>
              <a:t> </a:t>
            </a:r>
          </a:p>
          <a:p>
            <a:r>
              <a:rPr lang="en-US" altLang="zh-TW" dirty="0" err="1"/>
              <a:t>z.backward</a:t>
            </a:r>
            <a:r>
              <a:rPr lang="en-US" altLang="zh-TW" dirty="0"/>
              <a:t>(gradient=</a:t>
            </a:r>
            <a:r>
              <a:rPr lang="en-US" altLang="zh-TW" dirty="0" err="1"/>
              <a:t>d.grad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540971" y="6629400"/>
            <a:ext cx="437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11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Part2: Related works / MTP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Self-speculative decoding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55235AD4-D98D-E730-EE6E-FC8FFB3EE63C}"/>
              </a:ext>
            </a:extLst>
          </p:cNvPr>
          <p:cNvGrpSpPr/>
          <p:nvPr/>
        </p:nvGrpSpPr>
        <p:grpSpPr>
          <a:xfrm>
            <a:off x="347471" y="735984"/>
            <a:ext cx="3445903" cy="3842580"/>
            <a:chOff x="638400" y="1449914"/>
            <a:chExt cx="3445903" cy="3842580"/>
          </a:xfrm>
        </p:grpSpPr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177A29CD-4CEC-4B12-03F9-72DC250DD8FC}"/>
                </a:ext>
              </a:extLst>
            </p:cNvPr>
            <p:cNvSpPr txBox="1"/>
            <p:nvPr/>
          </p:nvSpPr>
          <p:spPr>
            <a:xfrm>
              <a:off x="638400" y="1449914"/>
              <a:ext cx="1760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Propose + verify</a:t>
              </a:r>
              <a:endParaRPr lang="zh-TW" altLang="en-US" dirty="0"/>
            </a:p>
          </p:txBody>
        </p:sp>
        <p:grpSp>
          <p:nvGrpSpPr>
            <p:cNvPr id="128" name="群組 127">
              <a:extLst>
                <a:ext uri="{FF2B5EF4-FFF2-40B4-BE49-F238E27FC236}">
                  <a16:creationId xmlns:a16="http://schemas.microsoft.com/office/drawing/2014/main" id="{45AFBFB4-BD64-23E4-ECB3-21025FE319AE}"/>
                </a:ext>
              </a:extLst>
            </p:cNvPr>
            <p:cNvGrpSpPr/>
            <p:nvPr/>
          </p:nvGrpSpPr>
          <p:grpSpPr>
            <a:xfrm>
              <a:off x="638402" y="2094095"/>
              <a:ext cx="3445901" cy="3198399"/>
              <a:chOff x="-7395" y="3688950"/>
              <a:chExt cx="3445901" cy="3198399"/>
            </a:xfrm>
          </p:grpSpPr>
          <p:grpSp>
            <p:nvGrpSpPr>
              <p:cNvPr id="126" name="群組 125">
                <a:extLst>
                  <a:ext uri="{FF2B5EF4-FFF2-40B4-BE49-F238E27FC236}">
                    <a16:creationId xmlns:a16="http://schemas.microsoft.com/office/drawing/2014/main" id="{E2DD556E-62E3-3613-F08E-7D5A86345D76}"/>
                  </a:ext>
                </a:extLst>
              </p:cNvPr>
              <p:cNvGrpSpPr/>
              <p:nvPr/>
            </p:nvGrpSpPr>
            <p:grpSpPr>
              <a:xfrm>
                <a:off x="1508908" y="4875034"/>
                <a:ext cx="1704512" cy="1239539"/>
                <a:chOff x="1965168" y="3162640"/>
                <a:chExt cx="1704512" cy="1239539"/>
              </a:xfrm>
            </p:grpSpPr>
            <p:sp>
              <p:nvSpPr>
                <p:cNvPr id="31" name="矩形: 圓角 30">
                  <a:extLst>
                    <a:ext uri="{FF2B5EF4-FFF2-40B4-BE49-F238E27FC236}">
                      <a16:creationId xmlns:a16="http://schemas.microsoft.com/office/drawing/2014/main" id="{30F475C6-2F91-7CC4-89FA-BA1A5B18F40D}"/>
                    </a:ext>
                  </a:extLst>
                </p:cNvPr>
                <p:cNvSpPr/>
                <p:nvPr/>
              </p:nvSpPr>
              <p:spPr>
                <a:xfrm>
                  <a:off x="1965168" y="3443361"/>
                  <a:ext cx="1704512" cy="692458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Model(K = 3)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箭號: 向上 31">
                  <a:extLst>
                    <a:ext uri="{FF2B5EF4-FFF2-40B4-BE49-F238E27FC236}">
                      <a16:creationId xmlns:a16="http://schemas.microsoft.com/office/drawing/2014/main" id="{A47C2927-F8E9-6C4A-3691-B66B842DAF3E}"/>
                    </a:ext>
                  </a:extLst>
                </p:cNvPr>
                <p:cNvSpPr/>
                <p:nvPr/>
              </p:nvSpPr>
              <p:spPr>
                <a:xfrm>
                  <a:off x="2748807" y="4150179"/>
                  <a:ext cx="140462" cy="252000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4" name="箭號: 向上 43">
                  <a:extLst>
                    <a:ext uri="{FF2B5EF4-FFF2-40B4-BE49-F238E27FC236}">
                      <a16:creationId xmlns:a16="http://schemas.microsoft.com/office/drawing/2014/main" id="{25164CCB-05F5-A1B0-DF7A-A82561D6B8CF}"/>
                    </a:ext>
                  </a:extLst>
                </p:cNvPr>
                <p:cNvSpPr/>
                <p:nvPr/>
              </p:nvSpPr>
              <p:spPr>
                <a:xfrm>
                  <a:off x="2747193" y="3162640"/>
                  <a:ext cx="140462" cy="252000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p:grpSp>
            <p:nvGrpSpPr>
              <p:cNvPr id="124" name="群組 123">
                <a:extLst>
                  <a:ext uri="{FF2B5EF4-FFF2-40B4-BE49-F238E27FC236}">
                    <a16:creationId xmlns:a16="http://schemas.microsoft.com/office/drawing/2014/main" id="{DAC5D0FF-E03D-1CD0-3190-A7EB9BFE6738}"/>
                  </a:ext>
                </a:extLst>
              </p:cNvPr>
              <p:cNvGrpSpPr/>
              <p:nvPr/>
            </p:nvGrpSpPr>
            <p:grpSpPr>
              <a:xfrm>
                <a:off x="-7395" y="3688950"/>
                <a:ext cx="3154904" cy="1154932"/>
                <a:chOff x="429928" y="1981136"/>
                <a:chExt cx="3154904" cy="1154932"/>
              </a:xfrm>
            </p:grpSpPr>
            <p:grpSp>
              <p:nvGrpSpPr>
                <p:cNvPr id="33" name="群組 32">
                  <a:extLst>
                    <a:ext uri="{FF2B5EF4-FFF2-40B4-BE49-F238E27FC236}">
                      <a16:creationId xmlns:a16="http://schemas.microsoft.com/office/drawing/2014/main" id="{8C3991DE-C2A6-113A-485F-F600734E50EB}"/>
                    </a:ext>
                  </a:extLst>
                </p:cNvPr>
                <p:cNvGrpSpPr/>
                <p:nvPr/>
              </p:nvGrpSpPr>
              <p:grpSpPr>
                <a:xfrm>
                  <a:off x="429928" y="2766371"/>
                  <a:ext cx="3154904" cy="369697"/>
                  <a:chOff x="-26810" y="4587425"/>
                  <a:chExt cx="3154904" cy="369697"/>
                </a:xfrm>
              </p:grpSpPr>
              <p:grpSp>
                <p:nvGrpSpPr>
                  <p:cNvPr id="34" name="群組 33">
                    <a:extLst>
                      <a:ext uri="{FF2B5EF4-FFF2-40B4-BE49-F238E27FC236}">
                        <a16:creationId xmlns:a16="http://schemas.microsoft.com/office/drawing/2014/main" id="{449312BB-9678-61CE-4BD9-8A242C3A0625}"/>
                      </a:ext>
                    </a:extLst>
                  </p:cNvPr>
                  <p:cNvGrpSpPr/>
                  <p:nvPr/>
                </p:nvGrpSpPr>
                <p:grpSpPr>
                  <a:xfrm>
                    <a:off x="-26810" y="4587425"/>
                    <a:ext cx="3154904" cy="369697"/>
                    <a:chOff x="0" y="4588587"/>
                    <a:chExt cx="3114546" cy="369697"/>
                  </a:xfrm>
                </p:grpSpPr>
                <p:grpSp>
                  <p:nvGrpSpPr>
                    <p:cNvPr id="36" name="群組 35">
                      <a:extLst>
                        <a:ext uri="{FF2B5EF4-FFF2-40B4-BE49-F238E27FC236}">
                          <a16:creationId xmlns:a16="http://schemas.microsoft.com/office/drawing/2014/main" id="{421859A5-0646-43F6-16EB-EEA18B89D9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4588587"/>
                      <a:ext cx="2313340" cy="369332"/>
                      <a:chOff x="47811" y="6289889"/>
                      <a:chExt cx="2140823" cy="369332"/>
                    </a:xfrm>
                  </p:grpSpPr>
                  <p:sp>
                    <p:nvSpPr>
                      <p:cNvPr id="42" name="文字方塊 41">
                        <a:extLst>
                          <a:ext uri="{FF2B5EF4-FFF2-40B4-BE49-F238E27FC236}">
                            <a16:creationId xmlns:a16="http://schemas.microsoft.com/office/drawing/2014/main" id="{AD2FC6D9-5DEF-D5B9-C7C9-29ED37B472E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811" y="6289889"/>
                        <a:ext cx="132006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TW" dirty="0"/>
                          <a:t>Head 1:</a:t>
                        </a:r>
                        <a:endParaRPr lang="zh-TW" altLang="en-US" dirty="0"/>
                      </a:p>
                    </p:txBody>
                  </p:sp>
                  <p:sp>
                    <p:nvSpPr>
                      <p:cNvPr id="43" name="矩形 42">
                        <a:extLst>
                          <a:ext uri="{FF2B5EF4-FFF2-40B4-BE49-F238E27FC236}">
                            <a16:creationId xmlns:a16="http://schemas.microsoft.com/office/drawing/2014/main" id="{6AB74D8B-7DF9-1C65-52B0-123AD7F5D6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9743" y="6294555"/>
                        <a:ext cx="328891" cy="36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600" dirty="0">
                            <a:solidFill>
                              <a:schemeClr val="tx1"/>
                            </a:solidFill>
                          </a:rPr>
                          <a:t>t</a:t>
                        </a:r>
                        <a:r>
                          <a:rPr lang="en-US" altLang="zh-TW" sz="1600" baseline="-25000" dirty="0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altLang="zh-TW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37" name="矩形 36">
                      <a:extLst>
                        <a:ext uri="{FF2B5EF4-FFF2-40B4-BE49-F238E27FC236}">
                          <a16:creationId xmlns:a16="http://schemas.microsoft.com/office/drawing/2014/main" id="{392265FF-4B14-12EE-1A6B-FEA5FCC8B8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8548" y="4593253"/>
                      <a:ext cx="355395" cy="36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TW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8" name="矩形 37">
                      <a:extLst>
                        <a:ext uri="{FF2B5EF4-FFF2-40B4-BE49-F238E27FC236}">
                          <a16:creationId xmlns:a16="http://schemas.microsoft.com/office/drawing/2014/main" id="{1FD60A51-EC2C-468B-B7C9-B1EBC1098A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59151" y="4598284"/>
                      <a:ext cx="355395" cy="36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TW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7483DDF4-93DB-DEB7-B824-BC822568892D}"/>
                      </a:ext>
                    </a:extLst>
                  </p:cNvPr>
                  <p:cNvSpPr/>
                  <p:nvPr/>
                </p:nvSpPr>
                <p:spPr>
                  <a:xfrm>
                    <a:off x="1547086" y="4596757"/>
                    <a:ext cx="360000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1</a:t>
                    </a:r>
                    <a:endParaRPr lang="en-US" altLang="zh-TW" sz="1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2" name="群組 101">
                  <a:extLst>
                    <a:ext uri="{FF2B5EF4-FFF2-40B4-BE49-F238E27FC236}">
                      <a16:creationId xmlns:a16="http://schemas.microsoft.com/office/drawing/2014/main" id="{EE72A749-92AC-F07A-5759-F3E0842165E9}"/>
                    </a:ext>
                  </a:extLst>
                </p:cNvPr>
                <p:cNvGrpSpPr/>
                <p:nvPr/>
              </p:nvGrpSpPr>
              <p:grpSpPr>
                <a:xfrm>
                  <a:off x="429928" y="2375168"/>
                  <a:ext cx="3154904" cy="372397"/>
                  <a:chOff x="-26810" y="4587425"/>
                  <a:chExt cx="3154904" cy="372397"/>
                </a:xfrm>
              </p:grpSpPr>
              <p:grpSp>
                <p:nvGrpSpPr>
                  <p:cNvPr id="103" name="群組 102">
                    <a:extLst>
                      <a:ext uri="{FF2B5EF4-FFF2-40B4-BE49-F238E27FC236}">
                        <a16:creationId xmlns:a16="http://schemas.microsoft.com/office/drawing/2014/main" id="{B09A45D8-69E9-FC80-8232-49617E224682}"/>
                      </a:ext>
                    </a:extLst>
                  </p:cNvPr>
                  <p:cNvGrpSpPr/>
                  <p:nvPr/>
                </p:nvGrpSpPr>
                <p:grpSpPr>
                  <a:xfrm>
                    <a:off x="-26810" y="4587425"/>
                    <a:ext cx="3154904" cy="372397"/>
                    <a:chOff x="0" y="4588587"/>
                    <a:chExt cx="3114546" cy="372397"/>
                  </a:xfrm>
                </p:grpSpPr>
                <p:grpSp>
                  <p:nvGrpSpPr>
                    <p:cNvPr id="105" name="群組 104">
                      <a:extLst>
                        <a:ext uri="{FF2B5EF4-FFF2-40B4-BE49-F238E27FC236}">
                          <a16:creationId xmlns:a16="http://schemas.microsoft.com/office/drawing/2014/main" id="{4F929EA8-0213-71CF-790B-087BD3B24C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4588587"/>
                      <a:ext cx="2313340" cy="369332"/>
                      <a:chOff x="47811" y="6289889"/>
                      <a:chExt cx="2140823" cy="369332"/>
                    </a:xfrm>
                  </p:grpSpPr>
                  <p:sp>
                    <p:nvSpPr>
                      <p:cNvPr id="111" name="文字方塊 110">
                        <a:extLst>
                          <a:ext uri="{FF2B5EF4-FFF2-40B4-BE49-F238E27FC236}">
                            <a16:creationId xmlns:a16="http://schemas.microsoft.com/office/drawing/2014/main" id="{3A3D5D9A-C6E2-E744-6E90-A69D1C72657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811" y="6289889"/>
                        <a:ext cx="132006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TW" dirty="0"/>
                          <a:t>Head 2:</a:t>
                        </a:r>
                        <a:endParaRPr lang="zh-TW" altLang="en-US" dirty="0"/>
                      </a:p>
                    </p:txBody>
                  </p:sp>
                  <p:sp>
                    <p:nvSpPr>
                      <p:cNvPr id="112" name="矩形 111">
                        <a:extLst>
                          <a:ext uri="{FF2B5EF4-FFF2-40B4-BE49-F238E27FC236}">
                            <a16:creationId xmlns:a16="http://schemas.microsoft.com/office/drawing/2014/main" id="{EE2CB262-458B-FA93-2CF8-C754B969D3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9743" y="6294555"/>
                        <a:ext cx="328891" cy="36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600" dirty="0">
                            <a:solidFill>
                              <a:schemeClr val="tx1"/>
                            </a:solidFill>
                          </a:rPr>
                          <a:t>t</a:t>
                        </a:r>
                        <a:r>
                          <a:rPr lang="en-US" altLang="zh-TW" sz="1600" baseline="-25000" dirty="0">
                            <a:solidFill>
                              <a:schemeClr val="tx1"/>
                            </a:solidFill>
                          </a:rPr>
                          <a:t>3</a:t>
                        </a:r>
                        <a:endParaRPr lang="en-US" altLang="zh-TW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06" name="矩形 105">
                      <a:extLst>
                        <a:ext uri="{FF2B5EF4-FFF2-40B4-BE49-F238E27FC236}">
                          <a16:creationId xmlns:a16="http://schemas.microsoft.com/office/drawing/2014/main" id="{2CBF5E42-A230-FA88-2534-1245ECB44D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8548" y="4593253"/>
                      <a:ext cx="355395" cy="36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TW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7" name="矩形 106">
                      <a:extLst>
                        <a:ext uri="{FF2B5EF4-FFF2-40B4-BE49-F238E27FC236}">
                          <a16:creationId xmlns:a16="http://schemas.microsoft.com/office/drawing/2014/main" id="{E6960E9A-89FA-8E04-06C7-BCF78BD7B5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59151" y="4600984"/>
                      <a:ext cx="355395" cy="36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TW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04" name="矩形 103">
                    <a:extLst>
                      <a:ext uri="{FF2B5EF4-FFF2-40B4-BE49-F238E27FC236}">
                        <a16:creationId xmlns:a16="http://schemas.microsoft.com/office/drawing/2014/main" id="{25DB0C71-966F-36B3-89A4-BE3EF1B60641}"/>
                      </a:ext>
                    </a:extLst>
                  </p:cNvPr>
                  <p:cNvSpPr/>
                  <p:nvPr/>
                </p:nvSpPr>
                <p:spPr>
                  <a:xfrm>
                    <a:off x="1547086" y="4596757"/>
                    <a:ext cx="360000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2</a:t>
                    </a:r>
                    <a:endParaRPr lang="en-US" altLang="zh-TW" sz="1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13" name="群組 112">
                  <a:extLst>
                    <a:ext uri="{FF2B5EF4-FFF2-40B4-BE49-F238E27FC236}">
                      <a16:creationId xmlns:a16="http://schemas.microsoft.com/office/drawing/2014/main" id="{C8C04B85-2193-E600-924B-B341DA35205A}"/>
                    </a:ext>
                  </a:extLst>
                </p:cNvPr>
                <p:cNvGrpSpPr/>
                <p:nvPr/>
              </p:nvGrpSpPr>
              <p:grpSpPr>
                <a:xfrm>
                  <a:off x="429928" y="1981136"/>
                  <a:ext cx="3154904" cy="371081"/>
                  <a:chOff x="-26810" y="4587425"/>
                  <a:chExt cx="3154904" cy="371081"/>
                </a:xfrm>
              </p:grpSpPr>
              <p:grpSp>
                <p:nvGrpSpPr>
                  <p:cNvPr id="114" name="群組 113">
                    <a:extLst>
                      <a:ext uri="{FF2B5EF4-FFF2-40B4-BE49-F238E27FC236}">
                        <a16:creationId xmlns:a16="http://schemas.microsoft.com/office/drawing/2014/main" id="{A23A0048-3769-E5B2-7B0E-1BDA2EEF4319}"/>
                      </a:ext>
                    </a:extLst>
                  </p:cNvPr>
                  <p:cNvGrpSpPr/>
                  <p:nvPr/>
                </p:nvGrpSpPr>
                <p:grpSpPr>
                  <a:xfrm>
                    <a:off x="-26810" y="4587425"/>
                    <a:ext cx="3154904" cy="371081"/>
                    <a:chOff x="0" y="4588587"/>
                    <a:chExt cx="3114546" cy="371081"/>
                  </a:xfrm>
                </p:grpSpPr>
                <p:grpSp>
                  <p:nvGrpSpPr>
                    <p:cNvPr id="116" name="群組 115">
                      <a:extLst>
                        <a:ext uri="{FF2B5EF4-FFF2-40B4-BE49-F238E27FC236}">
                          <a16:creationId xmlns:a16="http://schemas.microsoft.com/office/drawing/2014/main" id="{8D41EEB3-564C-3325-ED78-93645D079A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4588587"/>
                      <a:ext cx="2313340" cy="369332"/>
                      <a:chOff x="47811" y="6289889"/>
                      <a:chExt cx="2140823" cy="369332"/>
                    </a:xfrm>
                  </p:grpSpPr>
                  <p:sp>
                    <p:nvSpPr>
                      <p:cNvPr id="122" name="文字方塊 121">
                        <a:extLst>
                          <a:ext uri="{FF2B5EF4-FFF2-40B4-BE49-F238E27FC236}">
                            <a16:creationId xmlns:a16="http://schemas.microsoft.com/office/drawing/2014/main" id="{C684E76D-EFE0-277F-2C2C-53652DD0A1E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811" y="6289889"/>
                        <a:ext cx="132006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TW" dirty="0"/>
                          <a:t>Head 3:</a:t>
                        </a:r>
                        <a:endParaRPr lang="zh-TW" altLang="en-US" dirty="0"/>
                      </a:p>
                    </p:txBody>
                  </p:sp>
                  <p:sp>
                    <p:nvSpPr>
                      <p:cNvPr id="123" name="矩形 122">
                        <a:extLst>
                          <a:ext uri="{FF2B5EF4-FFF2-40B4-BE49-F238E27FC236}">
                            <a16:creationId xmlns:a16="http://schemas.microsoft.com/office/drawing/2014/main" id="{E9FFBB6D-B599-46BE-5894-39B88EB760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9743" y="6294555"/>
                        <a:ext cx="328891" cy="36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600" dirty="0">
                            <a:solidFill>
                              <a:schemeClr val="tx1"/>
                            </a:solidFill>
                          </a:rPr>
                          <a:t>t</a:t>
                        </a:r>
                        <a:r>
                          <a:rPr lang="en-US" altLang="zh-TW" sz="1600" baseline="-25000" dirty="0">
                            <a:solidFill>
                              <a:schemeClr val="tx1"/>
                            </a:solidFill>
                          </a:rPr>
                          <a:t>4</a:t>
                        </a:r>
                        <a:endParaRPr lang="en-US" altLang="zh-TW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17" name="矩形 116">
                      <a:extLst>
                        <a:ext uri="{FF2B5EF4-FFF2-40B4-BE49-F238E27FC236}">
                          <a16:creationId xmlns:a16="http://schemas.microsoft.com/office/drawing/2014/main" id="{741095D4-1135-3F7B-A456-0A4F48B469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8548" y="4593253"/>
                      <a:ext cx="355395" cy="36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TW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8" name="矩形 117">
                      <a:extLst>
                        <a:ext uri="{FF2B5EF4-FFF2-40B4-BE49-F238E27FC236}">
                          <a16:creationId xmlns:a16="http://schemas.microsoft.com/office/drawing/2014/main" id="{6F7AF0BC-365C-42DA-9DC8-D4A8B86B73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59151" y="4599668"/>
                      <a:ext cx="355395" cy="36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TW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15" name="矩形 114">
                    <a:extLst>
                      <a:ext uri="{FF2B5EF4-FFF2-40B4-BE49-F238E27FC236}">
                        <a16:creationId xmlns:a16="http://schemas.microsoft.com/office/drawing/2014/main" id="{090BDF83-60F3-C3E7-E8BA-CDE9DB89CA0C}"/>
                      </a:ext>
                    </a:extLst>
                  </p:cNvPr>
                  <p:cNvSpPr/>
                  <p:nvPr/>
                </p:nvSpPr>
                <p:spPr>
                  <a:xfrm>
                    <a:off x="1547086" y="4596757"/>
                    <a:ext cx="360000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3</a:t>
                    </a:r>
                    <a:endParaRPr lang="en-US" altLang="zh-TW" sz="1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27" name="群組 126">
                <a:extLst>
                  <a:ext uri="{FF2B5EF4-FFF2-40B4-BE49-F238E27FC236}">
                    <a16:creationId xmlns:a16="http://schemas.microsoft.com/office/drawing/2014/main" id="{943A7811-246A-4093-8B02-CDD8EA930239}"/>
                  </a:ext>
                </a:extLst>
              </p:cNvPr>
              <p:cNvGrpSpPr/>
              <p:nvPr/>
            </p:nvGrpSpPr>
            <p:grpSpPr>
              <a:xfrm>
                <a:off x="0" y="6160086"/>
                <a:ext cx="3438506" cy="727263"/>
                <a:chOff x="429928" y="4430900"/>
                <a:chExt cx="3438506" cy="727263"/>
              </a:xfrm>
            </p:grpSpPr>
            <p:grpSp>
              <p:nvGrpSpPr>
                <p:cNvPr id="23" name="群組 22">
                  <a:extLst>
                    <a:ext uri="{FF2B5EF4-FFF2-40B4-BE49-F238E27FC236}">
                      <a16:creationId xmlns:a16="http://schemas.microsoft.com/office/drawing/2014/main" id="{F091865A-D936-CFDE-4247-F6302D659E3E}"/>
                    </a:ext>
                  </a:extLst>
                </p:cNvPr>
                <p:cNvGrpSpPr/>
                <p:nvPr/>
              </p:nvGrpSpPr>
              <p:grpSpPr>
                <a:xfrm>
                  <a:off x="429928" y="4430900"/>
                  <a:ext cx="3115944" cy="369332"/>
                  <a:chOff x="0" y="6423020"/>
                  <a:chExt cx="3115944" cy="369332"/>
                </a:xfrm>
              </p:grpSpPr>
              <p:grpSp>
                <p:nvGrpSpPr>
                  <p:cNvPr id="24" name="群組 23">
                    <a:extLst>
                      <a:ext uri="{FF2B5EF4-FFF2-40B4-BE49-F238E27FC236}">
                        <a16:creationId xmlns:a16="http://schemas.microsoft.com/office/drawing/2014/main" id="{8B8880A8-C4EC-721A-8ED1-5E287D03F11E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423020"/>
                    <a:ext cx="2326384" cy="369332"/>
                    <a:chOff x="47811" y="6289889"/>
                    <a:chExt cx="2326384" cy="369332"/>
                  </a:xfrm>
                </p:grpSpPr>
                <p:sp>
                  <p:nvSpPr>
                    <p:cNvPr id="27" name="文字方塊 26">
                      <a:extLst>
                        <a:ext uri="{FF2B5EF4-FFF2-40B4-BE49-F238E27FC236}">
                          <a16:creationId xmlns:a16="http://schemas.microsoft.com/office/drawing/2014/main" id="{7DE4276A-FE3C-3815-846D-F486BABFB2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811" y="6289889"/>
                      <a:ext cx="135373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dirty="0"/>
                        <a:t>Input Token:</a:t>
                      </a:r>
                      <a:endParaRPr lang="zh-TW" altLang="en-US" dirty="0"/>
                    </a:p>
                  </p:txBody>
                </p:sp>
                <p:grpSp>
                  <p:nvGrpSpPr>
                    <p:cNvPr id="28" name="群組 27">
                      <a:extLst>
                        <a:ext uri="{FF2B5EF4-FFF2-40B4-BE49-F238E27FC236}">
                          <a16:creationId xmlns:a16="http://schemas.microsoft.com/office/drawing/2014/main" id="{413F2123-8092-C8ED-4FAE-C1B78924A1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17868" y="6289889"/>
                      <a:ext cx="756327" cy="360000"/>
                      <a:chOff x="1401541" y="6289889"/>
                      <a:chExt cx="756327" cy="360000"/>
                    </a:xfrm>
                  </p:grpSpPr>
                  <p:sp>
                    <p:nvSpPr>
                      <p:cNvPr id="29" name="矩形 28">
                        <a:extLst>
                          <a:ext uri="{FF2B5EF4-FFF2-40B4-BE49-F238E27FC236}">
                            <a16:creationId xmlns:a16="http://schemas.microsoft.com/office/drawing/2014/main" id="{3EF0C0F6-75A1-702E-6111-117832BCDB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01541" y="6289889"/>
                        <a:ext cx="360000" cy="36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600" dirty="0">
                            <a:solidFill>
                              <a:schemeClr val="tx1"/>
                            </a:solidFill>
                          </a:rPr>
                          <a:t>t</a:t>
                        </a:r>
                        <a:r>
                          <a:rPr lang="en-US" altLang="zh-TW" sz="1600" baseline="-2500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p:txBody>
                  </p:sp>
                  <p:sp>
                    <p:nvSpPr>
                      <p:cNvPr id="30" name="矩形 29">
                        <a:extLst>
                          <a:ext uri="{FF2B5EF4-FFF2-40B4-BE49-F238E27FC236}">
                            <a16:creationId xmlns:a16="http://schemas.microsoft.com/office/drawing/2014/main" id="{D695467B-DFFA-1058-203C-C951359004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97868" y="6289889"/>
                        <a:ext cx="360000" cy="36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600" dirty="0">
                            <a:solidFill>
                              <a:schemeClr val="tx1"/>
                            </a:solidFill>
                          </a:rPr>
                          <a:t>t</a:t>
                        </a:r>
                        <a:r>
                          <a:rPr lang="en-US" altLang="zh-TW" sz="1600" baseline="-25000" dirty="0">
                            <a:solidFill>
                              <a:schemeClr val="tx1"/>
                            </a:solidFill>
                          </a:rPr>
                          <a:t>1</a:t>
                        </a:r>
                      </a:p>
                    </p:txBody>
                  </p:sp>
                </p:grpSp>
              </p:grp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3A465585-1335-59AF-58E1-40D319897F45}"/>
                      </a:ext>
                    </a:extLst>
                  </p:cNvPr>
                  <p:cNvSpPr/>
                  <p:nvPr/>
                </p:nvSpPr>
                <p:spPr>
                  <a:xfrm>
                    <a:off x="2361164" y="6423020"/>
                    <a:ext cx="360000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6" name="矩形 25">
                    <a:extLst>
                      <a:ext uri="{FF2B5EF4-FFF2-40B4-BE49-F238E27FC236}">
                        <a16:creationId xmlns:a16="http://schemas.microsoft.com/office/drawing/2014/main" id="{1CBE36FA-501B-4E78-12DD-07FF898F0380}"/>
                      </a:ext>
                    </a:extLst>
                  </p:cNvPr>
                  <p:cNvSpPr/>
                  <p:nvPr/>
                </p:nvSpPr>
                <p:spPr>
                  <a:xfrm>
                    <a:off x="2755944" y="6423020"/>
                    <a:ext cx="360000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文字方塊 124">
                      <a:extLst>
                        <a:ext uri="{FF2B5EF4-FFF2-40B4-BE49-F238E27FC236}">
                          <a16:creationId xmlns:a16="http://schemas.microsoft.com/office/drawing/2014/main" id="{385C0702-1971-FE9B-AF9C-480558AFDD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8" y="4809863"/>
                      <a:ext cx="3438506" cy="34830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TW" altLang="en-US" sz="1600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假設</a:t>
                      </a:r>
                      <a:r>
                        <a:rPr lang="en-US" altLang="zh-TW" sz="1600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</a:t>
                      </a:r>
                      <a:r>
                        <a:rPr lang="en-US" altLang="zh-TW" sz="1600" kern="10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en-US" altLang="zh-TW" sz="1600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,t</a:t>
                      </a:r>
                      <a:r>
                        <a:rPr lang="en-US" altLang="zh-TW" sz="1600" kern="10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600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</a:t>
                      </a:r>
                      <a:r>
                        <a:rPr lang="en-US" altLang="zh-TW" sz="1600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draft token</a:t>
                      </a:r>
                      <a:r>
                        <a:rPr lang="zh-TW" altLang="en-US" sz="1600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標記為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1600" b="0" i="1" kern="100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 b="0" i="0" kern="100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altLang="zh-TW" sz="1600" b="0" i="0" kern="100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600" b="0" i="0" kern="100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D</m:t>
                              </m:r>
                            </m:sup>
                          </m:sSubSup>
                          <m:r>
                            <a:rPr lang="en-US" altLang="zh-TW" sz="1600" b="0" i="0" kern="100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1600" i="1" kern="10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 i="0" kern="100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altLang="zh-TW" sz="1600" b="0" i="0" kern="100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3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600" b="0" i="0" kern="100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D</m:t>
                              </m:r>
                            </m:sup>
                          </m:sSubSup>
                        </m:oMath>
                      </a14:m>
                      <a:endParaRPr lang="zh-TW" altLang="en-US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mc:Choice>
              <mc:Fallback xmlns="">
                <p:sp>
                  <p:nvSpPr>
                    <p:cNvPr id="125" name="文字方塊 124">
                      <a:extLst>
                        <a:ext uri="{FF2B5EF4-FFF2-40B4-BE49-F238E27FC236}">
                          <a16:creationId xmlns:a16="http://schemas.microsoft.com/office/drawing/2014/main" id="{385C0702-1971-FE9B-AF9C-480558AFDD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8" y="4809863"/>
                      <a:ext cx="3438506" cy="3483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887" t="-3509" b="-2105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6B0AACB7-BA3F-C16D-2915-B3E178A70998}"/>
                  </a:ext>
                </a:extLst>
              </p:cNvPr>
              <p:cNvSpPr txBox="1"/>
              <p:nvPr/>
            </p:nvSpPr>
            <p:spPr>
              <a:xfrm>
                <a:off x="347470" y="1068084"/>
                <a:ext cx="4349680" cy="34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/>
                  <a:t>Head 1(target model)</a:t>
                </a:r>
                <a:r>
                  <a:rPr lang="zh-TW" altLang="en-US" sz="1600" dirty="0"/>
                  <a:t>中的</a:t>
                </a:r>
                <a:r>
                  <a:rPr lang="en-US" altLang="zh-TW" sz="1600" kern="1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</a:t>
                </a:r>
                <a:r>
                  <a:rPr lang="en-US" altLang="zh-TW" sz="1600" kern="100" baseline="-25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</a:t>
                </a:r>
                <a:r>
                  <a:rPr lang="en-US" altLang="zh-TW" sz="1600" kern="1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,t</a:t>
                </a:r>
                <a:r>
                  <a:rPr lang="en-US" altLang="zh-TW" sz="1600" kern="100" baseline="-250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3</a:t>
                </a:r>
                <a:r>
                  <a:rPr lang="zh-TW" altLang="en-US" sz="1600" kern="1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標記為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sz="160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600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sup>
                    </m:sSubSup>
                    <m:r>
                      <a:rPr lang="en-US" altLang="zh-TW" sz="1600" i="0" kern="10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,</m:t>
                    </m:r>
                    <m:sSubSup>
                      <m:sSubSupPr>
                        <m:ctrlPr>
                          <a:rPr lang="en-US" altLang="zh-TW" sz="1600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60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sz="160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600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sup>
                    </m:sSubSup>
                  </m:oMath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6B0AACB7-BA3F-C16D-2915-B3E178A70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0" y="1068084"/>
                <a:ext cx="4349680" cy="348300"/>
              </a:xfrm>
              <a:prstGeom prst="rect">
                <a:avLst/>
              </a:prstGeom>
              <a:blipFill>
                <a:blip r:embed="rId4"/>
                <a:stretch>
                  <a:fillRect l="-700" t="-5263" b="-228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FCC253EC-28A5-936E-0BBD-8B1B49D0DD44}"/>
                  </a:ext>
                </a:extLst>
              </p:cNvPr>
              <p:cNvSpPr txBox="1"/>
              <p:nvPr/>
            </p:nvSpPr>
            <p:spPr>
              <a:xfrm>
                <a:off x="4789941" y="1017798"/>
                <a:ext cx="2103186" cy="378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Situation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D</m:t>
                        </m:r>
                      </m:sup>
                    </m:sSubSup>
                    <m:r>
                      <a:rPr lang="en-US" altLang="zh-TW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sup>
                    </m:sSub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FCC253EC-28A5-936E-0BBD-8B1B49D0D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41" y="1017798"/>
                <a:ext cx="2103186" cy="378822"/>
              </a:xfrm>
              <a:prstGeom prst="rect">
                <a:avLst/>
              </a:prstGeom>
              <a:blipFill>
                <a:blip r:embed="rId5"/>
                <a:stretch>
                  <a:fillRect l="-2609" t="-6452" b="-25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72E0CD2C-D3DA-BC80-3CC5-9971C5B14CFE}"/>
              </a:ext>
            </a:extLst>
          </p:cNvPr>
          <p:cNvGrpSpPr/>
          <p:nvPr/>
        </p:nvGrpSpPr>
        <p:grpSpPr>
          <a:xfrm>
            <a:off x="4697150" y="1389497"/>
            <a:ext cx="3159588" cy="931070"/>
            <a:chOff x="4697150" y="1314973"/>
            <a:chExt cx="3159588" cy="931070"/>
          </a:xfrm>
        </p:grpSpPr>
        <p:grpSp>
          <p:nvGrpSpPr>
            <p:cNvPr id="148" name="群組 147">
              <a:extLst>
                <a:ext uri="{FF2B5EF4-FFF2-40B4-BE49-F238E27FC236}">
                  <a16:creationId xmlns:a16="http://schemas.microsoft.com/office/drawing/2014/main" id="{5E4F7EDF-1783-014F-C61D-DAF819AAE13C}"/>
                </a:ext>
              </a:extLst>
            </p:cNvPr>
            <p:cNvGrpSpPr/>
            <p:nvPr/>
          </p:nvGrpSpPr>
          <p:grpSpPr>
            <a:xfrm>
              <a:off x="4789941" y="1416502"/>
              <a:ext cx="2981741" cy="722361"/>
              <a:chOff x="4789941" y="1380165"/>
              <a:chExt cx="2981741" cy="722361"/>
            </a:xfrm>
          </p:grpSpPr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7DEAC80E-F23F-A581-4CCE-FECD8CD12461}"/>
                  </a:ext>
                </a:extLst>
              </p:cNvPr>
              <p:cNvSpPr txBox="1"/>
              <p:nvPr/>
            </p:nvSpPr>
            <p:spPr>
              <a:xfrm>
                <a:off x="4789941" y="1380165"/>
                <a:ext cx="28093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600" dirty="0"/>
                  <a:t>退化為</a:t>
                </a:r>
                <a:r>
                  <a:rPr lang="en-US" altLang="zh-TW" sz="1600" dirty="0"/>
                  <a:t>NTP,</a:t>
                </a:r>
                <a:r>
                  <a:rPr lang="zh-TW" altLang="en-US" sz="1600" dirty="0"/>
                  <a:t> 不產生</a:t>
                </a:r>
                <a:r>
                  <a:rPr lang="en-US" altLang="zh-TW" sz="1600" dirty="0"/>
                  <a:t>draft token</a:t>
                </a:r>
              </a:p>
            </p:txBody>
          </p:sp>
          <p:grpSp>
            <p:nvGrpSpPr>
              <p:cNvPr id="135" name="群組 134">
                <a:extLst>
                  <a:ext uri="{FF2B5EF4-FFF2-40B4-BE49-F238E27FC236}">
                    <a16:creationId xmlns:a16="http://schemas.microsoft.com/office/drawing/2014/main" id="{CD6436F7-E541-774A-836A-30BC05F974D5}"/>
                  </a:ext>
                </a:extLst>
              </p:cNvPr>
              <p:cNvGrpSpPr/>
              <p:nvPr/>
            </p:nvGrpSpPr>
            <p:grpSpPr>
              <a:xfrm>
                <a:off x="4789941" y="1733194"/>
                <a:ext cx="2981741" cy="369332"/>
                <a:chOff x="-26810" y="4587425"/>
                <a:chExt cx="2981741" cy="369332"/>
              </a:xfrm>
            </p:grpSpPr>
            <p:grpSp>
              <p:nvGrpSpPr>
                <p:cNvPr id="136" name="群組 135">
                  <a:extLst>
                    <a:ext uri="{FF2B5EF4-FFF2-40B4-BE49-F238E27FC236}">
                      <a16:creationId xmlns:a16="http://schemas.microsoft.com/office/drawing/2014/main" id="{E40A1751-158F-CBFC-B6AC-136CDCCF0E21}"/>
                    </a:ext>
                  </a:extLst>
                </p:cNvPr>
                <p:cNvGrpSpPr/>
                <p:nvPr/>
              </p:nvGrpSpPr>
              <p:grpSpPr>
                <a:xfrm>
                  <a:off x="-26810" y="4587425"/>
                  <a:ext cx="2981741" cy="369332"/>
                  <a:chOff x="0" y="4588587"/>
                  <a:chExt cx="2943598" cy="369332"/>
                </a:xfrm>
              </p:grpSpPr>
              <p:grpSp>
                <p:nvGrpSpPr>
                  <p:cNvPr id="138" name="群組 137">
                    <a:extLst>
                      <a:ext uri="{FF2B5EF4-FFF2-40B4-BE49-F238E27FC236}">
                        <a16:creationId xmlns:a16="http://schemas.microsoft.com/office/drawing/2014/main" id="{3DFABEE1-9654-8D98-BFD8-51033973B269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4588587"/>
                    <a:ext cx="2508383" cy="369332"/>
                    <a:chOff x="47811" y="6289889"/>
                    <a:chExt cx="2321320" cy="369332"/>
                  </a:xfrm>
                </p:grpSpPr>
                <p:sp>
                  <p:nvSpPr>
                    <p:cNvPr id="144" name="文字方塊 143">
                      <a:extLst>
                        <a:ext uri="{FF2B5EF4-FFF2-40B4-BE49-F238E27FC236}">
                          <a16:creationId xmlns:a16="http://schemas.microsoft.com/office/drawing/2014/main" id="{3583C8F6-EC60-6E4F-C843-6503759107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811" y="6289889"/>
                      <a:ext cx="157005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dirty="0"/>
                        <a:t>Output Token:</a:t>
                      </a:r>
                      <a:endParaRPr lang="zh-TW" altLang="en-US" dirty="0"/>
                    </a:p>
                  </p:txBody>
                </p:sp>
                <p:sp>
                  <p:nvSpPr>
                    <p:cNvPr id="145" name="矩形 144">
                      <a:extLst>
                        <a:ext uri="{FF2B5EF4-FFF2-40B4-BE49-F238E27FC236}">
                          <a16:creationId xmlns:a16="http://schemas.microsoft.com/office/drawing/2014/main" id="{0E912042-3D50-1774-7C15-84FF35C067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40240" y="6289889"/>
                      <a:ext cx="328891" cy="3600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TW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39" name="矩形 138">
                    <a:extLst>
                      <a:ext uri="{FF2B5EF4-FFF2-40B4-BE49-F238E27FC236}">
                        <a16:creationId xmlns:a16="http://schemas.microsoft.com/office/drawing/2014/main" id="{09D3366B-D64B-21D5-3BC5-7095C56BC7FC}"/>
                      </a:ext>
                    </a:extLst>
                  </p:cNvPr>
                  <p:cNvSpPr/>
                  <p:nvPr/>
                </p:nvSpPr>
                <p:spPr>
                  <a:xfrm>
                    <a:off x="2588203" y="4588587"/>
                    <a:ext cx="355395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2</a:t>
                    </a:r>
                    <a:endParaRPr lang="en-US" altLang="zh-TW" sz="1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7" name="矩形 136">
                  <a:extLst>
                    <a:ext uri="{FF2B5EF4-FFF2-40B4-BE49-F238E27FC236}">
                      <a16:creationId xmlns:a16="http://schemas.microsoft.com/office/drawing/2014/main" id="{A74506E8-9FF7-0F6F-20E5-914604363BCD}"/>
                    </a:ext>
                  </a:extLst>
                </p:cNvPr>
                <p:cNvSpPr/>
                <p:nvPr/>
              </p:nvSpPr>
              <p:spPr>
                <a:xfrm>
                  <a:off x="1716376" y="4587425"/>
                  <a:ext cx="360000" cy="36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dirty="0">
                      <a:solidFill>
                        <a:schemeClr val="tx1"/>
                      </a:solidFill>
                    </a:rPr>
                    <a:t>t</a:t>
                  </a:r>
                  <a:r>
                    <a:rPr lang="en-US" altLang="zh-TW" sz="1600" baseline="-25000" dirty="0">
                      <a:solidFill>
                        <a:schemeClr val="tx1"/>
                      </a:solidFill>
                    </a:rPr>
                    <a:t>0</a:t>
                  </a:r>
                  <a:endParaRPr lang="en-US" altLang="zh-TW" sz="16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5EA6EC23-E362-D235-207A-05BB8151488B}"/>
                </a:ext>
              </a:extLst>
            </p:cNvPr>
            <p:cNvSpPr/>
            <p:nvPr/>
          </p:nvSpPr>
          <p:spPr>
            <a:xfrm>
              <a:off x="4697150" y="1314973"/>
              <a:ext cx="3159588" cy="9310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AE18457B-DDB1-7470-F9D5-6DA719577024}"/>
                  </a:ext>
                </a:extLst>
              </p:cNvPr>
              <p:cNvSpPr txBox="1"/>
              <p:nvPr/>
            </p:nvSpPr>
            <p:spPr>
              <a:xfrm>
                <a:off x="4789940" y="2522565"/>
                <a:ext cx="3066797" cy="380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Situation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D</m:t>
                        </m:r>
                      </m:sup>
                    </m:sSubSup>
                    <m:r>
                      <a:rPr lang="en-US" altLang="zh-TW" b="0" i="0" kern="10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=</m:t>
                    </m:r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sup>
                    </m:sSubSup>
                    <m:r>
                      <a:rPr lang="en-US" altLang="zh-TW" b="0" i="0" kern="10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,</m:t>
                    </m:r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D</m:t>
                        </m:r>
                      </m:sup>
                    </m:sSubSup>
                    <m:r>
                      <a:rPr lang="en-US" altLang="zh-TW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sup>
                    </m:sSub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AE18457B-DDB1-7470-F9D5-6DA719577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40" y="2522565"/>
                <a:ext cx="3066797" cy="380232"/>
              </a:xfrm>
              <a:prstGeom prst="rect">
                <a:avLst/>
              </a:prstGeom>
              <a:blipFill>
                <a:blip r:embed="rId6"/>
                <a:stretch>
                  <a:fillRect l="-1789" t="-6452" b="-25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27085AB5-C701-4FEA-3A2C-5AA86AF9E23C}"/>
              </a:ext>
            </a:extLst>
          </p:cNvPr>
          <p:cNvGrpSpPr/>
          <p:nvPr/>
        </p:nvGrpSpPr>
        <p:grpSpPr>
          <a:xfrm>
            <a:off x="4697149" y="2894264"/>
            <a:ext cx="4473483" cy="931070"/>
            <a:chOff x="4697149" y="1314973"/>
            <a:chExt cx="4473483" cy="931070"/>
          </a:xfrm>
        </p:grpSpPr>
        <p:grpSp>
          <p:nvGrpSpPr>
            <p:cNvPr id="157" name="群組 156">
              <a:extLst>
                <a:ext uri="{FF2B5EF4-FFF2-40B4-BE49-F238E27FC236}">
                  <a16:creationId xmlns:a16="http://schemas.microsoft.com/office/drawing/2014/main" id="{950334AD-50C2-07AE-1AC6-5CF44D2EC4AB}"/>
                </a:ext>
              </a:extLst>
            </p:cNvPr>
            <p:cNvGrpSpPr/>
            <p:nvPr/>
          </p:nvGrpSpPr>
          <p:grpSpPr>
            <a:xfrm>
              <a:off x="4789941" y="1769531"/>
              <a:ext cx="2981741" cy="369332"/>
              <a:chOff x="-26810" y="4587425"/>
              <a:chExt cx="2981741" cy="369332"/>
            </a:xfrm>
          </p:grpSpPr>
          <p:grpSp>
            <p:nvGrpSpPr>
              <p:cNvPr id="158" name="群組 157">
                <a:extLst>
                  <a:ext uri="{FF2B5EF4-FFF2-40B4-BE49-F238E27FC236}">
                    <a16:creationId xmlns:a16="http://schemas.microsoft.com/office/drawing/2014/main" id="{0B8BFC17-5D7F-059D-5A0A-35BA1F9EA458}"/>
                  </a:ext>
                </a:extLst>
              </p:cNvPr>
              <p:cNvGrpSpPr/>
              <p:nvPr/>
            </p:nvGrpSpPr>
            <p:grpSpPr>
              <a:xfrm>
                <a:off x="-26810" y="4587425"/>
                <a:ext cx="2981741" cy="369332"/>
                <a:chOff x="0" y="4588587"/>
                <a:chExt cx="2943598" cy="369332"/>
              </a:xfrm>
            </p:grpSpPr>
            <p:grpSp>
              <p:nvGrpSpPr>
                <p:cNvPr id="160" name="群組 159">
                  <a:extLst>
                    <a:ext uri="{FF2B5EF4-FFF2-40B4-BE49-F238E27FC236}">
                      <a16:creationId xmlns:a16="http://schemas.microsoft.com/office/drawing/2014/main" id="{28117064-38FD-0187-787E-2BEDE4F19600}"/>
                    </a:ext>
                  </a:extLst>
                </p:cNvPr>
                <p:cNvGrpSpPr/>
                <p:nvPr/>
              </p:nvGrpSpPr>
              <p:grpSpPr>
                <a:xfrm>
                  <a:off x="0" y="4588587"/>
                  <a:ext cx="2508383" cy="369332"/>
                  <a:chOff x="47811" y="6289889"/>
                  <a:chExt cx="2321320" cy="369332"/>
                </a:xfrm>
              </p:grpSpPr>
              <p:sp>
                <p:nvSpPr>
                  <p:cNvPr id="162" name="文字方塊 161">
                    <a:extLst>
                      <a:ext uri="{FF2B5EF4-FFF2-40B4-BE49-F238E27FC236}">
                        <a16:creationId xmlns:a16="http://schemas.microsoft.com/office/drawing/2014/main" id="{768ADF05-95A1-6420-1FDE-F20372943DFE}"/>
                      </a:ext>
                    </a:extLst>
                  </p:cNvPr>
                  <p:cNvSpPr txBox="1"/>
                  <p:nvPr/>
                </p:nvSpPr>
                <p:spPr>
                  <a:xfrm>
                    <a:off x="47811" y="6289889"/>
                    <a:ext cx="15700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dirty="0"/>
                      <a:t>Output Token:</a:t>
                    </a:r>
                    <a:endParaRPr lang="zh-TW" altLang="en-US" dirty="0"/>
                  </a:p>
                </p:txBody>
              </p:sp>
              <p:sp>
                <p:nvSpPr>
                  <p:cNvPr id="163" name="矩形 162">
                    <a:extLst>
                      <a:ext uri="{FF2B5EF4-FFF2-40B4-BE49-F238E27FC236}">
                        <a16:creationId xmlns:a16="http://schemas.microsoft.com/office/drawing/2014/main" id="{746CF886-084A-B3DF-79FB-98369E689913}"/>
                      </a:ext>
                    </a:extLst>
                  </p:cNvPr>
                  <p:cNvSpPr/>
                  <p:nvPr/>
                </p:nvSpPr>
                <p:spPr>
                  <a:xfrm>
                    <a:off x="2040240" y="6289889"/>
                    <a:ext cx="328891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1</a:t>
                    </a:r>
                    <a:endParaRPr lang="en-US" altLang="zh-TW" sz="1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C1E086F3-33B6-723A-B960-6313689B3EA9}"/>
                    </a:ext>
                  </a:extLst>
                </p:cNvPr>
                <p:cNvSpPr/>
                <p:nvPr/>
              </p:nvSpPr>
              <p:spPr>
                <a:xfrm>
                  <a:off x="2588203" y="4588587"/>
                  <a:ext cx="355395" cy="36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dirty="0">
                      <a:solidFill>
                        <a:schemeClr val="tx1"/>
                      </a:solidFill>
                    </a:rPr>
                    <a:t>t</a:t>
                  </a:r>
                  <a:r>
                    <a:rPr lang="en-US" altLang="zh-TW" sz="16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altLang="zh-TW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15939C40-270D-8A36-D90A-FDFCC8B89DA1}"/>
                  </a:ext>
                </a:extLst>
              </p:cNvPr>
              <p:cNvSpPr/>
              <p:nvPr/>
            </p:nvSpPr>
            <p:spPr>
              <a:xfrm>
                <a:off x="1716376" y="4587425"/>
                <a:ext cx="36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</a:t>
                </a:r>
                <a:r>
                  <a:rPr lang="en-US" altLang="zh-TW" sz="1600" baseline="-25000" dirty="0">
                    <a:solidFill>
                      <a:schemeClr val="tx1"/>
                    </a:solidFill>
                  </a:rPr>
                  <a:t>0</a:t>
                </a:r>
                <a:endParaRPr lang="en-US" altLang="zh-TW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E0B520FB-D582-8ACA-216A-3BC21ECC1233}"/>
                </a:ext>
              </a:extLst>
            </p:cNvPr>
            <p:cNvSpPr/>
            <p:nvPr/>
          </p:nvSpPr>
          <p:spPr>
            <a:xfrm>
              <a:off x="4697149" y="1314973"/>
              <a:ext cx="4473483" cy="9310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4" name="矩形 163">
            <a:extLst>
              <a:ext uri="{FF2B5EF4-FFF2-40B4-BE49-F238E27FC236}">
                <a16:creationId xmlns:a16="http://schemas.microsoft.com/office/drawing/2014/main" id="{01B2DCD5-1AFC-E980-A2EB-E2AA16CC1EAD}"/>
              </a:ext>
            </a:extLst>
          </p:cNvPr>
          <p:cNvSpPr/>
          <p:nvPr/>
        </p:nvSpPr>
        <p:spPr>
          <a:xfrm>
            <a:off x="7837698" y="3348822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3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776A4160-3F7C-11CC-00BC-8B7FB4ED0B39}"/>
              </a:ext>
            </a:extLst>
          </p:cNvPr>
          <p:cNvSpPr/>
          <p:nvPr/>
        </p:nvSpPr>
        <p:spPr>
          <a:xfrm>
            <a:off x="8247555" y="3348822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4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078440B0-249B-2B29-F8F6-FFB53F2C3CC3}"/>
              </a:ext>
            </a:extLst>
          </p:cNvPr>
          <p:cNvSpPr/>
          <p:nvPr/>
        </p:nvSpPr>
        <p:spPr>
          <a:xfrm>
            <a:off x="8677298" y="3359799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5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E34F2B1E-B9D4-E9A3-CBB6-D2C8E60FA9AD}"/>
              </a:ext>
            </a:extLst>
          </p:cNvPr>
          <p:cNvSpPr txBox="1"/>
          <p:nvPr/>
        </p:nvSpPr>
        <p:spPr>
          <a:xfrm>
            <a:off x="4789940" y="2960255"/>
            <a:ext cx="171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Draft Token:</a:t>
            </a:r>
            <a:endParaRPr lang="zh-TW" altLang="en-US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CB202A74-2F4A-0EFC-C863-435FA89B000E}"/>
              </a:ext>
            </a:extLst>
          </p:cNvPr>
          <p:cNvSpPr/>
          <p:nvPr/>
        </p:nvSpPr>
        <p:spPr>
          <a:xfrm>
            <a:off x="6533127" y="2942924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4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A9096159-681D-ABFC-4695-DB6141BE4FA0}"/>
              </a:ext>
            </a:extLst>
          </p:cNvPr>
          <p:cNvSpPr/>
          <p:nvPr/>
        </p:nvSpPr>
        <p:spPr>
          <a:xfrm>
            <a:off x="6970828" y="2941982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5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92A11309-E159-4364-3917-8410030A16D9}"/>
                  </a:ext>
                </a:extLst>
              </p:cNvPr>
              <p:cNvSpPr txBox="1"/>
              <p:nvPr/>
            </p:nvSpPr>
            <p:spPr>
              <a:xfrm>
                <a:off x="4789940" y="4027332"/>
                <a:ext cx="2981741" cy="380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Situation 3: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D</m:t>
                        </m:r>
                      </m:sup>
                    </m:sSubSup>
                    <m:r>
                      <a:rPr lang="en-US" altLang="zh-TW" b="0" i="0" kern="10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=</m:t>
                    </m:r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sup>
                    </m:sSubSup>
                    <m:r>
                      <a:rPr lang="en-US" altLang="zh-TW" b="0" i="0" kern="10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,</m:t>
                    </m:r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D</m:t>
                        </m:r>
                      </m:sup>
                    </m:sSubSup>
                    <m:r>
                      <a:rPr lang="en-US" altLang="zh-TW" i="0" kern="10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=</m:t>
                    </m:r>
                    <m:sSubSup>
                      <m:sSubSup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e>
                      <m:sub>
                        <m: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b="0" i="0" kern="100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T</m:t>
                        </m:r>
                      </m:sup>
                    </m:sSub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92A11309-E159-4364-3917-8410030A1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40" y="4027332"/>
                <a:ext cx="2981741" cy="380232"/>
              </a:xfrm>
              <a:prstGeom prst="rect">
                <a:avLst/>
              </a:prstGeom>
              <a:blipFill>
                <a:blip r:embed="rId7"/>
                <a:stretch>
                  <a:fillRect l="-1840" t="-6452" b="-25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0BD48BAA-F5E8-5CE2-665F-9E9B34566158}"/>
              </a:ext>
            </a:extLst>
          </p:cNvPr>
          <p:cNvGrpSpPr/>
          <p:nvPr/>
        </p:nvGrpSpPr>
        <p:grpSpPr>
          <a:xfrm>
            <a:off x="4697149" y="4399031"/>
            <a:ext cx="4846346" cy="931070"/>
            <a:chOff x="4697149" y="1314973"/>
            <a:chExt cx="4846346" cy="931070"/>
          </a:xfrm>
        </p:grpSpPr>
        <p:grpSp>
          <p:nvGrpSpPr>
            <p:cNvPr id="174" name="群組 173">
              <a:extLst>
                <a:ext uri="{FF2B5EF4-FFF2-40B4-BE49-F238E27FC236}">
                  <a16:creationId xmlns:a16="http://schemas.microsoft.com/office/drawing/2014/main" id="{5BFC9401-E1DE-E1A3-7AF9-A49B4EBED953}"/>
                </a:ext>
              </a:extLst>
            </p:cNvPr>
            <p:cNvGrpSpPr/>
            <p:nvPr/>
          </p:nvGrpSpPr>
          <p:grpSpPr>
            <a:xfrm>
              <a:off x="4789941" y="1769531"/>
              <a:ext cx="2981741" cy="369332"/>
              <a:chOff x="-26810" y="4587425"/>
              <a:chExt cx="2981741" cy="369332"/>
            </a:xfrm>
          </p:grpSpPr>
          <p:grpSp>
            <p:nvGrpSpPr>
              <p:cNvPr id="176" name="群組 175">
                <a:extLst>
                  <a:ext uri="{FF2B5EF4-FFF2-40B4-BE49-F238E27FC236}">
                    <a16:creationId xmlns:a16="http://schemas.microsoft.com/office/drawing/2014/main" id="{4E7B7F6A-CA8D-CD4E-9AE5-8C5B60E36D75}"/>
                  </a:ext>
                </a:extLst>
              </p:cNvPr>
              <p:cNvGrpSpPr/>
              <p:nvPr/>
            </p:nvGrpSpPr>
            <p:grpSpPr>
              <a:xfrm>
                <a:off x="-26810" y="4587425"/>
                <a:ext cx="2981741" cy="369332"/>
                <a:chOff x="0" y="4588587"/>
                <a:chExt cx="2943598" cy="369332"/>
              </a:xfrm>
            </p:grpSpPr>
            <p:grpSp>
              <p:nvGrpSpPr>
                <p:cNvPr id="178" name="群組 177">
                  <a:extLst>
                    <a:ext uri="{FF2B5EF4-FFF2-40B4-BE49-F238E27FC236}">
                      <a16:creationId xmlns:a16="http://schemas.microsoft.com/office/drawing/2014/main" id="{699AB3CC-C397-CD5F-FD1A-9A8BC79004F6}"/>
                    </a:ext>
                  </a:extLst>
                </p:cNvPr>
                <p:cNvGrpSpPr/>
                <p:nvPr/>
              </p:nvGrpSpPr>
              <p:grpSpPr>
                <a:xfrm>
                  <a:off x="0" y="4588587"/>
                  <a:ext cx="2508383" cy="369332"/>
                  <a:chOff x="47811" y="6289889"/>
                  <a:chExt cx="2321320" cy="369332"/>
                </a:xfrm>
              </p:grpSpPr>
              <p:sp>
                <p:nvSpPr>
                  <p:cNvPr id="180" name="文字方塊 179">
                    <a:extLst>
                      <a:ext uri="{FF2B5EF4-FFF2-40B4-BE49-F238E27FC236}">
                        <a16:creationId xmlns:a16="http://schemas.microsoft.com/office/drawing/2014/main" id="{05E448AC-D180-9F07-D4D8-65A6C088C6BB}"/>
                      </a:ext>
                    </a:extLst>
                  </p:cNvPr>
                  <p:cNvSpPr txBox="1"/>
                  <p:nvPr/>
                </p:nvSpPr>
                <p:spPr>
                  <a:xfrm>
                    <a:off x="47811" y="6289889"/>
                    <a:ext cx="15700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dirty="0"/>
                      <a:t>Output Token:</a:t>
                    </a:r>
                    <a:endParaRPr lang="zh-TW" altLang="en-US" dirty="0"/>
                  </a:p>
                </p:txBody>
              </p:sp>
              <p:sp>
                <p:nvSpPr>
                  <p:cNvPr id="181" name="矩形 180">
                    <a:extLst>
                      <a:ext uri="{FF2B5EF4-FFF2-40B4-BE49-F238E27FC236}">
                        <a16:creationId xmlns:a16="http://schemas.microsoft.com/office/drawing/2014/main" id="{D8F5D5B4-0879-7CB8-9FE4-567F89DF0209}"/>
                      </a:ext>
                    </a:extLst>
                  </p:cNvPr>
                  <p:cNvSpPr/>
                  <p:nvPr/>
                </p:nvSpPr>
                <p:spPr>
                  <a:xfrm>
                    <a:off x="2040240" y="6289889"/>
                    <a:ext cx="328891" cy="360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</a:rPr>
                      <a:t>t</a:t>
                    </a:r>
                    <a:r>
                      <a:rPr lang="en-US" altLang="zh-TW" sz="1600" baseline="-25000" dirty="0">
                        <a:solidFill>
                          <a:schemeClr val="tx1"/>
                        </a:solidFill>
                      </a:rPr>
                      <a:t>1</a:t>
                    </a:r>
                    <a:endParaRPr lang="en-US" altLang="zh-TW" sz="1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79" name="矩形 178">
                  <a:extLst>
                    <a:ext uri="{FF2B5EF4-FFF2-40B4-BE49-F238E27FC236}">
                      <a16:creationId xmlns:a16="http://schemas.microsoft.com/office/drawing/2014/main" id="{AABE3452-C34B-A616-52CA-E67190AF31F8}"/>
                    </a:ext>
                  </a:extLst>
                </p:cNvPr>
                <p:cNvSpPr/>
                <p:nvPr/>
              </p:nvSpPr>
              <p:spPr>
                <a:xfrm>
                  <a:off x="2588203" y="4588587"/>
                  <a:ext cx="355395" cy="36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dirty="0">
                      <a:solidFill>
                        <a:schemeClr val="tx1"/>
                      </a:solidFill>
                    </a:rPr>
                    <a:t>t</a:t>
                  </a:r>
                  <a:r>
                    <a:rPr lang="en-US" altLang="zh-TW" sz="16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altLang="zh-TW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EA8C8741-4DD5-B54E-CA59-E72F5D71CC10}"/>
                  </a:ext>
                </a:extLst>
              </p:cNvPr>
              <p:cNvSpPr/>
              <p:nvPr/>
            </p:nvSpPr>
            <p:spPr>
              <a:xfrm>
                <a:off x="1716376" y="4587425"/>
                <a:ext cx="36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</a:t>
                </a:r>
                <a:r>
                  <a:rPr lang="en-US" altLang="zh-TW" sz="1600" baseline="-25000" dirty="0">
                    <a:solidFill>
                      <a:schemeClr val="tx1"/>
                    </a:solidFill>
                  </a:rPr>
                  <a:t>0</a:t>
                </a:r>
                <a:endParaRPr lang="en-US" altLang="zh-TW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F86BF1F7-AF9A-D73A-DD83-45C85EDAAE76}"/>
                </a:ext>
              </a:extLst>
            </p:cNvPr>
            <p:cNvSpPr/>
            <p:nvPr/>
          </p:nvSpPr>
          <p:spPr>
            <a:xfrm>
              <a:off x="4697149" y="1314973"/>
              <a:ext cx="4846346" cy="9310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82" name="文字方塊 181">
            <a:extLst>
              <a:ext uri="{FF2B5EF4-FFF2-40B4-BE49-F238E27FC236}">
                <a16:creationId xmlns:a16="http://schemas.microsoft.com/office/drawing/2014/main" id="{AC762827-4A79-9F32-9B5A-F3CA3773C9CA}"/>
              </a:ext>
            </a:extLst>
          </p:cNvPr>
          <p:cNvSpPr txBox="1"/>
          <p:nvPr/>
        </p:nvSpPr>
        <p:spPr>
          <a:xfrm>
            <a:off x="4789940" y="4473937"/>
            <a:ext cx="171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Draft Token:</a:t>
            </a:r>
            <a:endParaRPr lang="zh-TW" altLang="en-US" dirty="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5241A560-1F0A-FA50-BC66-4030C9E96FCE}"/>
              </a:ext>
            </a:extLst>
          </p:cNvPr>
          <p:cNvSpPr/>
          <p:nvPr/>
        </p:nvSpPr>
        <p:spPr>
          <a:xfrm>
            <a:off x="6533127" y="4456606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5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1B99ABC5-7800-11CE-30BA-6296A68C245F}"/>
              </a:ext>
            </a:extLst>
          </p:cNvPr>
          <p:cNvSpPr/>
          <p:nvPr/>
        </p:nvSpPr>
        <p:spPr>
          <a:xfrm>
            <a:off x="6970828" y="4455664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6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4230B5A-CA34-A6FA-70A7-BF6CC8DED78B}"/>
              </a:ext>
            </a:extLst>
          </p:cNvPr>
          <p:cNvSpPr/>
          <p:nvPr/>
        </p:nvSpPr>
        <p:spPr>
          <a:xfrm>
            <a:off x="7829618" y="4849732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3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5F6269B3-0365-8A3D-F762-69977915AF2E}"/>
              </a:ext>
            </a:extLst>
          </p:cNvPr>
          <p:cNvSpPr/>
          <p:nvPr/>
        </p:nvSpPr>
        <p:spPr>
          <a:xfrm>
            <a:off x="8247555" y="4859514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4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FF75B4CD-99A8-42EA-8995-2258459E233B}"/>
              </a:ext>
            </a:extLst>
          </p:cNvPr>
          <p:cNvSpPr/>
          <p:nvPr/>
        </p:nvSpPr>
        <p:spPr>
          <a:xfrm>
            <a:off x="8677298" y="4852735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5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D4126BE5-AB14-BA54-5364-FCED3F9B5708}"/>
              </a:ext>
            </a:extLst>
          </p:cNvPr>
          <p:cNvSpPr/>
          <p:nvPr/>
        </p:nvSpPr>
        <p:spPr>
          <a:xfrm>
            <a:off x="9100874" y="4852735"/>
            <a:ext cx="3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</a:t>
            </a:r>
            <a:r>
              <a:rPr lang="en-US" altLang="zh-TW" sz="1600" baseline="-25000" dirty="0">
                <a:solidFill>
                  <a:schemeClr val="tx1"/>
                </a:solidFill>
              </a:rPr>
              <a:t>6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90" name="箭號: 向上 189">
            <a:extLst>
              <a:ext uri="{FF2B5EF4-FFF2-40B4-BE49-F238E27FC236}">
                <a16:creationId xmlns:a16="http://schemas.microsoft.com/office/drawing/2014/main" id="{9208418C-53A9-CE94-606D-48A6A7423B68}"/>
              </a:ext>
            </a:extLst>
          </p:cNvPr>
          <p:cNvSpPr/>
          <p:nvPr/>
        </p:nvSpPr>
        <p:spPr>
          <a:xfrm rot="5400000">
            <a:off x="4075928" y="2708912"/>
            <a:ext cx="140462" cy="2520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594237" y="6629400"/>
            <a:ext cx="3844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12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Proposed method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23560" y="43616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THREE</a:t>
            </a:r>
            <a:endParaRPr lang="en-US" sz="5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647503" y="6629400"/>
            <a:ext cx="3311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Method overview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本研究將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 CE loss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SDC / LCM consistency loss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結合，對齊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teacher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和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student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在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probability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的分佈。</a:t>
            </a:r>
          </a:p>
        </p:txBody>
      </p: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EFBF1C37-A13F-CCFA-FB1D-9B4CB39C0295}"/>
              </a:ext>
            </a:extLst>
          </p:cNvPr>
          <p:cNvGrpSpPr/>
          <p:nvPr/>
        </p:nvGrpSpPr>
        <p:grpSpPr>
          <a:xfrm>
            <a:off x="8352521" y="1309035"/>
            <a:ext cx="3126666" cy="2784737"/>
            <a:chOff x="8243996" y="1035356"/>
            <a:chExt cx="3126666" cy="2784737"/>
          </a:xfrm>
        </p:grpSpPr>
        <p:grpSp>
          <p:nvGrpSpPr>
            <p:cNvPr id="89" name="群組 88">
              <a:extLst>
                <a:ext uri="{FF2B5EF4-FFF2-40B4-BE49-F238E27FC236}">
                  <a16:creationId xmlns:a16="http://schemas.microsoft.com/office/drawing/2014/main" id="{83F67626-1028-82D3-DF1A-98B18E7A8B81}"/>
                </a:ext>
              </a:extLst>
            </p:cNvPr>
            <p:cNvGrpSpPr/>
            <p:nvPr/>
          </p:nvGrpSpPr>
          <p:grpSpPr>
            <a:xfrm>
              <a:off x="8243996" y="1035356"/>
              <a:ext cx="3126666" cy="2784737"/>
              <a:chOff x="4831952" y="1346844"/>
              <a:chExt cx="3126666" cy="1855026"/>
            </a:xfrm>
          </p:grpSpPr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09E908E3-1D13-CCE5-B26E-9EAC8F1B16CE}"/>
                  </a:ext>
                </a:extLst>
              </p:cNvPr>
              <p:cNvSpPr txBox="1"/>
              <p:nvPr/>
            </p:nvSpPr>
            <p:spPr>
              <a:xfrm>
                <a:off x="4831952" y="1346844"/>
                <a:ext cx="3126666" cy="1855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Forward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Backward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Teacher probability/latent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Student latent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Student probability</a:t>
                </a:r>
              </a:p>
            </p:txBody>
          </p:sp>
          <p:sp>
            <p:nvSpPr>
              <p:cNvPr id="91" name="箭號: 向上 90">
                <a:extLst>
                  <a:ext uri="{FF2B5EF4-FFF2-40B4-BE49-F238E27FC236}">
                    <a16:creationId xmlns:a16="http://schemas.microsoft.com/office/drawing/2014/main" id="{0E7DF15C-A878-8DCD-20B3-0CDDE46BEB50}"/>
                  </a:ext>
                </a:extLst>
              </p:cNvPr>
              <p:cNvSpPr/>
              <p:nvPr/>
            </p:nvSpPr>
            <p:spPr>
              <a:xfrm>
                <a:off x="4861741" y="1446963"/>
                <a:ext cx="215809" cy="287773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2" name="箭號: 向上 91">
                <a:extLst>
                  <a:ext uri="{FF2B5EF4-FFF2-40B4-BE49-F238E27FC236}">
                    <a16:creationId xmlns:a16="http://schemas.microsoft.com/office/drawing/2014/main" id="{D441CD76-5FFA-ED85-2854-45FEE900627D}"/>
                  </a:ext>
                </a:extLst>
              </p:cNvPr>
              <p:cNvSpPr/>
              <p:nvPr/>
            </p:nvSpPr>
            <p:spPr>
              <a:xfrm>
                <a:off x="4861741" y="1796970"/>
                <a:ext cx="215809" cy="287773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93" name="箭號: 向上 92">
              <a:extLst>
                <a:ext uri="{FF2B5EF4-FFF2-40B4-BE49-F238E27FC236}">
                  <a16:creationId xmlns:a16="http://schemas.microsoft.com/office/drawing/2014/main" id="{68946771-1B59-254F-7268-F3412CD269ED}"/>
                </a:ext>
              </a:extLst>
            </p:cNvPr>
            <p:cNvSpPr/>
            <p:nvPr/>
          </p:nvSpPr>
          <p:spPr>
            <a:xfrm>
              <a:off x="8273785" y="2243078"/>
              <a:ext cx="215809" cy="432000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</a:endParaRPr>
            </a:p>
          </p:txBody>
        </p:sp>
        <p:sp>
          <p:nvSpPr>
            <p:cNvPr id="94" name="箭號: 向上 93">
              <a:extLst>
                <a:ext uri="{FF2B5EF4-FFF2-40B4-BE49-F238E27FC236}">
                  <a16:creationId xmlns:a16="http://schemas.microsoft.com/office/drawing/2014/main" id="{F6382B9D-6D9C-749E-FD09-90EDEEBCA0B3}"/>
                </a:ext>
              </a:extLst>
            </p:cNvPr>
            <p:cNvSpPr/>
            <p:nvPr/>
          </p:nvSpPr>
          <p:spPr>
            <a:xfrm>
              <a:off x="8273784" y="2779166"/>
              <a:ext cx="215809" cy="432000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6" name="群組 115">
            <a:extLst>
              <a:ext uri="{FF2B5EF4-FFF2-40B4-BE49-F238E27FC236}">
                <a16:creationId xmlns:a16="http://schemas.microsoft.com/office/drawing/2014/main" id="{67EB2C07-3BA4-C182-895D-FD30535B6E3A}"/>
              </a:ext>
            </a:extLst>
          </p:cNvPr>
          <p:cNvGrpSpPr/>
          <p:nvPr/>
        </p:nvGrpSpPr>
        <p:grpSpPr>
          <a:xfrm>
            <a:off x="57720" y="1477631"/>
            <a:ext cx="7955280" cy="4405659"/>
            <a:chOff x="605936" y="1379985"/>
            <a:chExt cx="10121382" cy="4405659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2EA02CA-EB09-2C99-2201-E3FFD06557FD}"/>
                </a:ext>
              </a:extLst>
            </p:cNvPr>
            <p:cNvSpPr/>
            <p:nvPr/>
          </p:nvSpPr>
          <p:spPr>
            <a:xfrm>
              <a:off x="1319365" y="3120056"/>
              <a:ext cx="9036000" cy="7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5C560143-43BD-25D1-BF11-1E2F814DACC7}"/>
                </a:ext>
              </a:extLst>
            </p:cNvPr>
            <p:cNvGrpSpPr/>
            <p:nvPr/>
          </p:nvGrpSpPr>
          <p:grpSpPr>
            <a:xfrm>
              <a:off x="3318716" y="2926550"/>
              <a:ext cx="613876" cy="468000"/>
              <a:chOff x="2136461" y="3605615"/>
              <a:chExt cx="613876" cy="468000"/>
            </a:xfrm>
          </p:grpSpPr>
          <p:sp>
            <p:nvSpPr>
              <p:cNvPr id="58" name="箭號: 向上 57">
                <a:extLst>
                  <a:ext uri="{FF2B5EF4-FFF2-40B4-BE49-F238E27FC236}">
                    <a16:creationId xmlns:a16="http://schemas.microsoft.com/office/drawing/2014/main" id="{0DF1B0BF-00A4-1BE7-4DE5-1CD5E9041D84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9" name="箭號: 向上 58">
                <a:extLst>
                  <a:ext uri="{FF2B5EF4-FFF2-40B4-BE49-F238E27FC236}">
                    <a16:creationId xmlns:a16="http://schemas.microsoft.com/office/drawing/2014/main" id="{37806454-B0E1-0280-153B-4EEF97C1B52B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4" name="箭號: 向上 53">
              <a:extLst>
                <a:ext uri="{FF2B5EF4-FFF2-40B4-BE49-F238E27FC236}">
                  <a16:creationId xmlns:a16="http://schemas.microsoft.com/office/drawing/2014/main" id="{4ECE44A2-F576-642A-D508-BCFC5D378506}"/>
                </a:ext>
              </a:extLst>
            </p:cNvPr>
            <p:cNvSpPr/>
            <p:nvPr/>
          </p:nvSpPr>
          <p:spPr>
            <a:xfrm>
              <a:off x="2313345" y="2926550"/>
              <a:ext cx="144000" cy="46800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10" name="群組 109">
              <a:extLst>
                <a:ext uri="{FF2B5EF4-FFF2-40B4-BE49-F238E27FC236}">
                  <a16:creationId xmlns:a16="http://schemas.microsoft.com/office/drawing/2014/main" id="{C813AC02-ACD5-FFC3-2CCF-3A9AC0DFE30C}"/>
                </a:ext>
              </a:extLst>
            </p:cNvPr>
            <p:cNvGrpSpPr/>
            <p:nvPr/>
          </p:nvGrpSpPr>
          <p:grpSpPr>
            <a:xfrm>
              <a:off x="4678555" y="2901221"/>
              <a:ext cx="613876" cy="468000"/>
              <a:chOff x="2136461" y="3605615"/>
              <a:chExt cx="613876" cy="468000"/>
            </a:xfrm>
          </p:grpSpPr>
          <p:sp>
            <p:nvSpPr>
              <p:cNvPr id="111" name="箭號: 向上 110">
                <a:extLst>
                  <a:ext uri="{FF2B5EF4-FFF2-40B4-BE49-F238E27FC236}">
                    <a16:creationId xmlns:a16="http://schemas.microsoft.com/office/drawing/2014/main" id="{3280E5E7-5BC1-6316-730C-36D862D40886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" name="箭號: 向上 111">
                <a:extLst>
                  <a:ext uri="{FF2B5EF4-FFF2-40B4-BE49-F238E27FC236}">
                    <a16:creationId xmlns:a16="http://schemas.microsoft.com/office/drawing/2014/main" id="{14D3EECD-A5C9-DC82-7923-423578128BA0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5" name="群組 114">
              <a:extLst>
                <a:ext uri="{FF2B5EF4-FFF2-40B4-BE49-F238E27FC236}">
                  <a16:creationId xmlns:a16="http://schemas.microsoft.com/office/drawing/2014/main" id="{9295AB36-2AFC-8E00-1355-368A780276D0}"/>
                </a:ext>
              </a:extLst>
            </p:cNvPr>
            <p:cNvGrpSpPr/>
            <p:nvPr/>
          </p:nvGrpSpPr>
          <p:grpSpPr>
            <a:xfrm>
              <a:off x="605936" y="1379985"/>
              <a:ext cx="10121382" cy="4405659"/>
              <a:chOff x="605936" y="1379985"/>
              <a:chExt cx="10121382" cy="4405659"/>
            </a:xfrm>
          </p:grpSpPr>
          <p:sp>
            <p:nvSpPr>
              <p:cNvPr id="64" name="矩形: 圓角 63">
                <a:extLst>
                  <a:ext uri="{FF2B5EF4-FFF2-40B4-BE49-F238E27FC236}">
                    <a16:creationId xmlns:a16="http://schemas.microsoft.com/office/drawing/2014/main" id="{3824C6DF-8283-E581-EDDA-101EBAE4E343}"/>
                  </a:ext>
                </a:extLst>
              </p:cNvPr>
              <p:cNvSpPr/>
              <p:nvPr/>
            </p:nvSpPr>
            <p:spPr>
              <a:xfrm>
                <a:off x="3045074" y="2240001"/>
                <a:ext cx="1277949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</a:rPr>
                  <a:t>LCM Loss 2</a:t>
                </a:r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矩形: 圓角 65">
                <a:extLst>
                  <a:ext uri="{FF2B5EF4-FFF2-40B4-BE49-F238E27FC236}">
                    <a16:creationId xmlns:a16="http://schemas.microsoft.com/office/drawing/2014/main" id="{F81703BD-7728-F835-22FC-9DCC63847F47}"/>
                  </a:ext>
                </a:extLst>
              </p:cNvPr>
              <p:cNvSpPr/>
              <p:nvPr/>
            </p:nvSpPr>
            <p:spPr>
              <a:xfrm>
                <a:off x="1839926" y="2235684"/>
                <a:ext cx="1143292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</a:rPr>
                  <a:t>CE</a:t>
                </a:r>
                <a:r>
                  <a:rPr lang="zh-TW" altLang="en-US" sz="12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1200" b="1" dirty="0">
                    <a:solidFill>
                      <a:schemeClr val="tx1"/>
                    </a:solidFill>
                  </a:rPr>
                  <a:t>Loss 2</a:t>
                </a:r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箭號: 向上 44">
                <a:extLst>
                  <a:ext uri="{FF2B5EF4-FFF2-40B4-BE49-F238E27FC236}">
                    <a16:creationId xmlns:a16="http://schemas.microsoft.com/office/drawing/2014/main" id="{0D96F54B-F7A3-ED4A-25DD-82CB82FDC2E9}"/>
                  </a:ext>
                </a:extLst>
              </p:cNvPr>
              <p:cNvSpPr/>
              <p:nvPr/>
            </p:nvSpPr>
            <p:spPr>
              <a:xfrm>
                <a:off x="2339572" y="1994190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箭號: 向上 45">
                <a:extLst>
                  <a:ext uri="{FF2B5EF4-FFF2-40B4-BE49-F238E27FC236}">
                    <a16:creationId xmlns:a16="http://schemas.microsoft.com/office/drawing/2014/main" id="{4A84FE22-F790-EF94-F0DC-700754AC328B}"/>
                  </a:ext>
                </a:extLst>
              </p:cNvPr>
              <p:cNvSpPr/>
              <p:nvPr/>
            </p:nvSpPr>
            <p:spPr>
              <a:xfrm>
                <a:off x="3553654" y="1995537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13" name="群組 112">
                <a:extLst>
                  <a:ext uri="{FF2B5EF4-FFF2-40B4-BE49-F238E27FC236}">
                    <a16:creationId xmlns:a16="http://schemas.microsoft.com/office/drawing/2014/main" id="{6D03476D-C59F-3DE9-5731-7493269C6D0F}"/>
                  </a:ext>
                </a:extLst>
              </p:cNvPr>
              <p:cNvGrpSpPr/>
              <p:nvPr/>
            </p:nvGrpSpPr>
            <p:grpSpPr>
              <a:xfrm>
                <a:off x="605936" y="1379985"/>
                <a:ext cx="10121382" cy="4405659"/>
                <a:chOff x="605936" y="1379985"/>
                <a:chExt cx="10121382" cy="4405659"/>
              </a:xfrm>
            </p:grpSpPr>
            <p:sp>
              <p:nvSpPr>
                <p:cNvPr id="24" name="矩形: 圓角 23">
                  <a:extLst>
                    <a:ext uri="{FF2B5EF4-FFF2-40B4-BE49-F238E27FC236}">
                      <a16:creationId xmlns:a16="http://schemas.microsoft.com/office/drawing/2014/main" id="{FB3D7F6B-63B3-DCFF-097E-F0F0E14586D6}"/>
                    </a:ext>
                  </a:extLst>
                </p:cNvPr>
                <p:cNvSpPr/>
                <p:nvPr/>
              </p:nvSpPr>
              <p:spPr>
                <a:xfrm>
                  <a:off x="705606" y="5128696"/>
                  <a:ext cx="6871658" cy="656948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Shared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矩形: 圓角 79">
                  <a:extLst>
                    <a:ext uri="{FF2B5EF4-FFF2-40B4-BE49-F238E27FC236}">
                      <a16:creationId xmlns:a16="http://schemas.microsoft.com/office/drawing/2014/main" id="{38C37932-BCBF-0990-1394-FB48BC959667}"/>
                    </a:ext>
                  </a:extLst>
                </p:cNvPr>
                <p:cNvSpPr/>
                <p:nvPr/>
              </p:nvSpPr>
              <p:spPr>
                <a:xfrm>
                  <a:off x="605936" y="3518732"/>
                  <a:ext cx="1143293" cy="601586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Head 1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6" name="群組 25">
                  <a:extLst>
                    <a:ext uri="{FF2B5EF4-FFF2-40B4-BE49-F238E27FC236}">
                      <a16:creationId xmlns:a16="http://schemas.microsoft.com/office/drawing/2014/main" id="{0C42DB66-CCCD-DAF3-54A5-21035E138176}"/>
                    </a:ext>
                  </a:extLst>
                </p:cNvPr>
                <p:cNvGrpSpPr/>
                <p:nvPr/>
              </p:nvGrpSpPr>
              <p:grpSpPr>
                <a:xfrm>
                  <a:off x="910033" y="4146873"/>
                  <a:ext cx="7872902" cy="966351"/>
                  <a:chOff x="927788" y="4825938"/>
                  <a:chExt cx="5865080" cy="966351"/>
                </a:xfrm>
              </p:grpSpPr>
              <p:grpSp>
                <p:nvGrpSpPr>
                  <p:cNvPr id="69" name="群組 68">
                    <a:extLst>
                      <a:ext uri="{FF2B5EF4-FFF2-40B4-BE49-F238E27FC236}">
                        <a16:creationId xmlns:a16="http://schemas.microsoft.com/office/drawing/2014/main" id="{8BDE5217-3477-CC23-39E1-10079B616D98}"/>
                      </a:ext>
                    </a:extLst>
                  </p:cNvPr>
                  <p:cNvGrpSpPr/>
                  <p:nvPr/>
                </p:nvGrpSpPr>
                <p:grpSpPr>
                  <a:xfrm>
                    <a:off x="927788" y="4843550"/>
                    <a:ext cx="5544147" cy="948739"/>
                    <a:chOff x="1653159" y="2701033"/>
                    <a:chExt cx="2817772" cy="948739"/>
                  </a:xfrm>
                </p:grpSpPr>
                <p:sp>
                  <p:nvSpPr>
                    <p:cNvPr id="75" name="矩形 74">
                      <a:extLst>
                        <a:ext uri="{FF2B5EF4-FFF2-40B4-BE49-F238E27FC236}">
                          <a16:creationId xmlns:a16="http://schemas.microsoft.com/office/drawing/2014/main" id="{5FC7AAB6-144F-AF9C-2ED1-08220BDC1F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3159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9DC00401-7BCA-450C-482F-B7C108BFCE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49206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39C143B5-F6A8-FBD4-8C63-30D9A2DFF5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0039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97148565-8E43-A798-6DC1-9FF242ED368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90039" y="1917493"/>
                      <a:ext cx="108000" cy="2772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  <p:sp>
                  <p:nvSpPr>
                    <p:cNvPr id="79" name="箭號: 向下 78">
                      <a:extLst>
                        <a:ext uri="{FF2B5EF4-FFF2-40B4-BE49-F238E27FC236}">
                          <a16:creationId xmlns:a16="http://schemas.microsoft.com/office/drawing/2014/main" id="{CDE6F8D8-FED8-687D-806A-029E922441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1366" y="3253772"/>
                      <a:ext cx="81783" cy="396000"/>
                    </a:xfrm>
                    <a:prstGeom prst="down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</p:grpSp>
              <p:grpSp>
                <p:nvGrpSpPr>
                  <p:cNvPr id="70" name="群組 69">
                    <a:extLst>
                      <a:ext uri="{FF2B5EF4-FFF2-40B4-BE49-F238E27FC236}">
                        <a16:creationId xmlns:a16="http://schemas.microsoft.com/office/drawing/2014/main" id="{09EB8A7B-B1F3-6693-AEBC-6FF7FF64E915}"/>
                      </a:ext>
                    </a:extLst>
                  </p:cNvPr>
                  <p:cNvGrpSpPr/>
                  <p:nvPr/>
                </p:nvGrpSpPr>
                <p:grpSpPr>
                  <a:xfrm>
                    <a:off x="1121379" y="4825938"/>
                    <a:ext cx="5671489" cy="945473"/>
                    <a:chOff x="1024147" y="4805717"/>
                    <a:chExt cx="2965142" cy="945473"/>
                  </a:xfrm>
                </p:grpSpPr>
                <p:sp>
                  <p:nvSpPr>
                    <p:cNvPr id="71" name="箭號: 上彎 70">
                      <a:extLst>
                        <a:ext uri="{FF2B5EF4-FFF2-40B4-BE49-F238E27FC236}">
                          <a16:creationId xmlns:a16="http://schemas.microsoft.com/office/drawing/2014/main" id="{5DAA6211-AAD4-E2FE-96AD-01BA921C0F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0225" y="4805717"/>
                      <a:ext cx="602206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2" name="箭號: 上彎 71">
                      <a:extLst>
                        <a:ext uri="{FF2B5EF4-FFF2-40B4-BE49-F238E27FC236}">
                          <a16:creationId xmlns:a16="http://schemas.microsoft.com/office/drawing/2014/main" id="{992F3A4B-981C-5557-E8C2-A90DF14104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18007" y="4805717"/>
                      <a:ext cx="1871282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  <p:sp>
                  <p:nvSpPr>
                    <p:cNvPr id="73" name="箭號: 上彎 72">
                      <a:extLst>
                        <a:ext uri="{FF2B5EF4-FFF2-40B4-BE49-F238E27FC236}">
                          <a16:creationId xmlns:a16="http://schemas.microsoft.com/office/drawing/2014/main" id="{C190D8DB-2A2D-9EAB-8828-6343E8C31E9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24147" y="4805717"/>
                      <a:ext cx="862088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4" name="矩形 73">
                      <a:extLst>
                        <a:ext uri="{FF2B5EF4-FFF2-40B4-BE49-F238E27FC236}">
                          <a16:creationId xmlns:a16="http://schemas.microsoft.com/office/drawing/2014/main" id="{A0136C40-E0E0-91EE-75D1-624CD7FBCA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233" y="5139190"/>
                      <a:ext cx="42064" cy="612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</p:grpSp>
            <p:sp>
              <p:nvSpPr>
                <p:cNvPr id="65" name="矩形: 圓角 64">
                  <a:extLst>
                    <a:ext uri="{FF2B5EF4-FFF2-40B4-BE49-F238E27FC236}">
                      <a16:creationId xmlns:a16="http://schemas.microsoft.com/office/drawing/2014/main" id="{A0B8F154-B8CA-9B92-EAB6-716CD00486A0}"/>
                    </a:ext>
                  </a:extLst>
                </p:cNvPr>
                <p:cNvSpPr/>
                <p:nvPr/>
              </p:nvSpPr>
              <p:spPr>
                <a:xfrm>
                  <a:off x="605936" y="2237747"/>
                  <a:ext cx="1143293" cy="601586"/>
                </a:xfrm>
                <a:prstGeom prst="round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b="1" dirty="0">
                      <a:solidFill>
                        <a:schemeClr val="tx1"/>
                      </a:solidFill>
                    </a:rPr>
                    <a:t>CE</a:t>
                  </a:r>
                  <a:r>
                    <a:rPr lang="zh-TW" altLang="en-US" sz="12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TW" sz="1200" b="1" dirty="0">
                      <a:solidFill>
                        <a:schemeClr val="tx1"/>
                      </a:solidFill>
                    </a:rPr>
                    <a:t>Loss 1</a:t>
                  </a:r>
                  <a:endParaRPr lang="zh-TW" altLang="en-US" sz="12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51" name="群組 50">
                  <a:extLst>
                    <a:ext uri="{FF2B5EF4-FFF2-40B4-BE49-F238E27FC236}">
                      <a16:creationId xmlns:a16="http://schemas.microsoft.com/office/drawing/2014/main" id="{8D40AEA5-10E0-399B-26A5-9572A48CE3B0}"/>
                    </a:ext>
                  </a:extLst>
                </p:cNvPr>
                <p:cNvGrpSpPr/>
                <p:nvPr/>
              </p:nvGrpSpPr>
              <p:grpSpPr>
                <a:xfrm>
                  <a:off x="910033" y="2931776"/>
                  <a:ext cx="517331" cy="494512"/>
                  <a:chOff x="857746" y="3610841"/>
                  <a:chExt cx="517331" cy="494512"/>
                </a:xfrm>
              </p:grpSpPr>
              <p:grpSp>
                <p:nvGrpSpPr>
                  <p:cNvPr id="60" name="群組 59">
                    <a:extLst>
                      <a:ext uri="{FF2B5EF4-FFF2-40B4-BE49-F238E27FC236}">
                        <a16:creationId xmlns:a16="http://schemas.microsoft.com/office/drawing/2014/main" id="{8F951905-5C32-5B59-C589-031C2B6FD552}"/>
                      </a:ext>
                    </a:extLst>
                  </p:cNvPr>
                  <p:cNvGrpSpPr/>
                  <p:nvPr/>
                </p:nvGrpSpPr>
                <p:grpSpPr>
                  <a:xfrm>
                    <a:off x="857746" y="3610841"/>
                    <a:ext cx="337591" cy="494512"/>
                    <a:chOff x="2230583" y="2141666"/>
                    <a:chExt cx="337591" cy="494512"/>
                  </a:xfrm>
                </p:grpSpPr>
                <p:sp>
                  <p:nvSpPr>
                    <p:cNvPr id="62" name="箭號: 向上 61">
                      <a:extLst>
                        <a:ext uri="{FF2B5EF4-FFF2-40B4-BE49-F238E27FC236}">
                          <a16:creationId xmlns:a16="http://schemas.microsoft.com/office/drawing/2014/main" id="{8395AE15-458B-CA6D-C005-0CCE601861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0583" y="2141666"/>
                      <a:ext cx="144000" cy="468000"/>
                    </a:xfrm>
                    <a:prstGeom prst="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63" name="箭號: 向上 62">
                      <a:extLst>
                        <a:ext uri="{FF2B5EF4-FFF2-40B4-BE49-F238E27FC236}">
                          <a16:creationId xmlns:a16="http://schemas.microsoft.com/office/drawing/2014/main" id="{0CA42F72-80F4-104F-DEF9-05EC26E6A54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424174" y="2168178"/>
                      <a:ext cx="144000" cy="468000"/>
                    </a:xfrm>
                    <a:prstGeom prst="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</p:grpSp>
              <p:sp>
                <p:nvSpPr>
                  <p:cNvPr id="61" name="矩形 60">
                    <a:extLst>
                      <a:ext uri="{FF2B5EF4-FFF2-40B4-BE49-F238E27FC236}">
                        <a16:creationId xmlns:a16="http://schemas.microsoft.com/office/drawing/2014/main" id="{6AF8AA71-244E-D83C-1196-6A32929A0F7D}"/>
                      </a:ext>
                    </a:extLst>
                  </p:cNvPr>
                  <p:cNvSpPr/>
                  <p:nvPr/>
                </p:nvSpPr>
                <p:spPr>
                  <a:xfrm>
                    <a:off x="1267077" y="3844841"/>
                    <a:ext cx="108000" cy="23400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</p:grpSp>
            <p:grpSp>
              <p:nvGrpSpPr>
                <p:cNvPr id="106" name="群組 105">
                  <a:extLst>
                    <a:ext uri="{FF2B5EF4-FFF2-40B4-BE49-F238E27FC236}">
                      <a16:creationId xmlns:a16="http://schemas.microsoft.com/office/drawing/2014/main" id="{CE85A746-4F4C-81EC-34D8-593D34052AA9}"/>
                    </a:ext>
                  </a:extLst>
                </p:cNvPr>
                <p:cNvGrpSpPr/>
                <p:nvPr/>
              </p:nvGrpSpPr>
              <p:grpSpPr>
                <a:xfrm>
                  <a:off x="6062367" y="1400830"/>
                  <a:ext cx="571221" cy="2546814"/>
                  <a:chOff x="4361572" y="1466689"/>
                  <a:chExt cx="571221" cy="2546814"/>
                </a:xfrm>
              </p:grpSpPr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50231DEF-50DE-478E-5C19-244569F85BD7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2" y="3644171"/>
                    <a:ext cx="5682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/>
                      <a:t>… …</a:t>
                    </a:r>
                    <a:endParaRPr lang="zh-TW" altLang="en-US" dirty="0"/>
                  </a:p>
                </p:txBody>
              </p:sp>
              <p:sp>
                <p:nvSpPr>
                  <p:cNvPr id="67" name="文字方塊 66">
                    <a:extLst>
                      <a:ext uri="{FF2B5EF4-FFF2-40B4-BE49-F238E27FC236}">
                        <a16:creationId xmlns:a16="http://schemas.microsoft.com/office/drawing/2014/main" id="{E5B3DD03-2C8A-559A-E3D3-311BD3232653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1" y="2351811"/>
                    <a:ext cx="5682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/>
                      <a:t>… …</a:t>
                    </a:r>
                    <a:endParaRPr lang="zh-TW" altLang="en-US" dirty="0"/>
                  </a:p>
                </p:txBody>
              </p:sp>
              <p:sp>
                <p:nvSpPr>
                  <p:cNvPr id="44" name="文字方塊 43">
                    <a:extLst>
                      <a:ext uri="{FF2B5EF4-FFF2-40B4-BE49-F238E27FC236}">
                        <a16:creationId xmlns:a16="http://schemas.microsoft.com/office/drawing/2014/main" id="{383F0368-67D2-41FA-4611-C0246453BD4A}"/>
                      </a:ext>
                    </a:extLst>
                  </p:cNvPr>
                  <p:cNvSpPr txBox="1"/>
                  <p:nvPr/>
                </p:nvSpPr>
                <p:spPr>
                  <a:xfrm>
                    <a:off x="4361572" y="1466689"/>
                    <a:ext cx="5682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/>
                      <a:t>… …</a:t>
                    </a:r>
                    <a:endParaRPr lang="zh-TW" altLang="en-US" dirty="0"/>
                  </a:p>
                </p:txBody>
              </p:sp>
            </p:grpSp>
            <p:grpSp>
              <p:nvGrpSpPr>
                <p:cNvPr id="107" name="群組 106">
                  <a:extLst>
                    <a:ext uri="{FF2B5EF4-FFF2-40B4-BE49-F238E27FC236}">
                      <a16:creationId xmlns:a16="http://schemas.microsoft.com/office/drawing/2014/main" id="{D29FBD48-4D8C-C9B3-A458-E78E043B3540}"/>
                    </a:ext>
                  </a:extLst>
                </p:cNvPr>
                <p:cNvGrpSpPr/>
                <p:nvPr/>
              </p:nvGrpSpPr>
              <p:grpSpPr>
                <a:xfrm>
                  <a:off x="1833985" y="1382471"/>
                  <a:ext cx="4020558" cy="2747159"/>
                  <a:chOff x="1833985" y="1382471"/>
                  <a:chExt cx="2577457" cy="2747159"/>
                </a:xfrm>
              </p:grpSpPr>
              <p:sp>
                <p:nvSpPr>
                  <p:cNvPr id="81" name="矩形: 圓角 80">
                    <a:extLst>
                      <a:ext uri="{FF2B5EF4-FFF2-40B4-BE49-F238E27FC236}">
                        <a16:creationId xmlns:a16="http://schemas.microsoft.com/office/drawing/2014/main" id="{426E5A67-6F93-8DE0-AAFD-EB42C4C2F279}"/>
                      </a:ext>
                    </a:extLst>
                  </p:cNvPr>
                  <p:cNvSpPr/>
                  <p:nvPr/>
                </p:nvSpPr>
                <p:spPr>
                  <a:xfrm>
                    <a:off x="1839926" y="3528044"/>
                    <a:ext cx="2337467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2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矩形: 圓角 41">
                    <a:extLst>
                      <a:ext uri="{FF2B5EF4-FFF2-40B4-BE49-F238E27FC236}">
                        <a16:creationId xmlns:a16="http://schemas.microsoft.com/office/drawing/2014/main" id="{2D26AD19-3F27-E640-09A9-AB93E1F39413}"/>
                      </a:ext>
                    </a:extLst>
                  </p:cNvPr>
                  <p:cNvSpPr/>
                  <p:nvPr/>
                </p:nvSpPr>
                <p:spPr>
                  <a:xfrm>
                    <a:off x="1833985" y="1382471"/>
                    <a:ext cx="2337467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32" name="群組 31">
                    <a:extLst>
                      <a:ext uri="{FF2B5EF4-FFF2-40B4-BE49-F238E27FC236}">
                        <a16:creationId xmlns:a16="http://schemas.microsoft.com/office/drawing/2014/main" id="{ED0423D8-0221-CE43-B138-971D42086A53}"/>
                      </a:ext>
                    </a:extLst>
                  </p:cNvPr>
                  <p:cNvGrpSpPr/>
                  <p:nvPr/>
                </p:nvGrpSpPr>
                <p:grpSpPr>
                  <a:xfrm>
                    <a:off x="4181160" y="1647994"/>
                    <a:ext cx="230282" cy="2314767"/>
                    <a:chOff x="4198915" y="2327059"/>
                    <a:chExt cx="230282" cy="2314767"/>
                  </a:xfrm>
                </p:grpSpPr>
                <p:sp>
                  <p:nvSpPr>
                    <p:cNvPr id="38" name="矩形 37">
                      <a:extLst>
                        <a:ext uri="{FF2B5EF4-FFF2-40B4-BE49-F238E27FC236}">
                          <a16:creationId xmlns:a16="http://schemas.microsoft.com/office/drawing/2014/main" id="{1A33B6E5-0907-D520-8D2B-50C72104F2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9619" y="2327060"/>
                      <a:ext cx="59578" cy="2268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  <p:grpSp>
                  <p:nvGrpSpPr>
                    <p:cNvPr id="39" name="群組 38">
                      <a:extLst>
                        <a:ext uri="{FF2B5EF4-FFF2-40B4-BE49-F238E27FC236}">
                          <a16:creationId xmlns:a16="http://schemas.microsoft.com/office/drawing/2014/main" id="{BFA073F8-3807-3361-7EE2-C7F373A870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98915" y="2327059"/>
                      <a:ext cx="200493" cy="2314767"/>
                      <a:chOff x="4198915" y="2327059"/>
                      <a:chExt cx="200493" cy="2314767"/>
                    </a:xfrm>
                  </p:grpSpPr>
                  <p:sp>
                    <p:nvSpPr>
                      <p:cNvPr id="40" name="矩形 39">
                        <a:extLst>
                          <a:ext uri="{FF2B5EF4-FFF2-40B4-BE49-F238E27FC236}">
                            <a16:creationId xmlns:a16="http://schemas.microsoft.com/office/drawing/2014/main" id="{C849B078-C5B1-4D66-EAB6-41623D5595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98915" y="2327059"/>
                        <a:ext cx="200493" cy="72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sp>
                    <p:nvSpPr>
                      <p:cNvPr id="41" name="箭號: 向左 40">
                        <a:extLst>
                          <a:ext uri="{FF2B5EF4-FFF2-40B4-BE49-F238E27FC236}">
                            <a16:creationId xmlns:a16="http://schemas.microsoft.com/office/drawing/2014/main" id="{46D4202F-513A-7304-19F0-D1E318251D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7826" y="4461826"/>
                        <a:ext cx="180000" cy="180000"/>
                      </a:xfrm>
                      <a:prstGeom prst="leftArrow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dirty="0"/>
                      </a:p>
                    </p:txBody>
                  </p:sp>
                </p:grpSp>
              </p:grpSp>
            </p:grpSp>
            <p:grpSp>
              <p:nvGrpSpPr>
                <p:cNvPr id="105" name="群組 104">
                  <a:extLst>
                    <a:ext uri="{FF2B5EF4-FFF2-40B4-BE49-F238E27FC236}">
                      <a16:creationId xmlns:a16="http://schemas.microsoft.com/office/drawing/2014/main" id="{2700B445-401F-A7AB-BD92-FCCC8DD5F9AA}"/>
                    </a:ext>
                  </a:extLst>
                </p:cNvPr>
                <p:cNvGrpSpPr/>
                <p:nvPr/>
              </p:nvGrpSpPr>
              <p:grpSpPr>
                <a:xfrm>
                  <a:off x="6794792" y="1379985"/>
                  <a:ext cx="3932526" cy="2782428"/>
                  <a:chOff x="5119943" y="1347202"/>
                  <a:chExt cx="3932526" cy="2782428"/>
                </a:xfrm>
              </p:grpSpPr>
              <p:sp>
                <p:nvSpPr>
                  <p:cNvPr id="68" name="矩形: 圓角 67">
                    <a:extLst>
                      <a:ext uri="{FF2B5EF4-FFF2-40B4-BE49-F238E27FC236}">
                        <a16:creationId xmlns:a16="http://schemas.microsoft.com/office/drawing/2014/main" id="{29F99D35-3120-770E-BEF2-36329FB6D90A}"/>
                      </a:ext>
                    </a:extLst>
                  </p:cNvPr>
                  <p:cNvSpPr/>
                  <p:nvPr/>
                </p:nvSpPr>
                <p:spPr>
                  <a:xfrm>
                    <a:off x="5119943" y="2235684"/>
                    <a:ext cx="1113375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</a:rPr>
                      <a:t>CE</a:t>
                    </a:r>
                    <a:r>
                      <a:rPr lang="zh-TW" altLang="en-US" sz="1200" b="1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altLang="zh-TW" sz="1200" b="1" dirty="0">
                        <a:solidFill>
                          <a:schemeClr val="tx1"/>
                        </a:solidFill>
                      </a:rPr>
                      <a:t>Loss K</a:t>
                    </a:r>
                    <a:endParaRPr lang="zh-TW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53" name="群組 52">
                    <a:extLst>
                      <a:ext uri="{FF2B5EF4-FFF2-40B4-BE49-F238E27FC236}">
                        <a16:creationId xmlns:a16="http://schemas.microsoft.com/office/drawing/2014/main" id="{E22BCFA8-E70D-723E-BC0A-8E486A854400}"/>
                      </a:ext>
                    </a:extLst>
                  </p:cNvPr>
                  <p:cNvGrpSpPr/>
                  <p:nvPr/>
                </p:nvGrpSpPr>
                <p:grpSpPr>
                  <a:xfrm>
                    <a:off x="6621178" y="2926550"/>
                    <a:ext cx="613876" cy="468000"/>
                    <a:chOff x="2136461" y="3605615"/>
                    <a:chExt cx="613876" cy="468000"/>
                  </a:xfrm>
                </p:grpSpPr>
                <p:sp>
                  <p:nvSpPr>
                    <p:cNvPr id="56" name="箭號: 向上 55">
                      <a:extLst>
                        <a:ext uri="{FF2B5EF4-FFF2-40B4-BE49-F238E27FC236}">
                          <a16:creationId xmlns:a16="http://schemas.microsoft.com/office/drawing/2014/main" id="{B11F51E7-2096-B595-56BB-0B6284755E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6461" y="3605615"/>
                      <a:ext cx="144000" cy="468000"/>
                    </a:xfrm>
                    <a:prstGeom prst="upArrow">
                      <a:avLst/>
                    </a:prstGeom>
                    <a:solidFill>
                      <a:srgbClr val="00B050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57" name="箭號: 向上 56">
                      <a:extLst>
                        <a:ext uri="{FF2B5EF4-FFF2-40B4-BE49-F238E27FC236}">
                          <a16:creationId xmlns:a16="http://schemas.microsoft.com/office/drawing/2014/main" id="{CB59C7D4-3896-A4AC-0115-4E7B18E131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06337" y="3605615"/>
                      <a:ext cx="144000" cy="234000"/>
                    </a:xfrm>
                    <a:prstGeom prst="upArrow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</p:grpSp>
              <p:sp>
                <p:nvSpPr>
                  <p:cNvPr id="55" name="箭號: 向上 54">
                    <a:extLst>
                      <a:ext uri="{FF2B5EF4-FFF2-40B4-BE49-F238E27FC236}">
                        <a16:creationId xmlns:a16="http://schemas.microsoft.com/office/drawing/2014/main" id="{29F6C90C-BBE8-EBE1-19E9-FEDEAB280CCC}"/>
                      </a:ext>
                    </a:extLst>
                  </p:cNvPr>
                  <p:cNvSpPr/>
                  <p:nvPr/>
                </p:nvSpPr>
                <p:spPr>
                  <a:xfrm>
                    <a:off x="5609384" y="2926550"/>
                    <a:ext cx="144000" cy="468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7" name="箭號: 向上 46">
                    <a:extLst>
                      <a:ext uri="{FF2B5EF4-FFF2-40B4-BE49-F238E27FC236}">
                        <a16:creationId xmlns:a16="http://schemas.microsoft.com/office/drawing/2014/main" id="{392EA078-CFE0-F911-22C0-9F0D95096976}"/>
                      </a:ext>
                    </a:extLst>
                  </p:cNvPr>
                  <p:cNvSpPr/>
                  <p:nvPr/>
                </p:nvSpPr>
                <p:spPr>
                  <a:xfrm>
                    <a:off x="5609384" y="1984057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8" name="箭號: 向上 47">
                    <a:extLst>
                      <a:ext uri="{FF2B5EF4-FFF2-40B4-BE49-F238E27FC236}">
                        <a16:creationId xmlns:a16="http://schemas.microsoft.com/office/drawing/2014/main" id="{F16E6986-1A02-5DD1-954D-497C33765E55}"/>
                      </a:ext>
                    </a:extLst>
                  </p:cNvPr>
                  <p:cNvSpPr/>
                  <p:nvPr/>
                </p:nvSpPr>
                <p:spPr>
                  <a:xfrm>
                    <a:off x="6832604" y="1984057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3" name="矩形: 圓角 82">
                    <a:extLst>
                      <a:ext uri="{FF2B5EF4-FFF2-40B4-BE49-F238E27FC236}">
                        <a16:creationId xmlns:a16="http://schemas.microsoft.com/office/drawing/2014/main" id="{B986A042-D0F8-3049-0B98-CD967B6DF29E}"/>
                      </a:ext>
                    </a:extLst>
                  </p:cNvPr>
                  <p:cNvSpPr/>
                  <p:nvPr/>
                </p:nvSpPr>
                <p:spPr>
                  <a:xfrm>
                    <a:off x="5119943" y="3528044"/>
                    <a:ext cx="3562573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K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35" name="群組 34">
                    <a:extLst>
                      <a:ext uri="{FF2B5EF4-FFF2-40B4-BE49-F238E27FC236}">
                        <a16:creationId xmlns:a16="http://schemas.microsoft.com/office/drawing/2014/main" id="{BBA8340C-1772-F32E-3444-9F501E78319E}"/>
                      </a:ext>
                    </a:extLst>
                  </p:cNvPr>
                  <p:cNvGrpSpPr/>
                  <p:nvPr/>
                </p:nvGrpSpPr>
                <p:grpSpPr>
                  <a:xfrm>
                    <a:off x="8694245" y="1647994"/>
                    <a:ext cx="312802" cy="2314744"/>
                    <a:chOff x="4194267" y="2327059"/>
                    <a:chExt cx="205141" cy="2314744"/>
                  </a:xfrm>
                </p:grpSpPr>
                <p:sp>
                  <p:nvSpPr>
                    <p:cNvPr id="36" name="矩形 35">
                      <a:extLst>
                        <a:ext uri="{FF2B5EF4-FFF2-40B4-BE49-F238E27FC236}">
                          <a16:creationId xmlns:a16="http://schemas.microsoft.com/office/drawing/2014/main" id="{DBAD3EF9-5BA7-79C9-AAD1-4984CB7A4A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8915" y="2327059"/>
                      <a:ext cx="200493" cy="90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  <p:sp>
                  <p:nvSpPr>
                    <p:cNvPr id="37" name="箭號: 向左 36">
                      <a:extLst>
                        <a:ext uri="{FF2B5EF4-FFF2-40B4-BE49-F238E27FC236}">
                          <a16:creationId xmlns:a16="http://schemas.microsoft.com/office/drawing/2014/main" id="{0077B422-779F-32BA-D62C-9E12C2E7B0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4267" y="4461803"/>
                      <a:ext cx="180000" cy="180000"/>
                    </a:xfrm>
                    <a:prstGeom prst="left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</p:grpSp>
              <p:sp>
                <p:nvSpPr>
                  <p:cNvPr id="43" name="矩形: 圓角 42">
                    <a:extLst>
                      <a:ext uri="{FF2B5EF4-FFF2-40B4-BE49-F238E27FC236}">
                        <a16:creationId xmlns:a16="http://schemas.microsoft.com/office/drawing/2014/main" id="{028A8C48-4812-C3DA-960D-D1BBE2322457}"/>
                      </a:ext>
                    </a:extLst>
                  </p:cNvPr>
                  <p:cNvSpPr/>
                  <p:nvPr/>
                </p:nvSpPr>
                <p:spPr>
                  <a:xfrm>
                    <a:off x="5119943" y="1347202"/>
                    <a:ext cx="3564200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矩形 33">
                    <a:extLst>
                      <a:ext uri="{FF2B5EF4-FFF2-40B4-BE49-F238E27FC236}">
                        <a16:creationId xmlns:a16="http://schemas.microsoft.com/office/drawing/2014/main" id="{DB5E7AA6-75A0-77B6-3C0A-DF1D86414886}"/>
                      </a:ext>
                    </a:extLst>
                  </p:cNvPr>
                  <p:cNvSpPr/>
                  <p:nvPr/>
                </p:nvSpPr>
                <p:spPr>
                  <a:xfrm>
                    <a:off x="8961624" y="1647995"/>
                    <a:ext cx="90845" cy="2268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84" name="矩形: 圓角 83">
                    <a:extLst>
                      <a:ext uri="{FF2B5EF4-FFF2-40B4-BE49-F238E27FC236}">
                        <a16:creationId xmlns:a16="http://schemas.microsoft.com/office/drawing/2014/main" id="{F4A75B6D-E8AB-8476-38D3-D1717FBFA939}"/>
                      </a:ext>
                    </a:extLst>
                  </p:cNvPr>
                  <p:cNvSpPr/>
                  <p:nvPr/>
                </p:nvSpPr>
                <p:spPr>
                  <a:xfrm>
                    <a:off x="6295316" y="2241003"/>
                    <a:ext cx="1277949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</a:rPr>
                      <a:t>LCM Loss K</a:t>
                    </a:r>
                    <a:endParaRPr lang="zh-TW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0" name="矩形: 圓角 99">
                    <a:extLst>
                      <a:ext uri="{FF2B5EF4-FFF2-40B4-BE49-F238E27FC236}">
                        <a16:creationId xmlns:a16="http://schemas.microsoft.com/office/drawing/2014/main" id="{6C6D1599-F703-AC80-2445-99522F57CB9A}"/>
                      </a:ext>
                    </a:extLst>
                  </p:cNvPr>
                  <p:cNvSpPr/>
                  <p:nvPr/>
                </p:nvSpPr>
                <p:spPr>
                  <a:xfrm>
                    <a:off x="7619682" y="2233629"/>
                    <a:ext cx="1277949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</a:rPr>
                      <a:t>SDC Loss K</a:t>
                    </a:r>
                    <a:endParaRPr lang="zh-TW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" name="箭號: 向上 101">
                    <a:extLst>
                      <a:ext uri="{FF2B5EF4-FFF2-40B4-BE49-F238E27FC236}">
                        <a16:creationId xmlns:a16="http://schemas.microsoft.com/office/drawing/2014/main" id="{5AD4ED8F-2635-13E5-520D-B260BFE9B33D}"/>
                      </a:ext>
                    </a:extLst>
                  </p:cNvPr>
                  <p:cNvSpPr/>
                  <p:nvPr/>
                </p:nvSpPr>
                <p:spPr>
                  <a:xfrm>
                    <a:off x="8568611" y="2920788"/>
                    <a:ext cx="144000" cy="234000"/>
                  </a:xfrm>
                  <a:prstGeom prst="upArrow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103" name="箭號: 向上 102">
                    <a:extLst>
                      <a:ext uri="{FF2B5EF4-FFF2-40B4-BE49-F238E27FC236}">
                        <a16:creationId xmlns:a16="http://schemas.microsoft.com/office/drawing/2014/main" id="{6A2160AE-D339-97EC-774F-A3E1C1F0D3D8}"/>
                      </a:ext>
                    </a:extLst>
                  </p:cNvPr>
                  <p:cNvSpPr/>
                  <p:nvPr/>
                </p:nvSpPr>
                <p:spPr>
                  <a:xfrm>
                    <a:off x="8192058" y="1986450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4" name="箭號: 向上 103">
                    <a:extLst>
                      <a:ext uri="{FF2B5EF4-FFF2-40B4-BE49-F238E27FC236}">
                        <a16:creationId xmlns:a16="http://schemas.microsoft.com/office/drawing/2014/main" id="{D197C1F1-B220-E7D8-548C-D61E4ABC4749}"/>
                      </a:ext>
                    </a:extLst>
                  </p:cNvPr>
                  <p:cNvSpPr/>
                  <p:nvPr/>
                </p:nvSpPr>
                <p:spPr>
                  <a:xfrm>
                    <a:off x="8088527" y="2928996"/>
                    <a:ext cx="144000" cy="468000"/>
                  </a:xfrm>
                  <a:prstGeom prst="upArrow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</p:grpSp>
          </p:grpSp>
          <p:sp>
            <p:nvSpPr>
              <p:cNvPr id="109" name="矩形: 圓角 108">
                <a:extLst>
                  <a:ext uri="{FF2B5EF4-FFF2-40B4-BE49-F238E27FC236}">
                    <a16:creationId xmlns:a16="http://schemas.microsoft.com/office/drawing/2014/main" id="{D6A40E28-6FB7-5412-739C-0236AB74DACB}"/>
                  </a:ext>
                </a:extLst>
              </p:cNvPr>
              <p:cNvSpPr/>
              <p:nvPr/>
            </p:nvSpPr>
            <p:spPr>
              <a:xfrm>
                <a:off x="4396742" y="2238264"/>
                <a:ext cx="1277949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</a:rPr>
                  <a:t>SDC Loss K</a:t>
                </a:r>
                <a:endParaRPr lang="zh-TW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箭號: 向上 113">
                <a:extLst>
                  <a:ext uri="{FF2B5EF4-FFF2-40B4-BE49-F238E27FC236}">
                    <a16:creationId xmlns:a16="http://schemas.microsoft.com/office/drawing/2014/main" id="{56A8638F-CB86-1B55-C61B-4AE784D9C54A}"/>
                  </a:ext>
                </a:extLst>
              </p:cNvPr>
              <p:cNvSpPr/>
              <p:nvPr/>
            </p:nvSpPr>
            <p:spPr>
              <a:xfrm>
                <a:off x="4963716" y="1996796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17" name="箭號: 向上 116">
            <a:extLst>
              <a:ext uri="{FF2B5EF4-FFF2-40B4-BE49-F238E27FC236}">
                <a16:creationId xmlns:a16="http://schemas.microsoft.com/office/drawing/2014/main" id="{7EA2DEAD-57CA-DF92-09AF-1FD788680231}"/>
              </a:ext>
            </a:extLst>
          </p:cNvPr>
          <p:cNvSpPr/>
          <p:nvPr/>
        </p:nvSpPr>
        <p:spPr>
          <a:xfrm>
            <a:off x="8396782" y="3591107"/>
            <a:ext cx="215809" cy="432000"/>
          </a:xfrm>
          <a:prstGeom prst="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7AE00958-E32C-8716-567F-29F74CA04508}"/>
                  </a:ext>
                </a:extLst>
              </p:cNvPr>
              <p:cNvSpPr txBox="1"/>
              <p:nvPr/>
            </p:nvSpPr>
            <p:spPr>
              <a:xfrm>
                <a:off x="6584535" y="5176878"/>
                <a:ext cx="552697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1600" dirty="0"/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1600" dirty="0"/>
                  <a:t>,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sz="1600" dirty="0"/>
                  <a:t>: loss weight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/>
                  <a:t>CE loss: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/>
                  <a:t>SDC(selective distribution consistency ): define on Page. 14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/>
                  <a:t>LCM(Latent Consistency Matching): define on Page. 15</a:t>
                </a:r>
              </a:p>
            </p:txBody>
          </p:sp>
        </mc:Choice>
        <mc:Fallback xmlns="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7AE00958-E32C-8716-567F-29F74CA04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35" y="5176878"/>
                <a:ext cx="5526970" cy="1107996"/>
              </a:xfrm>
              <a:prstGeom prst="rect">
                <a:avLst/>
              </a:prstGeom>
              <a:blipFill>
                <a:blip r:embed="rId3"/>
                <a:stretch>
                  <a:fillRect l="-441" t="-1648" b="-32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E9FF81-1CFD-6568-25C7-9CC572BD3C44}"/>
                  </a:ext>
                </a:extLst>
              </p:cNvPr>
              <p:cNvSpPr txBox="1"/>
              <p:nvPr/>
            </p:nvSpPr>
            <p:spPr>
              <a:xfrm>
                <a:off x="6584535" y="4670621"/>
                <a:ext cx="4163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𝑆𝐷𝐶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𝐿𝐶𝑀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E9FF81-1CFD-6568-25C7-9CC572BD3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35" y="4670621"/>
                <a:ext cx="416362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14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Selective Distribution Consistency — confidence-aware KL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5B8F945-52E7-F5F0-E3D9-03D7EA9206C0}"/>
              </a:ext>
            </a:extLst>
          </p:cNvPr>
          <p:cNvSpPr txBox="1"/>
          <p:nvPr/>
        </p:nvSpPr>
        <p:spPr>
          <a:xfrm>
            <a:off x="787179" y="5423659"/>
            <a:ext cx="10962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confidence threshold </a:t>
            </a:r>
            <a:r>
              <a:rPr lang="el-GR" altLang="zh-TW" sz="1600" dirty="0"/>
              <a:t>τ </a:t>
            </a:r>
            <a:r>
              <a:rPr lang="zh-TW" altLang="en-US" sz="1600" dirty="0"/>
              <a:t>控制噪聲干擾。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若 </a:t>
            </a:r>
            <a:r>
              <a:rPr lang="el-GR" altLang="zh-TW" sz="1600" dirty="0"/>
              <a:t>τ </a:t>
            </a:r>
            <a:r>
              <a:rPr lang="zh-TW" altLang="en-US" sz="1600" dirty="0"/>
              <a:t>過高，會讓模型整體傾向高信心度</a:t>
            </a:r>
            <a:r>
              <a:rPr lang="en-US" altLang="zh-TW" sz="1600" dirty="0"/>
              <a:t>/</a:t>
            </a:r>
            <a:r>
              <a:rPr lang="zh-TW" altLang="en-US" sz="1600" dirty="0"/>
              <a:t>重複度的回答，可能造成 </a:t>
            </a:r>
            <a:r>
              <a:rPr lang="en-US" altLang="zh-TW" sz="1600" dirty="0"/>
              <a:t>PPL / draft acceptance </a:t>
            </a:r>
            <a:r>
              <a:rPr lang="zh-TW" altLang="en-US" sz="1600" dirty="0"/>
              <a:t>下降，</a:t>
            </a:r>
            <a:r>
              <a:rPr lang="en-US" altLang="zh-TW" sz="1600" dirty="0" err="1"/>
              <a:t>GenPPL</a:t>
            </a:r>
            <a:r>
              <a:rPr lang="en-US" altLang="zh-TW" sz="1600" dirty="0"/>
              <a:t>/ repetition</a:t>
            </a:r>
            <a:r>
              <a:rPr lang="zh-TW" altLang="en-US" sz="1600" dirty="0"/>
              <a:t>上升。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: 圓角 7">
                <a:extLst>
                  <a:ext uri="{FF2B5EF4-FFF2-40B4-BE49-F238E27FC236}">
                    <a16:creationId xmlns:a16="http://schemas.microsoft.com/office/drawing/2014/main" id="{68349D20-EA92-5D33-2848-ACECF4C824B9}"/>
                  </a:ext>
                </a:extLst>
              </p:cNvPr>
              <p:cNvSpPr/>
              <p:nvPr/>
            </p:nvSpPr>
            <p:spPr>
              <a:xfrm>
                <a:off x="787179" y="1187587"/>
                <a:ext cx="1424066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Teacher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: 圓角 7">
                <a:extLst>
                  <a:ext uri="{FF2B5EF4-FFF2-40B4-BE49-F238E27FC236}">
                    <a16:creationId xmlns:a16="http://schemas.microsoft.com/office/drawing/2014/main" id="{68349D20-EA92-5D33-2848-ACECF4C82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1187587"/>
                <a:ext cx="1424066" cy="7496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E028B35B-1C0D-F17F-0537-75B99EDAF86F}"/>
                  </a:ext>
                </a:extLst>
              </p:cNvPr>
              <p:cNvSpPr/>
              <p:nvPr/>
            </p:nvSpPr>
            <p:spPr>
              <a:xfrm>
                <a:off x="787179" y="2264026"/>
                <a:ext cx="1424066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Student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E028B35B-1C0D-F17F-0537-75B99EDAF8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2264026"/>
                <a:ext cx="1424066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CB174540-2E70-5127-1B1D-14FD3217BA88}"/>
                  </a:ext>
                </a:extLst>
              </p:cNvPr>
              <p:cNvSpPr/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Softmax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CB174540-2E70-5127-1B1D-14FD3217BA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FECBABB4-4A5A-51FA-5FC8-7FA7088CBA22}"/>
                  </a:ext>
                </a:extLst>
              </p:cNvPr>
              <p:cNvSpPr/>
              <p:nvPr/>
            </p:nvSpPr>
            <p:spPr>
              <a:xfrm>
                <a:off x="2630656" y="2264025"/>
                <a:ext cx="1424066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Student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FECBABB4-4A5A-51FA-5FC8-7FA7088CB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6" y="2264025"/>
                <a:ext cx="1424066" cy="74967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DD88392A-A74F-6AD7-9CC1-D48CB9231133}"/>
                  </a:ext>
                </a:extLst>
              </p:cNvPr>
              <p:cNvSpPr/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Confidence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DD88392A-A74F-6AD7-9CC1-D48CB92311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C8EB7201-14DD-6C48-5401-8099514B2799}"/>
                  </a:ext>
                </a:extLst>
              </p:cNvPr>
              <p:cNvSpPr/>
              <p:nvPr/>
            </p:nvSpPr>
            <p:spPr>
              <a:xfrm>
                <a:off x="6393864" y="1187583"/>
                <a:ext cx="1573517" cy="74967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Threshold mask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C8EB7201-14DD-6C48-5401-8099514B27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864" y="1187583"/>
                <a:ext cx="1573517" cy="7496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E0AC6829-4F03-FAFE-8CD3-6A7E48D85368}"/>
                  </a:ext>
                </a:extLst>
              </p:cNvPr>
              <p:cNvSpPr/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SDC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𝑆𝐷𝐶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E0AC6829-4F03-FAFE-8CD3-6A7E48D85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78F89B2-C7A3-F81B-B2D1-5C61D9CAA2E1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2211245" y="1562421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52484655-01FA-5283-94AB-B5A2DA746B27}"/>
              </a:ext>
            </a:extLst>
          </p:cNvPr>
          <p:cNvCxnSpPr/>
          <p:nvPr/>
        </p:nvCxnSpPr>
        <p:spPr>
          <a:xfrm flipV="1">
            <a:off x="5974453" y="1562419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6F90E143-7D94-5439-22C2-7016F143A00A}"/>
              </a:ext>
            </a:extLst>
          </p:cNvPr>
          <p:cNvCxnSpPr>
            <a:cxnSpLocks/>
          </p:cNvCxnSpPr>
          <p:nvPr/>
        </p:nvCxnSpPr>
        <p:spPr>
          <a:xfrm>
            <a:off x="7967381" y="1562419"/>
            <a:ext cx="60487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AA1EE269-3622-A50C-CAA2-1E567222B243}"/>
              </a:ext>
            </a:extLst>
          </p:cNvPr>
          <p:cNvCxnSpPr/>
          <p:nvPr/>
        </p:nvCxnSpPr>
        <p:spPr>
          <a:xfrm flipV="1">
            <a:off x="2211245" y="2638861"/>
            <a:ext cx="419411" cy="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32687928-9BD1-EDA8-AAEF-19D3CE3F5763}"/>
              </a:ext>
            </a:extLst>
          </p:cNvPr>
          <p:cNvCxnSpPr>
            <a:cxnSpLocks/>
          </p:cNvCxnSpPr>
          <p:nvPr/>
        </p:nvCxnSpPr>
        <p:spPr>
          <a:xfrm>
            <a:off x="4050600" y="2638865"/>
            <a:ext cx="4521656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19F6808F-0F3A-063D-6D6C-70CC1BCB7A78}"/>
                  </a:ext>
                </a:extLst>
              </p:cNvPr>
              <p:cNvSpPr txBox="1"/>
              <p:nvPr/>
            </p:nvSpPr>
            <p:spPr>
              <a:xfrm>
                <a:off x="787179" y="3088561"/>
                <a:ext cx="2204596" cy="2071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altLang="zh-TW" sz="140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altLang="zh-TW" sz="1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zh-TW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TW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400" i="1" dirty="0"/>
              </a:p>
              <a:p>
                <a:endParaRPr lang="en-US" altLang="zh-TW" sz="1400" i="1" dirty="0"/>
              </a:p>
              <a:p>
                <a:r>
                  <a:rPr lang="en-US" altLang="zh-TW" sz="1400" i="1" dirty="0"/>
                  <a:t>V = vocabulary size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Confidence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 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threshold</m:t>
                      </m:r>
                    </m:oMath>
                  </m:oMathPara>
                </a14:m>
                <a:endParaRPr lang="en-US" altLang="zh-TW" sz="1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𝐾𝐿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𝑖𝑣𝑒𝑟𝑔𝑒𝑛𝑐𝑒</m:t>
                      </m:r>
                    </m:oMath>
                  </m:oMathPara>
                </a14:m>
                <a:endParaRPr lang="en-US" altLang="zh-TW" sz="1400" i="1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19F6808F-0F3A-063D-6D6C-70CC1BCB7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3088561"/>
                <a:ext cx="2204596" cy="2071273"/>
              </a:xfrm>
              <a:prstGeom prst="rect">
                <a:avLst/>
              </a:prstGeom>
              <a:blipFill>
                <a:blip r:embed="rId10"/>
                <a:stretch>
                  <a:fillRect l="-14917" t="-20944" b="-300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4847E3CF-CDC9-182D-6A18-B1029EED8072}"/>
              </a:ext>
            </a:extLst>
          </p:cNvPr>
          <p:cNvCxnSpPr/>
          <p:nvPr/>
        </p:nvCxnSpPr>
        <p:spPr>
          <a:xfrm flipV="1">
            <a:off x="4054722" y="1560291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21EA1D4-B28D-7583-9B4D-3B930E1B0610}"/>
              </a:ext>
            </a:extLst>
          </p:cNvPr>
          <p:cNvSpPr/>
          <p:nvPr/>
        </p:nvSpPr>
        <p:spPr>
          <a:xfrm>
            <a:off x="8233651" y="3114510"/>
            <a:ext cx="3402089" cy="24340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1400" dirty="0">
                <a:solidFill>
                  <a:schemeClr val="tx1"/>
                </a:solidFill>
              </a:rPr>
              <a:t>t = </a:t>
            </a:r>
            <a:r>
              <a:rPr lang="en-US" altLang="zh-TW" sz="1400" dirty="0" err="1">
                <a:solidFill>
                  <a:schemeClr val="tx1"/>
                </a:solidFill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</a:rPr>
              <a:t>[0](d).detach())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c = confidence(t)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for </a:t>
            </a:r>
            <a:r>
              <a:rPr lang="en-US" altLang="zh-TW" sz="1400" dirty="0" err="1">
                <a:solidFill>
                  <a:schemeClr val="tx1"/>
                </a:solidFill>
              </a:rPr>
              <a:t>i</a:t>
            </a:r>
            <a:r>
              <a:rPr lang="en-US" altLang="zh-TW" sz="1400" dirty="0">
                <a:solidFill>
                  <a:schemeClr val="tx1"/>
                </a:solidFill>
              </a:rPr>
              <a:t> in range(1,n):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s = </a:t>
            </a:r>
            <a:r>
              <a:rPr lang="en-US" altLang="zh-TW" sz="1400" dirty="0" err="1">
                <a:solidFill>
                  <a:schemeClr val="tx1"/>
                </a:solidFill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</a:rPr>
              <a:t>[</a:t>
            </a:r>
            <a:r>
              <a:rPr lang="en-US" altLang="zh-TW" sz="1400" dirty="0" err="1">
                <a:solidFill>
                  <a:schemeClr val="tx1"/>
                </a:solidFill>
              </a:rPr>
              <a:t>i</a:t>
            </a:r>
            <a:r>
              <a:rPr lang="en-US" altLang="zh-TW" sz="1400" dirty="0">
                <a:solidFill>
                  <a:schemeClr val="tx1"/>
                </a:solidFill>
              </a:rPr>
              <a:t>](d))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</a:rPr>
              <a:t> = 0</a:t>
            </a:r>
          </a:p>
          <a:p>
            <a:endParaRPr lang="en-US" altLang="zh-TW" sz="1400" dirty="0">
              <a:solidFill>
                <a:schemeClr val="tx1"/>
              </a:solidFill>
            </a:endParaRPr>
          </a:p>
          <a:p>
            <a:r>
              <a:rPr lang="en-US" altLang="zh-TW" sz="1400" dirty="0">
                <a:solidFill>
                  <a:schemeClr val="tx1"/>
                </a:solidFill>
              </a:rPr>
              <a:t>    for j in range(</a:t>
            </a:r>
            <a:r>
              <a:rPr lang="en-US" altLang="zh-TW" sz="1400" dirty="0" err="1">
                <a:solidFill>
                  <a:schemeClr val="tx1"/>
                </a:solidFill>
              </a:rPr>
              <a:t>c.length</a:t>
            </a:r>
            <a:r>
              <a:rPr lang="en-US" altLang="zh-TW" sz="1400" dirty="0">
                <a:solidFill>
                  <a:schemeClr val="tx1"/>
                </a:solidFill>
              </a:rPr>
              <a:t>):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    if c[j] &gt;= threshold: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       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</a:rPr>
              <a:t> += kl(t[j],  s[j])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</a:rPr>
              <a:t>total_loss</a:t>
            </a:r>
            <a:r>
              <a:rPr lang="en-US" altLang="zh-TW" sz="1400" dirty="0">
                <a:solidFill>
                  <a:schemeClr val="tx1"/>
                </a:solidFill>
              </a:rPr>
              <a:t> +=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endParaRPr lang="en-US" altLang="zh-TW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6629399"/>
            <a:ext cx="548640" cy="16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15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 Consistency Matching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" tIns="1143" rIns="1143" bIns="1143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LCM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不直接對齊 </a:t>
            </a:r>
            <a:r>
              <a:rPr lang="en-US" sz="14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softmax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probability distribution，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而是在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 / hidden representation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層級對齊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teacher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student。</a:t>
            </a:r>
            <a:endParaRPr 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7A73503-B096-1CB1-8ADB-B48E423BB0E8}"/>
                  </a:ext>
                </a:extLst>
              </p:cNvPr>
              <p:cNvSpPr txBox="1"/>
              <p:nvPr/>
            </p:nvSpPr>
            <p:spPr>
              <a:xfrm>
                <a:off x="731519" y="4868969"/>
                <a:ext cx="2194896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sequence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length</m:t>
                      </m:r>
                    </m:oMath>
                  </m:oMathPara>
                </a14:m>
                <a:endParaRPr lang="en-US" altLang="zh-TW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dimension</m:t>
                      </m:r>
                    </m:oMath>
                  </m:oMathPara>
                </a14:m>
                <a:endParaRPr lang="en-US" altLang="zh-TW" sz="1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TW" sz="1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teacher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>
                        <a:latin typeface="Cambria Math" panose="02040503050406030204" pitchFamily="18" charset="0"/>
                      </a:rPr>
                      <m:t>hidden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r>
                  <a:rPr lang="en-US" altLang="zh-TW" sz="1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7A73503-B096-1CB1-8ADB-B48E423BB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4868969"/>
                <a:ext cx="2194896" cy="861774"/>
              </a:xfrm>
              <a:prstGeom prst="rect">
                <a:avLst/>
              </a:prstGeom>
              <a:blipFill>
                <a:blip r:embed="rId3"/>
                <a:stretch>
                  <a:fillRect l="-2778" b="-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: 圓角 5">
                <a:extLst>
                  <a:ext uri="{FF2B5EF4-FFF2-40B4-BE49-F238E27FC236}">
                    <a16:creationId xmlns:a16="http://schemas.microsoft.com/office/drawing/2014/main" id="{787F6CFF-662C-4B3B-1B82-102D4B0BE730}"/>
                  </a:ext>
                </a:extLst>
              </p:cNvPr>
              <p:cNvSpPr/>
              <p:nvPr/>
            </p:nvSpPr>
            <p:spPr>
              <a:xfrm>
                <a:off x="731519" y="1508760"/>
                <a:ext cx="2047191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teacher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: 圓角 5">
                <a:extLst>
                  <a:ext uri="{FF2B5EF4-FFF2-40B4-BE49-F238E27FC236}">
                    <a16:creationId xmlns:a16="http://schemas.microsoft.com/office/drawing/2014/main" id="{787F6CFF-662C-4B3B-1B82-102D4B0BE7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508760"/>
                <a:ext cx="2047191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80950CBC-F510-5809-00B9-2352958395D4}"/>
                  </a:ext>
                </a:extLst>
              </p:cNvPr>
              <p:cNvSpPr/>
              <p:nvPr/>
            </p:nvSpPr>
            <p:spPr>
              <a:xfrm>
                <a:off x="731520" y="2400500"/>
                <a:ext cx="2047190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80950CBC-F510-5809-00B9-235295839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400500"/>
                <a:ext cx="2047190" cy="7496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F4353EE4-DE90-7A0E-A817-BD92A0E51F59}"/>
                  </a:ext>
                </a:extLst>
              </p:cNvPr>
              <p:cNvSpPr/>
              <p:nvPr/>
            </p:nvSpPr>
            <p:spPr>
              <a:xfrm>
                <a:off x="3301515" y="1508760"/>
                <a:ext cx="3782865" cy="164141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LCM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𝐿𝐶𝑀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F4353EE4-DE90-7A0E-A817-BD92A0E51F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515" y="1508760"/>
                <a:ext cx="3782865" cy="164141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582F101-1B10-3C5A-247F-5E41AA42ED7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778710" y="1883598"/>
            <a:ext cx="52280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DA7B62BD-E4D6-34EF-537E-77F1D9B57A05}"/>
              </a:ext>
            </a:extLst>
          </p:cNvPr>
          <p:cNvCxnSpPr>
            <a:cxnSpLocks/>
          </p:cNvCxnSpPr>
          <p:nvPr/>
        </p:nvCxnSpPr>
        <p:spPr>
          <a:xfrm>
            <a:off x="2778710" y="2763967"/>
            <a:ext cx="522805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DCA4AD7-0742-DAE8-30CB-760BA25B9093}"/>
              </a:ext>
            </a:extLst>
          </p:cNvPr>
          <p:cNvSpPr/>
          <p:nvPr/>
        </p:nvSpPr>
        <p:spPr>
          <a:xfrm>
            <a:off x="7133119" y="3665823"/>
            <a:ext cx="4690073" cy="24062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 err="1">
                <a:solidFill>
                  <a:schemeClr val="tx1"/>
                </a:solidFill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</a:rPr>
              <a:t>[0](d).</a:t>
            </a:r>
            <a:r>
              <a:rPr lang="en-US" altLang="zh-TW" sz="1600" dirty="0" err="1">
                <a:solidFill>
                  <a:schemeClr val="tx1"/>
                </a:solidFill>
              </a:rPr>
              <a:t>last_hidden_state.detach</a:t>
            </a:r>
            <a:r>
              <a:rPr lang="en-US" altLang="zh-TW" sz="16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c = confidence(t)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for </a:t>
            </a:r>
            <a:r>
              <a:rPr lang="en-US" altLang="zh-TW" sz="1600" dirty="0" err="1">
                <a:solidFill>
                  <a:schemeClr val="tx1"/>
                </a:solidFill>
              </a:rPr>
              <a:t>i</a:t>
            </a:r>
            <a:r>
              <a:rPr lang="en-US" altLang="zh-TW" sz="1600" dirty="0">
                <a:solidFill>
                  <a:schemeClr val="tx1"/>
                </a:solidFill>
              </a:rPr>
              <a:t> in range(1,n):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</a:rPr>
              <a:t>[</a:t>
            </a:r>
            <a:r>
              <a:rPr lang="en-US" altLang="zh-TW" sz="1600" dirty="0" err="1">
                <a:solidFill>
                  <a:schemeClr val="tx1"/>
                </a:solidFill>
              </a:rPr>
              <a:t>i</a:t>
            </a:r>
            <a:r>
              <a:rPr lang="en-US" altLang="zh-TW" sz="1600" dirty="0">
                <a:solidFill>
                  <a:schemeClr val="tx1"/>
                </a:solidFill>
              </a:rPr>
              <a:t>](d).</a:t>
            </a:r>
            <a:r>
              <a:rPr lang="en-US" altLang="zh-TW" sz="1600" dirty="0" err="1">
                <a:solidFill>
                  <a:schemeClr val="tx1"/>
                </a:solidFill>
              </a:rPr>
              <a:t>last_hidden_state</a:t>
            </a:r>
            <a:endParaRPr lang="en-US" altLang="zh-TW" sz="1600" dirty="0">
              <a:solidFill>
                <a:schemeClr val="tx1"/>
              </a:solidFill>
            </a:endParaRP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lcm_loss</a:t>
            </a:r>
            <a:r>
              <a:rPr lang="en-US" altLang="zh-TW" sz="1600" dirty="0">
                <a:solidFill>
                  <a:schemeClr val="tx1"/>
                </a:solidFill>
              </a:rPr>
              <a:t> = (</a:t>
            </a:r>
            <a:r>
              <a:rPr lang="en-US" altLang="zh-TW" sz="1600" dirty="0" err="1">
                <a:solidFill>
                  <a:schemeClr val="tx1"/>
                </a:solidFill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</a:rPr>
              <a:t> - </a:t>
            </a:r>
            <a:r>
              <a:rPr lang="en-US" altLang="zh-TW" sz="1600" dirty="0" err="1">
                <a:solidFill>
                  <a:schemeClr val="tx1"/>
                </a:solidFill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</a:rPr>
              <a:t>).pow(2).mean().mean()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total_loss</a:t>
            </a:r>
            <a:r>
              <a:rPr lang="en-US" altLang="zh-TW" sz="1600" dirty="0">
                <a:solidFill>
                  <a:schemeClr val="tx1"/>
                </a:solidFill>
              </a:rPr>
              <a:t> += lcm _loss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Text 1"/>
          <p:cNvSpPr/>
          <p:nvPr/>
        </p:nvSpPr>
        <p:spPr>
          <a:xfrm>
            <a:off x="11441927" y="6629400"/>
            <a:ext cx="536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Experiment results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23560" y="43616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FOUR</a:t>
            </a:r>
            <a:endParaRPr lang="en-US" sz="5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11549849" y="6629400"/>
            <a:ext cx="428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17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altLang="zh-TW" dirty="0"/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Evaluation metrics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330D437E-2C43-3467-413B-E55AA9405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64041"/>
              </p:ext>
            </p:extLst>
          </p:nvPr>
        </p:nvGraphicFramePr>
        <p:xfrm>
          <a:off x="494811" y="1181303"/>
          <a:ext cx="11202378" cy="474009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74517">
                  <a:extLst>
                    <a:ext uri="{9D8B030D-6E8A-4147-A177-3AD203B41FA5}">
                      <a16:colId xmlns:a16="http://schemas.microsoft.com/office/drawing/2014/main" val="1065077904"/>
                    </a:ext>
                  </a:extLst>
                </a:gridCol>
                <a:gridCol w="5921406">
                  <a:extLst>
                    <a:ext uri="{9D8B030D-6E8A-4147-A177-3AD203B41FA5}">
                      <a16:colId xmlns:a16="http://schemas.microsoft.com/office/drawing/2014/main" val="978672596"/>
                    </a:ext>
                  </a:extLst>
                </a:gridCol>
                <a:gridCol w="2606455">
                  <a:extLst>
                    <a:ext uri="{9D8B030D-6E8A-4147-A177-3AD203B41FA5}">
                      <a16:colId xmlns:a16="http://schemas.microsoft.com/office/drawing/2014/main" val="1651558404"/>
                    </a:ext>
                  </a:extLst>
                </a:gridCol>
              </a:tblGrid>
              <a:tr h="6771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705471"/>
                  </a:ext>
                </a:extLst>
              </a:tr>
              <a:tr h="67715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/>
                        <a:t>Oracle PPL head 1~K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/>
                        <a:t>各 </a:t>
                      </a:r>
                      <a:r>
                        <a:rPr lang="en-US" altLang="zh-TW" sz="1600" dirty="0"/>
                        <a:t>head </a:t>
                      </a:r>
                      <a:r>
                        <a:rPr lang="zh-TW" altLang="en-US" sz="1600" dirty="0"/>
                        <a:t>在 </a:t>
                      </a:r>
                      <a:r>
                        <a:rPr lang="en-US" altLang="zh-TW" sz="1600" dirty="0"/>
                        <a:t>token prediction </a:t>
                      </a:r>
                      <a:r>
                        <a:rPr lang="zh-TW" altLang="en-US" sz="1600" dirty="0"/>
                        <a:t>上的 </a:t>
                      </a:r>
                      <a:r>
                        <a:rPr lang="en-US" altLang="zh-TW" sz="1600" dirty="0"/>
                        <a:t>perplexity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415258"/>
                  </a:ext>
                </a:extLst>
              </a:tr>
              <a:tr h="67715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/>
                        <a:t>Avg Draft Token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/>
                        <a:t>不同 </a:t>
                      </a:r>
                      <a:r>
                        <a:rPr lang="en-US" altLang="zh-TW" sz="1600" dirty="0"/>
                        <a:t>prefix(prompt) length </a:t>
                      </a:r>
                      <a:r>
                        <a:rPr lang="zh-TW" altLang="en-US" sz="1600" dirty="0"/>
                        <a:t>下的 </a:t>
                      </a:r>
                      <a:r>
                        <a:rPr lang="en-US" altLang="zh-TW" sz="1600" dirty="0"/>
                        <a:t>accepted tokens per forward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/>
                        <a:t>prefix length </a:t>
                      </a:r>
                      <a:r>
                        <a:rPr lang="zh-TW" altLang="en-US" sz="1600" dirty="0"/>
                        <a:t>從</a:t>
                      </a:r>
                      <a:r>
                        <a:rPr lang="en-US" altLang="zh-TW" sz="1600" dirty="0"/>
                        <a:t>1~1024</a:t>
                      </a:r>
                      <a:r>
                        <a:rPr lang="zh-TW" altLang="en-US" sz="1600" dirty="0"/>
                        <a:t>依次遞增加總取平均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944447"/>
                  </a:ext>
                </a:extLst>
              </a:tr>
              <a:tr h="677157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Avg Draft Tokens Accepted vs. Prefix Length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/>
                        <a:t>不同 </a:t>
                      </a:r>
                      <a:r>
                        <a:rPr lang="en-US" altLang="zh-TW" sz="1600" dirty="0"/>
                        <a:t>prefix(prompt) length </a:t>
                      </a:r>
                      <a:r>
                        <a:rPr lang="zh-TW" altLang="en-US" sz="1600" dirty="0"/>
                        <a:t>下的 </a:t>
                      </a:r>
                      <a:r>
                        <a:rPr lang="en-US" altLang="zh-TW" sz="1600" dirty="0"/>
                        <a:t>accepted tokens per forward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/>
                        <a:t>128, 256, 512, 768 length with random continue slicing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520907"/>
                  </a:ext>
                </a:extLst>
              </a:tr>
              <a:tr h="67715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/>
                        <a:t>Generative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/>
                        <a:t>生成文字由外部 </a:t>
                      </a:r>
                      <a:r>
                        <a:rPr lang="en-US" altLang="zh-TW" sz="1600" dirty="0"/>
                        <a:t>LM </a:t>
                      </a:r>
                      <a:r>
                        <a:rPr lang="zh-TW" altLang="en-US" sz="1600" dirty="0"/>
                        <a:t>評估的 </a:t>
                      </a:r>
                      <a:r>
                        <a:rPr lang="en-US" altLang="zh-TW" sz="1600" dirty="0"/>
                        <a:t>perplexity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LM</a:t>
                      </a:r>
                      <a:r>
                        <a:rPr lang="zh-TW" altLang="en-US" sz="1600" dirty="0"/>
                        <a:t>使用</a:t>
                      </a:r>
                      <a:r>
                        <a:rPr lang="en-US" altLang="zh-TW" sz="1600" dirty="0"/>
                        <a:t>gpt2-large, </a:t>
                      </a:r>
                      <a:r>
                        <a:rPr lang="zh-TW" altLang="en-US" sz="1600" dirty="0"/>
                        <a:t>生成</a:t>
                      </a:r>
                      <a:r>
                        <a:rPr lang="en-US" altLang="zh-TW" sz="1600" dirty="0"/>
                        <a:t>200 response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289110"/>
                  </a:ext>
                </a:extLst>
              </a:tr>
              <a:tr h="67715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/>
                        <a:t>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/>
                        <a:t>生成分佈的不確定性 </a:t>
                      </a:r>
                      <a:r>
                        <a:rPr lang="en-US" altLang="zh-TW" sz="1600" dirty="0"/>
                        <a:t>/ </a:t>
                      </a:r>
                      <a:r>
                        <a:rPr lang="zh-TW" altLang="en-US" sz="1600" dirty="0"/>
                        <a:t>多樣性指標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/>
                        <a:t>生成</a:t>
                      </a:r>
                      <a:r>
                        <a:rPr lang="en-US" altLang="zh-TW" sz="1600" dirty="0"/>
                        <a:t>200 response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76817"/>
                  </a:ext>
                </a:extLst>
              </a:tr>
              <a:tr h="67715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/>
                        <a:t>4-gram repetition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/>
                        <a:t>生成文字重複程度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生成</a:t>
                      </a:r>
                      <a:r>
                        <a:rPr lang="en-US" altLang="zh-TW" sz="1600" dirty="0"/>
                        <a:t>200 response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2975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25561" y="6629400"/>
            <a:ext cx="55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18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Formal 1.3B comparison — SDC+LCM vs. baseline. Oracle PPL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BA3C4AD7-4912-5CD1-B4D0-610C78A29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10299"/>
              </p:ext>
            </p:extLst>
          </p:nvPr>
        </p:nvGraphicFramePr>
        <p:xfrm>
          <a:off x="347472" y="1008835"/>
          <a:ext cx="11475720" cy="450899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19.1695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19.4293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1.34%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83.7266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87.2351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4.02%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189.2825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200.0813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5.40%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299.5625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318.3247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5.89%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6C0230B-EEBF-E83E-AE74-AC4C0C9423D5}"/>
              </a:ext>
            </a:extLst>
          </p:cNvPr>
          <p:cNvSpPr txBox="1"/>
          <p:nvPr/>
        </p:nvSpPr>
        <p:spPr>
          <a:xfrm>
            <a:off x="9721048" y="461072"/>
            <a:ext cx="22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10B token for training model</a:t>
            </a:r>
            <a:endParaRPr lang="zh-TW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FE34-DE46-7C88-B2CA-423CE3CBC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11295E-14F7-A3E3-7F73-D0AC8AA92512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09BBF0-0944-77A9-2EE8-522B6A687624}"/>
              </a:ext>
            </a:extLst>
          </p:cNvPr>
          <p:cNvSpPr/>
          <p:nvPr/>
        </p:nvSpPr>
        <p:spPr>
          <a:xfrm>
            <a:off x="11425561" y="6629400"/>
            <a:ext cx="55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19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82DBD3-0B65-4922-4D07-0351417E50B6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75DBB6-392C-1A1E-D200-1F2F0804F4D4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Formal 1.3B comparison — SDC+LCM vs. baseline. Avg Draft Tokens Accepted 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24BEE52-C35A-EC62-029C-0FE6E0AA77ED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644F6D47-7C0E-64ED-B35D-637766B3B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1294"/>
              </p:ext>
            </p:extLst>
          </p:nvPr>
        </p:nvGraphicFramePr>
        <p:xfrm>
          <a:off x="347471" y="1008834"/>
          <a:ext cx="11475720" cy="541078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Avg Draft Tokens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0.7302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0.7010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0.9653 ± 0.0401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0.9117 ± 0.0205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0.9873 ± 0.0063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0.9458 ± 0.0068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1.0158 ± 0.0309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0.9689 ± 0.0221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1.0272 ± 0.0250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0.9760 ± 0.0222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051542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C07697EA-B5B2-1B66-1F61-022F3AA7ABFC}"/>
              </a:ext>
            </a:extLst>
          </p:cNvPr>
          <p:cNvSpPr txBox="1"/>
          <p:nvPr/>
        </p:nvSpPr>
        <p:spPr>
          <a:xfrm>
            <a:off x="9721048" y="461072"/>
            <a:ext cx="22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10B token for training model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3784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BB6E-12E1-EEA8-0713-F9D387D79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CA5463-EEDE-FD64-F0DD-618D2BC98B90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5EE915-09D5-98ED-49AB-507EFF513C55}"/>
              </a:ext>
            </a:extLst>
          </p:cNvPr>
          <p:cNvSpPr/>
          <p:nvPr/>
        </p:nvSpPr>
        <p:spPr>
          <a:xfrm>
            <a:off x="11425561" y="6629400"/>
            <a:ext cx="55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20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43D7CA-621D-7EE6-6819-0CB19A95C099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0C3F48-773A-B085-028F-766629FFA22A}"/>
              </a:ext>
            </a:extLst>
          </p:cNvPr>
          <p:cNvSpPr/>
          <p:nvPr/>
        </p:nvSpPr>
        <p:spPr>
          <a:xfrm>
            <a:off x="347472" y="457200"/>
            <a:ext cx="10190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Formal 1.3B comparison — SDC+LCM vs. baseline. Generative quality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C0ECBE-93FD-66A9-9FD9-351765D31D19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1CFAD70E-BDD4-5EE7-564F-0FBA22FA1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960667"/>
              </p:ext>
            </p:extLst>
          </p:nvPr>
        </p:nvGraphicFramePr>
        <p:xfrm>
          <a:off x="347471" y="1008834"/>
          <a:ext cx="11475720" cy="360719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Generative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18.7180 ± 0.8276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39.5580 ± 0.9425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52.68%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6.8620 ± 0.0202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7.3223 ± 0.0351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9017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4-gram repetition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0.0526 ± 0.0147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0.0229 ± 0.0084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-130.17%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</a:tbl>
          </a:graphicData>
        </a:graphic>
      </p:graphicFrame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326E9213-DDA1-48B0-0D84-4563C83B6684}"/>
              </a:ext>
            </a:extLst>
          </p:cNvPr>
          <p:cNvSpPr/>
          <p:nvPr/>
        </p:nvSpPr>
        <p:spPr>
          <a:xfrm>
            <a:off x="11027546" y="3105630"/>
            <a:ext cx="150920" cy="36398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36EB1FBE-BD9F-7FE2-D17B-A428A3E7FB80}"/>
              </a:ext>
            </a:extLst>
          </p:cNvPr>
          <p:cNvSpPr/>
          <p:nvPr/>
        </p:nvSpPr>
        <p:spPr>
          <a:xfrm>
            <a:off x="11027546" y="3998922"/>
            <a:ext cx="150920" cy="36398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AD875A98-4ED0-5E69-A914-8BD51E633B46}"/>
              </a:ext>
            </a:extLst>
          </p:cNvPr>
          <p:cNvSpPr/>
          <p:nvPr/>
        </p:nvSpPr>
        <p:spPr>
          <a:xfrm rot="10800000">
            <a:off x="11027546" y="2212338"/>
            <a:ext cx="150920" cy="36398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D7964B-012C-314B-D6DD-18E3C6C882C8}"/>
              </a:ext>
            </a:extLst>
          </p:cNvPr>
          <p:cNvSpPr txBox="1"/>
          <p:nvPr/>
        </p:nvSpPr>
        <p:spPr>
          <a:xfrm>
            <a:off x="9721048" y="461072"/>
            <a:ext cx="22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10B token for training model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0542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dirty="0">
                <a:solidFill>
                  <a:srgbClr val="6070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Formal 1.3B comparison — SDC+LCM vs. baseline. </a:t>
            </a:r>
            <a:r>
              <a:rPr lang="en-US" sz="1600" dirty="0">
                <a:solidFill>
                  <a:srgbClr val="6070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Zero-shot PPL improvement by head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8216F9A1-FFD7-3D36-0CD9-2D2EB55541BF}"/>
              </a:ext>
            </a:extLst>
          </p:cNvPr>
          <p:cNvSpPr/>
          <p:nvPr/>
        </p:nvSpPr>
        <p:spPr>
          <a:xfrm>
            <a:off x="11425561" y="6629400"/>
            <a:ext cx="55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21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C6C3DFB3-B9F6-12A4-6F5E-A47320FF6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725280"/>
              </p:ext>
            </p:extLst>
          </p:nvPr>
        </p:nvGraphicFramePr>
        <p:xfrm>
          <a:off x="347470" y="1020570"/>
          <a:ext cx="11475720" cy="452541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12620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27322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20736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233996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358283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  <a:gridCol w="4490235">
                  <a:extLst>
                    <a:ext uri="{9D8B030D-6E8A-4147-A177-3AD203B41FA5}">
                      <a16:colId xmlns:a16="http://schemas.microsoft.com/office/drawing/2014/main" val="2185817678"/>
                    </a:ext>
                  </a:extLst>
                </a:gridCol>
              </a:tblGrid>
              <a:tr h="7542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Observation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7542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Wikitext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consistency mainly improves distant draft prediction.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7542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5.63%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regular syntax leads to gains across all heads.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7542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Lambada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38.53%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strong context dependence produces the largest Head 1 gain.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7542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Arxiv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domain-specific knowledge limits improvement.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7542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PubMed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structured biomedical writing provides stable gains across heads.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E213558D-FE79-D2C2-D5BC-62F0FD05A71E}"/>
              </a:ext>
            </a:extLst>
          </p:cNvPr>
          <p:cNvSpPr txBox="1"/>
          <p:nvPr/>
        </p:nvSpPr>
        <p:spPr>
          <a:xfrm>
            <a:off x="9721048" y="461072"/>
            <a:ext cx="22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10B token for training model</a:t>
            </a:r>
            <a:endParaRPr lang="zh-TW" alt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19F2-D775-11DD-65F0-55862AE4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74057B-3D30-9F3D-E41F-6830E6880007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7B687B-4163-746E-180C-40D5A59918C7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DEC72A-1451-5822-DFB1-366706CBC0CC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Ablation study — Oracle PPL 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17D31D8-00E8-7BA1-5BC5-889B65E73C3B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713D0A59-A09E-B3C3-F7B0-8F1861BD2D8D}"/>
              </a:ext>
            </a:extLst>
          </p:cNvPr>
          <p:cNvSpPr/>
          <p:nvPr/>
        </p:nvSpPr>
        <p:spPr>
          <a:xfrm>
            <a:off x="11425561" y="6629400"/>
            <a:ext cx="55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22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E0D42E36-1191-3073-6607-BE5E045CB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403884"/>
              </p:ext>
            </p:extLst>
          </p:nvPr>
        </p:nvGraphicFramePr>
        <p:xfrm>
          <a:off x="347470" y="1020571"/>
          <a:ext cx="11475720" cy="525198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142043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2091644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983450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2027202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2231381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1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2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3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4 PPL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26.2356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121.8033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269.2450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406.6959 ± 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26.7541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120.6687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261.6664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394.6503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26.8150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120.5276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261.9479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394.7055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27.7396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129.2922 ± 0.0001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278.8881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417.5874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27.2684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122.5244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264.6119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397.3106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26.4587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120.7186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265.0660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402.0413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25.7096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118.9247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262.1637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397.9911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25.5312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118.5823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261.1872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395.1838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25.4583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119.1595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263.2083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398.8679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26.2402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118.2168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257.0344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387.7455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26.4553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119.2975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258.4100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390.7829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26.5485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118.4341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254.9612 ± 0.0000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383.7626 ± 0.0000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9B66502-775B-245F-E461-CF986EB3F8B6}"/>
              </a:ext>
            </a:extLst>
          </p:cNvPr>
          <p:cNvSpPr txBox="1"/>
          <p:nvPr/>
        </p:nvSpPr>
        <p:spPr>
          <a:xfrm>
            <a:off x="347470" y="6272558"/>
            <a:ext cx="8787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Let </a:t>
            </a:r>
            <a:r>
              <a:rPr lang="en-US" altLang="zh-TW" sz="1600" dirty="0">
                <a:ea typeface="微軟正黑體" panose="020B0604030504040204" pitchFamily="34" charset="-120"/>
              </a:rPr>
              <a:t>S</a:t>
            </a:r>
            <a:r>
              <a:rPr lang="en-US" altLang="zh-TW" sz="1600" baseline="-25000" dirty="0"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ea typeface="微軟正黑體" panose="020B0604030504040204" pitchFamily="34" charset="-120"/>
              </a:rPr>
              <a:t>, </a:t>
            </a:r>
            <a:r>
              <a:rPr lang="el-GR" altLang="zh-TW" sz="1600" dirty="0"/>
              <a:t>τ</a:t>
            </a:r>
            <a:r>
              <a:rPr lang="en-US" altLang="zh-TW" sz="1600" dirty="0"/>
              <a:t>, and </a:t>
            </a:r>
            <a:r>
              <a:rPr lang="en-US" altLang="zh-TW" sz="1600" dirty="0">
                <a:ea typeface="微軟正黑體" panose="020B0604030504040204" pitchFamily="34" charset="-120"/>
              </a:rPr>
              <a:t>L</a:t>
            </a:r>
            <a:r>
              <a:rPr lang="en-US" altLang="zh-TW" sz="1600" baseline="-25000" dirty="0"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/>
              <a:t>denote the SDC term weight, confidence threshold, and LCM term weight, respectively.</a:t>
            </a:r>
            <a:endParaRPr lang="zh-TW" altLang="en-US" sz="1600" dirty="0"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EE75B88-F1B5-F047-040C-8C2D6885DC88}"/>
              </a:ext>
            </a:extLst>
          </p:cNvPr>
          <p:cNvSpPr txBox="1"/>
          <p:nvPr/>
        </p:nvSpPr>
        <p:spPr>
          <a:xfrm>
            <a:off x="9721048" y="461072"/>
            <a:ext cx="22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1B token for training model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5875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9A16-4E0C-D0DB-4567-D7DFB04B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F41718-BFAD-8797-E817-2BBAE9DA9732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29113D-2072-4B7F-83A1-53AD641B82DA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DCB4D3-5893-5145-8F7D-0E3F2DBDFB81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Ablation study — Avg Draft Tokens Accepted 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F2DC6C8-3CB0-F3FC-11CA-AF1CD7EDC81B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D1A2D604-B9AA-6D6F-8781-24D79187D610}"/>
              </a:ext>
            </a:extLst>
          </p:cNvPr>
          <p:cNvSpPr/>
          <p:nvPr/>
        </p:nvSpPr>
        <p:spPr>
          <a:xfrm>
            <a:off x="11425561" y="6629400"/>
            <a:ext cx="55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23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083F11C3-8E2A-E29F-BE4F-F2929CE71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111409"/>
              </p:ext>
            </p:extLst>
          </p:nvPr>
        </p:nvGraphicFramePr>
        <p:xfrm>
          <a:off x="347470" y="931881"/>
          <a:ext cx="11475719" cy="53691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30549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751145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660564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697193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868134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  <a:gridCol w="1868134">
                  <a:extLst>
                    <a:ext uri="{9D8B030D-6E8A-4147-A177-3AD203B41FA5}">
                      <a16:colId xmlns:a16="http://schemas.microsoft.com/office/drawing/2014/main" val="3215815911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Avg Draft Token Accepted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Prefix 128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Prefix 256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Prefix 512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Prefix 768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0.6238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0.8251 ± 0.0140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0.8205 ± 0.0062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0.8519 ± 0.0195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0.8552 ± 0.0233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0.6388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0.8374 ± 0.0165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0.8746 ± 0.0108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0.8736 ± 0.0158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0.8802 ± 0.0029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0.6400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0.8406 ± 0.0131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0.8602 ± 0.0232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0.8720 ± 0.0233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0.8772 ± 0.0015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0.6113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0.7908 ± 0.0074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0.7919 ± 0.0086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0.8009 ± 0.0035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0.8174 ± 0.0130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0.6414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0.8522 ± 0.0098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0.8581 ± 0.0139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0.8897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0.9082 ± 0.0204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0.6345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0.8195 ± 0.0122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0.8416 ± 0.0115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0.8601 ± 0.0065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0.8644 ± 0.0304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0.6398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0.8517 ± 0.0156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0.8589 ± 0.0096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0.8794 ± 0.0050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0.8895 ± 0.0257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0.6442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0.8491 ± 0.0130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0.8698 ± 0.0154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0.8919 ± 0.0168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0.8943 ± 0.0012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0.6467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0.8510 ± 0.0112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0.8862 ± 0.0054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0.8951 ± 0.0129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0.9028 ± 0.0327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0.6507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0.8498 ± 0.0339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0.8615 ± 0.0179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0.8987 ± 0.0103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0.8862 ± 0.0151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0.6495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0.8402 ± 0.0209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0.8612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0.8879 ± 0.0157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0.8950 ± 0.0071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0.6525 ± 0.0000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0.8590 ± 0.0101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0.8656 ± 0.0214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0.9023 ± 0.0277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0.9044 ± 0.0140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208DF93E-9F83-087B-6F84-6C59BBDE7955}"/>
              </a:ext>
            </a:extLst>
          </p:cNvPr>
          <p:cNvSpPr txBox="1"/>
          <p:nvPr/>
        </p:nvSpPr>
        <p:spPr>
          <a:xfrm>
            <a:off x="347470" y="6272558"/>
            <a:ext cx="8787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Let </a:t>
            </a:r>
            <a:r>
              <a:rPr lang="en-US" altLang="zh-TW" sz="1600" dirty="0">
                <a:ea typeface="微軟正黑體" panose="020B0604030504040204" pitchFamily="34" charset="-120"/>
              </a:rPr>
              <a:t>S</a:t>
            </a:r>
            <a:r>
              <a:rPr lang="en-US" altLang="zh-TW" sz="1600" baseline="-25000" dirty="0"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ea typeface="微軟正黑體" panose="020B0604030504040204" pitchFamily="34" charset="-120"/>
              </a:rPr>
              <a:t>, </a:t>
            </a:r>
            <a:r>
              <a:rPr lang="el-GR" altLang="zh-TW" sz="1600" dirty="0"/>
              <a:t>τ</a:t>
            </a:r>
            <a:r>
              <a:rPr lang="en-US" altLang="zh-TW" sz="1600" dirty="0"/>
              <a:t>, and </a:t>
            </a:r>
            <a:r>
              <a:rPr lang="en-US" altLang="zh-TW" sz="1600" dirty="0">
                <a:ea typeface="微軟正黑體" panose="020B0604030504040204" pitchFamily="34" charset="-120"/>
              </a:rPr>
              <a:t>L</a:t>
            </a:r>
            <a:r>
              <a:rPr lang="en-US" altLang="zh-TW" sz="1600" baseline="-25000" dirty="0"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/>
              <a:t>denote the SDC term weight, confidence threshold, and LCM term weight, respectively.</a:t>
            </a:r>
            <a:endParaRPr lang="zh-TW" altLang="en-US" sz="1600" dirty="0"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D307BE5-537F-E472-EC84-1093A4706950}"/>
              </a:ext>
            </a:extLst>
          </p:cNvPr>
          <p:cNvSpPr txBox="1"/>
          <p:nvPr/>
        </p:nvSpPr>
        <p:spPr>
          <a:xfrm>
            <a:off x="9721048" y="461072"/>
            <a:ext cx="22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1B token for training model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6313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EE752-3C1C-296A-7D31-796F534C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DADE8F-F386-0497-9D29-20211925D138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D2B12B-6C97-83BC-94CC-AA00372C4112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Part4: Experiment results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893D63-57C6-AED6-1766-79E0E184C04A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Ablation study — Generative quality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AD2620-D6F0-1E86-09CA-1997608D21F5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BF27876B-D3A4-A62F-7BA0-C3191108D7DC}"/>
              </a:ext>
            </a:extLst>
          </p:cNvPr>
          <p:cNvSpPr/>
          <p:nvPr/>
        </p:nvSpPr>
        <p:spPr>
          <a:xfrm>
            <a:off x="11425561" y="6629400"/>
            <a:ext cx="55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24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B7EFFAAB-6533-AC11-342F-F3956440C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86680"/>
              </p:ext>
            </p:extLst>
          </p:nvPr>
        </p:nvGraphicFramePr>
        <p:xfrm>
          <a:off x="347470" y="931881"/>
          <a:ext cx="11475720" cy="525198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900463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2250521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2808212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2516524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/>
                        <a:t>Generative </a:t>
                      </a:r>
                      <a:r>
                        <a:rPr lang="en-US" sz="1800" dirty="0"/>
                        <a:t>PPL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Entropy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4-gram repetition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83.8285 ± 5.1409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7.4068 ± 0.0461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0.0119 ± 0.0097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68.0596 ± 4.5760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7.3141 ± 0.0519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0.0193 ± 0.0154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26.3414 ± 0.3656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6.7567 ± 0.0016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0.0460 ± 0.0160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28.2332 ± 1.2754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6.7789 ± 0.0178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0.0393 ± 0.0080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31.8082 ± 0.4503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6.8248 ± 0.0353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0.0485 ± 0.0159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52.7654 ± 2.2732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7.1490 ± 0.0335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0.0323 ± 0.0169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26.2091 ± 1.5675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6.8576 ± 0.0374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0.0555 ± 0.0204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24.0955 ± 3.2440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6.7935 ± 0.0828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0.0657 ± 0.0388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29.9033 ± 0.5373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6.8644 ± 0.0249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</a:rPr>
                        <a:t>0.0215 ± 0.0049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21.4788 ± 0.0773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</a:rPr>
                        <a:t>6.6876 ± 0.0421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0.0720 ± 0.0062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26.3414 ± 0.3656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6.7567 ± 0.0016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0.0460 ± 0.0160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25.7832 ± 1.6338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6.7177 ± 0.0455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0.0453 ± 0.0197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73ABA95-FB42-08EE-7487-4B52C15B0915}"/>
              </a:ext>
            </a:extLst>
          </p:cNvPr>
          <p:cNvSpPr txBox="1"/>
          <p:nvPr/>
        </p:nvSpPr>
        <p:spPr>
          <a:xfrm>
            <a:off x="347470" y="6272558"/>
            <a:ext cx="8787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Let </a:t>
            </a:r>
            <a:r>
              <a:rPr lang="en-US" altLang="zh-TW" sz="1600" dirty="0">
                <a:ea typeface="微軟正黑體" panose="020B0604030504040204" pitchFamily="34" charset="-120"/>
              </a:rPr>
              <a:t>S</a:t>
            </a:r>
            <a:r>
              <a:rPr lang="en-US" altLang="zh-TW" sz="1600" baseline="-25000" dirty="0"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ea typeface="微軟正黑體" panose="020B0604030504040204" pitchFamily="34" charset="-120"/>
              </a:rPr>
              <a:t>, </a:t>
            </a:r>
            <a:r>
              <a:rPr lang="el-GR" altLang="zh-TW" sz="1600" dirty="0"/>
              <a:t>τ</a:t>
            </a:r>
            <a:r>
              <a:rPr lang="en-US" altLang="zh-TW" sz="1600" dirty="0"/>
              <a:t>, and </a:t>
            </a:r>
            <a:r>
              <a:rPr lang="en-US" altLang="zh-TW" sz="1600" dirty="0">
                <a:ea typeface="微軟正黑體" panose="020B0604030504040204" pitchFamily="34" charset="-120"/>
              </a:rPr>
              <a:t>L</a:t>
            </a:r>
            <a:r>
              <a:rPr lang="en-US" altLang="zh-TW" sz="1600" baseline="-25000" dirty="0"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/>
              <a:t>denote the SDC term weight, confidence threshold, and LCM term weight, respectively.</a:t>
            </a:r>
            <a:endParaRPr lang="zh-TW" altLang="en-US" sz="1600" dirty="0"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50A8D5C-F453-56CA-6858-C41E410160A4}"/>
              </a:ext>
            </a:extLst>
          </p:cNvPr>
          <p:cNvSpPr txBox="1"/>
          <p:nvPr/>
        </p:nvSpPr>
        <p:spPr>
          <a:xfrm>
            <a:off x="9721048" y="461072"/>
            <a:ext cx="22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1B token for training model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08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29748" y="6629400"/>
            <a:ext cx="348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25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23560" y="43616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FIVE</a:t>
            </a:r>
            <a:endParaRPr lang="en-US" sz="5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Text 1"/>
          <p:cNvSpPr/>
          <p:nvPr/>
        </p:nvSpPr>
        <p:spPr>
          <a:xfrm>
            <a:off x="11567160" y="66294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26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Part5: Conclusion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>
            <a:solidFill>
              <a:srgbClr val="C8D6D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2732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核心訊息：consistency-based</a:t>
            </a:r>
            <a:r>
              <a:rPr lang="en-US" sz="1600" dirty="0">
                <a:solidFill>
                  <a:srgbClr val="2732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training 能有效降低 draft heads 的分佈漂移，使 semi-autoregressive generation 更穩定。</a:t>
            </a:r>
            <a:endParaRPr lang="en-US" sz="16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18EE479-80D9-A5EC-082E-0615E26B6FFA}"/>
              </a:ext>
            </a:extLst>
          </p:cNvPr>
          <p:cNvSpPr txBox="1"/>
          <p:nvPr/>
        </p:nvSpPr>
        <p:spPr>
          <a:xfrm>
            <a:off x="905877" y="1965960"/>
            <a:ext cx="107686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本研究在 </a:t>
            </a:r>
            <a:r>
              <a:rPr lang="en-US" altLang="zh-TW" sz="1600" dirty="0"/>
              <a:t>MTP </a:t>
            </a:r>
            <a:r>
              <a:rPr lang="zh-TW" altLang="en-US" sz="1600" dirty="0"/>
              <a:t>架構中加入 </a:t>
            </a:r>
            <a:r>
              <a:rPr lang="en-US" altLang="zh-TW" sz="1600" dirty="0"/>
              <a:t>SDC </a:t>
            </a:r>
            <a:r>
              <a:rPr lang="zh-TW" altLang="en-US" sz="1600" dirty="0"/>
              <a:t>與 </a:t>
            </a:r>
            <a:r>
              <a:rPr lang="en-US" altLang="zh-TW" sz="1600" dirty="0"/>
              <a:t>LCM</a:t>
            </a:r>
            <a:r>
              <a:rPr lang="zh-TW" altLang="en-US" sz="1600" dirty="0"/>
              <a:t>，不改變 </a:t>
            </a:r>
            <a:r>
              <a:rPr lang="en-US" altLang="zh-TW" sz="1600" dirty="0"/>
              <a:t>backbone </a:t>
            </a:r>
            <a:r>
              <a:rPr lang="zh-TW" altLang="en-US" sz="1600" dirty="0"/>
              <a:t>即能改善 </a:t>
            </a:r>
            <a:r>
              <a:rPr lang="en-US" altLang="zh-TW" sz="1600" dirty="0"/>
              <a:t>draft head </a:t>
            </a:r>
            <a:r>
              <a:rPr lang="zh-TW" altLang="en-US" sz="1600" dirty="0"/>
              <a:t>品質。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正式 </a:t>
            </a:r>
            <a:r>
              <a:rPr lang="en-US" altLang="zh-TW" sz="1600" dirty="0"/>
              <a:t>1.3B_4 </a:t>
            </a:r>
            <a:r>
              <a:rPr lang="zh-TW" altLang="en-US" sz="1600" dirty="0"/>
              <a:t>比較中，</a:t>
            </a:r>
            <a:r>
              <a:rPr lang="en-US" altLang="zh-TW" sz="1600" dirty="0"/>
              <a:t>SDC+LCM </a:t>
            </a:r>
            <a:r>
              <a:rPr lang="zh-TW" altLang="en-US" sz="1600" dirty="0"/>
              <a:t>使 </a:t>
            </a:r>
            <a:r>
              <a:rPr lang="en-US" altLang="zh-TW" sz="1600" dirty="0"/>
              <a:t>Head 1~4 PPL </a:t>
            </a:r>
            <a:r>
              <a:rPr lang="zh-TW" altLang="en-US" sz="1600" dirty="0"/>
              <a:t>全部下降，且 </a:t>
            </a:r>
            <a:r>
              <a:rPr lang="en-US" altLang="zh-TW" sz="1600" dirty="0"/>
              <a:t>Head 4 </a:t>
            </a:r>
            <a:r>
              <a:rPr lang="zh-TW" altLang="en-US" sz="1600" dirty="0"/>
              <a:t>降幅達 </a:t>
            </a:r>
            <a:r>
              <a:rPr lang="en-US" altLang="zh-TW" sz="1600" dirty="0"/>
              <a:t>5.89%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token accept rate </a:t>
            </a:r>
            <a:r>
              <a:rPr lang="zh-TW" altLang="en-US" sz="1600" dirty="0"/>
              <a:t>從 </a:t>
            </a:r>
            <a:r>
              <a:rPr lang="en-US" altLang="zh-TW" sz="1600" dirty="0"/>
              <a:t>0.7010 </a:t>
            </a:r>
            <a:r>
              <a:rPr lang="zh-TW" altLang="en-US" sz="1600" dirty="0"/>
              <a:t>提升到 </a:t>
            </a:r>
            <a:r>
              <a:rPr lang="en-US" altLang="zh-TW" sz="1600" dirty="0"/>
              <a:t>0.7302</a:t>
            </a:r>
            <a:r>
              <a:rPr lang="zh-TW" altLang="en-US" sz="1600" dirty="0"/>
              <a:t>，代表 </a:t>
            </a:r>
            <a:r>
              <a:rPr lang="en-US" altLang="zh-TW" sz="1600" dirty="0"/>
              <a:t>self-speculative decoding </a:t>
            </a:r>
            <a:r>
              <a:rPr lang="zh-TW" altLang="en-US" sz="1600" dirty="0"/>
              <a:t>有更好的接受潛力</a:t>
            </a:r>
            <a:r>
              <a:rPr lang="en-US" altLang="zh-TW" sz="1600" dirty="0">
                <a:solidFill>
                  <a:srgbClr val="2732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Generative PPL </a:t>
            </a:r>
            <a:r>
              <a:rPr lang="zh-TW" altLang="en-US" sz="1600" dirty="0"/>
              <a:t>從 </a:t>
            </a:r>
            <a:r>
              <a:rPr lang="en-US" altLang="zh-TW" sz="1600" dirty="0"/>
              <a:t>39.5580 </a:t>
            </a:r>
            <a:r>
              <a:rPr lang="zh-TW" altLang="en-US" sz="1600" dirty="0"/>
              <a:t>大幅降至 </a:t>
            </a:r>
            <a:r>
              <a:rPr lang="en-US" altLang="zh-TW" sz="1600" dirty="0"/>
              <a:t>18.7180</a:t>
            </a:r>
            <a:r>
              <a:rPr lang="zh-TW" altLang="en-US" sz="1600" dirty="0"/>
              <a:t>，顯示生成品質改善最明顯</a:t>
            </a:r>
            <a:r>
              <a:rPr lang="en-US" altLang="zh-TW" sz="1600" dirty="0">
                <a:solidFill>
                  <a:srgbClr val="2732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Text 1"/>
          <p:cNvSpPr/>
          <p:nvPr/>
        </p:nvSpPr>
        <p:spPr>
          <a:xfrm>
            <a:off x="11558726" y="6629400"/>
            <a:ext cx="419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27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Part5: Conclusion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 work &amp; references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B77CBB2-D2D3-454F-C60E-019D7B0BBAFA}"/>
              </a:ext>
            </a:extLst>
          </p:cNvPr>
          <p:cNvSpPr txBox="1"/>
          <p:nvPr/>
        </p:nvSpPr>
        <p:spPr>
          <a:xfrm>
            <a:off x="905877" y="1965960"/>
            <a:ext cx="1076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進一步測試不同模型規模、更多資料量、不同種類資料集。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繼續下一步訓練計畫如</a:t>
            </a:r>
            <a:r>
              <a:rPr lang="en-US" altLang="zh-TW" sz="1600" dirty="0"/>
              <a:t>Continue training</a:t>
            </a:r>
            <a:r>
              <a:rPr lang="zh-TW" altLang="en-US" sz="1600" dirty="0"/>
              <a:t>、</a:t>
            </a:r>
            <a:r>
              <a:rPr lang="en-US" altLang="zh-TW" sz="1600" dirty="0"/>
              <a:t>SFT</a:t>
            </a:r>
            <a:endParaRPr lang="zh-TW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餵進更多資料量後補上 </a:t>
            </a:r>
            <a:r>
              <a:rPr lang="en-US" altLang="zh-TW" sz="1600" dirty="0"/>
              <a:t>greedy self-speculative decoding </a:t>
            </a:r>
            <a:r>
              <a:rPr lang="zh-TW" altLang="en-US" sz="1600" dirty="0"/>
              <a:t>的實際 </a:t>
            </a:r>
            <a:r>
              <a:rPr lang="en-US" altLang="zh-TW" sz="1600" dirty="0"/>
              <a:t>speed-up </a:t>
            </a:r>
            <a:r>
              <a:rPr lang="zh-TW" altLang="en-US" sz="1600" dirty="0"/>
              <a:t>與 </a:t>
            </a:r>
            <a:r>
              <a:rPr lang="en-US" altLang="zh-TW" sz="1600" dirty="0"/>
              <a:t>oracle speed test </a:t>
            </a:r>
            <a:r>
              <a:rPr lang="zh-TW" altLang="en-US" sz="1600" dirty="0"/>
              <a:t>對照。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2794</Words>
  <Application>Microsoft Office PowerPoint</Application>
  <PresentationFormat>寬螢幕</PresentationFormat>
  <Paragraphs>680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Noto Sans CJK TC</vt:lpstr>
      <vt:lpstr>微軟正黑體</vt:lpstr>
      <vt:lpstr>Arial</vt:lpstr>
      <vt:lpstr>Calibri</vt:lpstr>
      <vt:lpstr>Calibri Light</vt:lpstr>
      <vt:lpstr>Cambria Math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 九龍</dc:creator>
  <cp:lastModifiedBy>陳 九龍</cp:lastModifiedBy>
  <cp:revision>187</cp:revision>
  <dcterms:created xsi:type="dcterms:W3CDTF">2026-07-06T10:21:07Z</dcterms:created>
  <dcterms:modified xsi:type="dcterms:W3CDTF">2026-07-31T02:14:17Z</dcterms:modified>
</cp:coreProperties>
</file>