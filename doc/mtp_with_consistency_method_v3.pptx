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1" r:id="rId1"/>
  </p:sldMasterIdLst>
  <p:notesMasterIdLst>
    <p:notesMasterId r:id="rId28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1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中等深淺樣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8D230F3-CF80-4859-8CE7-A43EE81993B5}" styleName="淺色樣式 1 - 輔色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34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2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工作表1!$B$1</c:f>
              <c:strCache>
                <c:ptCount val="1"/>
                <c:pt idx="0">
                  <c:v>Teacher latent</c:v>
                </c:pt>
              </c:strCache>
            </c:strRef>
          </c:tx>
          <c:spPr>
            <a:ln w="1905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strRef>
              <c:f>工作表1!$A$2:$A$4</c:f>
              <c:strCache>
                <c:ptCount val="2"/>
                <c:pt idx="0">
                  <c:v>0.7</c:v>
                </c:pt>
                <c:pt idx="1">
                  <c:v>0,4</c:v>
                </c:pt>
              </c:strCache>
            </c:strRef>
          </c:xVal>
          <c:yVal>
            <c:numRef>
              <c:f>工作表1!$B$2:$B$4</c:f>
              <c:numCache>
                <c:formatCode>General</c:formatCode>
                <c:ptCount val="3"/>
                <c:pt idx="0">
                  <c:v>2.7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1746-4C86-AF2C-9D1E5E7E2210}"/>
            </c:ext>
          </c:extLst>
        </c:ser>
        <c:ser>
          <c:idx val="1"/>
          <c:order val="1"/>
          <c:tx>
            <c:strRef>
              <c:f>工作表1!$C$1</c:f>
              <c:strCache>
                <c:ptCount val="1"/>
                <c:pt idx="0">
                  <c:v>Student latent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xVal>
            <c:strRef>
              <c:f>工作表1!$A$2:$A$4</c:f>
              <c:strCache>
                <c:ptCount val="2"/>
                <c:pt idx="0">
                  <c:v>0.7</c:v>
                </c:pt>
                <c:pt idx="1">
                  <c:v>0,4</c:v>
                </c:pt>
              </c:strCache>
            </c:strRef>
          </c:xVal>
          <c:yVal>
            <c:numRef>
              <c:f>工作表1!$C$2:$C$4</c:f>
              <c:numCache>
                <c:formatCode>General</c:formatCode>
                <c:ptCount val="3"/>
                <c:pt idx="1">
                  <c:v>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1746-4C86-AF2C-9D1E5E7E22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716585256"/>
        <c:axId val="716586696"/>
      </c:scatterChart>
      <c:valAx>
        <c:axId val="7165852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716586696"/>
        <c:crosses val="autoZero"/>
        <c:crossBetween val="midCat"/>
      </c:valAx>
      <c:valAx>
        <c:axId val="71658669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716585256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TW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zh-TW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79ACA5-036C-4CBB-B511-6278A555603E}" type="datetimeFigureOut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B4CFE7-FE35-48A1-A28D-BD14B3B1F5D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2317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1B4CFE7-FE35-48A1-A28D-BD14B3B1F5D0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20859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FA20A-AED8-411F-8362-4F08F634AD13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85970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2809C-5694-4ADE-A195-81F49E6CD71C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70491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DD4B31-F13D-4F82-B0AC-ED9396B0F174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5588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74DB4A-D224-408E-93AF-7640A6CD6C9E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968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48B68F-C8CE-4182-AD4D-6A41CE773149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10315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61DB16-EF1C-4119-8174-C5B39ACBC5EC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64589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0C75B-D794-4B33-9008-BE85F7E8298A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639868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D30AD-8DDE-43B1-992C-B21FDC46B221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3227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DA636-6424-4643-98FF-F3C5490949A2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21087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3A9E-DDF2-4F1E-94E6-D0F53021B384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7756345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3A9E-DDF2-4F1E-94E6-D0F53021B384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01678716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3A9E-DDF2-4F1E-94E6-D0F53021B384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6530679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3A9E-DDF2-4F1E-94E6-D0F53021B384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06803458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3A9E-DDF2-4F1E-94E6-D0F53021B384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25305538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8CC40-9425-4E64-AAA4-82535E935151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97629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8EA640-B2FF-4BA9-9C86-A049658D2DA6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7126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203A9E-DDF2-4F1E-94E6-D0F53021B384}" type="datetime1">
              <a:rPr lang="zh-TW" altLang="en-US" smtClean="0"/>
              <a:t>2026/7/31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A98399F2-4B7C-4808-8B27-A13C76E6A9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0727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  <p:sldLayoutId id="2147483720" r:id="rId9"/>
    <p:sldLayoutId id="2147483721" r:id="rId10"/>
    <p:sldLayoutId id="2147483722" r:id="rId11"/>
    <p:sldLayoutId id="2147483723" r:id="rId12"/>
    <p:sldLayoutId id="2147483724" r:id="rId13"/>
    <p:sldLayoutId id="2147483725" r:id="rId14"/>
    <p:sldLayoutId id="2147483726" r:id="rId15"/>
    <p:sldLayoutId id="2147483727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>
            <a:extLst>
              <a:ext uri="{FF2B5EF4-FFF2-40B4-BE49-F238E27FC236}">
                <a16:creationId xmlns:a16="http://schemas.microsoft.com/office/drawing/2014/main" id="{ECE6E196-A03F-AD9B-8D03-CF735C90E220}"/>
              </a:ext>
            </a:extLst>
          </p:cNvPr>
          <p:cNvSpPr/>
          <p:nvPr/>
        </p:nvSpPr>
        <p:spPr>
          <a:xfrm>
            <a:off x="722376" y="1759910"/>
            <a:ext cx="10744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Multi-Token Prediction with Consistency Method</a:t>
            </a:r>
            <a:endParaRPr 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676DD37-D6E1-7CE9-2B4D-08F12897688D}"/>
              </a:ext>
            </a:extLst>
          </p:cNvPr>
          <p:cNvSpPr/>
          <p:nvPr/>
        </p:nvSpPr>
        <p:spPr>
          <a:xfrm>
            <a:off x="928116" y="2358841"/>
            <a:ext cx="10332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Selective Distribution Consistency + Latent </a:t>
            </a:r>
            <a:r>
              <a:rPr lang="en-US" sz="160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Consistency Matching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8BB2ADE-B693-01EA-8BB3-C589692A379E}"/>
              </a:ext>
            </a:extLst>
          </p:cNvPr>
          <p:cNvSpPr/>
          <p:nvPr/>
        </p:nvSpPr>
        <p:spPr>
          <a:xfrm>
            <a:off x="4334256" y="3703318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Reporter：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陳九龍</a:t>
            </a:r>
            <a:endParaRPr 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1" name="投影片編號版面配置區 10">
            <a:extLst>
              <a:ext uri="{FF2B5EF4-FFF2-40B4-BE49-F238E27FC236}">
                <a16:creationId xmlns:a16="http://schemas.microsoft.com/office/drawing/2014/main" id="{11F3EFDC-DE25-6FD7-C144-F88D3692E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51314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074C62-AEEB-9427-7079-E732850B5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42171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2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71FEBC55-E661-59C0-AEE4-3A2F99FA2D10}"/>
              </a:ext>
            </a:extLst>
          </p:cNvPr>
          <p:cNvSpPr/>
          <p:nvPr/>
        </p:nvSpPr>
        <p:spPr>
          <a:xfrm>
            <a:off x="320040" y="411480"/>
            <a:ext cx="11291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CONTENTS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739910C-314D-2190-1CE1-FB2C698474F6}"/>
              </a:ext>
            </a:extLst>
          </p:cNvPr>
          <p:cNvSpPr txBox="1"/>
          <p:nvPr/>
        </p:nvSpPr>
        <p:spPr>
          <a:xfrm>
            <a:off x="4007823" y="1207363"/>
            <a:ext cx="31919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06940959-CFE9-DC42-6F51-50E5FA869A99}"/>
              </a:ext>
            </a:extLst>
          </p:cNvPr>
          <p:cNvSpPr txBox="1"/>
          <p:nvPr/>
        </p:nvSpPr>
        <p:spPr>
          <a:xfrm>
            <a:off x="320040" y="1207363"/>
            <a:ext cx="5486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Introduction (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Page 4 ~ Page 7</a:t>
            </a:r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Related works (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Page 9 ~ Page 10</a:t>
            </a:r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Proposed method (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Page 12 ~ Page 14</a:t>
            </a:r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Experiment results (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Page 16 ~ Page 23</a:t>
            </a:r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)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Conclusion (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Page 25 ~ Page 26</a:t>
            </a:r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)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Font typeface="+mj-lt"/>
              <a:buAutoNum type="arabicPeriod"/>
            </a:pP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Font typeface="+mj-lt"/>
              <a:buAutoNum type="arabicPeriod"/>
            </a:pP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342900" indent="-342900">
              <a:buFont typeface="+mj-lt"/>
              <a:buAutoNum type="arabicPeriod"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05124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6C51D5-D508-7D8A-315B-25B3B7538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3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440E5B8-AF42-1C83-A684-DAE2C362DF4F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Introduction</a:t>
            </a:r>
            <a:endParaRPr 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415030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98F9592-AD71-8253-D2E4-BD701C8B3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4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ED16DC88-3FEE-E262-16AE-B4EDFB1337CD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Part1: Introduction</a:t>
            </a:r>
            <a:endParaRPr 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F4CDAB86-9282-046C-57E9-7B895B8E2E18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Background — Multi-token prediction for faster generation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2DED8431-4931-F0CC-B1A1-46001C652552}"/>
              </a:ext>
            </a:extLst>
          </p:cNvPr>
          <p:cNvSpPr/>
          <p:nvPr/>
        </p:nvSpPr>
        <p:spPr>
          <a:xfrm>
            <a:off x="502920" y="960119"/>
            <a:ext cx="11155680" cy="448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Multi-token prediction (</a:t>
            </a:r>
            <a:r>
              <a:rPr 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MTP) (</a:t>
            </a:r>
            <a:r>
              <a:rPr lang="en-US" sz="1600" b="1" dirty="0" err="1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Gloeckle</a:t>
            </a:r>
            <a:r>
              <a:rPr 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 et al., 2024) </a:t>
            </a:r>
            <a:r>
              <a:rPr lang="en-US" sz="1600" b="1" dirty="0" err="1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的目標：一次</a:t>
            </a:r>
            <a:r>
              <a:rPr 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 forward 不只預測下一個 token，也讓多個 draft models 預測更遠的 future tokens。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BE2123A7-5657-506C-0440-C41A37A7C777}"/>
              </a:ext>
            </a:extLst>
          </p:cNvPr>
          <p:cNvSpPr/>
          <p:nvPr/>
        </p:nvSpPr>
        <p:spPr>
          <a:xfrm flipV="1">
            <a:off x="2297883" y="2752364"/>
            <a:ext cx="1080000" cy="5504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610B4AEF-9601-8981-AF8D-0A367E00D703}"/>
              </a:ext>
            </a:extLst>
          </p:cNvPr>
          <p:cNvSpPr/>
          <p:nvPr/>
        </p:nvSpPr>
        <p:spPr>
          <a:xfrm>
            <a:off x="1008585" y="2277973"/>
            <a:ext cx="1285240" cy="900000"/>
          </a:xfrm>
          <a:prstGeom prst="rect">
            <a:avLst/>
          </a:prstGeom>
          <a:noFill/>
          <a:ln>
            <a:noFill/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Input</a:t>
            </a:r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: </a:t>
            </a:r>
            <a:r>
              <a:rPr 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t₀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3" name="Text 13">
            <a:extLst>
              <a:ext uri="{FF2B5EF4-FFF2-40B4-BE49-F238E27FC236}">
                <a16:creationId xmlns:a16="http://schemas.microsoft.com/office/drawing/2014/main" id="{78320403-216C-E725-4CC6-A86BC60C4514}"/>
              </a:ext>
            </a:extLst>
          </p:cNvPr>
          <p:cNvSpPr/>
          <p:nvPr/>
        </p:nvSpPr>
        <p:spPr>
          <a:xfrm>
            <a:off x="3377879" y="2322525"/>
            <a:ext cx="1800000" cy="900000"/>
          </a:xfrm>
          <a:prstGeom prst="rect">
            <a:avLst/>
          </a:prstGeom>
          <a:solidFill>
            <a:srgbClr val="0070C0"/>
          </a:solidFill>
          <a:ln>
            <a:solidFill>
              <a:schemeClr val="accent1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Model</a:t>
            </a:r>
          </a:p>
          <a:p>
            <a:pPr marL="0" indent="0" algn="ctr">
              <a:buNone/>
            </a:pP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(target + draft)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4" name="Text 15">
            <a:extLst>
              <a:ext uri="{FF2B5EF4-FFF2-40B4-BE49-F238E27FC236}">
                <a16:creationId xmlns:a16="http://schemas.microsoft.com/office/drawing/2014/main" id="{655F93E8-79DA-8CA5-012E-0FEA8456961F}"/>
              </a:ext>
            </a:extLst>
          </p:cNvPr>
          <p:cNvSpPr/>
          <p:nvPr/>
        </p:nvSpPr>
        <p:spPr>
          <a:xfrm>
            <a:off x="9020095" y="2315909"/>
            <a:ext cx="18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/>
            <a:r>
              <a:rPr 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Output: </a:t>
            </a: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t</a:t>
            </a:r>
            <a:r>
              <a:rPr lang="en-US" altLang="zh-TW" sz="1600" b="1" baseline="-250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1</a:t>
            </a: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… </a:t>
            </a:r>
            <a:r>
              <a:rPr lang="en-US" altLang="zh-TW" sz="1600" b="1" dirty="0" err="1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t</a:t>
            </a:r>
            <a:r>
              <a:rPr lang="en-US" altLang="zh-TW" sz="1600" b="1" baseline="-25000" dirty="0" err="1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k</a:t>
            </a:r>
            <a:endParaRPr lang="en-US" sz="1600" baseline="-25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5" name="Text 16">
            <a:extLst>
              <a:ext uri="{FF2B5EF4-FFF2-40B4-BE49-F238E27FC236}">
                <a16:creationId xmlns:a16="http://schemas.microsoft.com/office/drawing/2014/main" id="{45E2F5F3-E290-5966-C2E4-C199B3417298}"/>
              </a:ext>
            </a:extLst>
          </p:cNvPr>
          <p:cNvSpPr/>
          <p:nvPr/>
        </p:nvSpPr>
        <p:spPr>
          <a:xfrm>
            <a:off x="502920" y="4692814"/>
            <a:ext cx="10713720" cy="502920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 err="1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核心假設：若</a:t>
            </a:r>
            <a:r>
              <a:rPr 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 draft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 </a:t>
            </a:r>
            <a:r>
              <a:rPr lang="en-US" sz="1600" b="1" dirty="0" err="1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的預測與主模型一致，self-speculative</a:t>
            </a:r>
            <a:r>
              <a:rPr 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 decoding 就能一次接受多個 </a:t>
            </a:r>
            <a:r>
              <a:rPr lang="en-US" sz="1600" b="1" dirty="0" err="1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token，降低實際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推論</a:t>
            </a:r>
            <a:r>
              <a:rPr lang="en-US" sz="1600" b="1" dirty="0" err="1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成本</a:t>
            </a:r>
            <a:r>
              <a:rPr 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。</a:t>
            </a:r>
            <a:endParaRPr lang="en-US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6" name="Shape 8">
            <a:extLst>
              <a:ext uri="{FF2B5EF4-FFF2-40B4-BE49-F238E27FC236}">
                <a16:creationId xmlns:a16="http://schemas.microsoft.com/office/drawing/2014/main" id="{D636A4ED-0CDB-5815-2A3F-D4D8056E766D}"/>
              </a:ext>
            </a:extLst>
          </p:cNvPr>
          <p:cNvSpPr/>
          <p:nvPr/>
        </p:nvSpPr>
        <p:spPr>
          <a:xfrm flipV="1">
            <a:off x="5177871" y="2749612"/>
            <a:ext cx="1080000" cy="5504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B593E249-C2DA-3C9D-D738-D897E2040B90}"/>
              </a:ext>
            </a:extLst>
          </p:cNvPr>
          <p:cNvSpPr/>
          <p:nvPr/>
        </p:nvSpPr>
        <p:spPr>
          <a:xfrm>
            <a:off x="6249743" y="2307868"/>
            <a:ext cx="1800000" cy="900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square" lIns="635" tIns="635" rIns="635" bIns="635" rtlCol="0" anchor="ctr">
            <a:normAutofit/>
          </a:bodyPr>
          <a:lstStyle/>
          <a:p>
            <a:pPr algn="ctr"/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self-speculative decoding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D60F4829-8322-075A-A3AC-A78060E7551B}"/>
              </a:ext>
            </a:extLst>
          </p:cNvPr>
          <p:cNvSpPr/>
          <p:nvPr/>
        </p:nvSpPr>
        <p:spPr>
          <a:xfrm flipV="1">
            <a:off x="8057859" y="2737126"/>
            <a:ext cx="1080000" cy="5504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zh-TW" altLang="en-US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7944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68D712A-BB1D-6FD7-776C-B4E0DA207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962EB79B-9B1A-E8E7-435D-831B5691E819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Part1: Introduction</a:t>
            </a:r>
            <a:endParaRPr 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8AB1546-5B66-7847-E65F-E7C9D92FFC5E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Motivation — deeper </a:t>
            </a:r>
            <a:r>
              <a:rPr lang="en-US" sz="160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draft model </a:t>
            </a:r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are harder to optimize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4265185-E37F-8978-2945-1BD5B7960B70}"/>
              </a:ext>
            </a:extLst>
          </p:cNvPr>
          <p:cNvSpPr/>
          <p:nvPr/>
        </p:nvSpPr>
        <p:spPr>
          <a:xfrm>
            <a:off x="502920" y="93268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標準 MTP 只用 CE loss 訓練每個 target, draft model，但不同 </a:t>
            </a: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model</a:t>
            </a:r>
            <a:r>
              <a:rPr 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 之間缺少明確的一致性約束。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D63BF917-9F12-7410-B10C-13A62A1DE237}"/>
              </a:ext>
            </a:extLst>
          </p:cNvPr>
          <p:cNvSpPr/>
          <p:nvPr/>
        </p:nvSpPr>
        <p:spPr>
          <a:xfrm>
            <a:off x="502920" y="4714241"/>
            <a:ext cx="10904886" cy="548353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研究焦點：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在 </a:t>
            </a: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pretrain 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階段中，不改變 </a:t>
            </a: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MTP model 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架構的前提下，僅在 </a:t>
            </a: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loss 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加入 </a:t>
            </a: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regularization (Consistency Method)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，以此提升模型表現</a:t>
            </a:r>
            <a:r>
              <a:rPr 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。</a:t>
            </a:r>
            <a:endParaRPr lang="en-US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8A39A0D6-F77F-BB9B-F9E0-9998245F2D06}"/>
              </a:ext>
            </a:extLst>
          </p:cNvPr>
          <p:cNvGrpSpPr/>
          <p:nvPr/>
        </p:nvGrpSpPr>
        <p:grpSpPr>
          <a:xfrm>
            <a:off x="4105611" y="2391690"/>
            <a:ext cx="5788241" cy="1037310"/>
            <a:chOff x="3191211" y="2318759"/>
            <a:chExt cx="5788241" cy="1037310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5F22F32-9F79-1900-9200-E3279BC2B37E}"/>
                </a:ext>
              </a:extLst>
            </p:cNvPr>
            <p:cNvSpPr txBox="1"/>
            <p:nvPr/>
          </p:nvSpPr>
          <p:spPr>
            <a:xfrm>
              <a:off x="3191211" y="2771294"/>
              <a:ext cx="578824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+mj-lt"/>
                <a:buAutoNum type="arabicPeriod"/>
              </a:pPr>
              <a:r>
                <a:rPr lang="en-US" altLang="zh-TW" sz="16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Draft model</a:t>
              </a:r>
              <a:r>
                <a:rPr lang="zh-TW" altLang="en-US" sz="16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 預測</a:t>
              </a:r>
              <a:r>
                <a:rPr lang="en-US" altLang="zh-TW" sz="16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越</a:t>
              </a:r>
              <a:r>
                <a:rPr lang="zh-TW" altLang="en-US" sz="16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遠</a:t>
              </a:r>
              <a:r>
                <a:rPr lang="en-US" altLang="zh-TW" sz="16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， 越</a:t>
              </a:r>
              <a:r>
                <a:rPr lang="zh-TW" altLang="en-US" sz="16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不準確</a:t>
              </a:r>
              <a:endPara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marL="342900" indent="-342900">
                <a:buFont typeface="+mj-lt"/>
                <a:buAutoNum type="arabicPeriod"/>
              </a:pPr>
              <a:r>
                <a:rPr lang="en-US" altLang="zh-TW" sz="16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Draft model</a:t>
              </a:r>
              <a:r>
                <a:rPr lang="zh-TW" altLang="en-US" sz="16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 預測</a:t>
              </a:r>
              <a:r>
                <a:rPr lang="en-US" altLang="zh-TW" sz="16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越</a:t>
              </a:r>
              <a:r>
                <a:rPr lang="zh-TW" altLang="en-US" sz="16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遠，越難最佳化</a:t>
              </a:r>
              <a:endPara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63703468-D680-15E2-2897-20BBEB579369}"/>
                </a:ext>
              </a:extLst>
            </p:cNvPr>
            <p:cNvSpPr txBox="1"/>
            <p:nvPr/>
          </p:nvSpPr>
          <p:spPr>
            <a:xfrm>
              <a:off x="3201726" y="2318759"/>
              <a:ext cx="351555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b="1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問題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156552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329D13-8C2D-8A01-F830-8A416748F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73521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6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7EF7A3E8-8B39-2EF4-6B54-19403A1020E4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Part1: Introduction</a:t>
            </a:r>
            <a:endParaRPr 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B26A3816-AB75-DBA0-C23C-78CB2C7AACC4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Research method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840EEC3D-0ACD-3683-9F97-DAB6B9377848}"/>
              </a:ext>
            </a:extLst>
          </p:cNvPr>
          <p:cNvSpPr/>
          <p:nvPr/>
        </p:nvSpPr>
        <p:spPr>
          <a:xfrm>
            <a:off x="502920" y="932688"/>
            <a:ext cx="10972800" cy="548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在本實驗中所使用的</a:t>
            </a: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Consistency Method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 共分為兩種：</a:t>
            </a: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 selective distribution consistency(SDC), latent consistency matching(LCM)</a:t>
            </a:r>
            <a:endParaRPr lang="en-US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6C7BC155-EFA9-40E4-8CF6-302F3F7F8958}"/>
              </a:ext>
            </a:extLst>
          </p:cNvPr>
          <p:cNvGrpSpPr/>
          <p:nvPr/>
        </p:nvGrpSpPr>
        <p:grpSpPr>
          <a:xfrm>
            <a:off x="573942" y="2625300"/>
            <a:ext cx="3207671" cy="1799425"/>
            <a:chOff x="801019" y="1982462"/>
            <a:chExt cx="3207671" cy="1799425"/>
          </a:xfrm>
        </p:grpSpPr>
        <p:pic>
          <p:nvPicPr>
            <p:cNvPr id="33" name="圖片 32">
              <a:extLst>
                <a:ext uri="{FF2B5EF4-FFF2-40B4-BE49-F238E27FC236}">
                  <a16:creationId xmlns:a16="http://schemas.microsoft.com/office/drawing/2014/main" id="{CE1FB8D8-D542-FE83-3886-59460AA744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01019" y="1982462"/>
              <a:ext cx="3207671" cy="1799425"/>
            </a:xfrm>
            <a:prstGeom prst="rect">
              <a:avLst/>
            </a:prstGeom>
          </p:spPr>
        </p:pic>
        <p:cxnSp>
          <p:nvCxnSpPr>
            <p:cNvPr id="35" name="直線單箭頭接點 34">
              <a:extLst>
                <a:ext uri="{FF2B5EF4-FFF2-40B4-BE49-F238E27FC236}">
                  <a16:creationId xmlns:a16="http://schemas.microsoft.com/office/drawing/2014/main" id="{2D7EF52F-F99D-4A4D-793A-DAEA230A32EF}"/>
                </a:ext>
              </a:extLst>
            </p:cNvPr>
            <p:cNvCxnSpPr/>
            <p:nvPr/>
          </p:nvCxnSpPr>
          <p:spPr>
            <a:xfrm flipH="1">
              <a:off x="1961965" y="3098307"/>
              <a:ext cx="692458" cy="0"/>
            </a:xfrm>
            <a:prstGeom prst="straightConnector1">
              <a:avLst/>
            </a:prstGeom>
            <a:ln>
              <a:solidFill>
                <a:srgbClr val="FF0000"/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657EDE27-1640-D95F-B719-540AA23B1D85}"/>
                </a:ext>
              </a:extLst>
            </p:cNvPr>
            <p:cNvSpPr txBox="1"/>
            <p:nvPr/>
          </p:nvSpPr>
          <p:spPr>
            <a:xfrm>
              <a:off x="2072935" y="2865448"/>
              <a:ext cx="58148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200" dirty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shift</a:t>
              </a:r>
              <a:endParaRPr lang="zh-TW" altLang="en-US" sz="12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</p:grp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A8FC2147-B8B0-1AB4-1690-F17AA96C0A72}"/>
              </a:ext>
            </a:extLst>
          </p:cNvPr>
          <p:cNvSpPr txBox="1"/>
          <p:nvPr/>
        </p:nvSpPr>
        <p:spPr>
          <a:xfrm>
            <a:off x="502919" y="1494551"/>
            <a:ext cx="575583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SDC</a:t>
            </a:r>
          </a:p>
          <a:p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這是我們新研發的方法，目標是讓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student output probability distribution align teacher output probability distribution</a:t>
            </a:r>
            <a:endParaRPr lang="zh-TW" alt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pic>
        <p:nvPicPr>
          <p:cNvPr id="40" name="圖片 39">
            <a:extLst>
              <a:ext uri="{FF2B5EF4-FFF2-40B4-BE49-F238E27FC236}">
                <a16:creationId xmlns:a16="http://schemas.microsoft.com/office/drawing/2014/main" id="{4FCB0A22-76B0-2E1F-05AE-595EC8FB8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942" y="4997347"/>
            <a:ext cx="2586395" cy="15296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1" name="文字方塊 40">
            <a:extLst>
              <a:ext uri="{FF2B5EF4-FFF2-40B4-BE49-F238E27FC236}">
                <a16:creationId xmlns:a16="http://schemas.microsoft.com/office/drawing/2014/main" id="{86080F3B-F863-D9AE-864E-DF6914A77CE9}"/>
              </a:ext>
            </a:extLst>
          </p:cNvPr>
          <p:cNvSpPr txBox="1"/>
          <p:nvPr/>
        </p:nvSpPr>
        <p:spPr>
          <a:xfrm>
            <a:off x="502920" y="4474127"/>
            <a:ext cx="57558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並且，算法會把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teacher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低信心度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下圖所示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的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token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mask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掉，在計算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SDC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會忽略這個位置的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token</a:t>
            </a:r>
            <a:endParaRPr lang="zh-TW" alt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AFB4FEDA-7E7E-B165-DFB7-D5C9891A38DC}"/>
              </a:ext>
            </a:extLst>
          </p:cNvPr>
          <p:cNvSpPr txBox="1"/>
          <p:nvPr/>
        </p:nvSpPr>
        <p:spPr>
          <a:xfrm>
            <a:off x="6356412" y="1481040"/>
            <a:ext cx="498925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LCM(</a:t>
            </a:r>
            <a:r>
              <a:rPr lang="en-US" altLang="zh-TW" sz="1600" b="1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Samragh</a:t>
            </a: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 et al., 2025)</a:t>
            </a:r>
          </a:p>
          <a:p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除了對齊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probability distribution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之外，我們還需要在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latent(embedding) layer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，讓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student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更靠近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teacher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下圖所示為多維壓縮成二維的展示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3B086969-918B-03A6-C18F-5E4B727871FD}"/>
              </a:ext>
            </a:extLst>
          </p:cNvPr>
          <p:cNvGrpSpPr/>
          <p:nvPr/>
        </p:nvGrpSpPr>
        <p:grpSpPr>
          <a:xfrm>
            <a:off x="6356412" y="2966890"/>
            <a:ext cx="3559296" cy="1942574"/>
            <a:chOff x="6369726" y="3090762"/>
            <a:chExt cx="3559296" cy="1942574"/>
          </a:xfrm>
        </p:grpSpPr>
        <p:graphicFrame>
          <p:nvGraphicFramePr>
            <p:cNvPr id="49" name="圖表 48">
              <a:extLst>
                <a:ext uri="{FF2B5EF4-FFF2-40B4-BE49-F238E27FC236}">
                  <a16:creationId xmlns:a16="http://schemas.microsoft.com/office/drawing/2014/main" id="{2C4969CF-8390-C9C1-10E9-4EB4AEC73F8B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774710586"/>
                </p:ext>
              </p:extLst>
            </p:nvPr>
          </p:nvGraphicFramePr>
          <p:xfrm>
            <a:off x="6369726" y="3090762"/>
            <a:ext cx="3559296" cy="194257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pSp>
          <p:nvGrpSpPr>
            <p:cNvPr id="53" name="群組 52">
              <a:extLst>
                <a:ext uri="{FF2B5EF4-FFF2-40B4-BE49-F238E27FC236}">
                  <a16:creationId xmlns:a16="http://schemas.microsoft.com/office/drawing/2014/main" id="{4F5C9862-200E-4746-6DAC-A9DE397FDCE0}"/>
                </a:ext>
              </a:extLst>
            </p:cNvPr>
            <p:cNvGrpSpPr/>
            <p:nvPr/>
          </p:nvGrpSpPr>
          <p:grpSpPr>
            <a:xfrm>
              <a:off x="7213104" y="3632157"/>
              <a:ext cx="1207363" cy="864000"/>
              <a:chOff x="7195203" y="3394602"/>
              <a:chExt cx="1207363" cy="864000"/>
            </a:xfrm>
          </p:grpSpPr>
          <p:cxnSp>
            <p:nvCxnSpPr>
              <p:cNvPr id="51" name="直線單箭頭接點 50">
                <a:extLst>
                  <a:ext uri="{FF2B5EF4-FFF2-40B4-BE49-F238E27FC236}">
                    <a16:creationId xmlns:a16="http://schemas.microsoft.com/office/drawing/2014/main" id="{57FE0909-9229-6CAA-E7A7-2139EF6C66F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95203" y="3394602"/>
                <a:ext cx="550416" cy="864000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1A947D1A-8AAF-ED7B-66C1-44862306DBA1}"/>
                  </a:ext>
                </a:extLst>
              </p:cNvPr>
              <p:cNvSpPr txBox="1"/>
              <p:nvPr/>
            </p:nvSpPr>
            <p:spPr>
              <a:xfrm>
                <a:off x="7448218" y="3761133"/>
                <a:ext cx="95434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sz="1200" dirty="0">
                    <a:solidFill>
                      <a:srgbClr val="FF0000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rPr>
                  <a:t>get close</a:t>
                </a:r>
                <a:endParaRPr lang="zh-TW" altLang="en-US" sz="1200" dirty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35371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C4C60D-4673-68F8-2672-0C165C179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7</a:t>
            </a:fld>
            <a:endParaRPr lang="zh-TW" altLang="en-US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A87E6918-D099-288F-7D25-B66039C42B20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Part1: Introduction</a:t>
            </a:r>
            <a:endParaRPr 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B7B5D365-1A43-9398-0370-DF4CA660DAA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Contributions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EACF03F9-6510-7E2D-FCD0-2D3774770E79}"/>
              </a:ext>
            </a:extLst>
          </p:cNvPr>
          <p:cNvGrpSpPr/>
          <p:nvPr/>
        </p:nvGrpSpPr>
        <p:grpSpPr>
          <a:xfrm>
            <a:off x="653396" y="1099656"/>
            <a:ext cx="10730884" cy="720000"/>
            <a:chOff x="653396" y="1099656"/>
            <a:chExt cx="10730884" cy="720000"/>
          </a:xfrm>
        </p:grpSpPr>
        <p:sp>
          <p:nvSpPr>
            <p:cNvPr id="10" name="Text 7">
              <a:extLst>
                <a:ext uri="{FF2B5EF4-FFF2-40B4-BE49-F238E27FC236}">
                  <a16:creationId xmlns:a16="http://schemas.microsoft.com/office/drawing/2014/main" id="{A27EBE22-AA8C-4952-CFF5-96FC7B524D01}"/>
                </a:ext>
              </a:extLst>
            </p:cNvPr>
            <p:cNvSpPr/>
            <p:nvPr/>
          </p:nvSpPr>
          <p:spPr>
            <a:xfrm>
              <a:off x="1600200" y="125272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Selective Distribution Consistency</a:t>
              </a:r>
              <a:endParaRPr lang="en-US" sz="1400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11" name="Text 8">
              <a:extLst>
                <a:ext uri="{FF2B5EF4-FFF2-40B4-BE49-F238E27FC236}">
                  <a16:creationId xmlns:a16="http://schemas.microsoft.com/office/drawing/2014/main" id="{A2E32A38-D527-508E-4DDA-0E61271BAB22}"/>
                </a:ext>
              </a:extLst>
            </p:cNvPr>
            <p:cNvSpPr/>
            <p:nvPr/>
          </p:nvSpPr>
          <p:spPr>
            <a:xfrm>
              <a:off x="1600200" y="1527048"/>
              <a:ext cx="97840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zh-TW" altLang="en-US" sz="12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在</a:t>
              </a:r>
              <a:r>
                <a:rPr lang="en-US" altLang="zh-TW" sz="12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pretrain</a:t>
              </a:r>
              <a:r>
                <a:rPr lang="zh-TW" altLang="en-US" sz="12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階段，我們提出</a:t>
              </a:r>
              <a:r>
                <a:rPr lang="en-US" altLang="zh-TW" sz="12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SDC</a:t>
              </a:r>
              <a:r>
                <a:rPr lang="zh-TW" altLang="en-US" sz="12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來當作</a:t>
              </a:r>
              <a:r>
                <a:rPr lang="en-US" altLang="zh-TW" sz="12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loss</a:t>
              </a:r>
              <a:r>
                <a:rPr lang="zh-TW" altLang="en-US" sz="12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的</a:t>
              </a:r>
              <a:r>
                <a:rPr lang="en-US" altLang="zh-TW" sz="12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regulation term</a:t>
              </a:r>
              <a:r>
                <a:rPr lang="zh-TW" altLang="en-US" sz="12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，以此約束</a:t>
              </a:r>
              <a:r>
                <a:rPr lang="en-US" altLang="zh-TW" sz="12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draft model</a:t>
              </a:r>
              <a:r>
                <a:rPr lang="zh-TW" altLang="en-US" sz="12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，讓其的預測結果更符合</a:t>
              </a:r>
              <a:r>
                <a:rPr lang="en-US" altLang="zh-TW" sz="12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teacher</a:t>
              </a:r>
              <a:r>
                <a:rPr lang="zh-TW" altLang="en-US" sz="12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 </a:t>
              </a:r>
              <a:r>
                <a:rPr lang="en-US" altLang="zh-TW" sz="12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model</a:t>
              </a:r>
              <a:r>
                <a:rPr lang="zh-TW" altLang="en-US" sz="12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所期待的</a:t>
              </a:r>
              <a:r>
                <a:rPr lang="en-US" sz="1200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。</a:t>
              </a:r>
              <a:endParaRPr lang="en-US" sz="1200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16" name="Text 4">
              <a:extLst>
                <a:ext uri="{FF2B5EF4-FFF2-40B4-BE49-F238E27FC236}">
                  <a16:creationId xmlns:a16="http://schemas.microsoft.com/office/drawing/2014/main" id="{5FE1590C-67F9-253A-7DF6-3E0F4F14DBEC}"/>
                </a:ext>
              </a:extLst>
            </p:cNvPr>
            <p:cNvSpPr/>
            <p:nvPr/>
          </p:nvSpPr>
          <p:spPr>
            <a:xfrm>
              <a:off x="653396" y="1099656"/>
              <a:ext cx="72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01</a:t>
              </a:r>
              <a:endParaRPr lang="en-US" sz="1400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6CD3D477-0CA5-62CF-F2B9-775538188776}"/>
              </a:ext>
            </a:extLst>
          </p:cNvPr>
          <p:cNvGrpSpPr/>
          <p:nvPr/>
        </p:nvGrpSpPr>
        <p:grpSpPr>
          <a:xfrm>
            <a:off x="653396" y="2401488"/>
            <a:ext cx="10730884" cy="720000"/>
            <a:chOff x="653396" y="2401488"/>
            <a:chExt cx="10730884" cy="720000"/>
          </a:xfrm>
        </p:grpSpPr>
        <p:sp>
          <p:nvSpPr>
            <p:cNvPr id="12" name="Text 10">
              <a:extLst>
                <a:ext uri="{FF2B5EF4-FFF2-40B4-BE49-F238E27FC236}">
                  <a16:creationId xmlns:a16="http://schemas.microsoft.com/office/drawing/2014/main" id="{799F9D62-A68A-EBD4-AE7A-652C6E39F37A}"/>
                </a:ext>
              </a:extLst>
            </p:cNvPr>
            <p:cNvSpPr/>
            <p:nvPr/>
          </p:nvSpPr>
          <p:spPr>
            <a:xfrm>
              <a:off x="1600200" y="248716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Experimental Result</a:t>
              </a:r>
              <a:endParaRPr lang="en-US" sz="1400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13" name="Text 11">
              <a:extLst>
                <a:ext uri="{FF2B5EF4-FFF2-40B4-BE49-F238E27FC236}">
                  <a16:creationId xmlns:a16="http://schemas.microsoft.com/office/drawing/2014/main" id="{975B3921-78D2-F7CD-2557-9D9C5160C67E}"/>
                </a:ext>
              </a:extLst>
            </p:cNvPr>
            <p:cNvSpPr/>
            <p:nvPr/>
          </p:nvSpPr>
          <p:spPr>
            <a:xfrm>
              <a:off x="1600200" y="2761488"/>
              <a:ext cx="9784080" cy="36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r>
                <a:rPr lang="zh-TW" altLang="en-US" sz="1200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我們提供實驗結果包括</a:t>
              </a:r>
              <a:r>
                <a:rPr lang="en-US" altLang="zh-TW" sz="1200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Oracle PPL</a:t>
              </a:r>
              <a:r>
                <a:rPr lang="zh-TW" altLang="en-US" sz="1200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、</a:t>
              </a:r>
              <a:r>
                <a:rPr lang="en-US" altLang="zh-TW" sz="1200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Average draft token accepted</a:t>
              </a:r>
              <a:r>
                <a:rPr lang="zh-TW" altLang="en-US" sz="1200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、</a:t>
              </a:r>
              <a:r>
                <a:rPr lang="en-US" altLang="zh-TW" sz="1200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Generative PPL…</a:t>
              </a:r>
              <a:r>
                <a:rPr lang="zh-TW" altLang="en-US" sz="1200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，當作比起</a:t>
              </a:r>
              <a:r>
                <a:rPr lang="en-US" altLang="zh-TW" sz="1200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baseline</a:t>
              </a:r>
              <a:r>
                <a:rPr lang="zh-TW" altLang="en-US" sz="1200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改善證據，其中</a:t>
              </a:r>
              <a:r>
                <a:rPr lang="en-US" altLang="zh-TW" sz="1200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Generative PPL</a:t>
              </a:r>
              <a:r>
                <a:rPr lang="zh-TW" altLang="en-US" sz="1200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提升約</a:t>
              </a:r>
              <a:r>
                <a:rPr lang="en-US" altLang="zh-TW" sz="1200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52%</a:t>
              </a:r>
              <a:r>
                <a:rPr lang="zh-TW" altLang="en-US" sz="1200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，改善幅度最大</a:t>
              </a:r>
              <a:r>
                <a:rPr lang="en-US" altLang="zh-TW" sz="1200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 </a:t>
              </a:r>
              <a:endParaRPr lang="en-US" sz="1200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17" name="Text 4">
              <a:extLst>
                <a:ext uri="{FF2B5EF4-FFF2-40B4-BE49-F238E27FC236}">
                  <a16:creationId xmlns:a16="http://schemas.microsoft.com/office/drawing/2014/main" id="{6071DD21-283D-8125-2F68-557C651DB9C4}"/>
                </a:ext>
              </a:extLst>
            </p:cNvPr>
            <p:cNvSpPr/>
            <p:nvPr/>
          </p:nvSpPr>
          <p:spPr>
            <a:xfrm>
              <a:off x="653396" y="2401488"/>
              <a:ext cx="72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02</a:t>
              </a:r>
              <a:endParaRPr lang="en-US" sz="1400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0FFC557E-7866-5266-820D-B4C44FA922C3}"/>
              </a:ext>
            </a:extLst>
          </p:cNvPr>
          <p:cNvGrpSpPr/>
          <p:nvPr/>
        </p:nvGrpSpPr>
        <p:grpSpPr>
          <a:xfrm>
            <a:off x="664493" y="3635928"/>
            <a:ext cx="10719787" cy="720000"/>
            <a:chOff x="664493" y="3635928"/>
            <a:chExt cx="10719787" cy="720000"/>
          </a:xfrm>
        </p:grpSpPr>
        <p:sp>
          <p:nvSpPr>
            <p:cNvPr id="14" name="Text 13">
              <a:extLst>
                <a:ext uri="{FF2B5EF4-FFF2-40B4-BE49-F238E27FC236}">
                  <a16:creationId xmlns:a16="http://schemas.microsoft.com/office/drawing/2014/main" id="{370B4A7F-846C-967B-592B-95E668A5EAEA}"/>
                </a:ext>
              </a:extLst>
            </p:cNvPr>
            <p:cNvSpPr/>
            <p:nvPr/>
          </p:nvSpPr>
          <p:spPr>
            <a:xfrm>
              <a:off x="1600200" y="3721608"/>
              <a:ext cx="38404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SDC + LCM joint training</a:t>
              </a:r>
            </a:p>
          </p:txBody>
        </p:sp>
        <p:sp>
          <p:nvSpPr>
            <p:cNvPr id="15" name="Text 14">
              <a:extLst>
                <a:ext uri="{FF2B5EF4-FFF2-40B4-BE49-F238E27FC236}">
                  <a16:creationId xmlns:a16="http://schemas.microsoft.com/office/drawing/2014/main" id="{B8D34A56-7707-8C04-263A-2A589FD8A9A7}"/>
                </a:ext>
              </a:extLst>
            </p:cNvPr>
            <p:cNvSpPr/>
            <p:nvPr/>
          </p:nvSpPr>
          <p:spPr>
            <a:xfrm>
              <a:off x="1600200" y="3995928"/>
              <a:ext cx="978408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>
                <a:buNone/>
              </a:pPr>
              <a:r>
                <a:rPr lang="zh-TW" altLang="en-US" sz="1200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從實驗結果來看能發現，</a:t>
              </a:r>
              <a:r>
                <a:rPr lang="en-US" altLang="zh-TW" sz="1200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SDC</a:t>
              </a:r>
              <a:r>
                <a:rPr lang="zh-TW" altLang="en-US" sz="1200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 與 </a:t>
              </a:r>
              <a:r>
                <a:rPr lang="en-US" altLang="zh-TW" sz="1200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LCM</a:t>
              </a:r>
              <a:r>
                <a:rPr lang="zh-TW" altLang="en-US" sz="1200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 並不會互相衝突造成反效果。</a:t>
              </a:r>
              <a:endParaRPr lang="en-US" sz="1200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18" name="Text 4">
              <a:extLst>
                <a:ext uri="{FF2B5EF4-FFF2-40B4-BE49-F238E27FC236}">
                  <a16:creationId xmlns:a16="http://schemas.microsoft.com/office/drawing/2014/main" id="{BEA795F7-A9CE-4A56-E505-726CBE92E948}"/>
                </a:ext>
              </a:extLst>
            </p:cNvPr>
            <p:cNvSpPr/>
            <p:nvPr/>
          </p:nvSpPr>
          <p:spPr>
            <a:xfrm>
              <a:off x="664493" y="3635928"/>
              <a:ext cx="720000" cy="72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635" tIns="635" rIns="635" bIns="635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400" b="1" dirty="0">
                  <a:latin typeface="標楷體" panose="03000509000000000000" pitchFamily="65" charset="-120"/>
                  <a:ea typeface="標楷體" panose="03000509000000000000" pitchFamily="65" charset="-120"/>
                  <a:cs typeface="Noto Sans CJK TC" pitchFamily="34" charset="-120"/>
                </a:rPr>
                <a:t>03</a:t>
              </a:r>
              <a:endParaRPr lang="en-US" sz="1400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18118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ADC25B2-F585-BC47-76CD-31E670851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8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71432B8-DA5C-3121-008A-6E42332920F9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Related works</a:t>
            </a:r>
            <a:endParaRPr 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334359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B18D6C-2B4A-5323-DAAB-0DBDE22E8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08392"/>
            <a:ext cx="2743200" cy="246889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9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6CC896F1-DC32-0CE9-E6CB-64C1DEBD272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Part2: Related works</a:t>
            </a: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FF3A430A-4D92-6FE8-8045-7539BA22788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Multi-Token Prediction architecture</a:t>
            </a:r>
          </a:p>
        </p:txBody>
      </p:sp>
      <p:grpSp>
        <p:nvGrpSpPr>
          <p:cNvPr id="226" name="群組 225">
            <a:extLst>
              <a:ext uri="{FF2B5EF4-FFF2-40B4-BE49-F238E27FC236}">
                <a16:creationId xmlns:a16="http://schemas.microsoft.com/office/drawing/2014/main" id="{134E8218-33DF-0B08-A698-76A1D867F740}"/>
              </a:ext>
            </a:extLst>
          </p:cNvPr>
          <p:cNvGrpSpPr/>
          <p:nvPr/>
        </p:nvGrpSpPr>
        <p:grpSpPr>
          <a:xfrm>
            <a:off x="2041281" y="991942"/>
            <a:ext cx="7048280" cy="4338267"/>
            <a:chOff x="357830" y="1001355"/>
            <a:chExt cx="7048280" cy="4338267"/>
          </a:xfrm>
        </p:grpSpPr>
        <p:grpSp>
          <p:nvGrpSpPr>
            <p:cNvPr id="222" name="群組 221">
              <a:extLst>
                <a:ext uri="{FF2B5EF4-FFF2-40B4-BE49-F238E27FC236}">
                  <a16:creationId xmlns:a16="http://schemas.microsoft.com/office/drawing/2014/main" id="{8A43683A-69A1-344F-4AFE-EE79E83272D3}"/>
                </a:ext>
              </a:extLst>
            </p:cNvPr>
            <p:cNvGrpSpPr/>
            <p:nvPr/>
          </p:nvGrpSpPr>
          <p:grpSpPr>
            <a:xfrm>
              <a:off x="1244114" y="1001355"/>
              <a:ext cx="6161996" cy="4338267"/>
              <a:chOff x="621346" y="1223297"/>
              <a:chExt cx="6161996" cy="4338267"/>
            </a:xfrm>
          </p:grpSpPr>
          <p:grpSp>
            <p:nvGrpSpPr>
              <p:cNvPr id="211" name="群組 210">
                <a:extLst>
                  <a:ext uri="{FF2B5EF4-FFF2-40B4-BE49-F238E27FC236}">
                    <a16:creationId xmlns:a16="http://schemas.microsoft.com/office/drawing/2014/main" id="{9123B5F6-9E81-4280-1AFE-6FF288C4422B}"/>
                  </a:ext>
                </a:extLst>
              </p:cNvPr>
              <p:cNvGrpSpPr/>
              <p:nvPr/>
            </p:nvGrpSpPr>
            <p:grpSpPr>
              <a:xfrm>
                <a:off x="621346" y="1223297"/>
                <a:ext cx="6161996" cy="3648720"/>
                <a:chOff x="347472" y="956968"/>
                <a:chExt cx="6161996" cy="3648720"/>
              </a:xfrm>
            </p:grpSpPr>
            <p:sp>
              <p:nvSpPr>
                <p:cNvPr id="69" name="矩形: 圓角 68">
                  <a:extLst>
                    <a:ext uri="{FF2B5EF4-FFF2-40B4-BE49-F238E27FC236}">
                      <a16:creationId xmlns:a16="http://schemas.microsoft.com/office/drawing/2014/main" id="{508D12DD-5A5E-A8A3-F8F5-422D6BAF4C86}"/>
                    </a:ext>
                  </a:extLst>
                </p:cNvPr>
                <p:cNvSpPr/>
                <p:nvPr/>
              </p:nvSpPr>
              <p:spPr>
                <a:xfrm>
                  <a:off x="410353" y="3664655"/>
                  <a:ext cx="6099115" cy="941033"/>
                </a:xfrm>
                <a:prstGeom prst="roundRect">
                  <a:avLst/>
                </a:prstGeom>
                <a:solidFill>
                  <a:schemeClr val="accent2"/>
                </a:solidFill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endParaRPr>
                </a:p>
              </p:txBody>
            </p:sp>
            <p:grpSp>
              <p:nvGrpSpPr>
                <p:cNvPr id="162" name="群組 161">
                  <a:extLst>
                    <a:ext uri="{FF2B5EF4-FFF2-40B4-BE49-F238E27FC236}">
                      <a16:creationId xmlns:a16="http://schemas.microsoft.com/office/drawing/2014/main" id="{A4256F97-B0DF-7DE8-7602-F01198911C9A}"/>
                    </a:ext>
                  </a:extLst>
                </p:cNvPr>
                <p:cNvGrpSpPr/>
                <p:nvPr/>
              </p:nvGrpSpPr>
              <p:grpSpPr>
                <a:xfrm>
                  <a:off x="347472" y="956968"/>
                  <a:ext cx="6099117" cy="1942700"/>
                  <a:chOff x="712043" y="925926"/>
                  <a:chExt cx="6099117" cy="1942700"/>
                </a:xfrm>
              </p:grpSpPr>
              <p:grpSp>
                <p:nvGrpSpPr>
                  <p:cNvPr id="123" name="群組 122">
                    <a:extLst>
                      <a:ext uri="{FF2B5EF4-FFF2-40B4-BE49-F238E27FC236}">
                        <a16:creationId xmlns:a16="http://schemas.microsoft.com/office/drawing/2014/main" id="{F55C8E27-84BD-38A1-6485-590D058BEE7F}"/>
                      </a:ext>
                    </a:extLst>
                  </p:cNvPr>
                  <p:cNvGrpSpPr/>
                  <p:nvPr/>
                </p:nvGrpSpPr>
                <p:grpSpPr>
                  <a:xfrm>
                    <a:off x="2238870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24" name="群組 123">
                      <a:extLst>
                        <a:ext uri="{FF2B5EF4-FFF2-40B4-BE49-F238E27FC236}">
                          <a16:creationId xmlns:a16="http://schemas.microsoft.com/office/drawing/2014/main" id="{BD87DE83-AD80-EC17-524E-3E6252B830B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4" name="直線接點 133">
                        <a:extLst>
                          <a:ext uri="{FF2B5EF4-FFF2-40B4-BE49-F238E27FC236}">
                            <a16:creationId xmlns:a16="http://schemas.microsoft.com/office/drawing/2014/main" id="{6CDA87EB-CC8E-1A03-F1B0-79964F1E50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5" name="橢圓 134">
                        <a:extLst>
                          <a:ext uri="{FF2B5EF4-FFF2-40B4-BE49-F238E27FC236}">
                            <a16:creationId xmlns:a16="http://schemas.microsoft.com/office/drawing/2014/main" id="{33103602-F3AD-CA6A-3CE1-A52138BCB6B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  <a:latin typeface="標楷體" panose="03000509000000000000" pitchFamily="65" charset="-120"/>
                            <a:ea typeface="標楷體" panose="03000509000000000000" pitchFamily="65" charset="-120"/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endParaRPr>
                      </a:p>
                    </p:txBody>
                  </p:sp>
                </p:grpSp>
                <p:grpSp>
                  <p:nvGrpSpPr>
                    <p:cNvPr id="125" name="群組 124">
                      <a:extLst>
                        <a:ext uri="{FF2B5EF4-FFF2-40B4-BE49-F238E27FC236}">
                          <a16:creationId xmlns:a16="http://schemas.microsoft.com/office/drawing/2014/main" id="{6E0BA7F8-192E-E277-EEE4-268E5DE7C5E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2" name="直線接點 131">
                        <a:extLst>
                          <a:ext uri="{FF2B5EF4-FFF2-40B4-BE49-F238E27FC236}">
                            <a16:creationId xmlns:a16="http://schemas.microsoft.com/office/drawing/2014/main" id="{B2C04BC8-BF74-8D92-2D06-546AF1CAADD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3" name="橢圓 132">
                        <a:extLst>
                          <a:ext uri="{FF2B5EF4-FFF2-40B4-BE49-F238E27FC236}">
                            <a16:creationId xmlns:a16="http://schemas.microsoft.com/office/drawing/2014/main" id="{101C5920-AB7B-DFD6-7223-097F9FD36C5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  <a:latin typeface="標楷體" panose="03000509000000000000" pitchFamily="65" charset="-120"/>
                            <a:ea typeface="標楷體" panose="03000509000000000000" pitchFamily="65" charset="-120"/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endParaRPr>
                      </a:p>
                    </p:txBody>
                  </p:sp>
                </p:grpSp>
                <p:grpSp>
                  <p:nvGrpSpPr>
                    <p:cNvPr id="126" name="群組 125">
                      <a:extLst>
                        <a:ext uri="{FF2B5EF4-FFF2-40B4-BE49-F238E27FC236}">
                          <a16:creationId xmlns:a16="http://schemas.microsoft.com/office/drawing/2014/main" id="{A223D9B4-E897-9E7D-82D7-ACEE7E4CC9F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30" name="直線接點 129">
                        <a:extLst>
                          <a:ext uri="{FF2B5EF4-FFF2-40B4-BE49-F238E27FC236}">
                            <a16:creationId xmlns:a16="http://schemas.microsoft.com/office/drawing/2014/main" id="{84A33B36-8AD3-5138-C37D-CBA9B26E58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31" name="橢圓 130">
                        <a:extLst>
                          <a:ext uri="{FF2B5EF4-FFF2-40B4-BE49-F238E27FC236}">
                            <a16:creationId xmlns:a16="http://schemas.microsoft.com/office/drawing/2014/main" id="{F6E86E89-2319-12AD-8455-DE13756670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  <a:latin typeface="標楷體" panose="03000509000000000000" pitchFamily="65" charset="-120"/>
                            <a:ea typeface="標楷體" panose="03000509000000000000" pitchFamily="65" charset="-120"/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endParaRPr>
                      </a:p>
                    </p:txBody>
                  </p:sp>
                </p:grpSp>
                <p:grpSp>
                  <p:nvGrpSpPr>
                    <p:cNvPr id="127" name="群組 126">
                      <a:extLst>
                        <a:ext uri="{FF2B5EF4-FFF2-40B4-BE49-F238E27FC236}">
                          <a16:creationId xmlns:a16="http://schemas.microsoft.com/office/drawing/2014/main" id="{255B5515-0123-D8A3-CCC1-6427505BBCD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28" name="直線接點 127">
                        <a:extLst>
                          <a:ext uri="{FF2B5EF4-FFF2-40B4-BE49-F238E27FC236}">
                            <a16:creationId xmlns:a16="http://schemas.microsoft.com/office/drawing/2014/main" id="{0A3E48E6-8587-B63C-764D-AD6F6F0D60F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29" name="橢圓 128">
                        <a:extLst>
                          <a:ext uri="{FF2B5EF4-FFF2-40B4-BE49-F238E27FC236}">
                            <a16:creationId xmlns:a16="http://schemas.microsoft.com/office/drawing/2014/main" id="{E5FFF0B7-313F-7347-B102-3C88C835AC3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  <a:latin typeface="標楷體" panose="03000509000000000000" pitchFamily="65" charset="-120"/>
                            <a:ea typeface="標楷體" panose="03000509000000000000" pitchFamily="65" charset="-120"/>
                          </a:rPr>
                          <a:t>3</a:t>
                        </a:r>
                        <a:endPara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endParaRPr>
                      </a:p>
                    </p:txBody>
                  </p:sp>
                </p:grpSp>
              </p:grpSp>
              <p:grpSp>
                <p:nvGrpSpPr>
                  <p:cNvPr id="136" name="群組 135">
                    <a:extLst>
                      <a:ext uri="{FF2B5EF4-FFF2-40B4-BE49-F238E27FC236}">
                        <a16:creationId xmlns:a16="http://schemas.microsoft.com/office/drawing/2014/main" id="{07C4A287-BF52-215D-11CE-E05E7D87EB72}"/>
                      </a:ext>
                    </a:extLst>
                  </p:cNvPr>
                  <p:cNvGrpSpPr/>
                  <p:nvPr/>
                </p:nvGrpSpPr>
                <p:grpSpPr>
                  <a:xfrm>
                    <a:off x="3716884" y="933729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37" name="群組 136">
                      <a:extLst>
                        <a:ext uri="{FF2B5EF4-FFF2-40B4-BE49-F238E27FC236}">
                          <a16:creationId xmlns:a16="http://schemas.microsoft.com/office/drawing/2014/main" id="{BB4E6736-EE96-F21A-B55F-3C31F00E07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7" name="直線接點 146">
                        <a:extLst>
                          <a:ext uri="{FF2B5EF4-FFF2-40B4-BE49-F238E27FC236}">
                            <a16:creationId xmlns:a16="http://schemas.microsoft.com/office/drawing/2014/main" id="{EE7A651B-10A5-D513-16D7-342FDA549C2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8" name="橢圓 147">
                        <a:extLst>
                          <a:ext uri="{FF2B5EF4-FFF2-40B4-BE49-F238E27FC236}">
                            <a16:creationId xmlns:a16="http://schemas.microsoft.com/office/drawing/2014/main" id="{D0920339-8B99-DB0F-52B2-18E8CF60EB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  <a:latin typeface="標楷體" panose="03000509000000000000" pitchFamily="65" charset="-120"/>
                            <a:ea typeface="標楷體" panose="03000509000000000000" pitchFamily="65" charset="-120"/>
                          </a:rPr>
                          <a:t>7</a:t>
                        </a:r>
                        <a:endPara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endParaRPr>
                      </a:p>
                    </p:txBody>
                  </p:sp>
                </p:grpSp>
                <p:grpSp>
                  <p:nvGrpSpPr>
                    <p:cNvPr id="138" name="群組 137">
                      <a:extLst>
                        <a:ext uri="{FF2B5EF4-FFF2-40B4-BE49-F238E27FC236}">
                          <a16:creationId xmlns:a16="http://schemas.microsoft.com/office/drawing/2014/main" id="{C08B9242-C69A-8A88-4008-B999176C1FB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5" name="直線接點 144">
                        <a:extLst>
                          <a:ext uri="{FF2B5EF4-FFF2-40B4-BE49-F238E27FC236}">
                            <a16:creationId xmlns:a16="http://schemas.microsoft.com/office/drawing/2014/main" id="{45DED895-5F69-83D8-3632-D03ACEC6F21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6" name="橢圓 145">
                        <a:extLst>
                          <a:ext uri="{FF2B5EF4-FFF2-40B4-BE49-F238E27FC236}">
                            <a16:creationId xmlns:a16="http://schemas.microsoft.com/office/drawing/2014/main" id="{7D96C37D-F4CC-1872-82AE-636C43036B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  <a:latin typeface="標楷體" panose="03000509000000000000" pitchFamily="65" charset="-120"/>
                            <a:ea typeface="標楷體" panose="03000509000000000000" pitchFamily="65" charset="-120"/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endParaRPr>
                      </a:p>
                    </p:txBody>
                  </p:sp>
                </p:grpSp>
                <p:grpSp>
                  <p:nvGrpSpPr>
                    <p:cNvPr id="139" name="群組 138">
                      <a:extLst>
                        <a:ext uri="{FF2B5EF4-FFF2-40B4-BE49-F238E27FC236}">
                          <a16:creationId xmlns:a16="http://schemas.microsoft.com/office/drawing/2014/main" id="{4D87C621-4C58-71BE-E534-EA20C35690E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3" name="直線接點 142">
                        <a:extLst>
                          <a:ext uri="{FF2B5EF4-FFF2-40B4-BE49-F238E27FC236}">
                            <a16:creationId xmlns:a16="http://schemas.microsoft.com/office/drawing/2014/main" id="{FF3FF954-7CBF-E5BE-F9ED-433D2A9C3C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4" name="橢圓 143">
                        <a:extLst>
                          <a:ext uri="{FF2B5EF4-FFF2-40B4-BE49-F238E27FC236}">
                            <a16:creationId xmlns:a16="http://schemas.microsoft.com/office/drawing/2014/main" id="{85086A87-F95A-772C-1755-84788473ED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  <a:latin typeface="標楷體" panose="03000509000000000000" pitchFamily="65" charset="-120"/>
                            <a:ea typeface="標楷體" panose="03000509000000000000" pitchFamily="65" charset="-120"/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endParaRPr>
                      </a:p>
                    </p:txBody>
                  </p:sp>
                </p:grpSp>
                <p:grpSp>
                  <p:nvGrpSpPr>
                    <p:cNvPr id="140" name="群組 139">
                      <a:extLst>
                        <a:ext uri="{FF2B5EF4-FFF2-40B4-BE49-F238E27FC236}">
                          <a16:creationId xmlns:a16="http://schemas.microsoft.com/office/drawing/2014/main" id="{F91D267B-2F4E-B2D4-49F4-6ECBFEC0DBB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41" name="直線接點 140">
                        <a:extLst>
                          <a:ext uri="{FF2B5EF4-FFF2-40B4-BE49-F238E27FC236}">
                            <a16:creationId xmlns:a16="http://schemas.microsoft.com/office/drawing/2014/main" id="{461D8BC0-1B73-0448-450A-88583EBE81E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42" name="橢圓 141">
                        <a:extLst>
                          <a:ext uri="{FF2B5EF4-FFF2-40B4-BE49-F238E27FC236}">
                            <a16:creationId xmlns:a16="http://schemas.microsoft.com/office/drawing/2014/main" id="{391F0763-0928-B491-D352-CDC26C138D2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  <a:latin typeface="標楷體" panose="03000509000000000000" pitchFamily="65" charset="-120"/>
                            <a:ea typeface="標楷體" panose="03000509000000000000" pitchFamily="65" charset="-120"/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endParaRPr>
                      </a:p>
                    </p:txBody>
                  </p:sp>
                </p:grpSp>
              </p:grpSp>
              <p:grpSp>
                <p:nvGrpSpPr>
                  <p:cNvPr id="122" name="群組 121">
                    <a:extLst>
                      <a:ext uri="{FF2B5EF4-FFF2-40B4-BE49-F238E27FC236}">
                        <a16:creationId xmlns:a16="http://schemas.microsoft.com/office/drawing/2014/main" id="{7EFBDC6C-5346-34AF-10A8-8378612F616E}"/>
                      </a:ext>
                    </a:extLst>
                  </p:cNvPr>
                  <p:cNvGrpSpPr/>
                  <p:nvPr/>
                </p:nvGrpSpPr>
                <p:grpSpPr>
                  <a:xfrm>
                    <a:off x="783802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99" name="群組 98">
                      <a:extLst>
                        <a:ext uri="{FF2B5EF4-FFF2-40B4-BE49-F238E27FC236}">
                          <a16:creationId xmlns:a16="http://schemas.microsoft.com/office/drawing/2014/main" id="{302BF107-CB0D-1AE9-C312-D059D25B36E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3" name="直線接點 102">
                        <a:extLst>
                          <a:ext uri="{FF2B5EF4-FFF2-40B4-BE49-F238E27FC236}">
                            <a16:creationId xmlns:a16="http://schemas.microsoft.com/office/drawing/2014/main" id="{466722F8-1B5E-9D3F-78E1-DCB2D8397C5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4" name="橢圓 103">
                        <a:extLst>
                          <a:ext uri="{FF2B5EF4-FFF2-40B4-BE49-F238E27FC236}">
                            <a16:creationId xmlns:a16="http://schemas.microsoft.com/office/drawing/2014/main" id="{902EBA94-0178-EC73-1255-5467BCF5C7A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  <a:latin typeface="標楷體" panose="03000509000000000000" pitchFamily="65" charset="-120"/>
                            <a:ea typeface="標楷體" panose="03000509000000000000" pitchFamily="65" charset="-120"/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endParaRPr>
                      </a:p>
                    </p:txBody>
                  </p:sp>
                </p:grpSp>
                <p:grpSp>
                  <p:nvGrpSpPr>
                    <p:cNvPr id="100" name="群組 99">
                      <a:extLst>
                        <a:ext uri="{FF2B5EF4-FFF2-40B4-BE49-F238E27FC236}">
                          <a16:creationId xmlns:a16="http://schemas.microsoft.com/office/drawing/2014/main" id="{BF50610C-307C-7D7B-4609-65ACA075913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1" name="直線接點 100">
                        <a:extLst>
                          <a:ext uri="{FF2B5EF4-FFF2-40B4-BE49-F238E27FC236}">
                            <a16:creationId xmlns:a16="http://schemas.microsoft.com/office/drawing/2014/main" id="{66657AD4-3C95-8538-744C-E90BB072BDF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2" name="橢圓 101">
                        <a:extLst>
                          <a:ext uri="{FF2B5EF4-FFF2-40B4-BE49-F238E27FC236}">
                            <a16:creationId xmlns:a16="http://schemas.microsoft.com/office/drawing/2014/main" id="{D57BACA5-7304-B369-99FC-1AFEEBEB59A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  <a:latin typeface="標楷體" panose="03000509000000000000" pitchFamily="65" charset="-120"/>
                            <a:ea typeface="標楷體" panose="03000509000000000000" pitchFamily="65" charset="-120"/>
                          </a:rPr>
                          <a:t>4</a:t>
                        </a:r>
                        <a:endPara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endParaRPr>
                      </a:p>
                    </p:txBody>
                  </p:sp>
                </p:grpSp>
                <p:grpSp>
                  <p:nvGrpSpPr>
                    <p:cNvPr id="98" name="群組 97">
                      <a:extLst>
                        <a:ext uri="{FF2B5EF4-FFF2-40B4-BE49-F238E27FC236}">
                          <a16:creationId xmlns:a16="http://schemas.microsoft.com/office/drawing/2014/main" id="{22695A71-542F-821E-7F71-8057CE9AF3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5" name="直線接點 104">
                        <a:extLst>
                          <a:ext uri="{FF2B5EF4-FFF2-40B4-BE49-F238E27FC236}">
                            <a16:creationId xmlns:a16="http://schemas.microsoft.com/office/drawing/2014/main" id="{65A501D5-54EF-7610-C403-0B4D704BCA7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6" name="橢圓 105">
                        <a:extLst>
                          <a:ext uri="{FF2B5EF4-FFF2-40B4-BE49-F238E27FC236}">
                            <a16:creationId xmlns:a16="http://schemas.microsoft.com/office/drawing/2014/main" id="{20E4B4EB-8405-39F3-DFBB-91895BC4A1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  <a:latin typeface="標楷體" panose="03000509000000000000" pitchFamily="65" charset="-120"/>
                            <a:ea typeface="標楷體" panose="03000509000000000000" pitchFamily="65" charset="-120"/>
                          </a:rPr>
                          <a:t>3</a:t>
                        </a:r>
                        <a:endPara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endParaRPr>
                      </a:p>
                    </p:txBody>
                  </p:sp>
                </p:grpSp>
                <p:grpSp>
                  <p:nvGrpSpPr>
                    <p:cNvPr id="97" name="群組 96">
                      <a:extLst>
                        <a:ext uri="{FF2B5EF4-FFF2-40B4-BE49-F238E27FC236}">
                          <a16:creationId xmlns:a16="http://schemas.microsoft.com/office/drawing/2014/main" id="{122C298E-4821-61D8-607F-77568AB840A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07" name="直線接點 106">
                        <a:extLst>
                          <a:ext uri="{FF2B5EF4-FFF2-40B4-BE49-F238E27FC236}">
                            <a16:creationId xmlns:a16="http://schemas.microsoft.com/office/drawing/2014/main" id="{36A3DE4D-7434-7BB2-E067-13469EC51B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8" name="橢圓 107">
                        <a:extLst>
                          <a:ext uri="{FF2B5EF4-FFF2-40B4-BE49-F238E27FC236}">
                            <a16:creationId xmlns:a16="http://schemas.microsoft.com/office/drawing/2014/main" id="{D2799BDC-7AD9-861C-F971-4ADBC6F657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  <a:latin typeface="標楷體" panose="03000509000000000000" pitchFamily="65" charset="-120"/>
                            <a:ea typeface="標楷體" panose="03000509000000000000" pitchFamily="65" charset="-120"/>
                          </a:rPr>
                          <a:t>2</a:t>
                        </a:r>
                        <a:endPara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endParaRPr>
                      </a:p>
                    </p:txBody>
                  </p:sp>
                </p:grpSp>
              </p:grpSp>
              <p:grpSp>
                <p:nvGrpSpPr>
                  <p:cNvPr id="74" name="群組 73">
                    <a:extLst>
                      <a:ext uri="{FF2B5EF4-FFF2-40B4-BE49-F238E27FC236}">
                        <a16:creationId xmlns:a16="http://schemas.microsoft.com/office/drawing/2014/main" id="{39F464F3-7BB8-D188-C91B-D18F7453A10C}"/>
                      </a:ext>
                    </a:extLst>
                  </p:cNvPr>
                  <p:cNvGrpSpPr/>
                  <p:nvPr/>
                </p:nvGrpSpPr>
                <p:grpSpPr>
                  <a:xfrm>
                    <a:off x="712043" y="1831111"/>
                    <a:ext cx="6099117" cy="1037515"/>
                    <a:chOff x="1897599" y="1994704"/>
                    <a:chExt cx="5494904" cy="1037515"/>
                  </a:xfrm>
                </p:grpSpPr>
                <p:sp>
                  <p:nvSpPr>
                    <p:cNvPr id="72" name="矩形: 圓角 71">
                      <a:extLst>
                        <a:ext uri="{FF2B5EF4-FFF2-40B4-BE49-F238E27FC236}">
                          <a16:creationId xmlns:a16="http://schemas.microsoft.com/office/drawing/2014/main" id="{E6A49323-101D-CF52-4200-A88C7712862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84992" y="2428538"/>
                      <a:ext cx="4607511" cy="603681"/>
                    </a:xfrm>
                    <a:prstGeom prst="roundRect">
                      <a:avLst/>
                    </a:prstGeom>
                    <a:solidFill>
                      <a:srgbClr val="0070C0"/>
                    </a:solidFill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4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p:txBody>
                </p:sp>
                <p:sp>
                  <p:nvSpPr>
                    <p:cNvPr id="73" name="矩形: 圓角 72">
                      <a:extLst>
                        <a:ext uri="{FF2B5EF4-FFF2-40B4-BE49-F238E27FC236}">
                          <a16:creationId xmlns:a16="http://schemas.microsoft.com/office/drawing/2014/main" id="{98A9219D-F807-623A-491D-73EFE0E324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69271" y="2290821"/>
                      <a:ext cx="4607511" cy="603681"/>
                    </a:xfrm>
                    <a:prstGeom prst="roundRect">
                      <a:avLst/>
                    </a:prstGeom>
                    <a:solidFill>
                      <a:srgbClr val="0070C0"/>
                    </a:solidFill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p:txBody>
                </p:sp>
                <p:sp>
                  <p:nvSpPr>
                    <p:cNvPr id="71" name="矩形: 圓角 70">
                      <a:extLst>
                        <a:ext uri="{FF2B5EF4-FFF2-40B4-BE49-F238E27FC236}">
                          <a16:creationId xmlns:a16="http://schemas.microsoft.com/office/drawing/2014/main" id="{9760FEDF-6E46-BA00-7565-551C6D56B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83435" y="2158828"/>
                      <a:ext cx="4607511" cy="603681"/>
                    </a:xfrm>
                    <a:prstGeom prst="roundRect">
                      <a:avLst/>
                    </a:prstGeom>
                    <a:solidFill>
                      <a:srgbClr val="0070C0"/>
                    </a:solidFill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</a:t>
                      </a:r>
                    </a:p>
                  </p:txBody>
                </p:sp>
                <p:sp>
                  <p:nvSpPr>
                    <p:cNvPr id="70" name="矩形: 圓角 69">
                      <a:extLst>
                        <a:ext uri="{FF2B5EF4-FFF2-40B4-BE49-F238E27FC236}">
                          <a16:creationId xmlns:a16="http://schemas.microsoft.com/office/drawing/2014/main" id="{603D58DD-B1F1-3186-DC57-F766CA46ED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97599" y="1994704"/>
                      <a:ext cx="4607511" cy="603681"/>
                    </a:xfrm>
                    <a:prstGeom prst="roundRect">
                      <a:avLst/>
                    </a:prstGeom>
                    <a:solidFill>
                      <a:srgbClr val="0070C0"/>
                    </a:solidFill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r"/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Head 1</a:t>
                      </a:r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p:txBody>
                </p:sp>
              </p:grpSp>
              <p:grpSp>
                <p:nvGrpSpPr>
                  <p:cNvPr id="149" name="群組 148">
                    <a:extLst>
                      <a:ext uri="{FF2B5EF4-FFF2-40B4-BE49-F238E27FC236}">
                        <a16:creationId xmlns:a16="http://schemas.microsoft.com/office/drawing/2014/main" id="{F2D7F6F8-865E-DCF4-4F28-64EEC0A88708}"/>
                      </a:ext>
                    </a:extLst>
                  </p:cNvPr>
                  <p:cNvGrpSpPr/>
                  <p:nvPr/>
                </p:nvGrpSpPr>
                <p:grpSpPr>
                  <a:xfrm>
                    <a:off x="5376254" y="925926"/>
                    <a:ext cx="1425794" cy="1337094"/>
                    <a:chOff x="783802" y="925926"/>
                    <a:chExt cx="1425794" cy="1337094"/>
                  </a:xfrm>
                </p:grpSpPr>
                <p:grpSp>
                  <p:nvGrpSpPr>
                    <p:cNvPr id="150" name="群組 149">
                      <a:extLst>
                        <a:ext uri="{FF2B5EF4-FFF2-40B4-BE49-F238E27FC236}">
                          <a16:creationId xmlns:a16="http://schemas.microsoft.com/office/drawing/2014/main" id="{BE904228-A454-D35C-95F7-91793509BDF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849596" y="1359080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60" name="直線接點 159">
                        <a:extLst>
                          <a:ext uri="{FF2B5EF4-FFF2-40B4-BE49-F238E27FC236}">
                            <a16:creationId xmlns:a16="http://schemas.microsoft.com/office/drawing/2014/main" id="{22224128-BE10-0E23-CFA5-3E3438A5A99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61" name="橢圓 160">
                        <a:extLst>
                          <a:ext uri="{FF2B5EF4-FFF2-40B4-BE49-F238E27FC236}">
                            <a16:creationId xmlns:a16="http://schemas.microsoft.com/office/drawing/2014/main" id="{50C2AE3A-1335-DE73-E61B-17BB7F9792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  <a:latin typeface="標楷體" panose="03000509000000000000" pitchFamily="65" charset="-120"/>
                            <a:ea typeface="標楷體" panose="03000509000000000000" pitchFamily="65" charset="-120"/>
                          </a:rPr>
                          <a:t>8</a:t>
                        </a:r>
                        <a:endPara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endParaRPr>
                      </a:p>
                    </p:txBody>
                  </p:sp>
                </p:grpSp>
                <p:grpSp>
                  <p:nvGrpSpPr>
                    <p:cNvPr id="151" name="群組 150">
                      <a:extLst>
                        <a:ext uri="{FF2B5EF4-FFF2-40B4-BE49-F238E27FC236}">
                          <a16:creationId xmlns:a16="http://schemas.microsoft.com/office/drawing/2014/main" id="{DAF0A728-3DD2-E2EF-557A-CA1829AE4AD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86739" y="1232154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8" name="直線接點 157">
                        <a:extLst>
                          <a:ext uri="{FF2B5EF4-FFF2-40B4-BE49-F238E27FC236}">
                            <a16:creationId xmlns:a16="http://schemas.microsoft.com/office/drawing/2014/main" id="{4031D07D-18B9-7687-C999-BE38223087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9" name="橢圓 158">
                        <a:extLst>
                          <a:ext uri="{FF2B5EF4-FFF2-40B4-BE49-F238E27FC236}">
                            <a16:creationId xmlns:a16="http://schemas.microsoft.com/office/drawing/2014/main" id="{309FCE1C-D8F5-2624-E2C6-AE825F0CC3F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  <a:latin typeface="標楷體" panose="03000509000000000000" pitchFamily="65" charset="-120"/>
                            <a:ea typeface="標楷體" panose="03000509000000000000" pitchFamily="65" charset="-120"/>
                          </a:rPr>
                          <a:t>7</a:t>
                        </a:r>
                        <a:endPara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endParaRPr>
                      </a:p>
                    </p:txBody>
                  </p:sp>
                </p:grpSp>
                <p:grpSp>
                  <p:nvGrpSpPr>
                    <p:cNvPr id="152" name="群組 151">
                      <a:extLst>
                        <a:ext uri="{FF2B5EF4-FFF2-40B4-BE49-F238E27FC236}">
                          <a16:creationId xmlns:a16="http://schemas.microsoft.com/office/drawing/2014/main" id="{D31E1631-8C7A-25D5-71EB-505E52452DF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125129" y="1101397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6" name="直線接點 155">
                        <a:extLst>
                          <a:ext uri="{FF2B5EF4-FFF2-40B4-BE49-F238E27FC236}">
                            <a16:creationId xmlns:a16="http://schemas.microsoft.com/office/drawing/2014/main" id="{398EB0FE-54AA-6853-5B51-6FB52FF0E6E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7" name="橢圓 156">
                        <a:extLst>
                          <a:ext uri="{FF2B5EF4-FFF2-40B4-BE49-F238E27FC236}">
                            <a16:creationId xmlns:a16="http://schemas.microsoft.com/office/drawing/2014/main" id="{CC512B09-A885-85B2-389B-DA0EBA9098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  <a:latin typeface="標楷體" panose="03000509000000000000" pitchFamily="65" charset="-120"/>
                            <a:ea typeface="標楷體" panose="03000509000000000000" pitchFamily="65" charset="-120"/>
                          </a:rPr>
                          <a:t>6</a:t>
                        </a:r>
                        <a:endPara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endParaRPr>
                      </a:p>
                    </p:txBody>
                  </p:sp>
                </p:grpSp>
                <p:grpSp>
                  <p:nvGrpSpPr>
                    <p:cNvPr id="153" name="群組 152">
                      <a:extLst>
                        <a:ext uri="{FF2B5EF4-FFF2-40B4-BE49-F238E27FC236}">
                          <a16:creationId xmlns:a16="http://schemas.microsoft.com/office/drawing/2014/main" id="{8D3F4E6E-D646-0EDD-5B93-87228D68303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783802" y="925926"/>
                      <a:ext cx="360000" cy="903940"/>
                      <a:chOff x="4750107" y="1127508"/>
                      <a:chExt cx="360000" cy="903940"/>
                    </a:xfrm>
                  </p:grpSpPr>
                  <p:cxnSp>
                    <p:nvCxnSpPr>
                      <p:cNvPr id="154" name="直線接點 153">
                        <a:extLst>
                          <a:ext uri="{FF2B5EF4-FFF2-40B4-BE49-F238E27FC236}">
                            <a16:creationId xmlns:a16="http://schemas.microsoft.com/office/drawing/2014/main" id="{66FA895D-0CDE-5094-9A1C-B64301FD9F7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4939565" y="1491448"/>
                        <a:ext cx="0" cy="54000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55" name="橢圓 154">
                        <a:extLst>
                          <a:ext uri="{FF2B5EF4-FFF2-40B4-BE49-F238E27FC236}">
                            <a16:creationId xmlns:a16="http://schemas.microsoft.com/office/drawing/2014/main" id="{4A5A02D9-FFE8-8369-DABE-BB7067F0FD1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750107" y="1127508"/>
                        <a:ext cx="360000" cy="360000"/>
                      </a:xfrm>
                      <a:prstGeom prst="ellipse">
                        <a:avLst/>
                      </a:prstGeom>
                      <a:noFill/>
                      <a:ln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altLang="zh-TW" dirty="0">
                            <a:solidFill>
                              <a:schemeClr val="tx1"/>
                            </a:solidFill>
                            <a:latin typeface="標楷體" panose="03000509000000000000" pitchFamily="65" charset="-120"/>
                            <a:ea typeface="標楷體" panose="03000509000000000000" pitchFamily="65" charset="-120"/>
                          </a:rPr>
                          <a:t>5</a:t>
                        </a:r>
                        <a:endPara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189" name="群組 188">
                  <a:extLst>
                    <a:ext uri="{FF2B5EF4-FFF2-40B4-BE49-F238E27FC236}">
                      <a16:creationId xmlns:a16="http://schemas.microsoft.com/office/drawing/2014/main" id="{938B6926-FC97-FB82-25A4-CB9B764440E4}"/>
                    </a:ext>
                  </a:extLst>
                </p:cNvPr>
                <p:cNvGrpSpPr/>
                <p:nvPr/>
              </p:nvGrpSpPr>
              <p:grpSpPr>
                <a:xfrm>
                  <a:off x="775053" y="2472563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86" name="群組 185">
                    <a:extLst>
                      <a:ext uri="{FF2B5EF4-FFF2-40B4-BE49-F238E27FC236}">
                        <a16:creationId xmlns:a16="http://schemas.microsoft.com/office/drawing/2014/main" id="{8AF1BBAB-47FC-148C-98EF-F8647FD89768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179" name="直線接點 178">
                      <a:extLst>
                        <a:ext uri="{FF2B5EF4-FFF2-40B4-BE49-F238E27FC236}">
                          <a16:creationId xmlns:a16="http://schemas.microsoft.com/office/drawing/2014/main" id="{BCC1BA2D-F7FD-CA43-17B2-06F0DD9B0E0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6" name="直線接點 175">
                      <a:extLst>
                        <a:ext uri="{FF2B5EF4-FFF2-40B4-BE49-F238E27FC236}">
                          <a16:creationId xmlns:a16="http://schemas.microsoft.com/office/drawing/2014/main" id="{EEF08F4F-C876-E979-AD39-01153196F8C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7" name="直線接點 176">
                      <a:extLst>
                        <a:ext uri="{FF2B5EF4-FFF2-40B4-BE49-F238E27FC236}">
                          <a16:creationId xmlns:a16="http://schemas.microsoft.com/office/drawing/2014/main" id="{5184DCA8-0036-1EE6-9FD6-AF7D0CA0D3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8" name="直線接點 177">
                      <a:extLst>
                        <a:ext uri="{FF2B5EF4-FFF2-40B4-BE49-F238E27FC236}">
                          <a16:creationId xmlns:a16="http://schemas.microsoft.com/office/drawing/2014/main" id="{D8738012-4B3A-1366-50A7-28C17A75BD6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87" name="直線接點 186">
                    <a:extLst>
                      <a:ext uri="{FF2B5EF4-FFF2-40B4-BE49-F238E27FC236}">
                        <a16:creationId xmlns:a16="http://schemas.microsoft.com/office/drawing/2014/main" id="{0D1E40BB-61E0-433C-6F05-3EAA82C388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0" name="群組 189">
                  <a:extLst>
                    <a:ext uri="{FF2B5EF4-FFF2-40B4-BE49-F238E27FC236}">
                      <a16:creationId xmlns:a16="http://schemas.microsoft.com/office/drawing/2014/main" id="{C2B00D14-2EE6-8EA0-EBE1-1959AF90ABD4}"/>
                    </a:ext>
                  </a:extLst>
                </p:cNvPr>
                <p:cNvGrpSpPr/>
                <p:nvPr/>
              </p:nvGrpSpPr>
              <p:grpSpPr>
                <a:xfrm>
                  <a:off x="2054299" y="2460110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91" name="群組 190">
                    <a:extLst>
                      <a:ext uri="{FF2B5EF4-FFF2-40B4-BE49-F238E27FC236}">
                        <a16:creationId xmlns:a16="http://schemas.microsoft.com/office/drawing/2014/main" id="{5E260B19-BCD6-ED27-3935-EE5DDCFBBB19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193" name="直線接點 192">
                      <a:extLst>
                        <a:ext uri="{FF2B5EF4-FFF2-40B4-BE49-F238E27FC236}">
                          <a16:creationId xmlns:a16="http://schemas.microsoft.com/office/drawing/2014/main" id="{A7CC6EAA-EF82-9BA6-B79C-3A1959A07C4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4" name="直線接點 193">
                      <a:extLst>
                        <a:ext uri="{FF2B5EF4-FFF2-40B4-BE49-F238E27FC236}">
                          <a16:creationId xmlns:a16="http://schemas.microsoft.com/office/drawing/2014/main" id="{6640FAD1-73F9-EE5D-8EEB-BA24176A5BD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5" name="直線接點 194">
                      <a:extLst>
                        <a:ext uri="{FF2B5EF4-FFF2-40B4-BE49-F238E27FC236}">
                          <a16:creationId xmlns:a16="http://schemas.microsoft.com/office/drawing/2014/main" id="{BFB681C8-9251-0199-45B4-83CB04C43D2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96" name="直線接點 195">
                      <a:extLst>
                        <a:ext uri="{FF2B5EF4-FFF2-40B4-BE49-F238E27FC236}">
                          <a16:creationId xmlns:a16="http://schemas.microsoft.com/office/drawing/2014/main" id="{31F78B31-121C-5554-F540-E1B3ED637AD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92" name="直線接點 191">
                    <a:extLst>
                      <a:ext uri="{FF2B5EF4-FFF2-40B4-BE49-F238E27FC236}">
                        <a16:creationId xmlns:a16="http://schemas.microsoft.com/office/drawing/2014/main" id="{D89E8FC3-0E14-8B29-43EF-695522C205F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97" name="群組 196">
                  <a:extLst>
                    <a:ext uri="{FF2B5EF4-FFF2-40B4-BE49-F238E27FC236}">
                      <a16:creationId xmlns:a16="http://schemas.microsoft.com/office/drawing/2014/main" id="{F182CF94-D991-26C4-C408-3111BE742579}"/>
                    </a:ext>
                  </a:extLst>
                </p:cNvPr>
                <p:cNvGrpSpPr/>
                <p:nvPr/>
              </p:nvGrpSpPr>
              <p:grpSpPr>
                <a:xfrm>
                  <a:off x="3535957" y="2467079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198" name="群組 197">
                    <a:extLst>
                      <a:ext uri="{FF2B5EF4-FFF2-40B4-BE49-F238E27FC236}">
                        <a16:creationId xmlns:a16="http://schemas.microsoft.com/office/drawing/2014/main" id="{BC53B6D2-E975-0B65-B4AC-41670172D2CF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200" name="直線接點 199">
                      <a:extLst>
                        <a:ext uri="{FF2B5EF4-FFF2-40B4-BE49-F238E27FC236}">
                          <a16:creationId xmlns:a16="http://schemas.microsoft.com/office/drawing/2014/main" id="{D0ADA5F3-2E2E-FFD8-7FD2-68DFD8E6150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1" name="直線接點 200">
                      <a:extLst>
                        <a:ext uri="{FF2B5EF4-FFF2-40B4-BE49-F238E27FC236}">
                          <a16:creationId xmlns:a16="http://schemas.microsoft.com/office/drawing/2014/main" id="{AEFCAD0A-9D74-A515-44FB-FB0BD292236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2" name="直線接點 201">
                      <a:extLst>
                        <a:ext uri="{FF2B5EF4-FFF2-40B4-BE49-F238E27FC236}">
                          <a16:creationId xmlns:a16="http://schemas.microsoft.com/office/drawing/2014/main" id="{1ABAFB35-4146-26DF-17AD-6F57B905B3B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3" name="直線接點 202">
                      <a:extLst>
                        <a:ext uri="{FF2B5EF4-FFF2-40B4-BE49-F238E27FC236}">
                          <a16:creationId xmlns:a16="http://schemas.microsoft.com/office/drawing/2014/main" id="{31AE0891-5340-C2AF-8F67-ADFF5E4C693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99" name="直線接點 198">
                    <a:extLst>
                      <a:ext uri="{FF2B5EF4-FFF2-40B4-BE49-F238E27FC236}">
                        <a16:creationId xmlns:a16="http://schemas.microsoft.com/office/drawing/2014/main" id="{28034BCB-4E26-22C7-7B92-9EFFAEBB83D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04" name="群組 203">
                  <a:extLst>
                    <a:ext uri="{FF2B5EF4-FFF2-40B4-BE49-F238E27FC236}">
                      <a16:creationId xmlns:a16="http://schemas.microsoft.com/office/drawing/2014/main" id="{CA777EBC-8139-5EC2-FC3B-A9A2624AF58C}"/>
                    </a:ext>
                  </a:extLst>
                </p:cNvPr>
                <p:cNvGrpSpPr/>
                <p:nvPr/>
              </p:nvGrpSpPr>
              <p:grpSpPr>
                <a:xfrm>
                  <a:off x="5194377" y="2460110"/>
                  <a:ext cx="707115" cy="1202792"/>
                  <a:chOff x="775053" y="2472563"/>
                  <a:chExt cx="707115" cy="1202792"/>
                </a:xfrm>
              </p:grpSpPr>
              <p:grpSp>
                <p:nvGrpSpPr>
                  <p:cNvPr id="205" name="群組 204">
                    <a:extLst>
                      <a:ext uri="{FF2B5EF4-FFF2-40B4-BE49-F238E27FC236}">
                        <a16:creationId xmlns:a16="http://schemas.microsoft.com/office/drawing/2014/main" id="{7E7F5D3F-8BFE-5E71-F092-95683FB31127}"/>
                      </a:ext>
                    </a:extLst>
                  </p:cNvPr>
                  <p:cNvGrpSpPr/>
                  <p:nvPr/>
                </p:nvGrpSpPr>
                <p:grpSpPr>
                  <a:xfrm>
                    <a:off x="775053" y="2472563"/>
                    <a:ext cx="707115" cy="857632"/>
                    <a:chOff x="775053" y="2472563"/>
                    <a:chExt cx="707115" cy="857632"/>
                  </a:xfrm>
                </p:grpSpPr>
                <p:cxnSp>
                  <p:nvCxnSpPr>
                    <p:cNvPr id="207" name="直線接點 206">
                      <a:extLst>
                        <a:ext uri="{FF2B5EF4-FFF2-40B4-BE49-F238E27FC236}">
                          <a16:creationId xmlns:a16="http://schemas.microsoft.com/office/drawing/2014/main" id="{1FBF7DCF-EA44-E945-7B0F-6CEA2D736F9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1193426" y="2888408"/>
                      <a:ext cx="288742" cy="441787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8" name="直線接點 207">
                      <a:extLst>
                        <a:ext uri="{FF2B5EF4-FFF2-40B4-BE49-F238E27FC236}">
                          <a16:creationId xmlns:a16="http://schemas.microsoft.com/office/drawing/2014/main" id="{F5519612-BD62-973E-844E-28D26CA688A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775053" y="2472563"/>
                      <a:ext cx="418373" cy="857632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09" name="直線接點 208">
                      <a:extLst>
                        <a:ext uri="{FF2B5EF4-FFF2-40B4-BE49-F238E27FC236}">
                          <a16:creationId xmlns:a16="http://schemas.microsoft.com/office/drawing/2014/main" id="{DD154046-BC3B-5D59-E7D9-D2C33CA93D0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937298" y="2629076"/>
                      <a:ext cx="256128" cy="701119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0" name="直線接點 209">
                      <a:extLst>
                        <a:ext uri="{FF2B5EF4-FFF2-40B4-BE49-F238E27FC236}">
                          <a16:creationId xmlns:a16="http://schemas.microsoft.com/office/drawing/2014/main" id="{EA6F9447-8F29-72E6-1374-D27245F2909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1120558" y="2761359"/>
                      <a:ext cx="72868" cy="568836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06" name="直線接點 205">
                    <a:extLst>
                      <a:ext uri="{FF2B5EF4-FFF2-40B4-BE49-F238E27FC236}">
                        <a16:creationId xmlns:a16="http://schemas.microsoft.com/office/drawing/2014/main" id="{E563166B-2BB7-8E9A-A6D0-67115051C8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193426" y="3330195"/>
                    <a:ext cx="0" cy="345160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grpSp>
            <p:nvGrpSpPr>
              <p:cNvPr id="221" name="群組 220">
                <a:extLst>
                  <a:ext uri="{FF2B5EF4-FFF2-40B4-BE49-F238E27FC236}">
                    <a16:creationId xmlns:a16="http://schemas.microsoft.com/office/drawing/2014/main" id="{1AB4927E-B8BA-86E9-1A7C-8ED9F0D45B55}"/>
                  </a:ext>
                </a:extLst>
              </p:cNvPr>
              <p:cNvGrpSpPr/>
              <p:nvPr/>
            </p:nvGrpSpPr>
            <p:grpSpPr>
              <a:xfrm>
                <a:off x="1255878" y="4872017"/>
                <a:ext cx="4839969" cy="689547"/>
                <a:chOff x="1255878" y="4872017"/>
                <a:chExt cx="4839969" cy="689547"/>
              </a:xfrm>
            </p:grpSpPr>
            <p:sp>
              <p:nvSpPr>
                <p:cNvPr id="212" name="橢圓 211">
                  <a:extLst>
                    <a:ext uri="{FF2B5EF4-FFF2-40B4-BE49-F238E27FC236}">
                      <a16:creationId xmlns:a16="http://schemas.microsoft.com/office/drawing/2014/main" id="{11431317-B349-36BE-4903-99EFB1C85867}"/>
                    </a:ext>
                  </a:extLst>
                </p:cNvPr>
                <p:cNvSpPr/>
                <p:nvPr/>
              </p:nvSpPr>
              <p:spPr>
                <a:xfrm>
                  <a:off x="1255878" y="5199363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rPr>
                    <a:t>1</a:t>
                  </a:r>
                  <a:endParaRPr lang="zh-TW" altLang="en-US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endParaRPr>
                </a:p>
              </p:txBody>
            </p:sp>
            <p:sp>
              <p:nvSpPr>
                <p:cNvPr id="213" name="橢圓 212">
                  <a:extLst>
                    <a:ext uri="{FF2B5EF4-FFF2-40B4-BE49-F238E27FC236}">
                      <a16:creationId xmlns:a16="http://schemas.microsoft.com/office/drawing/2014/main" id="{3049E11F-3207-EDE5-EAFE-D95C3AF1D429}"/>
                    </a:ext>
                  </a:extLst>
                </p:cNvPr>
                <p:cNvSpPr/>
                <p:nvPr/>
              </p:nvSpPr>
              <p:spPr>
                <a:xfrm>
                  <a:off x="2525607" y="5199363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rPr>
                    <a:t>2</a:t>
                  </a:r>
                  <a:endParaRPr lang="zh-TW" altLang="en-US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endParaRPr>
                </a:p>
              </p:txBody>
            </p:sp>
            <p:sp>
              <p:nvSpPr>
                <p:cNvPr id="214" name="橢圓 213">
                  <a:extLst>
                    <a:ext uri="{FF2B5EF4-FFF2-40B4-BE49-F238E27FC236}">
                      <a16:creationId xmlns:a16="http://schemas.microsoft.com/office/drawing/2014/main" id="{01B20321-1A1B-0AAE-1CB3-072935AAE254}"/>
                    </a:ext>
                  </a:extLst>
                </p:cNvPr>
                <p:cNvSpPr/>
                <p:nvPr/>
              </p:nvSpPr>
              <p:spPr>
                <a:xfrm>
                  <a:off x="5735847" y="5201564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rPr>
                    <a:t>4</a:t>
                  </a:r>
                  <a:endParaRPr lang="zh-TW" altLang="en-US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endParaRPr>
                </a:p>
              </p:txBody>
            </p:sp>
            <p:sp>
              <p:nvSpPr>
                <p:cNvPr id="215" name="橢圓 214">
                  <a:extLst>
                    <a:ext uri="{FF2B5EF4-FFF2-40B4-BE49-F238E27FC236}">
                      <a16:creationId xmlns:a16="http://schemas.microsoft.com/office/drawing/2014/main" id="{C184DB9B-43F6-EAEF-9C18-A8349673F21C}"/>
                    </a:ext>
                  </a:extLst>
                </p:cNvPr>
                <p:cNvSpPr/>
                <p:nvPr/>
              </p:nvSpPr>
              <p:spPr>
                <a:xfrm>
                  <a:off x="4155336" y="5201564"/>
                  <a:ext cx="360000" cy="36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rPr>
                    <a:t>3</a:t>
                  </a:r>
                  <a:endParaRPr lang="zh-TW" altLang="en-US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endParaRPr>
                </a:p>
              </p:txBody>
            </p:sp>
            <p:cxnSp>
              <p:nvCxnSpPr>
                <p:cNvPr id="216" name="直線接點 215">
                  <a:extLst>
                    <a:ext uri="{FF2B5EF4-FFF2-40B4-BE49-F238E27FC236}">
                      <a16:creationId xmlns:a16="http://schemas.microsoft.com/office/drawing/2014/main" id="{E542C5D8-956D-31AA-6D44-54AF636531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430866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直線接點 217">
                  <a:extLst>
                    <a:ext uri="{FF2B5EF4-FFF2-40B4-BE49-F238E27FC236}">
                      <a16:creationId xmlns:a16="http://schemas.microsoft.com/office/drawing/2014/main" id="{0914FE01-D405-5639-561D-DAFCCBCFD2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705607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9" name="直線接點 218">
                  <a:extLst>
                    <a:ext uri="{FF2B5EF4-FFF2-40B4-BE49-F238E27FC236}">
                      <a16:creationId xmlns:a16="http://schemas.microsoft.com/office/drawing/2014/main" id="{D168BC7B-6B0C-F04C-FB79-73EEA64ACD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35336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直線接點 219">
                  <a:extLst>
                    <a:ext uri="{FF2B5EF4-FFF2-40B4-BE49-F238E27FC236}">
                      <a16:creationId xmlns:a16="http://schemas.microsoft.com/office/drawing/2014/main" id="{0251D039-58CD-8965-849D-CFF26EB160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15847" y="4872017"/>
                  <a:ext cx="0" cy="327346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25" name="群組 224">
              <a:extLst>
                <a:ext uri="{FF2B5EF4-FFF2-40B4-BE49-F238E27FC236}">
                  <a16:creationId xmlns:a16="http://schemas.microsoft.com/office/drawing/2014/main" id="{F0BB29CE-5103-B12E-1B6A-36EBE208B524}"/>
                </a:ext>
              </a:extLst>
            </p:cNvPr>
            <p:cNvGrpSpPr/>
            <p:nvPr/>
          </p:nvGrpSpPr>
          <p:grpSpPr>
            <a:xfrm>
              <a:off x="357830" y="1161561"/>
              <a:ext cx="1038891" cy="4175860"/>
              <a:chOff x="357830" y="1161561"/>
              <a:chExt cx="1038891" cy="4175860"/>
            </a:xfrm>
          </p:grpSpPr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D7F00A91-289B-D2A1-E4FE-60A7FC2B4195}"/>
                  </a:ext>
                </a:extLst>
              </p:cNvPr>
              <p:cNvSpPr txBox="1"/>
              <p:nvPr/>
            </p:nvSpPr>
            <p:spPr>
              <a:xfrm>
                <a:off x="421109" y="4968089"/>
                <a:ext cx="885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Inputs:</a:t>
                </a:r>
                <a:endParaRPr lang="zh-TW" altLang="en-US" dirty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  <p:sp>
            <p:nvSpPr>
              <p:cNvPr id="224" name="文字方塊 223">
                <a:extLst>
                  <a:ext uri="{FF2B5EF4-FFF2-40B4-BE49-F238E27FC236}">
                    <a16:creationId xmlns:a16="http://schemas.microsoft.com/office/drawing/2014/main" id="{FBF99730-01F8-C895-9C6A-89E0B0010547}"/>
                  </a:ext>
                </a:extLst>
              </p:cNvPr>
              <p:cNvSpPr txBox="1"/>
              <p:nvPr/>
            </p:nvSpPr>
            <p:spPr>
              <a:xfrm>
                <a:off x="357830" y="1161561"/>
                <a:ext cx="103889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outputs:</a:t>
                </a:r>
                <a:endParaRPr lang="zh-TW" altLang="en-US" dirty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p:grpSp>
      </p:grpSp>
      <p:sp>
        <p:nvSpPr>
          <p:cNvPr id="227" name="文字方塊 226">
            <a:extLst>
              <a:ext uri="{FF2B5EF4-FFF2-40B4-BE49-F238E27FC236}">
                <a16:creationId xmlns:a16="http://schemas.microsoft.com/office/drawing/2014/main" id="{2CECFF8A-4FE6-61B0-20C2-0CF6610D5910}"/>
              </a:ext>
            </a:extLst>
          </p:cNvPr>
          <p:cNvSpPr txBox="1"/>
          <p:nvPr/>
        </p:nvSpPr>
        <p:spPr>
          <a:xfrm>
            <a:off x="350282" y="5572343"/>
            <a:ext cx="1029404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Head 1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對應標準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next-token prediction (target model)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Head 2~K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對應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draft model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模型架構重點：計算成本主要集中在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shared trunk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；多個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heads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的額外成本相對較小，因此可用於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draft token prediction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868103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2">
            <a:extLst>
              <a:ext uri="{FF2B5EF4-FFF2-40B4-BE49-F238E27FC236}">
                <a16:creationId xmlns:a16="http://schemas.microsoft.com/office/drawing/2014/main" id="{52C52477-F705-FD06-FEC3-A0873DE68E3E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Part2: Related works</a:t>
            </a:r>
            <a:endParaRPr 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A17979C9-87ED-7BE5-4E5E-D7FF91BCD99C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Baseline training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9E713648-263A-2A5F-5E28-13D213A06B89}"/>
              </a:ext>
            </a:extLst>
          </p:cNvPr>
          <p:cNvSpPr/>
          <p:nvPr/>
        </p:nvSpPr>
        <p:spPr>
          <a:xfrm>
            <a:off x="685800" y="868680"/>
            <a:ext cx="10789920" cy="329184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未加入 consistency 時，每個 head 只根據自己的 target offset 計算 CE loss。</a:t>
            </a:r>
            <a:endParaRPr 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3F953AE-D463-A63B-D541-D8DDDED1AC4A}"/>
              </a:ext>
            </a:extLst>
          </p:cNvPr>
          <p:cNvSpPr txBox="1"/>
          <p:nvPr/>
        </p:nvSpPr>
        <p:spPr>
          <a:xfrm>
            <a:off x="685800" y="5653884"/>
            <a:ext cx="97565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優點：架構簡單，與標準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LM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訓練流程相容。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限制：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Head 2~K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的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distribution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可能與可靠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teacher / Head 1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不一致。</a:t>
            </a:r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EE5BC8D6-A272-14A8-0DC0-D6539CA32A7A}"/>
              </a:ext>
            </a:extLst>
          </p:cNvPr>
          <p:cNvGrpSpPr/>
          <p:nvPr/>
        </p:nvGrpSpPr>
        <p:grpSpPr>
          <a:xfrm>
            <a:off x="793461" y="2538360"/>
            <a:ext cx="3756816" cy="2416292"/>
            <a:chOff x="997647" y="1979066"/>
            <a:chExt cx="3756816" cy="2416292"/>
          </a:xfrm>
        </p:grpSpPr>
        <p:sp>
          <p:nvSpPr>
            <p:cNvPr id="13" name="矩形: 圓角 12">
              <a:extLst>
                <a:ext uri="{FF2B5EF4-FFF2-40B4-BE49-F238E27FC236}">
                  <a16:creationId xmlns:a16="http://schemas.microsoft.com/office/drawing/2014/main" id="{EEEB34FA-2893-8F34-5B86-60AC2D5F2369}"/>
                </a:ext>
              </a:extLst>
            </p:cNvPr>
            <p:cNvSpPr/>
            <p:nvPr/>
          </p:nvSpPr>
          <p:spPr>
            <a:xfrm>
              <a:off x="997647" y="3738410"/>
              <a:ext cx="3756816" cy="656948"/>
            </a:xfrm>
            <a:prstGeom prst="roundRect">
              <a:avLst/>
            </a:prstGeom>
            <a:solidFill>
              <a:schemeClr val="accent2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Shared</a:t>
              </a:r>
              <a:endParaRPr lang="zh-TW" altLang="en-US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grpSp>
          <p:nvGrpSpPr>
            <p:cNvPr id="14" name="群組 13">
              <a:extLst>
                <a:ext uri="{FF2B5EF4-FFF2-40B4-BE49-F238E27FC236}">
                  <a16:creationId xmlns:a16="http://schemas.microsoft.com/office/drawing/2014/main" id="{F25EA1F2-8DAC-339C-A2D6-1A2C0679D00D}"/>
                </a:ext>
              </a:extLst>
            </p:cNvPr>
            <p:cNvGrpSpPr/>
            <p:nvPr/>
          </p:nvGrpSpPr>
          <p:grpSpPr>
            <a:xfrm>
              <a:off x="997647" y="1979066"/>
              <a:ext cx="3756816" cy="1662999"/>
              <a:chOff x="997647" y="1979066"/>
              <a:chExt cx="3756816" cy="1662999"/>
            </a:xfrm>
          </p:grpSpPr>
          <p:grpSp>
            <p:nvGrpSpPr>
              <p:cNvPr id="15" name="群組 14">
                <a:extLst>
                  <a:ext uri="{FF2B5EF4-FFF2-40B4-BE49-F238E27FC236}">
                    <a16:creationId xmlns:a16="http://schemas.microsoft.com/office/drawing/2014/main" id="{8327126C-F05C-6139-F352-2A1E33C8C764}"/>
                  </a:ext>
                </a:extLst>
              </p:cNvPr>
              <p:cNvGrpSpPr/>
              <p:nvPr/>
            </p:nvGrpSpPr>
            <p:grpSpPr>
              <a:xfrm>
                <a:off x="997647" y="1979066"/>
                <a:ext cx="3756816" cy="1662999"/>
                <a:chOff x="1189606" y="2346774"/>
                <a:chExt cx="3756816" cy="1662999"/>
              </a:xfrm>
            </p:grpSpPr>
            <p:grpSp>
              <p:nvGrpSpPr>
                <p:cNvPr id="17" name="群組 16">
                  <a:extLst>
                    <a:ext uri="{FF2B5EF4-FFF2-40B4-BE49-F238E27FC236}">
                      <a16:creationId xmlns:a16="http://schemas.microsoft.com/office/drawing/2014/main" id="{7B2EC2A7-1768-8B1D-1FBC-399795A83D3D}"/>
                    </a:ext>
                  </a:extLst>
                </p:cNvPr>
                <p:cNvGrpSpPr/>
                <p:nvPr/>
              </p:nvGrpSpPr>
              <p:grpSpPr>
                <a:xfrm>
                  <a:off x="1189606" y="2346774"/>
                  <a:ext cx="3756816" cy="1081720"/>
                  <a:chOff x="1189606" y="2560345"/>
                  <a:chExt cx="3756816" cy="1081720"/>
                </a:xfrm>
              </p:grpSpPr>
              <p:sp>
                <p:nvSpPr>
                  <p:cNvPr id="24" name="矩形: 圓角 23">
                    <a:extLst>
                      <a:ext uri="{FF2B5EF4-FFF2-40B4-BE49-F238E27FC236}">
                        <a16:creationId xmlns:a16="http://schemas.microsoft.com/office/drawing/2014/main" id="{B173B7A4-8000-C810-1398-F89860E722FF}"/>
                      </a:ext>
                    </a:extLst>
                  </p:cNvPr>
                  <p:cNvSpPr/>
                  <p:nvPr/>
                </p:nvSpPr>
                <p:spPr>
                  <a:xfrm>
                    <a:off x="1189606" y="2654423"/>
                    <a:ext cx="1020934" cy="601586"/>
                  </a:xfrm>
                  <a:prstGeom prst="roundRect">
                    <a:avLst/>
                  </a:prstGeom>
                  <a:solidFill>
                    <a:srgbClr val="0070C0"/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a:t>Head 1</a:t>
                    </a:r>
                    <a:endParaRPr lang="zh-TW" altLang="en-US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25" name="矩形: 圓角 24">
                    <a:extLst>
                      <a:ext uri="{FF2B5EF4-FFF2-40B4-BE49-F238E27FC236}">
                        <a16:creationId xmlns:a16="http://schemas.microsoft.com/office/drawing/2014/main" id="{619F46DE-D676-1C33-B286-39B225C931E8}"/>
                      </a:ext>
                    </a:extLst>
                  </p:cNvPr>
                  <p:cNvSpPr/>
                  <p:nvPr/>
                </p:nvSpPr>
                <p:spPr>
                  <a:xfrm>
                    <a:off x="2336303" y="2648089"/>
                    <a:ext cx="1020934" cy="601586"/>
                  </a:xfrm>
                  <a:prstGeom prst="roundRect">
                    <a:avLst/>
                  </a:prstGeom>
                  <a:solidFill>
                    <a:srgbClr val="0070C0"/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a:t>Head 2</a:t>
                    </a:r>
                    <a:endParaRPr lang="zh-TW" altLang="en-US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26" name="文字方塊 25">
                    <a:extLst>
                      <a:ext uri="{FF2B5EF4-FFF2-40B4-BE49-F238E27FC236}">
                        <a16:creationId xmlns:a16="http://schemas.microsoft.com/office/drawing/2014/main" id="{6046C5E0-BCC3-CA6D-7CC1-1BF47A9731D9}"/>
                      </a:ext>
                    </a:extLst>
                  </p:cNvPr>
                  <p:cNvSpPr txBox="1"/>
                  <p:nvPr/>
                </p:nvSpPr>
                <p:spPr>
                  <a:xfrm>
                    <a:off x="3357237" y="2560345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a:t>… …</a:t>
                    </a:r>
                    <a:endParaRPr lang="zh-TW" altLang="en-US" dirty="0"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27" name="矩形: 圓角 26">
                    <a:extLst>
                      <a:ext uri="{FF2B5EF4-FFF2-40B4-BE49-F238E27FC236}">
                        <a16:creationId xmlns:a16="http://schemas.microsoft.com/office/drawing/2014/main" id="{6A293CB9-0883-B24B-BEB6-CD5DD3AF81B0}"/>
                      </a:ext>
                    </a:extLst>
                  </p:cNvPr>
                  <p:cNvSpPr/>
                  <p:nvPr/>
                </p:nvSpPr>
                <p:spPr>
                  <a:xfrm>
                    <a:off x="3925488" y="2646026"/>
                    <a:ext cx="1020934" cy="601586"/>
                  </a:xfrm>
                  <a:prstGeom prst="roundRect">
                    <a:avLst/>
                  </a:prstGeom>
                  <a:solidFill>
                    <a:srgbClr val="0070C0"/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a:t>Head K</a:t>
                    </a:r>
                    <a:endParaRPr lang="zh-TW" altLang="en-US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28" name="箭號: 上彎 27">
                    <a:extLst>
                      <a:ext uri="{FF2B5EF4-FFF2-40B4-BE49-F238E27FC236}">
                        <a16:creationId xmlns:a16="http://schemas.microsoft.com/office/drawing/2014/main" id="{FD61E278-2EA3-EA08-3AD8-A2C0549A8BC1}"/>
                      </a:ext>
                    </a:extLst>
                  </p:cNvPr>
                  <p:cNvSpPr/>
                  <p:nvPr/>
                </p:nvSpPr>
                <p:spPr>
                  <a:xfrm>
                    <a:off x="2210540" y="3256009"/>
                    <a:ext cx="602206" cy="386056"/>
                  </a:xfrm>
                  <a:prstGeom prst="bentUpArrow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29" name="箭號: 上彎 28">
                    <a:extLst>
                      <a:ext uri="{FF2B5EF4-FFF2-40B4-BE49-F238E27FC236}">
                        <a16:creationId xmlns:a16="http://schemas.microsoft.com/office/drawing/2014/main" id="{0D3C8C67-9A4D-6DEF-5A63-977BE7FEEA07}"/>
                      </a:ext>
                    </a:extLst>
                  </p:cNvPr>
                  <p:cNvSpPr/>
                  <p:nvPr/>
                </p:nvSpPr>
                <p:spPr>
                  <a:xfrm>
                    <a:off x="2548322" y="3256009"/>
                    <a:ext cx="1871282" cy="386056"/>
                  </a:xfrm>
                  <a:prstGeom prst="bentUpArrow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30" name="箭號: 上彎 29">
                    <a:extLst>
                      <a:ext uri="{FF2B5EF4-FFF2-40B4-BE49-F238E27FC236}">
                        <a16:creationId xmlns:a16="http://schemas.microsoft.com/office/drawing/2014/main" id="{309908DF-928A-44E2-F350-7DD4F4646E29}"/>
                      </a:ext>
                    </a:extLst>
                  </p:cNvPr>
                  <p:cNvSpPr/>
                  <p:nvPr/>
                </p:nvSpPr>
                <p:spPr>
                  <a:xfrm flipH="1">
                    <a:off x="1454462" y="3256009"/>
                    <a:ext cx="862088" cy="386056"/>
                  </a:xfrm>
                  <a:prstGeom prst="bentUpArrow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</p:grpSp>
            <p:grpSp>
              <p:nvGrpSpPr>
                <p:cNvPr id="18" name="群組 17">
                  <a:extLst>
                    <a:ext uri="{FF2B5EF4-FFF2-40B4-BE49-F238E27FC236}">
                      <a16:creationId xmlns:a16="http://schemas.microsoft.com/office/drawing/2014/main" id="{862D8634-4B05-C00E-7C28-29BFD742C411}"/>
                    </a:ext>
                  </a:extLst>
                </p:cNvPr>
                <p:cNvGrpSpPr/>
                <p:nvPr/>
              </p:nvGrpSpPr>
              <p:grpSpPr>
                <a:xfrm>
                  <a:off x="1733345" y="3068176"/>
                  <a:ext cx="2902647" cy="941597"/>
                  <a:chOff x="1653159" y="2701033"/>
                  <a:chExt cx="2902647" cy="941597"/>
                </a:xfrm>
              </p:grpSpPr>
              <p:sp>
                <p:nvSpPr>
                  <p:cNvPr id="19" name="矩形 18">
                    <a:extLst>
                      <a:ext uri="{FF2B5EF4-FFF2-40B4-BE49-F238E27FC236}">
                        <a16:creationId xmlns:a16="http://schemas.microsoft.com/office/drawing/2014/main" id="{7EFD04CA-935A-5775-973E-7A07CA80CC9F}"/>
                      </a:ext>
                    </a:extLst>
                  </p:cNvPr>
                  <p:cNvSpPr/>
                  <p:nvPr/>
                </p:nvSpPr>
                <p:spPr>
                  <a:xfrm>
                    <a:off x="1653159" y="2701033"/>
                    <a:ext cx="125767" cy="656948"/>
                  </a:xfrm>
                  <a:prstGeom prst="rect">
                    <a:avLst/>
                  </a:prstGeom>
                  <a:solidFill>
                    <a:srgbClr val="0070C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20" name="矩形 19">
                    <a:extLst>
                      <a:ext uri="{FF2B5EF4-FFF2-40B4-BE49-F238E27FC236}">
                        <a16:creationId xmlns:a16="http://schemas.microsoft.com/office/drawing/2014/main" id="{F791B0EA-285F-F9AD-5704-157CE644FDA3}"/>
                      </a:ext>
                    </a:extLst>
                  </p:cNvPr>
                  <p:cNvSpPr/>
                  <p:nvPr/>
                </p:nvSpPr>
                <p:spPr>
                  <a:xfrm>
                    <a:off x="2849206" y="2701033"/>
                    <a:ext cx="125767" cy="656948"/>
                  </a:xfrm>
                  <a:prstGeom prst="rect">
                    <a:avLst/>
                  </a:prstGeom>
                  <a:solidFill>
                    <a:srgbClr val="0070C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21" name="矩形 20">
                    <a:extLst>
                      <a:ext uri="{FF2B5EF4-FFF2-40B4-BE49-F238E27FC236}">
                        <a16:creationId xmlns:a16="http://schemas.microsoft.com/office/drawing/2014/main" id="{73B1DDA4-808F-230D-9AA2-D39F2B6E7902}"/>
                      </a:ext>
                    </a:extLst>
                  </p:cNvPr>
                  <p:cNvSpPr/>
                  <p:nvPr/>
                </p:nvSpPr>
                <p:spPr>
                  <a:xfrm>
                    <a:off x="4430039" y="2701033"/>
                    <a:ext cx="125767" cy="656948"/>
                  </a:xfrm>
                  <a:prstGeom prst="rect">
                    <a:avLst/>
                  </a:prstGeom>
                  <a:solidFill>
                    <a:srgbClr val="0070C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22" name="矩形 21">
                    <a:extLst>
                      <a:ext uri="{FF2B5EF4-FFF2-40B4-BE49-F238E27FC236}">
                        <a16:creationId xmlns:a16="http://schemas.microsoft.com/office/drawing/2014/main" id="{BDC62DA5-8AE3-5A36-3901-EADC980912E7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2972039" y="1899981"/>
                    <a:ext cx="144000" cy="2772000"/>
                  </a:xfrm>
                  <a:prstGeom prst="rect">
                    <a:avLst/>
                  </a:prstGeom>
                  <a:solidFill>
                    <a:srgbClr val="0070C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23" name="箭號: 向下 22">
                    <a:extLst>
                      <a:ext uri="{FF2B5EF4-FFF2-40B4-BE49-F238E27FC236}">
                        <a16:creationId xmlns:a16="http://schemas.microsoft.com/office/drawing/2014/main" id="{9F8662B1-484F-49DB-2891-BB9F91B1B154}"/>
                      </a:ext>
                    </a:extLst>
                  </p:cNvPr>
                  <p:cNvSpPr/>
                  <p:nvPr/>
                </p:nvSpPr>
                <p:spPr>
                  <a:xfrm>
                    <a:off x="2431366" y="3227138"/>
                    <a:ext cx="190347" cy="415492"/>
                  </a:xfrm>
                  <a:prstGeom prst="downArrow">
                    <a:avLst/>
                  </a:prstGeom>
                  <a:solidFill>
                    <a:srgbClr val="0070C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</p:grpSp>
          </p:grpSp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C64C7616-92D2-7F7C-5687-95055867C59C}"/>
                  </a:ext>
                </a:extLst>
              </p:cNvPr>
              <p:cNvSpPr/>
              <p:nvPr/>
            </p:nvSpPr>
            <p:spPr>
              <a:xfrm>
                <a:off x="2124589" y="3008203"/>
                <a:ext cx="125767" cy="612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p:grpSp>
      </p:grpSp>
      <p:grpSp>
        <p:nvGrpSpPr>
          <p:cNvPr id="31" name="群組 30">
            <a:extLst>
              <a:ext uri="{FF2B5EF4-FFF2-40B4-BE49-F238E27FC236}">
                <a16:creationId xmlns:a16="http://schemas.microsoft.com/office/drawing/2014/main" id="{13D76BE9-0FE7-0261-9583-71484387C7FE}"/>
              </a:ext>
            </a:extLst>
          </p:cNvPr>
          <p:cNvGrpSpPr/>
          <p:nvPr/>
        </p:nvGrpSpPr>
        <p:grpSpPr>
          <a:xfrm>
            <a:off x="661764" y="1439177"/>
            <a:ext cx="3964602" cy="1152699"/>
            <a:chOff x="661764" y="1439177"/>
            <a:chExt cx="3964602" cy="1152699"/>
          </a:xfrm>
        </p:grpSpPr>
        <p:sp>
          <p:nvSpPr>
            <p:cNvPr id="32" name="矩形: 圓角 31">
              <a:extLst>
                <a:ext uri="{FF2B5EF4-FFF2-40B4-BE49-F238E27FC236}">
                  <a16:creationId xmlns:a16="http://schemas.microsoft.com/office/drawing/2014/main" id="{65EA22F7-442C-2F9C-57CB-552699B66B86}"/>
                </a:ext>
              </a:extLst>
            </p:cNvPr>
            <p:cNvSpPr/>
            <p:nvPr/>
          </p:nvSpPr>
          <p:spPr>
            <a:xfrm>
              <a:off x="661764" y="1526922"/>
              <a:ext cx="1143293" cy="601586"/>
            </a:xfrm>
            <a:prstGeom prst="roundRect">
              <a:avLst/>
            </a:prstGeom>
            <a:solidFill>
              <a:srgbClr val="FFC000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Loss 1</a:t>
              </a:r>
              <a:endParaRPr lang="zh-TW" altLang="en-US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33" name="矩形: 圓角 32">
              <a:extLst>
                <a:ext uri="{FF2B5EF4-FFF2-40B4-BE49-F238E27FC236}">
                  <a16:creationId xmlns:a16="http://schemas.microsoft.com/office/drawing/2014/main" id="{505EA2DC-C2D1-FE0A-88F7-BE18740E4005}"/>
                </a:ext>
              </a:extLst>
            </p:cNvPr>
            <p:cNvSpPr/>
            <p:nvPr/>
          </p:nvSpPr>
          <p:spPr>
            <a:xfrm>
              <a:off x="1895754" y="1524859"/>
              <a:ext cx="1143292" cy="601586"/>
            </a:xfrm>
            <a:prstGeom prst="roundRect">
              <a:avLst/>
            </a:prstGeom>
            <a:solidFill>
              <a:srgbClr val="FFC000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Loss 2</a:t>
              </a:r>
              <a:endParaRPr lang="zh-TW" altLang="en-US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7F6E45B6-37AF-45B1-B793-2AB3359CBEBF}"/>
                </a:ext>
              </a:extLst>
            </p:cNvPr>
            <p:cNvSpPr txBox="1"/>
            <p:nvPr/>
          </p:nvSpPr>
          <p:spPr>
            <a:xfrm>
              <a:off x="2983065" y="1439177"/>
              <a:ext cx="568251" cy="64633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zh-TW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… …</a:t>
              </a:r>
              <a:endParaRPr lang="zh-TW" altLang="en-US" dirty="0"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35" name="矩形: 圓角 34">
              <a:extLst>
                <a:ext uri="{FF2B5EF4-FFF2-40B4-BE49-F238E27FC236}">
                  <a16:creationId xmlns:a16="http://schemas.microsoft.com/office/drawing/2014/main" id="{A81DBE75-D33A-0DFE-BF8A-1D4C16C3502E}"/>
                </a:ext>
              </a:extLst>
            </p:cNvPr>
            <p:cNvSpPr/>
            <p:nvPr/>
          </p:nvSpPr>
          <p:spPr>
            <a:xfrm>
              <a:off x="3512991" y="1524859"/>
              <a:ext cx="1113375" cy="601586"/>
            </a:xfrm>
            <a:prstGeom prst="roundRect">
              <a:avLst/>
            </a:prstGeom>
            <a:solidFill>
              <a:srgbClr val="FFC000"/>
            </a:soli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CE</a:t>
              </a:r>
              <a:r>
                <a:rPr lang="zh-TW" altLang="en-US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Loss K</a:t>
              </a:r>
              <a:endParaRPr lang="zh-TW" altLang="en-US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grpSp>
          <p:nvGrpSpPr>
            <p:cNvPr id="36" name="群組 35">
              <a:extLst>
                <a:ext uri="{FF2B5EF4-FFF2-40B4-BE49-F238E27FC236}">
                  <a16:creationId xmlns:a16="http://schemas.microsoft.com/office/drawing/2014/main" id="{54D837D7-DCA7-F910-A693-EEDD0D295477}"/>
                </a:ext>
              </a:extLst>
            </p:cNvPr>
            <p:cNvGrpSpPr/>
            <p:nvPr/>
          </p:nvGrpSpPr>
          <p:grpSpPr>
            <a:xfrm>
              <a:off x="1064954" y="2205820"/>
              <a:ext cx="408075" cy="386056"/>
              <a:chOff x="1064954" y="2205820"/>
              <a:chExt cx="408075" cy="386056"/>
            </a:xfrm>
          </p:grpSpPr>
          <p:sp>
            <p:nvSpPr>
              <p:cNvPr id="43" name="箭號: 向上 42">
                <a:extLst>
                  <a:ext uri="{FF2B5EF4-FFF2-40B4-BE49-F238E27FC236}">
                    <a16:creationId xmlns:a16="http://schemas.microsoft.com/office/drawing/2014/main" id="{FEC7BD18-E720-D70F-AFDF-60548FF14174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  <p:sp>
            <p:nvSpPr>
              <p:cNvPr id="44" name="箭號: 向上 43">
                <a:extLst>
                  <a:ext uri="{FF2B5EF4-FFF2-40B4-BE49-F238E27FC236}">
                    <a16:creationId xmlns:a16="http://schemas.microsoft.com/office/drawing/2014/main" id="{9680672D-4AB8-E922-B110-7D75E774E36D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p:grpSp>
        <p:grpSp>
          <p:nvGrpSpPr>
            <p:cNvPr id="37" name="群組 36">
              <a:extLst>
                <a:ext uri="{FF2B5EF4-FFF2-40B4-BE49-F238E27FC236}">
                  <a16:creationId xmlns:a16="http://schemas.microsoft.com/office/drawing/2014/main" id="{72F289FD-26C5-E706-5894-952AAC7CD54E}"/>
                </a:ext>
              </a:extLst>
            </p:cNvPr>
            <p:cNvGrpSpPr/>
            <p:nvPr/>
          </p:nvGrpSpPr>
          <p:grpSpPr>
            <a:xfrm>
              <a:off x="2250939" y="2205820"/>
              <a:ext cx="408075" cy="386056"/>
              <a:chOff x="1064954" y="2205820"/>
              <a:chExt cx="408075" cy="386056"/>
            </a:xfrm>
          </p:grpSpPr>
          <p:sp>
            <p:nvSpPr>
              <p:cNvPr id="41" name="箭號: 向上 40">
                <a:extLst>
                  <a:ext uri="{FF2B5EF4-FFF2-40B4-BE49-F238E27FC236}">
                    <a16:creationId xmlns:a16="http://schemas.microsoft.com/office/drawing/2014/main" id="{443D3998-6FE4-37C9-2B80-CCB1650B7F08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  <p:sp>
            <p:nvSpPr>
              <p:cNvPr id="42" name="箭號: 向上 41">
                <a:extLst>
                  <a:ext uri="{FF2B5EF4-FFF2-40B4-BE49-F238E27FC236}">
                    <a16:creationId xmlns:a16="http://schemas.microsoft.com/office/drawing/2014/main" id="{2663853C-C3D1-FD9F-F005-EF522E23CD6A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p:grpSp>
        <p:grpSp>
          <p:nvGrpSpPr>
            <p:cNvPr id="38" name="群組 37">
              <a:extLst>
                <a:ext uri="{FF2B5EF4-FFF2-40B4-BE49-F238E27FC236}">
                  <a16:creationId xmlns:a16="http://schemas.microsoft.com/office/drawing/2014/main" id="{463A5FD0-5EEB-A66E-2930-C6B6DF801E6E}"/>
                </a:ext>
              </a:extLst>
            </p:cNvPr>
            <p:cNvGrpSpPr/>
            <p:nvPr/>
          </p:nvGrpSpPr>
          <p:grpSpPr>
            <a:xfrm>
              <a:off x="3910042" y="2182215"/>
              <a:ext cx="408075" cy="386056"/>
              <a:chOff x="1064954" y="2205820"/>
              <a:chExt cx="408075" cy="386056"/>
            </a:xfrm>
          </p:grpSpPr>
          <p:sp>
            <p:nvSpPr>
              <p:cNvPr id="39" name="箭號: 向上 38">
                <a:extLst>
                  <a:ext uri="{FF2B5EF4-FFF2-40B4-BE49-F238E27FC236}">
                    <a16:creationId xmlns:a16="http://schemas.microsoft.com/office/drawing/2014/main" id="{EE5611D3-FCC3-9C4B-5CA6-93F51C27918A}"/>
                  </a:ext>
                </a:extLst>
              </p:cNvPr>
              <p:cNvSpPr/>
              <p:nvPr/>
            </p:nvSpPr>
            <p:spPr>
              <a:xfrm>
                <a:off x="1064954" y="2205820"/>
                <a:ext cx="144000" cy="386056"/>
              </a:xfrm>
              <a:prstGeom prst="upArrow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  <p:sp>
            <p:nvSpPr>
              <p:cNvPr id="40" name="箭號: 向上 39">
                <a:extLst>
                  <a:ext uri="{FF2B5EF4-FFF2-40B4-BE49-F238E27FC236}">
                    <a16:creationId xmlns:a16="http://schemas.microsoft.com/office/drawing/2014/main" id="{1687B27C-A8CD-8E73-4F2F-1264259F7EC1}"/>
                  </a:ext>
                </a:extLst>
              </p:cNvPr>
              <p:cNvSpPr/>
              <p:nvPr/>
            </p:nvSpPr>
            <p:spPr>
              <a:xfrm flipV="1">
                <a:off x="1329029" y="2205820"/>
                <a:ext cx="144000" cy="386056"/>
              </a:xfrm>
              <a:prstGeom prst="upArrow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p:grpSp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7D097BA6-9A0F-90AB-2319-26C147C59566}"/>
              </a:ext>
            </a:extLst>
          </p:cNvPr>
          <p:cNvGrpSpPr/>
          <p:nvPr/>
        </p:nvGrpSpPr>
        <p:grpSpPr>
          <a:xfrm>
            <a:off x="4729325" y="1162178"/>
            <a:ext cx="2441359" cy="1200329"/>
            <a:chOff x="4831952" y="1346844"/>
            <a:chExt cx="2441359" cy="1200329"/>
          </a:xfrm>
        </p:grpSpPr>
        <p:sp>
          <p:nvSpPr>
            <p:cNvPr id="46" name="文字方塊 45">
              <a:extLst>
                <a:ext uri="{FF2B5EF4-FFF2-40B4-BE49-F238E27FC236}">
                  <a16:creationId xmlns:a16="http://schemas.microsoft.com/office/drawing/2014/main" id="{373B616B-0AC5-5E9D-DDC0-AEE7A0E5554C}"/>
                </a:ext>
              </a:extLst>
            </p:cNvPr>
            <p:cNvSpPr txBox="1"/>
            <p:nvPr/>
          </p:nvSpPr>
          <p:spPr>
            <a:xfrm>
              <a:off x="4831952" y="1346844"/>
              <a:ext cx="2441359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300000"/>
                </a:lnSpc>
                <a:buFont typeface="Arial" panose="020B0604020202020204" pitchFamily="34" charset="0"/>
                <a:buChar char="•"/>
              </a:pPr>
              <a:r>
                <a:rPr lang="en-US" altLang="zh-TW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Forward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altLang="zh-TW" dirty="0">
                  <a:latin typeface="標楷體" panose="03000509000000000000" pitchFamily="65" charset="-120"/>
                  <a:ea typeface="標楷體" panose="03000509000000000000" pitchFamily="65" charset="-120"/>
                </a:rPr>
                <a:t>Backward</a:t>
              </a:r>
            </a:p>
          </p:txBody>
        </p:sp>
        <p:sp>
          <p:nvSpPr>
            <p:cNvPr id="47" name="箭號: 向上 46">
              <a:extLst>
                <a:ext uri="{FF2B5EF4-FFF2-40B4-BE49-F238E27FC236}">
                  <a16:creationId xmlns:a16="http://schemas.microsoft.com/office/drawing/2014/main" id="{1CA5CDD3-E55D-02F4-368B-1D7450E7C482}"/>
                </a:ext>
              </a:extLst>
            </p:cNvPr>
            <p:cNvSpPr/>
            <p:nvPr/>
          </p:nvSpPr>
          <p:spPr>
            <a:xfrm>
              <a:off x="4879090" y="1688203"/>
              <a:ext cx="215809" cy="386056"/>
            </a:xfrm>
            <a:prstGeom prst="upArrow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48" name="箭號: 向上 47">
              <a:extLst>
                <a:ext uri="{FF2B5EF4-FFF2-40B4-BE49-F238E27FC236}">
                  <a16:creationId xmlns:a16="http://schemas.microsoft.com/office/drawing/2014/main" id="{4437B719-3AB2-6CE3-EA5D-4B318D7BF182}"/>
                </a:ext>
              </a:extLst>
            </p:cNvPr>
            <p:cNvSpPr/>
            <p:nvPr/>
          </p:nvSpPr>
          <p:spPr>
            <a:xfrm>
              <a:off x="4880218" y="2131127"/>
              <a:ext cx="215809" cy="386056"/>
            </a:xfrm>
            <a:prstGeom prst="upArrow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</p:grp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B90194D-DCB9-8D91-AFB9-EFC5E82628A7}"/>
              </a:ext>
            </a:extLst>
          </p:cNvPr>
          <p:cNvSpPr/>
          <p:nvPr/>
        </p:nvSpPr>
        <p:spPr>
          <a:xfrm>
            <a:off x="6137598" y="1503537"/>
            <a:ext cx="4279037" cy="2991957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zh-TW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z = </a:t>
            </a:r>
            <a:r>
              <a:rPr lang="en-US" altLang="zh-TW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model.shared</a:t>
            </a:r>
            <a:r>
              <a:rPr lang="en-US" altLang="zh-TW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(x)</a:t>
            </a:r>
          </a:p>
          <a:p>
            <a:r>
              <a:rPr lang="en-US" altLang="zh-TW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d = </a:t>
            </a:r>
            <a:r>
              <a:rPr lang="en-US" altLang="zh-TW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z.detach</a:t>
            </a:r>
            <a:r>
              <a:rPr lang="en-US" altLang="zh-TW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()</a:t>
            </a:r>
          </a:p>
          <a:p>
            <a:r>
              <a:rPr lang="en-US" altLang="zh-TW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d.requires_grad</a:t>
            </a:r>
            <a:r>
              <a:rPr lang="en-US" altLang="zh-TW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= True</a:t>
            </a:r>
          </a:p>
          <a:p>
            <a:endParaRPr lang="en-US" altLang="zh-TW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for </a:t>
            </a:r>
            <a:r>
              <a:rPr lang="en-US" altLang="zh-TW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</a:t>
            </a:r>
            <a:r>
              <a:rPr lang="en-US" altLang="zh-TW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in range(n):</a:t>
            </a:r>
          </a:p>
          <a:p>
            <a:r>
              <a:rPr lang="en-US" altLang="zh-TW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   p = </a:t>
            </a:r>
            <a:r>
              <a:rPr lang="en-US" altLang="zh-TW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model.head</a:t>
            </a:r>
            <a:r>
              <a:rPr lang="en-US" altLang="zh-TW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[</a:t>
            </a:r>
            <a:r>
              <a:rPr lang="en-US" altLang="zh-TW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</a:t>
            </a:r>
            <a:r>
              <a:rPr lang="en-US" altLang="zh-TW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](d)</a:t>
            </a:r>
          </a:p>
          <a:p>
            <a:r>
              <a:rPr lang="en-US" altLang="zh-TW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   loss(p, y[</a:t>
            </a:r>
            <a:r>
              <a:rPr lang="en-US" altLang="zh-TW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</a:t>
            </a:r>
            <a:r>
              <a:rPr lang="en-US" altLang="zh-TW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]).backward()</a:t>
            </a:r>
          </a:p>
          <a:p>
            <a:r>
              <a:rPr lang="en-US" altLang="zh-TW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</a:p>
          <a:p>
            <a:r>
              <a:rPr lang="en-US" altLang="zh-TW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z.backward</a:t>
            </a:r>
            <a:r>
              <a:rPr lang="en-US" altLang="zh-TW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(gradient=</a:t>
            </a:r>
            <a:r>
              <a:rPr lang="en-US" altLang="zh-TW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d.grad</a:t>
            </a:r>
            <a:r>
              <a:rPr lang="en-US" altLang="zh-TW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F2E8ADC-552C-60BD-F702-F6CAED0F7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65224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10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99979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5">
            <a:extLst>
              <a:ext uri="{FF2B5EF4-FFF2-40B4-BE49-F238E27FC236}">
                <a16:creationId xmlns:a16="http://schemas.microsoft.com/office/drawing/2014/main" id="{C4C5F3F7-6909-D322-DB3C-EEFA70F79481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Proposed method</a:t>
            </a:r>
            <a:endParaRPr 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E6882-B7B0-F2AF-719F-B27BC5D80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11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552327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2">
            <a:extLst>
              <a:ext uri="{FF2B5EF4-FFF2-40B4-BE49-F238E27FC236}">
                <a16:creationId xmlns:a16="http://schemas.microsoft.com/office/drawing/2014/main" id="{318ED0CB-9DF7-A8D5-AF9A-6A60ABE2765D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Part3: Proposed method</a:t>
            </a:r>
            <a:endParaRPr 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D811688-07B4-BC53-3A07-4C16D79B54C7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Selective Distribution Consistency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BD63D5E1-9012-11EC-4EE2-E4FFC9B1F1E7}"/>
              </a:ext>
            </a:extLst>
          </p:cNvPr>
          <p:cNvSpPr txBox="1"/>
          <p:nvPr/>
        </p:nvSpPr>
        <p:spPr>
          <a:xfrm>
            <a:off x="347472" y="5908467"/>
            <a:ext cx="113042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confidence threshold </a:t>
            </a:r>
            <a:r>
              <a:rPr lang="el-GR" altLang="zh-TW" sz="1600" dirty="0">
                <a:latin typeface="微軟正黑體" panose="020B0604030504040204" pitchFamily="34" charset="-120"/>
                <a:ea typeface="標楷體" panose="03000509000000000000" pitchFamily="65" charset="-120"/>
              </a:rPr>
              <a:t>τ 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控制噪聲遮罩。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若 </a:t>
            </a:r>
            <a:r>
              <a:rPr lang="el-GR" altLang="zh-TW" sz="1600" dirty="0">
                <a:latin typeface="微軟正黑體" panose="020B0604030504040204" pitchFamily="34" charset="-120"/>
                <a:ea typeface="標楷體" panose="03000509000000000000" pitchFamily="65" charset="-120"/>
              </a:rPr>
              <a:t>τ 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過高，會讓模型整體傾向高信心度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重複度的回答，可能造成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PPL / draft acceptance 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下降，</a:t>
            </a:r>
            <a:r>
              <a:rPr lang="en-US" altLang="zh-TW" sz="16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GenPPL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/ repetition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上升。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237625A2-D553-99AE-3D41-F2F35D461DE4}"/>
                  </a:ext>
                </a:extLst>
              </p:cNvPr>
              <p:cNvSpPr/>
              <p:nvPr/>
            </p:nvSpPr>
            <p:spPr>
              <a:xfrm>
                <a:off x="470517" y="1187587"/>
                <a:ext cx="1740728" cy="749675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rPr>
                  <a:t>Teacher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mc:Choice>
        <mc:Fallback xmlns="">
          <p:sp>
            <p:nvSpPr>
              <p:cNvPr id="11" name="矩形: 圓角 10">
                <a:extLst>
                  <a:ext uri="{FF2B5EF4-FFF2-40B4-BE49-F238E27FC236}">
                    <a16:creationId xmlns:a16="http://schemas.microsoft.com/office/drawing/2014/main" id="{237625A2-D553-99AE-3D41-F2F35D461D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517" y="1187587"/>
                <a:ext cx="1740728" cy="749675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2CC6A9CC-C7BF-7DF8-3274-1F2BE44850D3}"/>
                  </a:ext>
                </a:extLst>
              </p:cNvPr>
              <p:cNvSpPr/>
              <p:nvPr/>
            </p:nvSpPr>
            <p:spPr>
              <a:xfrm>
                <a:off x="470517" y="2264026"/>
                <a:ext cx="1740728" cy="749675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rPr>
                  <a:t>Student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mc:Choice>
        <mc:Fallback xmlns="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2CC6A9CC-C7BF-7DF8-3274-1F2BE44850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517" y="2264026"/>
                <a:ext cx="1740728" cy="7496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36635636-AD3E-2965-1719-2734700001B3}"/>
                  </a:ext>
                </a:extLst>
              </p:cNvPr>
              <p:cNvSpPr/>
              <p:nvPr/>
            </p:nvSpPr>
            <p:spPr>
              <a:xfrm>
                <a:off x="2630656" y="1187583"/>
                <a:ext cx="1424066" cy="749675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rPr>
                  <a:t>Softmax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mc:Choice>
        <mc:Fallback xmlns="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36635636-AD3E-2965-1719-2734700001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656" y="1187583"/>
                <a:ext cx="1424066" cy="74967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: 圓角 14">
                <a:extLst>
                  <a:ext uri="{FF2B5EF4-FFF2-40B4-BE49-F238E27FC236}">
                    <a16:creationId xmlns:a16="http://schemas.microsoft.com/office/drawing/2014/main" id="{0E4407B8-0D64-7B16-B568-94246727D524}"/>
                  </a:ext>
                </a:extLst>
              </p:cNvPr>
              <p:cNvSpPr/>
              <p:nvPr/>
            </p:nvSpPr>
            <p:spPr>
              <a:xfrm>
                <a:off x="4474133" y="1102157"/>
                <a:ext cx="1500320" cy="911174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rPr>
                  <a:t>Confidence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TW" sz="16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ar-AE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ar-AE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  <m:d>
                            <m:dPr>
                              <m:ctrlPr>
                                <a:rPr lang="ar-AE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ar-AE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num>
                        <m:den>
                          <m:func>
                            <m:funcPr>
                              <m:ctrlPr>
                                <a:rPr lang="ar-AE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6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zh-TW" altLang="ar-AE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</m:func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mc:Choice>
        <mc:Fallback xmlns="">
          <p:sp>
            <p:nvSpPr>
              <p:cNvPr id="15" name="矩形: 圓角 14">
                <a:extLst>
                  <a:ext uri="{FF2B5EF4-FFF2-40B4-BE49-F238E27FC236}">
                    <a16:creationId xmlns:a16="http://schemas.microsoft.com/office/drawing/2014/main" id="{0E4407B8-0D64-7B16-B568-94246727D5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4133" y="1102157"/>
                <a:ext cx="1500320" cy="911174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CD7590F2-E210-FA89-DD83-5E875778964B}"/>
                  </a:ext>
                </a:extLst>
              </p:cNvPr>
              <p:cNvSpPr/>
              <p:nvPr/>
            </p:nvSpPr>
            <p:spPr>
              <a:xfrm>
                <a:off x="8572256" y="1187586"/>
                <a:ext cx="3063484" cy="1826115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rPr>
                  <a:t>SDC Loss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𝑆𝐷𝐶</m:t>
                          </m:r>
                        </m:sub>
                      </m:sSub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altLang="zh-TW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sup>
                          </m:sSub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||</m:t>
                          </m:r>
                          <m:sSubSup>
                            <m:sSubSup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mc:Choice>
        <mc:Fallback xmlns="">
          <p:sp>
            <p:nvSpPr>
              <p:cNvPr id="17" name="矩形: 圓角 16">
                <a:extLst>
                  <a:ext uri="{FF2B5EF4-FFF2-40B4-BE49-F238E27FC236}">
                    <a16:creationId xmlns:a16="http://schemas.microsoft.com/office/drawing/2014/main" id="{CD7590F2-E210-FA89-DD83-5E87577896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2256" y="1187586"/>
                <a:ext cx="3063484" cy="182611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40C4B3F-241C-9EC7-55FE-9F48A24F1B70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flipV="1">
            <a:off x="2211245" y="1562421"/>
            <a:ext cx="419411" cy="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F8DEC1A3-0469-6B45-B13B-BF8FD48AF5BF}"/>
              </a:ext>
            </a:extLst>
          </p:cNvPr>
          <p:cNvCxnSpPr/>
          <p:nvPr/>
        </p:nvCxnSpPr>
        <p:spPr>
          <a:xfrm flipV="1">
            <a:off x="5974453" y="1562419"/>
            <a:ext cx="419411" cy="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6837BB5D-B718-3747-2628-6CB19D7D4233}"/>
              </a:ext>
            </a:extLst>
          </p:cNvPr>
          <p:cNvCxnSpPr>
            <a:cxnSpLocks/>
          </p:cNvCxnSpPr>
          <p:nvPr/>
        </p:nvCxnSpPr>
        <p:spPr>
          <a:xfrm>
            <a:off x="7967381" y="1562419"/>
            <a:ext cx="60487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58775742-89EC-F042-2DA1-C3CD5AAC9D5C}"/>
              </a:ext>
            </a:extLst>
          </p:cNvPr>
          <p:cNvCxnSpPr/>
          <p:nvPr/>
        </p:nvCxnSpPr>
        <p:spPr>
          <a:xfrm flipV="1">
            <a:off x="2211245" y="2638861"/>
            <a:ext cx="419411" cy="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D5AC57CF-6153-9B30-9875-4EAF8F8481C1}"/>
              </a:ext>
            </a:extLst>
          </p:cNvPr>
          <p:cNvCxnSpPr>
            <a:cxnSpLocks/>
          </p:cNvCxnSpPr>
          <p:nvPr/>
        </p:nvCxnSpPr>
        <p:spPr>
          <a:xfrm>
            <a:off x="4050600" y="2638865"/>
            <a:ext cx="452165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B8CBC18-5881-AE4D-8408-36EBCAAD5CA9}"/>
                  </a:ext>
                </a:extLst>
              </p:cNvPr>
              <p:cNvSpPr txBox="1"/>
              <p:nvPr/>
            </p:nvSpPr>
            <p:spPr>
              <a:xfrm>
                <a:off x="787178" y="3244880"/>
                <a:ext cx="2577813" cy="20404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ar-AE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ar-AE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ar-AE" altLang="zh-TW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nary>
                        <m:naryPr>
                          <m:chr m:val="∑"/>
                          <m:grow m:val="on"/>
                          <m:ctrlPr>
                            <a:rPr lang="ar-AE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zh-TW" altLang="ar-AE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 altLang="zh-TW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ar-AE" altLang="zh-TW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zh-TW" altLang="ar-AE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p>
                        <m:e>
                          <m:sSup>
                            <m:sSupPr>
                              <m:ctrlPr>
                                <a:rPr lang="en-US" altLang="zh-TW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altLang="zh-TW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nary>
                      <m:func>
                        <m:funcPr>
                          <m:ctrlPr>
                            <a:rPr lang="ar-AE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p>
                            <m:sSup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altLang="zh-TW" sz="1400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TW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altLang="zh-TW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zh-TW" altLang="en-US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e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altLang="zh-TW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zh-TW" altLang="en-US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altLang="zh-TW" sz="1400" i="1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endParaRPr lang="en-US" altLang="zh-TW" sz="1400" i="1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r>
                  <a:rPr lang="en-US" altLang="zh-TW" sz="1400" i="1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rPr>
                  <a:t>V = vocabulary size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zh-TW" altLang="en-US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altLang="zh-TW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 i="1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Confidence</m:t>
                      </m:r>
                      <m:r>
                        <m:rPr>
                          <m:nor/>
                        </m:rPr>
                        <a:rPr lang="en-US" altLang="zh-TW" sz="1400" i="1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 i="1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threshold</m:t>
                      </m:r>
                    </m:oMath>
                  </m:oMathPara>
                </a14:m>
                <a:endParaRPr lang="en-US" altLang="zh-TW" sz="1400" i="1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altLang="zh-TW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𝐾𝐿</m:t>
                      </m:r>
                      <m:r>
                        <a:rPr lang="en-US" altLang="zh-TW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altLang="zh-TW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𝐷</m:t>
                      </m:r>
                      <m:r>
                        <a:rPr lang="en-US" altLang="zh-TW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𝑖𝑣𝑒𝑟𝑔𝑒𝑛𝑐𝑒</m:t>
                      </m:r>
                    </m:oMath>
                  </m:oMathPara>
                </a14:m>
                <a:endParaRPr lang="en-US" altLang="zh-TW" sz="1400" i="1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mc:Choice>
        <mc:Fallback xmlns="">
          <p:sp>
            <p:nvSpPr>
              <p:cNvPr id="23" name="文字方塊 22">
                <a:extLst>
                  <a:ext uri="{FF2B5EF4-FFF2-40B4-BE49-F238E27FC236}">
                    <a16:creationId xmlns:a16="http://schemas.microsoft.com/office/drawing/2014/main" id="{DB8CBC18-5881-AE4D-8408-36EBCAAD5C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178" y="3244880"/>
                <a:ext cx="2577813" cy="2040495"/>
              </a:xfrm>
              <a:prstGeom prst="rect">
                <a:avLst/>
              </a:prstGeom>
              <a:blipFill>
                <a:blip r:embed="rId7"/>
                <a:stretch>
                  <a:fillRect l="-12766" t="-21194" b="-3164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20151D9A-B4EC-8617-3889-429C1C2FC035}"/>
              </a:ext>
            </a:extLst>
          </p:cNvPr>
          <p:cNvCxnSpPr/>
          <p:nvPr/>
        </p:nvCxnSpPr>
        <p:spPr>
          <a:xfrm flipV="1">
            <a:off x="4054722" y="1560291"/>
            <a:ext cx="419411" cy="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49A939F9-FB72-797D-294A-69028F5FF531}"/>
              </a:ext>
            </a:extLst>
          </p:cNvPr>
          <p:cNvSpPr/>
          <p:nvPr/>
        </p:nvSpPr>
        <p:spPr>
          <a:xfrm>
            <a:off x="7750207" y="3264400"/>
            <a:ext cx="3885534" cy="264406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zh-TW" sz="14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t = </a:t>
            </a:r>
            <a:r>
              <a:rPr lang="en-US" altLang="zh-TW" sz="14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softmax</a:t>
            </a:r>
            <a:r>
              <a:rPr lang="en-US" altLang="zh-TW" sz="14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sz="14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model.head</a:t>
            </a:r>
            <a:r>
              <a:rPr lang="en-US" altLang="zh-TW" sz="14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[0](d).detach())</a:t>
            </a:r>
          </a:p>
          <a:p>
            <a:r>
              <a:rPr lang="en-US" altLang="zh-TW" sz="14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 = confidence(t)</a:t>
            </a:r>
          </a:p>
          <a:p>
            <a:r>
              <a:rPr lang="en-US" altLang="zh-TW" sz="14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for </a:t>
            </a:r>
            <a:r>
              <a:rPr lang="en-US" altLang="zh-TW" sz="14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</a:t>
            </a:r>
            <a:r>
              <a:rPr lang="en-US" altLang="zh-TW" sz="14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in range(1,n):</a:t>
            </a:r>
          </a:p>
          <a:p>
            <a:r>
              <a:rPr lang="en-US" altLang="zh-TW" sz="14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   s = </a:t>
            </a:r>
            <a:r>
              <a:rPr lang="en-US" altLang="zh-TW" sz="14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softmax</a:t>
            </a:r>
            <a:r>
              <a:rPr lang="en-US" altLang="zh-TW" sz="14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sz="14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model.head</a:t>
            </a:r>
            <a:r>
              <a:rPr lang="en-US" altLang="zh-TW" sz="14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[</a:t>
            </a:r>
            <a:r>
              <a:rPr lang="en-US" altLang="zh-TW" sz="14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</a:t>
            </a:r>
            <a:r>
              <a:rPr lang="en-US" altLang="zh-TW" sz="14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](d))</a:t>
            </a:r>
          </a:p>
          <a:p>
            <a:r>
              <a:rPr lang="en-US" altLang="zh-TW" sz="14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   </a:t>
            </a:r>
            <a:r>
              <a:rPr lang="en-US" altLang="zh-TW" sz="14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sdc_loss</a:t>
            </a:r>
            <a:r>
              <a:rPr lang="en-US" altLang="zh-TW" sz="14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= 0</a:t>
            </a:r>
          </a:p>
          <a:p>
            <a:endParaRPr lang="en-US" altLang="zh-TW" sz="1400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14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   for j in range(</a:t>
            </a:r>
            <a:r>
              <a:rPr lang="en-US" altLang="zh-TW" sz="14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c.length</a:t>
            </a:r>
            <a:r>
              <a:rPr lang="en-US" altLang="zh-TW" sz="14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):</a:t>
            </a:r>
          </a:p>
          <a:p>
            <a:r>
              <a:rPr lang="en-US" altLang="zh-TW" sz="14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       if c[j] &gt;= threshold:</a:t>
            </a:r>
          </a:p>
          <a:p>
            <a:r>
              <a:rPr lang="en-US" altLang="zh-TW" sz="14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           </a:t>
            </a:r>
            <a:r>
              <a:rPr lang="en-US" altLang="zh-TW" sz="14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sdc_loss</a:t>
            </a:r>
            <a:r>
              <a:rPr lang="en-US" altLang="zh-TW" sz="14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+= kl(t[j],  s[j])</a:t>
            </a:r>
          </a:p>
          <a:p>
            <a:r>
              <a:rPr lang="en-US" altLang="zh-TW" sz="14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   </a:t>
            </a:r>
            <a:r>
              <a:rPr lang="en-US" altLang="zh-TW" sz="14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total_loss</a:t>
            </a:r>
            <a:r>
              <a:rPr lang="en-US" altLang="zh-TW" sz="14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+= </a:t>
            </a:r>
            <a:r>
              <a:rPr lang="en-US" altLang="zh-TW" sz="14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sdc_loss</a:t>
            </a:r>
            <a:endParaRPr lang="en-US" altLang="zh-TW" sz="1400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F5527B-0C1C-AA8C-CFC7-84114A1DB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12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D89C4B6E-B69B-F516-FFC0-1180B6E369DC}"/>
                  </a:ext>
                </a:extLst>
              </p:cNvPr>
              <p:cNvSpPr/>
              <p:nvPr/>
            </p:nvSpPr>
            <p:spPr>
              <a:xfrm>
                <a:off x="2630655" y="2264025"/>
                <a:ext cx="1740727" cy="749675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rPr>
                  <a:t>Student logits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mc:Choice>
        <mc:Fallback xmlns="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D89C4B6E-B69B-F516-FFC0-1180B6E369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655" y="2264025"/>
                <a:ext cx="1740727" cy="749675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: 圓角 15">
                <a:extLst>
                  <a:ext uri="{FF2B5EF4-FFF2-40B4-BE49-F238E27FC236}">
                    <a16:creationId xmlns:a16="http://schemas.microsoft.com/office/drawing/2014/main" id="{6D666C39-64BC-4606-A332-6E21F971A325}"/>
                  </a:ext>
                </a:extLst>
              </p:cNvPr>
              <p:cNvSpPr/>
              <p:nvPr/>
            </p:nvSpPr>
            <p:spPr>
              <a:xfrm>
                <a:off x="6393864" y="1187583"/>
                <a:ext cx="1684816" cy="749675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rPr>
                  <a:t>Threshold mask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mc:Choice>
        <mc:Fallback xmlns="">
          <p:sp>
            <p:nvSpPr>
              <p:cNvPr id="16" name="矩形: 圓角 15">
                <a:extLst>
                  <a:ext uri="{FF2B5EF4-FFF2-40B4-BE49-F238E27FC236}">
                    <a16:creationId xmlns:a16="http://schemas.microsoft.com/office/drawing/2014/main" id="{6D666C39-64BC-4606-A332-6E21F971A3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3864" y="1187583"/>
                <a:ext cx="1684816" cy="749675"/>
              </a:xfrm>
              <a:prstGeom prst="roundRect">
                <a:avLst/>
              </a:prstGeom>
              <a:blipFill>
                <a:blip r:embed="rId9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650646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2">
            <a:extLst>
              <a:ext uri="{FF2B5EF4-FFF2-40B4-BE49-F238E27FC236}">
                <a16:creationId xmlns:a16="http://schemas.microsoft.com/office/drawing/2014/main" id="{08F29EAD-D533-0B61-2726-3E8377AE68C2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Part3: Proposed method</a:t>
            </a:r>
            <a:endParaRPr 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791945F-3741-A814-1ED6-881AC78AEB8D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Latent Consistency Matching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D01170F5-6B4F-2AC4-ABE4-99011DDF0B29}"/>
              </a:ext>
            </a:extLst>
          </p:cNvPr>
          <p:cNvSpPr/>
          <p:nvPr/>
        </p:nvSpPr>
        <p:spPr>
          <a:xfrm>
            <a:off x="731520" y="1051560"/>
            <a:ext cx="10698480" cy="457200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Autofit/>
          </a:bodyPr>
          <a:lstStyle/>
          <a:p>
            <a:pPr marL="0" indent="0">
              <a:buNone/>
            </a:pPr>
            <a:r>
              <a:rPr lang="en-US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LCM </a:t>
            </a: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不直接對齊 </a:t>
            </a:r>
            <a:r>
              <a:rPr lang="en-US" sz="1400" b="1" dirty="0" err="1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softmax</a:t>
            </a:r>
            <a:r>
              <a:rPr lang="en-US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 probability distribution，</a:t>
            </a: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而是在 </a:t>
            </a:r>
            <a:r>
              <a:rPr lang="en-US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latent / hidden representation </a:t>
            </a: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層級對齊 </a:t>
            </a:r>
            <a:r>
              <a:rPr lang="en-US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teacher </a:t>
            </a: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與 </a:t>
            </a:r>
            <a:r>
              <a:rPr lang="en-US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student。</a:t>
            </a:r>
            <a:endParaRPr lang="en-US" sz="14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F989B06-B8F9-3F0A-2FA4-977D7723EBB4}"/>
                  </a:ext>
                </a:extLst>
              </p:cNvPr>
              <p:cNvSpPr txBox="1"/>
              <p:nvPr/>
            </p:nvSpPr>
            <p:spPr>
              <a:xfrm>
                <a:off x="731519" y="4868969"/>
                <a:ext cx="2417713" cy="861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zh-TW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sequence</m:t>
                      </m:r>
                      <m:r>
                        <m:rPr>
                          <m:nor/>
                        </m:rPr>
                        <a:rPr lang="en-US" altLang="zh-TW" sz="140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length</m:t>
                      </m:r>
                    </m:oMath>
                  </m:oMathPara>
                </a14:m>
                <a:endParaRPr lang="en-US" altLang="zh-TW" sz="1400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altLang="zh-TW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40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state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dimension</m:t>
                      </m:r>
                    </m:oMath>
                  </m:oMathPara>
                </a14:m>
                <a:endParaRPr lang="en-US" altLang="zh-TW" sz="1400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altLang="zh-TW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TW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p>
                        <m:r>
                          <a:rPr lang="en-US" altLang="zh-TW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en-US" altLang="zh-TW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altLang="zh-TW" sz="1400" b="0" i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m:t>teacher</m:t>
                    </m:r>
                    <m:r>
                      <m:rPr>
                        <m:nor/>
                      </m:rPr>
                      <a:rPr lang="en-US" altLang="zh-TW" sz="1400" b="0" i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140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m:t>hidden</m:t>
                    </m:r>
                    <m:r>
                      <m:rPr>
                        <m:nor/>
                      </m:rPr>
                      <a:rPr lang="en-US" altLang="zh-TW" sz="1400" b="0" i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m:t> </m:t>
                    </m:r>
                    <m:r>
                      <m:rPr>
                        <m:nor/>
                      </m:rPr>
                      <a:rPr lang="en-US" altLang="zh-TW" sz="1400" b="0" i="0" smtClean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m:t>state</m:t>
                    </m:r>
                  </m:oMath>
                </a14:m>
                <a:r>
                  <a:rPr lang="en-US" altLang="zh-TW" sz="1400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rPr>
                  <a:t>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  <m:r>
                        <a:rPr lang="en-US" altLang="zh-TW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sz="1400" b="0" i="1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400" b="0" i="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40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state</m:t>
                      </m:r>
                    </m:oMath>
                  </m:oMathPara>
                </a14:m>
                <a:endParaRPr lang="en-US" altLang="zh-TW" sz="1400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1F989B06-B8F9-3F0A-2FA4-977D7723EB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4868969"/>
                <a:ext cx="2417713" cy="861774"/>
              </a:xfrm>
              <a:prstGeom prst="rect">
                <a:avLst/>
              </a:prstGeom>
              <a:blipFill>
                <a:blip r:embed="rId2"/>
                <a:stretch>
                  <a:fillRect l="-2519" t="-709" b="-42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C2D2F876-6541-1C66-FAF4-C6C8CFE199A4}"/>
                  </a:ext>
                </a:extLst>
              </p:cNvPr>
              <p:cNvSpPr/>
              <p:nvPr/>
            </p:nvSpPr>
            <p:spPr>
              <a:xfrm>
                <a:off x="731519" y="1508760"/>
                <a:ext cx="2340154" cy="749675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teacher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state</m:t>
                      </m:r>
                    </m:oMath>
                  </m:oMathPara>
                </a14:m>
                <a:endParaRPr lang="en-US" altLang="zh-TW" sz="1600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mc:Choice>
        <mc:Fallback xmlns=""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C2D2F876-6541-1C66-FAF4-C6C8CFE199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19" y="1508760"/>
                <a:ext cx="2340154" cy="749675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9FE6CF04-DDA0-DFF5-F9C8-9CFA2292BA4B}"/>
                  </a:ext>
                </a:extLst>
              </p:cNvPr>
              <p:cNvSpPr/>
              <p:nvPr/>
            </p:nvSpPr>
            <p:spPr>
              <a:xfrm>
                <a:off x="731520" y="2400500"/>
                <a:ext cx="2340154" cy="749675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student</m:t>
                      </m:r>
                      <m:r>
                        <m:rPr>
                          <m:nor/>
                        </m:rPr>
                        <a:rPr lang="en-US" altLang="zh-TW" sz="1600" i="1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hidden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m:t>state</m:t>
                      </m:r>
                    </m:oMath>
                  </m:oMathPara>
                </a14:m>
                <a:endParaRPr lang="en-US" altLang="zh-TW" sz="1600" i="1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mc:Choice>
        <mc:Fallback xmlns=""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9FE6CF04-DDA0-DFF5-F9C8-9CFA2292BA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" y="2400500"/>
                <a:ext cx="2340154" cy="74967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1436AB8-F252-92F0-8581-EE80BBDA8C21}"/>
                  </a:ext>
                </a:extLst>
              </p:cNvPr>
              <p:cNvSpPr/>
              <p:nvPr/>
            </p:nvSpPr>
            <p:spPr>
              <a:xfrm>
                <a:off x="3594478" y="1508760"/>
                <a:ext cx="3782865" cy="1641415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600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rPr>
                  <a:t>LCM loss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𝐿𝐶𝑀</m:t>
                          </m:r>
                        </m:sub>
                      </m:sSub>
                      <m:r>
                        <a:rPr lang="en-US" altLang="zh-TW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altLang="zh-TW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TW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p>
                                      </m:sSubSup>
                                      <m:r>
                                        <a:rPr lang="en-US" altLang="zh-TW" sz="16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𝑑</m:t>
                                          </m:r>
                                        </m:sub>
                                        <m:sup>
                                          <m:r>
                                            <a:rPr lang="en-US" altLang="zh-TW" sz="16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US" altLang="zh-TW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mc:Choice>
        <mc:Fallback xmlns=""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51436AB8-F252-92F0-8581-EE80BBDA8C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4478" y="1508760"/>
                <a:ext cx="3782865" cy="164141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63D84166-2218-1401-C1DF-6ECBE34F62C6}"/>
              </a:ext>
            </a:extLst>
          </p:cNvPr>
          <p:cNvCxnSpPr>
            <a:cxnSpLocks/>
          </p:cNvCxnSpPr>
          <p:nvPr/>
        </p:nvCxnSpPr>
        <p:spPr>
          <a:xfrm>
            <a:off x="3071673" y="1883597"/>
            <a:ext cx="5228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81D7C412-98DB-2623-3C77-04A4CAB611E4}"/>
              </a:ext>
            </a:extLst>
          </p:cNvPr>
          <p:cNvCxnSpPr>
            <a:cxnSpLocks/>
          </p:cNvCxnSpPr>
          <p:nvPr/>
        </p:nvCxnSpPr>
        <p:spPr>
          <a:xfrm>
            <a:off x="3071673" y="2784215"/>
            <a:ext cx="5228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5FEC60A1-208A-D87A-E4BC-806E02DA99AA}"/>
              </a:ext>
            </a:extLst>
          </p:cNvPr>
          <p:cNvSpPr/>
          <p:nvPr/>
        </p:nvSpPr>
        <p:spPr>
          <a:xfrm>
            <a:off x="6374167" y="3665823"/>
            <a:ext cx="5449025" cy="2406291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sz="16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h_t</a:t>
            </a:r>
            <a:r>
              <a:rPr lang="en-US" altLang="zh-TW" sz="16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= </a:t>
            </a:r>
            <a:r>
              <a:rPr lang="en-US" altLang="zh-TW" sz="16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model.head</a:t>
            </a:r>
            <a:r>
              <a:rPr lang="en-US" altLang="zh-TW" sz="16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[0](d).</a:t>
            </a:r>
            <a:r>
              <a:rPr lang="en-US" altLang="zh-TW" sz="16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last_hidden_state.detach</a:t>
            </a:r>
            <a:r>
              <a:rPr lang="en-US" altLang="zh-TW" sz="16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()</a:t>
            </a:r>
          </a:p>
          <a:p>
            <a:r>
              <a:rPr lang="en-US" altLang="zh-TW" sz="16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c = confidence(t)</a:t>
            </a:r>
          </a:p>
          <a:p>
            <a:r>
              <a:rPr lang="en-US" altLang="zh-TW" sz="16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for </a:t>
            </a:r>
            <a:r>
              <a:rPr lang="en-US" altLang="zh-TW" sz="16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</a:t>
            </a:r>
            <a:r>
              <a:rPr lang="en-US" altLang="zh-TW" sz="16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in range(1,n):</a:t>
            </a:r>
          </a:p>
          <a:p>
            <a:r>
              <a:rPr lang="en-US" altLang="zh-TW" sz="16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h_s</a:t>
            </a:r>
            <a:r>
              <a:rPr lang="en-US" altLang="zh-TW" sz="16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= </a:t>
            </a:r>
            <a:r>
              <a:rPr lang="en-US" altLang="zh-TW" sz="16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model.head</a:t>
            </a:r>
            <a:r>
              <a:rPr lang="en-US" altLang="zh-TW" sz="16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[</a:t>
            </a:r>
            <a:r>
              <a:rPr lang="en-US" altLang="zh-TW" sz="16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</a:t>
            </a:r>
            <a:r>
              <a:rPr lang="en-US" altLang="zh-TW" sz="16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](d).</a:t>
            </a:r>
            <a:r>
              <a:rPr lang="en-US" altLang="zh-TW" sz="16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last_hidden_state</a:t>
            </a:r>
            <a:endParaRPr lang="en-US" altLang="zh-TW" sz="1600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16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   </a:t>
            </a:r>
          </a:p>
          <a:p>
            <a:r>
              <a:rPr lang="en-US" altLang="zh-TW" sz="16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lcm_loss</a:t>
            </a:r>
            <a:r>
              <a:rPr lang="en-US" altLang="zh-TW" sz="16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= (</a:t>
            </a:r>
            <a:r>
              <a:rPr lang="en-US" altLang="zh-TW" sz="16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h_t</a:t>
            </a:r>
            <a:r>
              <a:rPr lang="en-US" altLang="zh-TW" sz="16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- </a:t>
            </a:r>
            <a:r>
              <a:rPr lang="en-US" altLang="zh-TW" sz="16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h_s</a:t>
            </a:r>
            <a:r>
              <a:rPr lang="en-US" altLang="zh-TW" sz="16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).pow(2).mean().mean()</a:t>
            </a:r>
          </a:p>
          <a:p>
            <a:r>
              <a:rPr lang="en-US" altLang="zh-TW" sz="16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   </a:t>
            </a:r>
            <a:r>
              <a:rPr lang="en-US" altLang="zh-TW" sz="1600" dirty="0" err="1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total_loss</a:t>
            </a:r>
            <a:r>
              <a:rPr lang="en-US" altLang="zh-TW" sz="1600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 += lcm _loss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29E285-5C11-3673-8EBB-687CDC918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0795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13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6703095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64AFC7C3-1290-0262-914D-63F3E40C9B83}"/>
                  </a:ext>
                </a:extLst>
              </p:cNvPr>
              <p:cNvSpPr txBox="1"/>
              <p:nvPr/>
            </p:nvSpPr>
            <p:spPr>
              <a:xfrm>
                <a:off x="6584535" y="5046388"/>
                <a:ext cx="552697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TW" sz="16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altLang="zh-TW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altLang="zh-TW" sz="1600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zh-TW" sz="1600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zh-TW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altLang="zh-TW" sz="1600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rPr>
                  <a:t>: loss weight</a:t>
                </a:r>
              </a:p>
            </p:txBody>
          </p:sp>
        </mc:Choice>
        <mc:Fallback xmlns="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64AFC7C3-1290-0262-914D-63F3E40C9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535" y="5046388"/>
                <a:ext cx="5526970" cy="338554"/>
              </a:xfrm>
              <a:prstGeom prst="rect">
                <a:avLst/>
              </a:prstGeom>
              <a:blipFill>
                <a:blip r:embed="rId2"/>
                <a:stretch>
                  <a:fillRect l="-441" t="-5455" b="-2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92AD38D-E914-B210-DA90-FA0657E1D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51844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14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290D5411-92F0-3E9B-36F9-6AC525126917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Part3: Proposed method</a:t>
            </a:r>
            <a:endParaRPr 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237EA2C1-24DB-8A86-2095-D482CE46196B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Method overview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DF026A3A-B314-B966-B845-2DEF84AD9331}"/>
              </a:ext>
            </a:extLst>
          </p:cNvPr>
          <p:cNvSpPr/>
          <p:nvPr/>
        </p:nvSpPr>
        <p:spPr>
          <a:xfrm>
            <a:off x="502920" y="9144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本研究將 </a:t>
            </a:r>
            <a:r>
              <a:rPr lang="en-US" altLang="zh-TW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MTP CE loss </a:t>
            </a: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與 </a:t>
            </a:r>
            <a:r>
              <a:rPr lang="en-US" altLang="zh-TW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SDC / LCM consistency loss </a:t>
            </a: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結合，對齊 </a:t>
            </a:r>
            <a:r>
              <a:rPr lang="en-US" altLang="zh-TW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teacher</a:t>
            </a: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和</a:t>
            </a:r>
            <a:r>
              <a:rPr lang="en-US" altLang="zh-TW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student </a:t>
            </a: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在</a:t>
            </a:r>
            <a:r>
              <a:rPr lang="en-US" altLang="zh-TW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probability</a:t>
            </a: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與</a:t>
            </a:r>
            <a:r>
              <a:rPr lang="en-US" altLang="zh-TW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latent</a:t>
            </a:r>
            <a:r>
              <a:rPr lang="zh-TW" altLang="en-US" sz="14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的分佈。</a:t>
            </a:r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900054B5-782B-0391-DD00-B726944066FC}"/>
              </a:ext>
            </a:extLst>
          </p:cNvPr>
          <p:cNvGrpSpPr/>
          <p:nvPr/>
        </p:nvGrpSpPr>
        <p:grpSpPr>
          <a:xfrm>
            <a:off x="8352520" y="1309035"/>
            <a:ext cx="3839480" cy="2778967"/>
            <a:chOff x="8243995" y="1035356"/>
            <a:chExt cx="3839480" cy="2778967"/>
          </a:xfrm>
        </p:grpSpPr>
        <p:grpSp>
          <p:nvGrpSpPr>
            <p:cNvPr id="12" name="群組 11">
              <a:extLst>
                <a:ext uri="{FF2B5EF4-FFF2-40B4-BE49-F238E27FC236}">
                  <a16:creationId xmlns:a16="http://schemas.microsoft.com/office/drawing/2014/main" id="{1A52BF00-3821-3994-2787-4FBD4EC13920}"/>
                </a:ext>
              </a:extLst>
            </p:cNvPr>
            <p:cNvGrpSpPr/>
            <p:nvPr/>
          </p:nvGrpSpPr>
          <p:grpSpPr>
            <a:xfrm>
              <a:off x="8243995" y="1035356"/>
              <a:ext cx="3839480" cy="2778967"/>
              <a:chOff x="4831951" y="1346844"/>
              <a:chExt cx="3839480" cy="1851182"/>
            </a:xfrm>
          </p:grpSpPr>
          <p:sp>
            <p:nvSpPr>
              <p:cNvPr id="15" name="文字方塊 14">
                <a:extLst>
                  <a:ext uri="{FF2B5EF4-FFF2-40B4-BE49-F238E27FC236}">
                    <a16:creationId xmlns:a16="http://schemas.microsoft.com/office/drawing/2014/main" id="{EE6B8F08-19D0-531E-B08A-98C871885590}"/>
                  </a:ext>
                </a:extLst>
              </p:cNvPr>
              <p:cNvSpPr txBox="1"/>
              <p:nvPr/>
            </p:nvSpPr>
            <p:spPr>
              <a:xfrm>
                <a:off x="4831951" y="1346844"/>
                <a:ext cx="3839480" cy="1851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Forward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Backward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Teacher probability or latent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Student latent</a:t>
                </a:r>
              </a:p>
              <a:p>
                <a:pPr marL="285750" indent="-285750">
                  <a:lnSpc>
                    <a:spcPct val="20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TW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Student probability</a:t>
                </a:r>
              </a:p>
            </p:txBody>
          </p:sp>
          <p:sp>
            <p:nvSpPr>
              <p:cNvPr id="16" name="箭號: 向上 15">
                <a:extLst>
                  <a:ext uri="{FF2B5EF4-FFF2-40B4-BE49-F238E27FC236}">
                    <a16:creationId xmlns:a16="http://schemas.microsoft.com/office/drawing/2014/main" id="{1A089C36-FE2B-BE41-7BEF-4E3BE8ACF6AA}"/>
                  </a:ext>
                </a:extLst>
              </p:cNvPr>
              <p:cNvSpPr/>
              <p:nvPr/>
            </p:nvSpPr>
            <p:spPr>
              <a:xfrm>
                <a:off x="4861741" y="1446963"/>
                <a:ext cx="215809" cy="287773"/>
              </a:xfrm>
              <a:prstGeom prst="upArrow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  <p:sp>
            <p:nvSpPr>
              <p:cNvPr id="17" name="箭號: 向上 16">
                <a:extLst>
                  <a:ext uri="{FF2B5EF4-FFF2-40B4-BE49-F238E27FC236}">
                    <a16:creationId xmlns:a16="http://schemas.microsoft.com/office/drawing/2014/main" id="{70AD19A1-857D-CC17-BB70-B9FEF815E57B}"/>
                  </a:ext>
                </a:extLst>
              </p:cNvPr>
              <p:cNvSpPr/>
              <p:nvPr/>
            </p:nvSpPr>
            <p:spPr>
              <a:xfrm>
                <a:off x="4861741" y="1796970"/>
                <a:ext cx="215809" cy="287773"/>
              </a:xfrm>
              <a:prstGeom prst="upArrow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p:grpSp>
        <p:sp>
          <p:nvSpPr>
            <p:cNvPr id="13" name="箭號: 向上 12">
              <a:extLst>
                <a:ext uri="{FF2B5EF4-FFF2-40B4-BE49-F238E27FC236}">
                  <a16:creationId xmlns:a16="http://schemas.microsoft.com/office/drawing/2014/main" id="{035184CF-F636-7677-D1A7-F06A0C8C036C}"/>
                </a:ext>
              </a:extLst>
            </p:cNvPr>
            <p:cNvSpPr/>
            <p:nvPr/>
          </p:nvSpPr>
          <p:spPr>
            <a:xfrm>
              <a:off x="8273785" y="2243078"/>
              <a:ext cx="215809" cy="432000"/>
            </a:xfrm>
            <a:prstGeom prst="upArrow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sp>
          <p:nvSpPr>
            <p:cNvPr id="14" name="箭號: 向上 13">
              <a:extLst>
                <a:ext uri="{FF2B5EF4-FFF2-40B4-BE49-F238E27FC236}">
                  <a16:creationId xmlns:a16="http://schemas.microsoft.com/office/drawing/2014/main" id="{19F64B9C-B725-CD0D-1A09-EF2FA9C964B7}"/>
                </a:ext>
              </a:extLst>
            </p:cNvPr>
            <p:cNvSpPr/>
            <p:nvPr/>
          </p:nvSpPr>
          <p:spPr>
            <a:xfrm>
              <a:off x="8273784" y="2779166"/>
              <a:ext cx="215809" cy="432000"/>
            </a:xfrm>
            <a:prstGeom prst="upArrow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ABEDE5F4-CF9C-7C53-F2E8-59EA9F61C57F}"/>
              </a:ext>
            </a:extLst>
          </p:cNvPr>
          <p:cNvGrpSpPr/>
          <p:nvPr/>
        </p:nvGrpSpPr>
        <p:grpSpPr>
          <a:xfrm>
            <a:off x="57720" y="1359977"/>
            <a:ext cx="7955280" cy="4523313"/>
            <a:chOff x="605936" y="1262331"/>
            <a:chExt cx="10121382" cy="4523313"/>
          </a:xfrm>
        </p:grpSpPr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7B3D166D-013A-8D43-0247-96F9FE9B323B}"/>
                </a:ext>
              </a:extLst>
            </p:cNvPr>
            <p:cNvSpPr/>
            <p:nvPr/>
          </p:nvSpPr>
          <p:spPr>
            <a:xfrm>
              <a:off x="1319365" y="3120056"/>
              <a:ext cx="9036000" cy="72000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grpSp>
          <p:nvGrpSpPr>
            <p:cNvPr id="20" name="群組 19">
              <a:extLst>
                <a:ext uri="{FF2B5EF4-FFF2-40B4-BE49-F238E27FC236}">
                  <a16:creationId xmlns:a16="http://schemas.microsoft.com/office/drawing/2014/main" id="{1E842CD2-BD40-510E-9020-F1DC2816F00D}"/>
                </a:ext>
              </a:extLst>
            </p:cNvPr>
            <p:cNvGrpSpPr/>
            <p:nvPr/>
          </p:nvGrpSpPr>
          <p:grpSpPr>
            <a:xfrm>
              <a:off x="3318716" y="2926550"/>
              <a:ext cx="613876" cy="468000"/>
              <a:chOff x="2136461" y="3605615"/>
              <a:chExt cx="613876" cy="468000"/>
            </a:xfrm>
          </p:grpSpPr>
          <p:sp>
            <p:nvSpPr>
              <p:cNvPr id="84" name="箭號: 向上 83">
                <a:extLst>
                  <a:ext uri="{FF2B5EF4-FFF2-40B4-BE49-F238E27FC236}">
                    <a16:creationId xmlns:a16="http://schemas.microsoft.com/office/drawing/2014/main" id="{A173EDCC-DE15-4B9D-BBE1-B5B198BFB8F9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00B05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  <p:sp>
            <p:nvSpPr>
              <p:cNvPr id="85" name="箭號: 向上 84">
                <a:extLst>
                  <a:ext uri="{FF2B5EF4-FFF2-40B4-BE49-F238E27FC236}">
                    <a16:creationId xmlns:a16="http://schemas.microsoft.com/office/drawing/2014/main" id="{44AB310F-56A1-8F94-4C59-7887EE6BF6BE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p:grpSp>
        <p:sp>
          <p:nvSpPr>
            <p:cNvPr id="21" name="箭號: 向上 20">
              <a:extLst>
                <a:ext uri="{FF2B5EF4-FFF2-40B4-BE49-F238E27FC236}">
                  <a16:creationId xmlns:a16="http://schemas.microsoft.com/office/drawing/2014/main" id="{63C84C60-E543-0998-396B-43BBE6A17344}"/>
                </a:ext>
              </a:extLst>
            </p:cNvPr>
            <p:cNvSpPr/>
            <p:nvPr/>
          </p:nvSpPr>
          <p:spPr>
            <a:xfrm>
              <a:off x="2313345" y="2926550"/>
              <a:ext cx="144000" cy="468000"/>
            </a:xfrm>
            <a:prstGeom prst="upArrow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</p:txBody>
        </p:sp>
        <p:grpSp>
          <p:nvGrpSpPr>
            <p:cNvPr id="22" name="群組 21">
              <a:extLst>
                <a:ext uri="{FF2B5EF4-FFF2-40B4-BE49-F238E27FC236}">
                  <a16:creationId xmlns:a16="http://schemas.microsoft.com/office/drawing/2014/main" id="{0B3EA01F-9D24-745B-16DE-6B55174E0970}"/>
                </a:ext>
              </a:extLst>
            </p:cNvPr>
            <p:cNvGrpSpPr/>
            <p:nvPr/>
          </p:nvGrpSpPr>
          <p:grpSpPr>
            <a:xfrm>
              <a:off x="4678555" y="2901221"/>
              <a:ext cx="613876" cy="468000"/>
              <a:chOff x="2136461" y="3605615"/>
              <a:chExt cx="613876" cy="468000"/>
            </a:xfrm>
          </p:grpSpPr>
          <p:sp>
            <p:nvSpPr>
              <p:cNvPr id="82" name="箭號: 向上 81">
                <a:extLst>
                  <a:ext uri="{FF2B5EF4-FFF2-40B4-BE49-F238E27FC236}">
                    <a16:creationId xmlns:a16="http://schemas.microsoft.com/office/drawing/2014/main" id="{904AA130-27FF-D0FE-5A18-443DF50ADDC6}"/>
                  </a:ext>
                </a:extLst>
              </p:cNvPr>
              <p:cNvSpPr/>
              <p:nvPr/>
            </p:nvSpPr>
            <p:spPr>
              <a:xfrm>
                <a:off x="2136461" y="3605615"/>
                <a:ext cx="144000" cy="468000"/>
              </a:xfrm>
              <a:prstGeom prst="upArrow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  <p:sp>
            <p:nvSpPr>
              <p:cNvPr id="83" name="箭號: 向上 82">
                <a:extLst>
                  <a:ext uri="{FF2B5EF4-FFF2-40B4-BE49-F238E27FC236}">
                    <a16:creationId xmlns:a16="http://schemas.microsoft.com/office/drawing/2014/main" id="{9035ECEB-0BF3-75CF-9E59-44B69259ABA1}"/>
                  </a:ext>
                </a:extLst>
              </p:cNvPr>
              <p:cNvSpPr/>
              <p:nvPr/>
            </p:nvSpPr>
            <p:spPr>
              <a:xfrm>
                <a:off x="2606337" y="3605615"/>
                <a:ext cx="144000" cy="234000"/>
              </a:xfrm>
              <a:prstGeom prst="upArrow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p:grpSp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83EA5CE0-7BEE-6DD4-6F4C-B0377CCB274E}"/>
                </a:ext>
              </a:extLst>
            </p:cNvPr>
            <p:cNvGrpSpPr/>
            <p:nvPr/>
          </p:nvGrpSpPr>
          <p:grpSpPr>
            <a:xfrm>
              <a:off x="605936" y="1262331"/>
              <a:ext cx="10121382" cy="4523313"/>
              <a:chOff x="605936" y="1262331"/>
              <a:chExt cx="10121382" cy="4523313"/>
            </a:xfrm>
          </p:grpSpPr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D0027A6E-A654-D0FD-F500-0FF0DE1F0AE4}"/>
                  </a:ext>
                </a:extLst>
              </p:cNvPr>
              <p:cNvSpPr/>
              <p:nvPr/>
            </p:nvSpPr>
            <p:spPr>
              <a:xfrm>
                <a:off x="3045074" y="2240001"/>
                <a:ext cx="1277949" cy="601586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b="1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rPr>
                  <a:t>LCM Loss 2</a:t>
                </a:r>
                <a:endParaRPr lang="zh-TW" altLang="en-US" sz="1200" b="1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  <p:sp>
            <p:nvSpPr>
              <p:cNvPr id="25" name="矩形: 圓角 24">
                <a:extLst>
                  <a:ext uri="{FF2B5EF4-FFF2-40B4-BE49-F238E27FC236}">
                    <a16:creationId xmlns:a16="http://schemas.microsoft.com/office/drawing/2014/main" id="{E606BAC3-F8EA-C1ED-EB93-03B7DB2A8494}"/>
                  </a:ext>
                </a:extLst>
              </p:cNvPr>
              <p:cNvSpPr/>
              <p:nvPr/>
            </p:nvSpPr>
            <p:spPr>
              <a:xfrm>
                <a:off x="1839926" y="2235684"/>
                <a:ext cx="1143292" cy="601586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b="1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rPr>
                  <a:t>CE</a:t>
                </a:r>
                <a:r>
                  <a:rPr lang="zh-TW" altLang="en-US" sz="1200" b="1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rPr>
                  <a:t> </a:t>
                </a:r>
                <a:r>
                  <a:rPr lang="en-US" altLang="zh-TW" sz="1200" b="1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rPr>
                  <a:t>Loss 2</a:t>
                </a:r>
                <a:endParaRPr lang="zh-TW" altLang="en-US" sz="1200" b="1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  <p:sp>
            <p:nvSpPr>
              <p:cNvPr id="26" name="箭號: 向上 25">
                <a:extLst>
                  <a:ext uri="{FF2B5EF4-FFF2-40B4-BE49-F238E27FC236}">
                    <a16:creationId xmlns:a16="http://schemas.microsoft.com/office/drawing/2014/main" id="{084A4308-6B27-1624-81E3-98425AA28A92}"/>
                  </a:ext>
                </a:extLst>
              </p:cNvPr>
              <p:cNvSpPr/>
              <p:nvPr/>
            </p:nvSpPr>
            <p:spPr>
              <a:xfrm>
                <a:off x="2339572" y="1994190"/>
                <a:ext cx="144000" cy="216000"/>
              </a:xfrm>
              <a:prstGeom prst="upArrow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  <p:sp>
            <p:nvSpPr>
              <p:cNvPr id="27" name="箭號: 向上 26">
                <a:extLst>
                  <a:ext uri="{FF2B5EF4-FFF2-40B4-BE49-F238E27FC236}">
                    <a16:creationId xmlns:a16="http://schemas.microsoft.com/office/drawing/2014/main" id="{8BFF931C-9E9F-462B-6CF1-451B642699F4}"/>
                  </a:ext>
                </a:extLst>
              </p:cNvPr>
              <p:cNvSpPr/>
              <p:nvPr/>
            </p:nvSpPr>
            <p:spPr>
              <a:xfrm>
                <a:off x="3553654" y="1995537"/>
                <a:ext cx="144000" cy="216000"/>
              </a:xfrm>
              <a:prstGeom prst="upArrow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  <p:grpSp>
            <p:nvGrpSpPr>
              <p:cNvPr id="28" name="群組 27">
                <a:extLst>
                  <a:ext uri="{FF2B5EF4-FFF2-40B4-BE49-F238E27FC236}">
                    <a16:creationId xmlns:a16="http://schemas.microsoft.com/office/drawing/2014/main" id="{56D9BB14-0A18-40C0-730E-6373AEEB997F}"/>
                  </a:ext>
                </a:extLst>
              </p:cNvPr>
              <p:cNvGrpSpPr/>
              <p:nvPr/>
            </p:nvGrpSpPr>
            <p:grpSpPr>
              <a:xfrm>
                <a:off x="605936" y="1262331"/>
                <a:ext cx="10121382" cy="4523313"/>
                <a:chOff x="605936" y="1262331"/>
                <a:chExt cx="10121382" cy="4523313"/>
              </a:xfrm>
            </p:grpSpPr>
            <p:sp>
              <p:nvSpPr>
                <p:cNvPr id="31" name="矩形: 圓角 30">
                  <a:extLst>
                    <a:ext uri="{FF2B5EF4-FFF2-40B4-BE49-F238E27FC236}">
                      <a16:creationId xmlns:a16="http://schemas.microsoft.com/office/drawing/2014/main" id="{D71E5A92-F395-3C5C-A083-184E38D69030}"/>
                    </a:ext>
                  </a:extLst>
                </p:cNvPr>
                <p:cNvSpPr/>
                <p:nvPr/>
              </p:nvSpPr>
              <p:spPr>
                <a:xfrm>
                  <a:off x="705606" y="5128696"/>
                  <a:ext cx="6871658" cy="656948"/>
                </a:xfrm>
                <a:prstGeom prst="roundRect">
                  <a:avLst/>
                </a:prstGeom>
                <a:solidFill>
                  <a:schemeClr val="accent2"/>
                </a:solidFill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rPr>
                    <a:t>Shared</a:t>
                  </a:r>
                  <a:endParaRPr lang="zh-TW" altLang="en-US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endParaRPr>
                </a:p>
              </p:txBody>
            </p:sp>
            <p:sp>
              <p:nvSpPr>
                <p:cNvPr id="32" name="矩形: 圓角 31">
                  <a:extLst>
                    <a:ext uri="{FF2B5EF4-FFF2-40B4-BE49-F238E27FC236}">
                      <a16:creationId xmlns:a16="http://schemas.microsoft.com/office/drawing/2014/main" id="{BECEECDF-421B-68C7-36BE-3A97A56AC0AA}"/>
                    </a:ext>
                  </a:extLst>
                </p:cNvPr>
                <p:cNvSpPr/>
                <p:nvPr/>
              </p:nvSpPr>
              <p:spPr>
                <a:xfrm>
                  <a:off x="605936" y="3518732"/>
                  <a:ext cx="1143293" cy="601586"/>
                </a:xfrm>
                <a:prstGeom prst="roundRect">
                  <a:avLst/>
                </a:prstGeom>
                <a:solidFill>
                  <a:srgbClr val="0070C0"/>
                </a:solidFill>
              </p:spPr>
              <p:style>
                <a:lnRef idx="2">
                  <a:schemeClr val="accent5">
                    <a:shade val="15000"/>
                  </a:schemeClr>
                </a:lnRef>
                <a:fillRef idx="1">
                  <a:schemeClr val="accent5"/>
                </a:fillRef>
                <a:effectRef idx="0">
                  <a:schemeClr val="accent5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600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rPr>
                    <a:t>Head 1</a:t>
                  </a:r>
                  <a:endParaRPr lang="zh-TW" altLang="en-US" sz="1600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endParaRPr>
                </a:p>
              </p:txBody>
            </p:sp>
            <p:grpSp>
              <p:nvGrpSpPr>
                <p:cNvPr id="33" name="群組 32">
                  <a:extLst>
                    <a:ext uri="{FF2B5EF4-FFF2-40B4-BE49-F238E27FC236}">
                      <a16:creationId xmlns:a16="http://schemas.microsoft.com/office/drawing/2014/main" id="{83608CAB-C64C-6A56-8F31-AD7B86B139A3}"/>
                    </a:ext>
                  </a:extLst>
                </p:cNvPr>
                <p:cNvGrpSpPr/>
                <p:nvPr/>
              </p:nvGrpSpPr>
              <p:grpSpPr>
                <a:xfrm>
                  <a:off x="910033" y="4146873"/>
                  <a:ext cx="7872902" cy="966351"/>
                  <a:chOff x="927788" y="4825938"/>
                  <a:chExt cx="5865080" cy="966351"/>
                </a:xfrm>
              </p:grpSpPr>
              <p:grpSp>
                <p:nvGrpSpPr>
                  <p:cNvPr id="71" name="群組 70">
                    <a:extLst>
                      <a:ext uri="{FF2B5EF4-FFF2-40B4-BE49-F238E27FC236}">
                        <a16:creationId xmlns:a16="http://schemas.microsoft.com/office/drawing/2014/main" id="{B8750EE4-010D-B544-A221-BF2BB2C321E6}"/>
                      </a:ext>
                    </a:extLst>
                  </p:cNvPr>
                  <p:cNvGrpSpPr/>
                  <p:nvPr/>
                </p:nvGrpSpPr>
                <p:grpSpPr>
                  <a:xfrm>
                    <a:off x="927788" y="4843550"/>
                    <a:ext cx="5544147" cy="948739"/>
                    <a:chOff x="1653159" y="2701033"/>
                    <a:chExt cx="2817772" cy="948739"/>
                  </a:xfrm>
                </p:grpSpPr>
                <p:sp>
                  <p:nvSpPr>
                    <p:cNvPr id="77" name="矩形 76">
                      <a:extLst>
                        <a:ext uri="{FF2B5EF4-FFF2-40B4-BE49-F238E27FC236}">
                          <a16:creationId xmlns:a16="http://schemas.microsoft.com/office/drawing/2014/main" id="{0A1222BF-1E48-5561-CCEA-BDBB1ACE82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53159" y="2701033"/>
                      <a:ext cx="40892" cy="656948"/>
                    </a:xfrm>
                    <a:prstGeom prst="rect">
                      <a:avLst/>
                    </a:prstGeom>
                    <a:solidFill>
                      <a:srgbClr val="0070C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p:txBody>
                </p:sp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CA65722C-D2E7-2B26-4FB3-F3E1E110A3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849206" y="2701033"/>
                      <a:ext cx="40892" cy="656948"/>
                    </a:xfrm>
                    <a:prstGeom prst="rect">
                      <a:avLst/>
                    </a:prstGeom>
                    <a:solidFill>
                      <a:srgbClr val="0070C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p:txBody>
                </p:sp>
                <p:sp>
                  <p:nvSpPr>
                    <p:cNvPr id="79" name="矩形 78">
                      <a:extLst>
                        <a:ext uri="{FF2B5EF4-FFF2-40B4-BE49-F238E27FC236}">
                          <a16:creationId xmlns:a16="http://schemas.microsoft.com/office/drawing/2014/main" id="{12856073-4E8F-724F-F877-9C2C49D10CB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430039" y="2701033"/>
                      <a:ext cx="40892" cy="656948"/>
                    </a:xfrm>
                    <a:prstGeom prst="rect">
                      <a:avLst/>
                    </a:prstGeom>
                    <a:solidFill>
                      <a:srgbClr val="0070C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p:txBody>
                </p:sp>
                <p:sp>
                  <p:nvSpPr>
                    <p:cNvPr id="80" name="矩形 79">
                      <a:extLst>
                        <a:ext uri="{FF2B5EF4-FFF2-40B4-BE49-F238E27FC236}">
                          <a16:creationId xmlns:a16="http://schemas.microsoft.com/office/drawing/2014/main" id="{511BE064-4C00-38B6-AE27-7003C47E2D0E}"/>
                        </a:ext>
                      </a:extLst>
                    </p:cNvPr>
                    <p:cNvSpPr/>
                    <p:nvPr/>
                  </p:nvSpPr>
                  <p:spPr>
                    <a:xfrm rot="5400000">
                      <a:off x="2990039" y="1917493"/>
                      <a:ext cx="108000" cy="2772000"/>
                    </a:xfrm>
                    <a:prstGeom prst="rect">
                      <a:avLst/>
                    </a:prstGeom>
                    <a:solidFill>
                      <a:srgbClr val="0070C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p:txBody>
                </p:sp>
                <p:sp>
                  <p:nvSpPr>
                    <p:cNvPr id="81" name="箭號: 向下 80">
                      <a:extLst>
                        <a:ext uri="{FF2B5EF4-FFF2-40B4-BE49-F238E27FC236}">
                          <a16:creationId xmlns:a16="http://schemas.microsoft.com/office/drawing/2014/main" id="{985BA7CC-CCCA-4E6D-2B97-7895F315C75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431366" y="3253772"/>
                      <a:ext cx="81783" cy="396000"/>
                    </a:xfrm>
                    <a:prstGeom prst="downArrow">
                      <a:avLst/>
                    </a:prstGeom>
                    <a:solidFill>
                      <a:srgbClr val="0070C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p:txBody>
                </p:sp>
              </p:grpSp>
              <p:grpSp>
                <p:nvGrpSpPr>
                  <p:cNvPr id="72" name="群組 71">
                    <a:extLst>
                      <a:ext uri="{FF2B5EF4-FFF2-40B4-BE49-F238E27FC236}">
                        <a16:creationId xmlns:a16="http://schemas.microsoft.com/office/drawing/2014/main" id="{544F6709-B540-5E6F-AD73-44C8CC584E28}"/>
                      </a:ext>
                    </a:extLst>
                  </p:cNvPr>
                  <p:cNvGrpSpPr/>
                  <p:nvPr/>
                </p:nvGrpSpPr>
                <p:grpSpPr>
                  <a:xfrm>
                    <a:off x="1121379" y="4825938"/>
                    <a:ext cx="5671489" cy="945473"/>
                    <a:chOff x="1024147" y="4805717"/>
                    <a:chExt cx="2965142" cy="945473"/>
                  </a:xfrm>
                </p:grpSpPr>
                <p:sp>
                  <p:nvSpPr>
                    <p:cNvPr id="73" name="箭號: 上彎 72">
                      <a:extLst>
                        <a:ext uri="{FF2B5EF4-FFF2-40B4-BE49-F238E27FC236}">
                          <a16:creationId xmlns:a16="http://schemas.microsoft.com/office/drawing/2014/main" id="{EC26C22B-613D-EEAB-69A3-16E4AF5CCB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80225" y="4805717"/>
                      <a:ext cx="602206" cy="386056"/>
                    </a:xfrm>
                    <a:prstGeom prst="bentUpArrow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p:txBody>
                </p:sp>
                <p:sp>
                  <p:nvSpPr>
                    <p:cNvPr id="74" name="箭號: 上彎 73">
                      <a:extLst>
                        <a:ext uri="{FF2B5EF4-FFF2-40B4-BE49-F238E27FC236}">
                          <a16:creationId xmlns:a16="http://schemas.microsoft.com/office/drawing/2014/main" id="{334EBA7C-1D12-C528-8A3B-4827EB8BA1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18007" y="4805717"/>
                      <a:ext cx="1871282" cy="386056"/>
                    </a:xfrm>
                    <a:prstGeom prst="bentUpArrow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p:txBody>
                </p:sp>
                <p:sp>
                  <p:nvSpPr>
                    <p:cNvPr id="75" name="箭號: 上彎 74">
                      <a:extLst>
                        <a:ext uri="{FF2B5EF4-FFF2-40B4-BE49-F238E27FC236}">
                          <a16:creationId xmlns:a16="http://schemas.microsoft.com/office/drawing/2014/main" id="{B69358BB-4561-002F-7891-6126DB4DCE5C}"/>
                        </a:ext>
                      </a:extLst>
                    </p:cNvPr>
                    <p:cNvSpPr/>
                    <p:nvPr/>
                  </p:nvSpPr>
                  <p:spPr>
                    <a:xfrm flipH="1">
                      <a:off x="1024147" y="4805717"/>
                      <a:ext cx="862088" cy="386056"/>
                    </a:xfrm>
                    <a:prstGeom prst="bentUpArrow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p:txBody>
                </p:sp>
                <p:sp>
                  <p:nvSpPr>
                    <p:cNvPr id="76" name="矩形 75">
                      <a:extLst>
                        <a:ext uri="{FF2B5EF4-FFF2-40B4-BE49-F238E27FC236}">
                          <a16:creationId xmlns:a16="http://schemas.microsoft.com/office/drawing/2014/main" id="{E058954E-C539-AD43-5D48-108391B325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86233" y="5139190"/>
                      <a:ext cx="42064" cy="612000"/>
                    </a:xfrm>
                    <a:prstGeom prst="rect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p:txBody>
                </p:sp>
              </p:grpSp>
            </p:grpSp>
            <p:sp>
              <p:nvSpPr>
                <p:cNvPr id="34" name="矩形: 圓角 33">
                  <a:extLst>
                    <a:ext uri="{FF2B5EF4-FFF2-40B4-BE49-F238E27FC236}">
                      <a16:creationId xmlns:a16="http://schemas.microsoft.com/office/drawing/2014/main" id="{71E181DE-1993-41ED-ADC8-C3D6192B967F}"/>
                    </a:ext>
                  </a:extLst>
                </p:cNvPr>
                <p:cNvSpPr/>
                <p:nvPr/>
              </p:nvSpPr>
              <p:spPr>
                <a:xfrm>
                  <a:off x="605936" y="2237747"/>
                  <a:ext cx="1143293" cy="601586"/>
                </a:xfrm>
                <a:prstGeom prst="roundRect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TW" sz="1100" b="1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rPr>
                    <a:t>CE</a:t>
                  </a:r>
                  <a:r>
                    <a:rPr lang="zh-TW" altLang="en-US" sz="1100" b="1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rPr>
                    <a:t> </a:t>
                  </a:r>
                  <a:r>
                    <a:rPr lang="en-US" altLang="zh-TW" sz="1100" b="1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rPr>
                    <a:t>Loss 1</a:t>
                  </a:r>
                  <a:endParaRPr lang="zh-TW" altLang="en-US" sz="1100" b="1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endParaRPr>
                </a:p>
              </p:txBody>
            </p:sp>
            <p:grpSp>
              <p:nvGrpSpPr>
                <p:cNvPr id="35" name="群組 34">
                  <a:extLst>
                    <a:ext uri="{FF2B5EF4-FFF2-40B4-BE49-F238E27FC236}">
                      <a16:creationId xmlns:a16="http://schemas.microsoft.com/office/drawing/2014/main" id="{A0CEF7BF-F705-CFDC-D5B1-419775BA8F8B}"/>
                    </a:ext>
                  </a:extLst>
                </p:cNvPr>
                <p:cNvGrpSpPr/>
                <p:nvPr/>
              </p:nvGrpSpPr>
              <p:grpSpPr>
                <a:xfrm>
                  <a:off x="910033" y="2931776"/>
                  <a:ext cx="517331" cy="494512"/>
                  <a:chOff x="857746" y="3610841"/>
                  <a:chExt cx="517331" cy="494512"/>
                </a:xfrm>
              </p:grpSpPr>
              <p:grpSp>
                <p:nvGrpSpPr>
                  <p:cNvPr id="67" name="群組 66">
                    <a:extLst>
                      <a:ext uri="{FF2B5EF4-FFF2-40B4-BE49-F238E27FC236}">
                        <a16:creationId xmlns:a16="http://schemas.microsoft.com/office/drawing/2014/main" id="{DDB0F865-4A95-2265-1853-A8D7AD49EF0C}"/>
                      </a:ext>
                    </a:extLst>
                  </p:cNvPr>
                  <p:cNvGrpSpPr/>
                  <p:nvPr/>
                </p:nvGrpSpPr>
                <p:grpSpPr>
                  <a:xfrm>
                    <a:off x="857746" y="3610841"/>
                    <a:ext cx="337591" cy="494512"/>
                    <a:chOff x="2230583" y="2141666"/>
                    <a:chExt cx="337591" cy="494512"/>
                  </a:xfrm>
                </p:grpSpPr>
                <p:sp>
                  <p:nvSpPr>
                    <p:cNvPr id="69" name="箭號: 向上 68">
                      <a:extLst>
                        <a:ext uri="{FF2B5EF4-FFF2-40B4-BE49-F238E27FC236}">
                          <a16:creationId xmlns:a16="http://schemas.microsoft.com/office/drawing/2014/main" id="{ED9B7001-5180-618A-6869-D914D7A718B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30583" y="2141666"/>
                      <a:ext cx="144000" cy="468000"/>
                    </a:xfrm>
                    <a:prstGeom prst="upArrow">
                      <a:avLst/>
                    </a:prstGeom>
                    <a:solidFill>
                      <a:schemeClr val="accent4"/>
                    </a:solidFill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p:txBody>
                </p:sp>
                <p:sp>
                  <p:nvSpPr>
                    <p:cNvPr id="70" name="箭號: 向上 69">
                      <a:extLst>
                        <a:ext uri="{FF2B5EF4-FFF2-40B4-BE49-F238E27FC236}">
                          <a16:creationId xmlns:a16="http://schemas.microsoft.com/office/drawing/2014/main" id="{CA355550-243B-F420-B982-D89AC23476B9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2424174" y="2168178"/>
                      <a:ext cx="144000" cy="468000"/>
                    </a:xfrm>
                    <a:prstGeom prst="upArrow">
                      <a:avLst/>
                    </a:prstGeom>
                    <a:solidFill>
                      <a:srgbClr val="0070C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p:txBody>
                </p:sp>
              </p:grpSp>
              <p:sp>
                <p:nvSpPr>
                  <p:cNvPr id="68" name="矩形 67">
                    <a:extLst>
                      <a:ext uri="{FF2B5EF4-FFF2-40B4-BE49-F238E27FC236}">
                        <a16:creationId xmlns:a16="http://schemas.microsoft.com/office/drawing/2014/main" id="{33699C96-2DE7-8F8F-E083-7C05201B4DF5}"/>
                      </a:ext>
                    </a:extLst>
                  </p:cNvPr>
                  <p:cNvSpPr/>
                  <p:nvPr/>
                </p:nvSpPr>
                <p:spPr>
                  <a:xfrm>
                    <a:off x="1267077" y="3844841"/>
                    <a:ext cx="108000" cy="234000"/>
                  </a:xfrm>
                  <a:prstGeom prst="rect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</p:grpSp>
            <p:grpSp>
              <p:nvGrpSpPr>
                <p:cNvPr id="36" name="群組 35">
                  <a:extLst>
                    <a:ext uri="{FF2B5EF4-FFF2-40B4-BE49-F238E27FC236}">
                      <a16:creationId xmlns:a16="http://schemas.microsoft.com/office/drawing/2014/main" id="{0750793B-AAEE-3280-3FE1-36F8EA1E5C5D}"/>
                    </a:ext>
                  </a:extLst>
                </p:cNvPr>
                <p:cNvGrpSpPr/>
                <p:nvPr/>
              </p:nvGrpSpPr>
              <p:grpSpPr>
                <a:xfrm>
                  <a:off x="6062367" y="1262331"/>
                  <a:ext cx="571221" cy="2823813"/>
                  <a:chOff x="4361572" y="1328190"/>
                  <a:chExt cx="571221" cy="2823813"/>
                </a:xfrm>
              </p:grpSpPr>
              <p:sp>
                <p:nvSpPr>
                  <p:cNvPr id="64" name="文字方塊 63">
                    <a:extLst>
                      <a:ext uri="{FF2B5EF4-FFF2-40B4-BE49-F238E27FC236}">
                        <a16:creationId xmlns:a16="http://schemas.microsoft.com/office/drawing/2014/main" id="{C69C4A1B-7173-EB49-E84E-60390F596D80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3505672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a:t>… …</a:t>
                    </a:r>
                    <a:endParaRPr lang="zh-TW" altLang="en-US" dirty="0"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65" name="文字方塊 64">
                    <a:extLst>
                      <a:ext uri="{FF2B5EF4-FFF2-40B4-BE49-F238E27FC236}">
                        <a16:creationId xmlns:a16="http://schemas.microsoft.com/office/drawing/2014/main" id="{38181FA2-00FB-26EA-BA26-513D24CCB3A5}"/>
                      </a:ext>
                    </a:extLst>
                  </p:cNvPr>
                  <p:cNvSpPr txBox="1"/>
                  <p:nvPr/>
                </p:nvSpPr>
                <p:spPr>
                  <a:xfrm>
                    <a:off x="4364542" y="2213312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a:t>… …</a:t>
                    </a:r>
                    <a:endParaRPr lang="zh-TW" altLang="en-US" dirty="0"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66" name="文字方塊 65">
                    <a:extLst>
                      <a:ext uri="{FF2B5EF4-FFF2-40B4-BE49-F238E27FC236}">
                        <a16:creationId xmlns:a16="http://schemas.microsoft.com/office/drawing/2014/main" id="{2576391F-9DB9-3493-3EF2-DAE8676ED557}"/>
                      </a:ext>
                    </a:extLst>
                  </p:cNvPr>
                  <p:cNvSpPr txBox="1"/>
                  <p:nvPr/>
                </p:nvSpPr>
                <p:spPr>
                  <a:xfrm>
                    <a:off x="4361572" y="1328190"/>
                    <a:ext cx="56825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>
                    <a:spAutoFit/>
                  </a:bodyPr>
                  <a:lstStyle/>
                  <a:p>
                    <a:pPr algn="ctr"/>
                    <a:r>
                      <a:rPr lang="en-US" altLang="zh-TW" dirty="0"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a:t>… …</a:t>
                    </a:r>
                    <a:endParaRPr lang="zh-TW" altLang="en-US" dirty="0"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</p:grpSp>
            <p:grpSp>
              <p:nvGrpSpPr>
                <p:cNvPr id="37" name="群組 36">
                  <a:extLst>
                    <a:ext uri="{FF2B5EF4-FFF2-40B4-BE49-F238E27FC236}">
                      <a16:creationId xmlns:a16="http://schemas.microsoft.com/office/drawing/2014/main" id="{EBE49EDA-0AFA-00C8-1B24-8DCC0A63B8CB}"/>
                    </a:ext>
                  </a:extLst>
                </p:cNvPr>
                <p:cNvGrpSpPr/>
                <p:nvPr/>
              </p:nvGrpSpPr>
              <p:grpSpPr>
                <a:xfrm>
                  <a:off x="1833985" y="1382471"/>
                  <a:ext cx="4020558" cy="2747159"/>
                  <a:chOff x="1833985" y="1382471"/>
                  <a:chExt cx="2577457" cy="2747159"/>
                </a:xfrm>
              </p:grpSpPr>
              <p:sp>
                <p:nvSpPr>
                  <p:cNvPr id="57" name="矩形: 圓角 56">
                    <a:extLst>
                      <a:ext uri="{FF2B5EF4-FFF2-40B4-BE49-F238E27FC236}">
                        <a16:creationId xmlns:a16="http://schemas.microsoft.com/office/drawing/2014/main" id="{55F74A24-C87C-9388-E7CE-5304840C498E}"/>
                      </a:ext>
                    </a:extLst>
                  </p:cNvPr>
                  <p:cNvSpPr/>
                  <p:nvPr/>
                </p:nvSpPr>
                <p:spPr>
                  <a:xfrm>
                    <a:off x="1839926" y="3528044"/>
                    <a:ext cx="2337467" cy="601586"/>
                  </a:xfrm>
                  <a:prstGeom prst="roundRect">
                    <a:avLst/>
                  </a:prstGeom>
                  <a:solidFill>
                    <a:srgbClr val="0070C0"/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a:t>Head 2</a:t>
                    </a:r>
                    <a:endParaRPr lang="zh-TW" altLang="en-US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58" name="矩形: 圓角 57">
                    <a:extLst>
                      <a:ext uri="{FF2B5EF4-FFF2-40B4-BE49-F238E27FC236}">
                        <a16:creationId xmlns:a16="http://schemas.microsoft.com/office/drawing/2014/main" id="{0F5F5805-BBD4-6702-9562-2F776DC9A5A4}"/>
                      </a:ext>
                    </a:extLst>
                  </p:cNvPr>
                  <p:cNvSpPr/>
                  <p:nvPr/>
                </p:nvSpPr>
                <p:spPr>
                  <a:xfrm>
                    <a:off x="1833985" y="1382471"/>
                    <a:ext cx="2337467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grpSp>
                <p:nvGrpSpPr>
                  <p:cNvPr id="59" name="群組 58">
                    <a:extLst>
                      <a:ext uri="{FF2B5EF4-FFF2-40B4-BE49-F238E27FC236}">
                        <a16:creationId xmlns:a16="http://schemas.microsoft.com/office/drawing/2014/main" id="{AFEF954C-3329-1C5E-27AF-472D88120563}"/>
                      </a:ext>
                    </a:extLst>
                  </p:cNvPr>
                  <p:cNvGrpSpPr/>
                  <p:nvPr/>
                </p:nvGrpSpPr>
                <p:grpSpPr>
                  <a:xfrm>
                    <a:off x="4181160" y="1647994"/>
                    <a:ext cx="230282" cy="2314767"/>
                    <a:chOff x="4198915" y="2327059"/>
                    <a:chExt cx="230282" cy="2314767"/>
                  </a:xfrm>
                </p:grpSpPr>
                <p:sp>
                  <p:nvSpPr>
                    <p:cNvPr id="60" name="矩形 59">
                      <a:extLst>
                        <a:ext uri="{FF2B5EF4-FFF2-40B4-BE49-F238E27FC236}">
                          <a16:creationId xmlns:a16="http://schemas.microsoft.com/office/drawing/2014/main" id="{7049A5A6-3E88-E7B3-7401-C348DE1998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369619" y="2327060"/>
                      <a:ext cx="59578" cy="2268000"/>
                    </a:xfrm>
                    <a:prstGeom prst="rect">
                      <a:avLst/>
                    </a:prstGeom>
                    <a:solidFill>
                      <a:srgbClr val="0070C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p:txBody>
                </p:sp>
                <p:grpSp>
                  <p:nvGrpSpPr>
                    <p:cNvPr id="61" name="群組 60">
                      <a:extLst>
                        <a:ext uri="{FF2B5EF4-FFF2-40B4-BE49-F238E27FC236}">
                          <a16:creationId xmlns:a16="http://schemas.microsoft.com/office/drawing/2014/main" id="{33656695-902B-13CE-AF46-91B0C2C230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198915" y="2327059"/>
                      <a:ext cx="200493" cy="2314767"/>
                      <a:chOff x="4198915" y="2327059"/>
                      <a:chExt cx="200493" cy="2314767"/>
                    </a:xfrm>
                  </p:grpSpPr>
                  <p:sp>
                    <p:nvSpPr>
                      <p:cNvPr id="62" name="矩形 61">
                        <a:extLst>
                          <a:ext uri="{FF2B5EF4-FFF2-40B4-BE49-F238E27FC236}">
                            <a16:creationId xmlns:a16="http://schemas.microsoft.com/office/drawing/2014/main" id="{11BB2F8F-0226-3B69-9F7D-353969A44C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198915" y="2327059"/>
                        <a:ext cx="200493" cy="72000"/>
                      </a:xfrm>
                      <a:prstGeom prst="rect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endParaRPr>
                      </a:p>
                    </p:txBody>
                  </p:sp>
                  <p:sp>
                    <p:nvSpPr>
                      <p:cNvPr id="63" name="箭號: 向左 62">
                        <a:extLst>
                          <a:ext uri="{FF2B5EF4-FFF2-40B4-BE49-F238E27FC236}">
                            <a16:creationId xmlns:a16="http://schemas.microsoft.com/office/drawing/2014/main" id="{65BDC8C3-AAE8-B309-89D1-2EBB2E4DF1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207826" y="4461826"/>
                        <a:ext cx="180000" cy="180000"/>
                      </a:xfrm>
                      <a:prstGeom prst="leftArrow">
                        <a:avLst/>
                      </a:prstGeom>
                      <a:solidFill>
                        <a:srgbClr val="0070C0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zh-TW" altLang="en-US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8" name="群組 37">
                  <a:extLst>
                    <a:ext uri="{FF2B5EF4-FFF2-40B4-BE49-F238E27FC236}">
                      <a16:creationId xmlns:a16="http://schemas.microsoft.com/office/drawing/2014/main" id="{ABC573B0-D8E3-7481-A0FF-097851200FE8}"/>
                    </a:ext>
                  </a:extLst>
                </p:cNvPr>
                <p:cNvGrpSpPr/>
                <p:nvPr/>
              </p:nvGrpSpPr>
              <p:grpSpPr>
                <a:xfrm>
                  <a:off x="6794792" y="1379985"/>
                  <a:ext cx="3932526" cy="2782428"/>
                  <a:chOff x="5119943" y="1347202"/>
                  <a:chExt cx="3932526" cy="2782428"/>
                </a:xfrm>
              </p:grpSpPr>
              <p:sp>
                <p:nvSpPr>
                  <p:cNvPr id="39" name="矩形: 圓角 38">
                    <a:extLst>
                      <a:ext uri="{FF2B5EF4-FFF2-40B4-BE49-F238E27FC236}">
                        <a16:creationId xmlns:a16="http://schemas.microsoft.com/office/drawing/2014/main" id="{1FC3DA65-E2E6-14DD-67BC-7EE5F1A590DE}"/>
                      </a:ext>
                    </a:extLst>
                  </p:cNvPr>
                  <p:cNvSpPr/>
                  <p:nvPr/>
                </p:nvSpPr>
                <p:spPr>
                  <a:xfrm>
                    <a:off x="5119943" y="2235684"/>
                    <a:ext cx="1113375" cy="601586"/>
                  </a:xfrm>
                  <a:prstGeom prst="roundRect">
                    <a:avLst/>
                  </a:prstGeom>
                  <a:solidFill>
                    <a:srgbClr val="FFC000"/>
                  </a:solidFill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a:t>CE</a:t>
                    </a:r>
                    <a:r>
                      <a:rPr lang="zh-TW" altLang="en-US" sz="1100" b="1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a:t> </a:t>
                    </a:r>
                    <a:r>
                      <a:rPr lang="en-US" altLang="zh-TW" sz="1100" b="1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a:t>Loss K</a:t>
                    </a:r>
                    <a:endParaRPr lang="zh-TW" altLang="en-US" sz="1100" b="1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grpSp>
                <p:nvGrpSpPr>
                  <p:cNvPr id="40" name="群組 39">
                    <a:extLst>
                      <a:ext uri="{FF2B5EF4-FFF2-40B4-BE49-F238E27FC236}">
                        <a16:creationId xmlns:a16="http://schemas.microsoft.com/office/drawing/2014/main" id="{6AD31FD9-CFC9-3BC6-DAA9-4BA363EEF52C}"/>
                      </a:ext>
                    </a:extLst>
                  </p:cNvPr>
                  <p:cNvGrpSpPr/>
                  <p:nvPr/>
                </p:nvGrpSpPr>
                <p:grpSpPr>
                  <a:xfrm>
                    <a:off x="6621178" y="2926550"/>
                    <a:ext cx="613876" cy="468000"/>
                    <a:chOff x="2136461" y="3605615"/>
                    <a:chExt cx="613876" cy="468000"/>
                  </a:xfrm>
                </p:grpSpPr>
                <p:sp>
                  <p:nvSpPr>
                    <p:cNvPr id="55" name="箭號: 向上 54">
                      <a:extLst>
                        <a:ext uri="{FF2B5EF4-FFF2-40B4-BE49-F238E27FC236}">
                          <a16:creationId xmlns:a16="http://schemas.microsoft.com/office/drawing/2014/main" id="{9EE21966-B3AD-3C8F-923E-329C0708068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136461" y="3605615"/>
                      <a:ext cx="144000" cy="468000"/>
                    </a:xfrm>
                    <a:prstGeom prst="upArrow">
                      <a:avLst/>
                    </a:prstGeom>
                    <a:solidFill>
                      <a:srgbClr val="00B050"/>
                    </a:solidFill>
                    <a:ln>
                      <a:noFill/>
                    </a:ln>
                  </p:spPr>
                  <p:style>
                    <a:lnRef idx="2">
                      <a:schemeClr val="accent2">
                        <a:shade val="15000"/>
                      </a:schemeClr>
                    </a:lnRef>
                    <a:fillRef idx="1">
                      <a:schemeClr val="accent2"/>
                    </a:fillRef>
                    <a:effectRef idx="0">
                      <a:schemeClr val="accent2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p:txBody>
                </p:sp>
                <p:sp>
                  <p:nvSpPr>
                    <p:cNvPr id="56" name="箭號: 向上 55">
                      <a:extLst>
                        <a:ext uri="{FF2B5EF4-FFF2-40B4-BE49-F238E27FC236}">
                          <a16:creationId xmlns:a16="http://schemas.microsoft.com/office/drawing/2014/main" id="{779FDD16-A83A-3C5F-9569-4923C899FC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606337" y="3605615"/>
                      <a:ext cx="144000" cy="234000"/>
                    </a:xfrm>
                    <a:prstGeom prst="upArrow">
                      <a:avLst/>
                    </a:prstGeom>
                    <a:solidFill>
                      <a:srgbClr val="FF000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p:txBody>
                </p:sp>
              </p:grpSp>
              <p:sp>
                <p:nvSpPr>
                  <p:cNvPr id="41" name="箭號: 向上 40">
                    <a:extLst>
                      <a:ext uri="{FF2B5EF4-FFF2-40B4-BE49-F238E27FC236}">
                        <a16:creationId xmlns:a16="http://schemas.microsoft.com/office/drawing/2014/main" id="{AA3F0EB9-080C-EB04-42F5-AC1F024EC1FE}"/>
                      </a:ext>
                    </a:extLst>
                  </p:cNvPr>
                  <p:cNvSpPr/>
                  <p:nvPr/>
                </p:nvSpPr>
                <p:spPr>
                  <a:xfrm>
                    <a:off x="5609384" y="2926550"/>
                    <a:ext cx="144000" cy="468000"/>
                  </a:xfrm>
                  <a:prstGeom prst="upArrow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42" name="箭號: 向上 41">
                    <a:extLst>
                      <a:ext uri="{FF2B5EF4-FFF2-40B4-BE49-F238E27FC236}">
                        <a16:creationId xmlns:a16="http://schemas.microsoft.com/office/drawing/2014/main" id="{A85BE5B5-C490-1D33-0D5D-CCB43FE4BF59}"/>
                      </a:ext>
                    </a:extLst>
                  </p:cNvPr>
                  <p:cNvSpPr/>
                  <p:nvPr/>
                </p:nvSpPr>
                <p:spPr>
                  <a:xfrm>
                    <a:off x="5609384" y="1984057"/>
                    <a:ext cx="144000" cy="216000"/>
                  </a:xfrm>
                  <a:prstGeom prst="upArrow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43" name="箭號: 向上 42">
                    <a:extLst>
                      <a:ext uri="{FF2B5EF4-FFF2-40B4-BE49-F238E27FC236}">
                        <a16:creationId xmlns:a16="http://schemas.microsoft.com/office/drawing/2014/main" id="{A334D02C-5A7E-7BC5-3DD6-815FD87C566C}"/>
                      </a:ext>
                    </a:extLst>
                  </p:cNvPr>
                  <p:cNvSpPr/>
                  <p:nvPr/>
                </p:nvSpPr>
                <p:spPr>
                  <a:xfrm>
                    <a:off x="6832604" y="1984057"/>
                    <a:ext cx="144000" cy="216000"/>
                  </a:xfrm>
                  <a:prstGeom prst="upArrow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44" name="矩形: 圓角 43">
                    <a:extLst>
                      <a:ext uri="{FF2B5EF4-FFF2-40B4-BE49-F238E27FC236}">
                        <a16:creationId xmlns:a16="http://schemas.microsoft.com/office/drawing/2014/main" id="{85CFA479-001F-0F49-5FBF-0EB96FBBD5A0}"/>
                      </a:ext>
                    </a:extLst>
                  </p:cNvPr>
                  <p:cNvSpPr/>
                  <p:nvPr/>
                </p:nvSpPr>
                <p:spPr>
                  <a:xfrm>
                    <a:off x="5119943" y="3528044"/>
                    <a:ext cx="3562573" cy="601586"/>
                  </a:xfrm>
                  <a:prstGeom prst="roundRect">
                    <a:avLst/>
                  </a:prstGeom>
                  <a:solidFill>
                    <a:srgbClr val="0070C0"/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a:t>Head K</a:t>
                    </a:r>
                    <a:endParaRPr lang="zh-TW" altLang="en-US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grpSp>
                <p:nvGrpSpPr>
                  <p:cNvPr id="45" name="群組 44">
                    <a:extLst>
                      <a:ext uri="{FF2B5EF4-FFF2-40B4-BE49-F238E27FC236}">
                        <a16:creationId xmlns:a16="http://schemas.microsoft.com/office/drawing/2014/main" id="{C01835E1-C7A3-AA46-CECE-06514EB0096E}"/>
                      </a:ext>
                    </a:extLst>
                  </p:cNvPr>
                  <p:cNvGrpSpPr/>
                  <p:nvPr/>
                </p:nvGrpSpPr>
                <p:grpSpPr>
                  <a:xfrm>
                    <a:off x="8694245" y="1647994"/>
                    <a:ext cx="312802" cy="2314744"/>
                    <a:chOff x="4194267" y="2327059"/>
                    <a:chExt cx="205141" cy="2314744"/>
                  </a:xfrm>
                </p:grpSpPr>
                <p:sp>
                  <p:nvSpPr>
                    <p:cNvPr id="53" name="矩形 52">
                      <a:extLst>
                        <a:ext uri="{FF2B5EF4-FFF2-40B4-BE49-F238E27FC236}">
                          <a16:creationId xmlns:a16="http://schemas.microsoft.com/office/drawing/2014/main" id="{B52811F9-156B-8D2D-CDF1-7DC2E62D08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8915" y="2327059"/>
                      <a:ext cx="200493" cy="90000"/>
                    </a:xfrm>
                    <a:prstGeom prst="rect">
                      <a:avLst/>
                    </a:prstGeom>
                    <a:solidFill>
                      <a:srgbClr val="0070C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p:txBody>
                </p:sp>
                <p:sp>
                  <p:nvSpPr>
                    <p:cNvPr id="54" name="箭號: 向左 53">
                      <a:extLst>
                        <a:ext uri="{FF2B5EF4-FFF2-40B4-BE49-F238E27FC236}">
                          <a16:creationId xmlns:a16="http://schemas.microsoft.com/office/drawing/2014/main" id="{C1AB85D7-8D07-959F-546C-18711124BC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94267" y="4461803"/>
                      <a:ext cx="180000" cy="180000"/>
                    </a:xfrm>
                    <a:prstGeom prst="leftArrow">
                      <a:avLst/>
                    </a:prstGeom>
                    <a:solidFill>
                      <a:srgbClr val="0070C0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zh-TW" altLang="en-US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p:txBody>
                </p:sp>
              </p:grpSp>
              <p:sp>
                <p:nvSpPr>
                  <p:cNvPr id="46" name="矩形: 圓角 45">
                    <a:extLst>
                      <a:ext uri="{FF2B5EF4-FFF2-40B4-BE49-F238E27FC236}">
                        <a16:creationId xmlns:a16="http://schemas.microsoft.com/office/drawing/2014/main" id="{0CEFFEE3-513E-954C-0097-93A32C4703B3}"/>
                      </a:ext>
                    </a:extLst>
                  </p:cNvPr>
                  <p:cNvSpPr/>
                  <p:nvPr/>
                </p:nvSpPr>
                <p:spPr>
                  <a:xfrm>
                    <a:off x="5119943" y="1347202"/>
                    <a:ext cx="3564200" cy="601586"/>
                  </a:xfrm>
                  <a:prstGeom prst="roundRect">
                    <a:avLst/>
                  </a:prstGeom>
                  <a:solidFill>
                    <a:schemeClr val="tx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5">
                      <a:shade val="15000"/>
                    </a:schemeClr>
                  </a:lnRef>
                  <a:fillRef idx="1">
                    <a:schemeClr val="accent5"/>
                  </a:fillRef>
                  <a:effectRef idx="0">
                    <a:schemeClr val="accent5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a:t>Add</a:t>
                    </a:r>
                    <a:endParaRPr lang="zh-TW" altLang="en-US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47" name="矩形 46">
                    <a:extLst>
                      <a:ext uri="{FF2B5EF4-FFF2-40B4-BE49-F238E27FC236}">
                        <a16:creationId xmlns:a16="http://schemas.microsoft.com/office/drawing/2014/main" id="{5EC48091-B2E7-5434-E138-CCC4B773A822}"/>
                      </a:ext>
                    </a:extLst>
                  </p:cNvPr>
                  <p:cNvSpPr/>
                  <p:nvPr/>
                </p:nvSpPr>
                <p:spPr>
                  <a:xfrm>
                    <a:off x="8961624" y="1647995"/>
                    <a:ext cx="90845" cy="2268000"/>
                  </a:xfrm>
                  <a:prstGeom prst="rect">
                    <a:avLst/>
                  </a:prstGeom>
                  <a:solidFill>
                    <a:srgbClr val="0070C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48" name="矩形: 圓角 47">
                    <a:extLst>
                      <a:ext uri="{FF2B5EF4-FFF2-40B4-BE49-F238E27FC236}">
                        <a16:creationId xmlns:a16="http://schemas.microsoft.com/office/drawing/2014/main" id="{C050283C-EF63-902E-DF81-124B17048713}"/>
                      </a:ext>
                    </a:extLst>
                  </p:cNvPr>
                  <p:cNvSpPr/>
                  <p:nvPr/>
                </p:nvSpPr>
                <p:spPr>
                  <a:xfrm>
                    <a:off x="6295316" y="2241003"/>
                    <a:ext cx="1277949" cy="601586"/>
                  </a:xfrm>
                  <a:prstGeom prst="roundRect">
                    <a:avLst/>
                  </a:prstGeom>
                  <a:solidFill>
                    <a:srgbClr val="FFC000"/>
                  </a:solidFill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200" b="1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a:t>LCM Loss K</a:t>
                    </a:r>
                    <a:endParaRPr lang="zh-TW" altLang="en-US" sz="1200" b="1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49" name="矩形: 圓角 48">
                    <a:extLst>
                      <a:ext uri="{FF2B5EF4-FFF2-40B4-BE49-F238E27FC236}">
                        <a16:creationId xmlns:a16="http://schemas.microsoft.com/office/drawing/2014/main" id="{64958959-8FC5-B8E9-F36C-1FC4FF8A5E60}"/>
                      </a:ext>
                    </a:extLst>
                  </p:cNvPr>
                  <p:cNvSpPr/>
                  <p:nvPr/>
                </p:nvSpPr>
                <p:spPr>
                  <a:xfrm>
                    <a:off x="7619682" y="2233629"/>
                    <a:ext cx="1277949" cy="601586"/>
                  </a:xfrm>
                  <a:prstGeom prst="roundRect">
                    <a:avLst/>
                  </a:prstGeom>
                  <a:solidFill>
                    <a:srgbClr val="FFC000"/>
                  </a:solidFill>
                </p:spPr>
                <p:style>
                  <a:lnRef idx="2">
                    <a:schemeClr val="accent4">
                      <a:shade val="15000"/>
                    </a:schemeClr>
                  </a:lnRef>
                  <a:fillRef idx="1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TW" sz="1200" b="1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rPr>
                      <a:t>SDC Loss K</a:t>
                    </a:r>
                    <a:endParaRPr lang="zh-TW" altLang="en-US" sz="1200" b="1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50" name="箭號: 向上 49">
                    <a:extLst>
                      <a:ext uri="{FF2B5EF4-FFF2-40B4-BE49-F238E27FC236}">
                        <a16:creationId xmlns:a16="http://schemas.microsoft.com/office/drawing/2014/main" id="{0185C914-59C8-02B7-8D94-0D37B872E0BC}"/>
                      </a:ext>
                    </a:extLst>
                  </p:cNvPr>
                  <p:cNvSpPr/>
                  <p:nvPr/>
                </p:nvSpPr>
                <p:spPr>
                  <a:xfrm>
                    <a:off x="8568611" y="2920788"/>
                    <a:ext cx="144000" cy="234000"/>
                  </a:xfrm>
                  <a:prstGeom prst="upArrow">
                    <a:avLst/>
                  </a:prstGeom>
                  <a:solidFill>
                    <a:srgbClr val="FF0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51" name="箭號: 向上 50">
                    <a:extLst>
                      <a:ext uri="{FF2B5EF4-FFF2-40B4-BE49-F238E27FC236}">
                        <a16:creationId xmlns:a16="http://schemas.microsoft.com/office/drawing/2014/main" id="{CB23C83F-8767-A781-C50C-20E612CC195A}"/>
                      </a:ext>
                    </a:extLst>
                  </p:cNvPr>
                  <p:cNvSpPr/>
                  <p:nvPr/>
                </p:nvSpPr>
                <p:spPr>
                  <a:xfrm>
                    <a:off x="8192058" y="1986450"/>
                    <a:ext cx="144000" cy="216000"/>
                  </a:xfrm>
                  <a:prstGeom prst="upArrow">
                    <a:avLst/>
                  </a:prstGeom>
                  <a:solidFill>
                    <a:schemeClr val="accent4"/>
                  </a:solidFill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  <p:sp>
                <p:nvSpPr>
                  <p:cNvPr id="52" name="箭號: 向上 51">
                    <a:extLst>
                      <a:ext uri="{FF2B5EF4-FFF2-40B4-BE49-F238E27FC236}">
                        <a16:creationId xmlns:a16="http://schemas.microsoft.com/office/drawing/2014/main" id="{FF5780A4-09FC-8A66-4A17-0C73DE62B4A5}"/>
                      </a:ext>
                    </a:extLst>
                  </p:cNvPr>
                  <p:cNvSpPr/>
                  <p:nvPr/>
                </p:nvSpPr>
                <p:spPr>
                  <a:xfrm>
                    <a:off x="8088527" y="2928996"/>
                    <a:ext cx="144000" cy="468000"/>
                  </a:xfrm>
                  <a:prstGeom prst="upArrow">
                    <a:avLst/>
                  </a:prstGeom>
                  <a:solidFill>
                    <a:srgbClr val="7030A0"/>
                  </a:solidFill>
                  <a:ln>
                    <a:noFill/>
                  </a:ln>
                </p:spPr>
                <p:style>
                  <a:lnRef idx="2">
                    <a:schemeClr val="accent2">
                      <a:shade val="15000"/>
                    </a:schemeClr>
                  </a:lnRef>
                  <a:fillRef idx="1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TW" altLang="en-US" dirty="0">
                      <a:solidFill>
                        <a:schemeClr val="tx1"/>
                      </a:solidFill>
                      <a:latin typeface="標楷體" panose="03000509000000000000" pitchFamily="65" charset="-120"/>
                      <a:ea typeface="標楷體" panose="03000509000000000000" pitchFamily="65" charset="-120"/>
                    </a:endParaRPr>
                  </a:p>
                </p:txBody>
              </p:sp>
            </p:grpSp>
          </p:grpSp>
          <p:sp>
            <p:nvSpPr>
              <p:cNvPr id="29" name="矩形: 圓角 28">
                <a:extLst>
                  <a:ext uri="{FF2B5EF4-FFF2-40B4-BE49-F238E27FC236}">
                    <a16:creationId xmlns:a16="http://schemas.microsoft.com/office/drawing/2014/main" id="{6EC2B0BC-8D2E-A8F4-AC3D-29F7774CB9B0}"/>
                  </a:ext>
                </a:extLst>
              </p:cNvPr>
              <p:cNvSpPr/>
              <p:nvPr/>
            </p:nvSpPr>
            <p:spPr>
              <a:xfrm>
                <a:off x="4396742" y="2238264"/>
                <a:ext cx="1277949" cy="601586"/>
              </a:xfrm>
              <a:prstGeom prst="roundRect">
                <a:avLst/>
              </a:prstGeom>
              <a:solidFill>
                <a:srgbClr val="FFC000"/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200" b="1" dirty="0">
                    <a:solidFill>
                      <a:schemeClr val="tx1"/>
                    </a:solidFill>
                    <a:latin typeface="標楷體" panose="03000509000000000000" pitchFamily="65" charset="-120"/>
                    <a:ea typeface="標楷體" panose="03000509000000000000" pitchFamily="65" charset="-120"/>
                  </a:rPr>
                  <a:t>SDC Loss K</a:t>
                </a:r>
                <a:endParaRPr lang="zh-TW" altLang="en-US" sz="1200" b="1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  <p:sp>
            <p:nvSpPr>
              <p:cNvPr id="30" name="箭號: 向上 29">
                <a:extLst>
                  <a:ext uri="{FF2B5EF4-FFF2-40B4-BE49-F238E27FC236}">
                    <a16:creationId xmlns:a16="http://schemas.microsoft.com/office/drawing/2014/main" id="{C01E838F-A7FE-9FFF-153D-B6372FFA1FB4}"/>
                  </a:ext>
                </a:extLst>
              </p:cNvPr>
              <p:cNvSpPr/>
              <p:nvPr/>
            </p:nvSpPr>
            <p:spPr>
              <a:xfrm>
                <a:off x="4963716" y="1996796"/>
                <a:ext cx="144000" cy="216000"/>
              </a:xfrm>
              <a:prstGeom prst="upArrow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p:grpSp>
      </p:grpSp>
      <p:sp>
        <p:nvSpPr>
          <p:cNvPr id="86" name="箭號: 向上 85">
            <a:extLst>
              <a:ext uri="{FF2B5EF4-FFF2-40B4-BE49-F238E27FC236}">
                <a16:creationId xmlns:a16="http://schemas.microsoft.com/office/drawing/2014/main" id="{3A0FF195-172A-423E-ABC8-97F08035DFDB}"/>
              </a:ext>
            </a:extLst>
          </p:cNvPr>
          <p:cNvSpPr/>
          <p:nvPr/>
        </p:nvSpPr>
        <p:spPr>
          <a:xfrm>
            <a:off x="8396782" y="3591107"/>
            <a:ext cx="215809" cy="432000"/>
          </a:xfrm>
          <a:prstGeom prst="up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D40F25B6-DEBA-E63B-0D4D-200DD1605C63}"/>
                  </a:ext>
                </a:extLst>
              </p:cNvPr>
              <p:cNvSpPr txBox="1"/>
              <p:nvPr/>
            </p:nvSpPr>
            <p:spPr>
              <a:xfrm>
                <a:off x="6584535" y="4608216"/>
                <a:ext cx="41636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𝑡𝑜𝑡𝑎𝑙</m:t>
                          </m:r>
                        </m:sub>
                      </m:sSub>
                      <m:r>
                        <a:rPr lang="en-US" altLang="zh-TW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𝐶𝐸</m:t>
                          </m:r>
                        </m:sub>
                      </m:sSub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𝑆𝐷𝐶</m:t>
                          </m:r>
                        </m:sub>
                      </m:sSub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𝐿𝐶𝑀</m:t>
                          </m:r>
                        </m:sub>
                      </m:sSub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</p:txBody>
          </p:sp>
        </mc:Choice>
        <mc:Fallback xmlns="">
          <p:sp>
            <p:nvSpPr>
              <p:cNvPr id="88" name="文字方塊 87">
                <a:extLst>
                  <a:ext uri="{FF2B5EF4-FFF2-40B4-BE49-F238E27FC236}">
                    <a16:creationId xmlns:a16="http://schemas.microsoft.com/office/drawing/2014/main" id="{D40F25B6-DEBA-E63B-0D4D-200DD1605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4535" y="4608216"/>
                <a:ext cx="4163627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43949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5">
            <a:extLst>
              <a:ext uri="{FF2B5EF4-FFF2-40B4-BE49-F238E27FC236}">
                <a16:creationId xmlns:a16="http://schemas.microsoft.com/office/drawing/2014/main" id="{BF71064F-0026-1663-C4BE-F4C3FC855C56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Experiment results</a:t>
            </a:r>
            <a:endParaRPr 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F05858-5EB9-4A74-6134-3FF790FAC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15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56604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2">
            <a:extLst>
              <a:ext uri="{FF2B5EF4-FFF2-40B4-BE49-F238E27FC236}">
                <a16:creationId xmlns:a16="http://schemas.microsoft.com/office/drawing/2014/main" id="{081B6FAB-7337-3B14-55C8-52607EA57591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Part4: Experiment results</a:t>
            </a:r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1402FD1-BD31-030F-DBA9-8492CA693046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Evaluation metrics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表格 9">
                <a:extLst>
                  <a:ext uri="{FF2B5EF4-FFF2-40B4-BE49-F238E27FC236}">
                    <a16:creationId xmlns:a16="http://schemas.microsoft.com/office/drawing/2014/main" id="{B47DC393-BE3D-9749-5DB3-D678D63F1B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65865672"/>
                  </p:ext>
                </p:extLst>
              </p:nvPr>
            </p:nvGraphicFramePr>
            <p:xfrm>
              <a:off x="494811" y="1181303"/>
              <a:ext cx="11202378" cy="4794462"/>
            </p:xfrm>
            <a:graphic>
              <a:graphicData uri="http://schemas.openxmlformats.org/drawingml/2006/table">
                <a:tbl>
                  <a:tblPr firstRow="1" bandRow="1">
                    <a:tableStyleId>{D7AC3CCA-C797-4891-BE02-D94E43425B78}</a:tableStyleId>
                  </a:tblPr>
                  <a:tblGrid>
                    <a:gridCol w="2816560">
                      <a:extLst>
                        <a:ext uri="{9D8B030D-6E8A-4147-A177-3AD203B41FA5}">
                          <a16:colId xmlns:a16="http://schemas.microsoft.com/office/drawing/2014/main" val="1065077904"/>
                        </a:ext>
                      </a:extLst>
                    </a:gridCol>
                    <a:gridCol w="5779363">
                      <a:extLst>
                        <a:ext uri="{9D8B030D-6E8A-4147-A177-3AD203B41FA5}">
                          <a16:colId xmlns:a16="http://schemas.microsoft.com/office/drawing/2014/main" val="978672596"/>
                        </a:ext>
                      </a:extLst>
                    </a:gridCol>
                    <a:gridCol w="2606455">
                      <a:extLst>
                        <a:ext uri="{9D8B030D-6E8A-4147-A177-3AD203B41FA5}">
                          <a16:colId xmlns:a16="http://schemas.microsoft.com/office/drawing/2014/main" val="1651558404"/>
                        </a:ext>
                      </a:extLst>
                    </a:gridCol>
                  </a:tblGrid>
                  <a:tr h="6771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Definition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備註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9705471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Oracle PPL head 1~K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各 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head 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token prediction 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上的 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zh-TW" altLang="en-US" sz="1400" dirty="0">
                            <a:latin typeface="標楷體" panose="03000509000000000000" pitchFamily="65" charset="-120"/>
                            <a:ea typeface="標楷體" panose="03000509000000000000" pitchFamily="65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3415258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Avg Draft Token Accepted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不同 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prefix(prompt) length 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avg accepted tokens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prefix length 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從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1~1024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依次遞增，後加總取平均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8094444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Avg Draft Tokens Accepted vs. Prefix Length</a:t>
                          </a:r>
                          <a:endParaRPr lang="zh-TW" altLang="en-US" sz="1600" dirty="0">
                            <a:latin typeface="標楷體" panose="03000509000000000000" pitchFamily="65" charset="-120"/>
                            <a:ea typeface="標楷體" panose="03000509000000000000" pitchFamily="65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不同 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prefix(prompt) length 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avg accepted tokens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128, 256, 512, 768 length with random continue slicing</a:t>
                          </a:r>
                          <a:endParaRPr lang="zh-TW" altLang="en-US" sz="1400" dirty="0">
                            <a:latin typeface="標楷體" panose="03000509000000000000" pitchFamily="65" charset="-120"/>
                            <a:ea typeface="標楷體" panose="03000509000000000000" pitchFamily="65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1852090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Generative PPL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生成文字由外部 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LM 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評估的 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LM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使用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gpt2-large, 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200 response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59289110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Entropy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r>
                                <a:rPr lang="en-US" altLang="zh-TW" sz="1400" b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nary>
                                <m:naryPr>
                                  <m:chr m:val="∑"/>
                                  <m:subHide m:val="on"/>
                                  <m:supHide m:val="on"/>
                                  <m:ctrlPr>
                                    <a:rPr lang="en-US" altLang="zh-TW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/>
                                <m:sup/>
                                <m:e>
                                  <m:r>
                                    <a:rPr lang="en-US" altLang="zh-TW" sz="1400" b="0" smtClean="0">
                                      <a:latin typeface="Cambria Math" panose="02040503050406030204" pitchFamily="18" charset="0"/>
                                    </a:rPr>
                                    <m:t>𝑝𝑙𝑜𝑔𝑝</m:t>
                                  </m:r>
                                </m:e>
                              </m:nary>
                              <m:r>
                                <a:rPr lang="zh-TW" altLang="en-US" sz="1400" b="0" smtClean="0">
                                  <a:latin typeface="Cambria Math" panose="02040503050406030204" pitchFamily="18" charset="0"/>
                                </a:rPr>
                                <m:t>，</m:t>
                              </m:r>
                            </m:oMath>
                          </a14:m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生成分佈的不確定性 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/ 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多樣性指標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200 response 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497681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4-gram repetition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生成文字重複程度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200 response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922975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表格 9">
                <a:extLst>
                  <a:ext uri="{FF2B5EF4-FFF2-40B4-BE49-F238E27FC236}">
                    <a16:creationId xmlns:a16="http://schemas.microsoft.com/office/drawing/2014/main" id="{B47DC393-BE3D-9749-5DB3-D678D63F1B1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65865672"/>
                  </p:ext>
                </p:extLst>
              </p:nvPr>
            </p:nvGraphicFramePr>
            <p:xfrm>
              <a:off x="494811" y="1181303"/>
              <a:ext cx="11202378" cy="4794462"/>
            </p:xfrm>
            <a:graphic>
              <a:graphicData uri="http://schemas.openxmlformats.org/drawingml/2006/table">
                <a:tbl>
                  <a:tblPr firstRow="1" bandRow="1">
                    <a:tableStyleId>{D7AC3CCA-C797-4891-BE02-D94E43425B78}</a:tableStyleId>
                  </a:tblPr>
                  <a:tblGrid>
                    <a:gridCol w="2816560">
                      <a:extLst>
                        <a:ext uri="{9D8B030D-6E8A-4147-A177-3AD203B41FA5}">
                          <a16:colId xmlns:a16="http://schemas.microsoft.com/office/drawing/2014/main" val="1065077904"/>
                        </a:ext>
                      </a:extLst>
                    </a:gridCol>
                    <a:gridCol w="5779363">
                      <a:extLst>
                        <a:ext uri="{9D8B030D-6E8A-4147-A177-3AD203B41FA5}">
                          <a16:colId xmlns:a16="http://schemas.microsoft.com/office/drawing/2014/main" val="978672596"/>
                        </a:ext>
                      </a:extLst>
                    </a:gridCol>
                    <a:gridCol w="2606455">
                      <a:extLst>
                        <a:ext uri="{9D8B030D-6E8A-4147-A177-3AD203B41FA5}">
                          <a16:colId xmlns:a16="http://schemas.microsoft.com/office/drawing/2014/main" val="1651558404"/>
                        </a:ext>
                      </a:extLst>
                    </a:gridCol>
                  </a:tblGrid>
                  <a:tr h="67715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Metric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Definition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zh-TW" altLang="en-US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備註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19705471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Oracle PPL head 1~K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各 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head 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在 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token prediction 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上的 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zh-TW" altLang="en-US" sz="1400" dirty="0">
                            <a:latin typeface="標楷體" panose="03000509000000000000" pitchFamily="65" charset="-120"/>
                            <a:ea typeface="標楷體" panose="03000509000000000000" pitchFamily="65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63415258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Avg Draft Token Accepted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不同 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prefix(prompt) length 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avg accepted tokens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prefix length 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從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1~1024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依次遞增，後加總取平均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380944447"/>
                      </a:ext>
                    </a:extLst>
                  </a:tr>
                  <a:tr h="731520">
                    <a:tc>
                      <a:txBody>
                        <a:bodyPr/>
                        <a:lstStyle/>
                        <a:p>
                          <a:r>
                            <a:rPr lang="en-US" altLang="zh-TW" sz="16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Avg Draft Tokens Accepted vs. Prefix Length</a:t>
                          </a:r>
                          <a:endParaRPr lang="zh-TW" altLang="en-US" sz="1600" dirty="0">
                            <a:latin typeface="標楷體" panose="03000509000000000000" pitchFamily="65" charset="-120"/>
                            <a:ea typeface="標楷體" panose="03000509000000000000" pitchFamily="65" charset="-12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不同 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prefix(prompt) length 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下的 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avg accepted tokens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128, 256, 512, 768 length with random continue slicing</a:t>
                          </a:r>
                          <a:endParaRPr lang="zh-TW" altLang="en-US" sz="1400" dirty="0">
                            <a:latin typeface="標楷體" panose="03000509000000000000" pitchFamily="65" charset="-120"/>
                            <a:ea typeface="標楷體" panose="03000509000000000000" pitchFamily="65" charset="-120"/>
                          </a:endParaRP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81852090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Generative PPL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生成文字由外部 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LM 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評估的 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perplexity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LM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使用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gpt2-large, 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200 response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659289110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Entropy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48840" t="-505357" r="-45359" b="-10089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200 response 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64976817"/>
                      </a:ext>
                    </a:extLst>
                  </a:tr>
                  <a:tr h="677157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altLang="zh-TW" sz="16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4-gram repetition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生成文字重複程度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生成</a:t>
                          </a:r>
                          <a:r>
                            <a:rPr lang="en-US" altLang="zh-TW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200 response</a:t>
                          </a:r>
                          <a:r>
                            <a:rPr lang="zh-TW" altLang="en-US" sz="1400" dirty="0">
                              <a:latin typeface="標楷體" panose="03000509000000000000" pitchFamily="65" charset="-120"/>
                              <a:ea typeface="標楷體" panose="03000509000000000000" pitchFamily="65" charset="-120"/>
                            </a:rPr>
                            <a:t>取平均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9229758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518777-C1C4-3C28-E21E-ABF43152E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16</a:t>
            </a:fld>
            <a:endParaRPr lang="zh-TW" altLang="en-US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007751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2">
            <a:extLst>
              <a:ext uri="{FF2B5EF4-FFF2-40B4-BE49-F238E27FC236}">
                <a16:creationId xmlns:a16="http://schemas.microsoft.com/office/drawing/2014/main" id="{FB5C3920-06C1-C4C8-1162-7F38DE3FF843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Part4: Experiment results</a:t>
            </a:r>
            <a:endParaRPr 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12858C2F-BF00-D14D-E98B-F5A9C620513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Formal 1.3B comparison — SDC+LCM vs. baseline. Oracle PPL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42D882C5-AF48-E86D-E103-90CD67259B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5456086"/>
              </p:ext>
            </p:extLst>
          </p:nvPr>
        </p:nvGraphicFramePr>
        <p:xfrm>
          <a:off x="347472" y="1008835"/>
          <a:ext cx="11475720" cy="2950605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Metric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Improvement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PPL 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19.1695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19.4293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1.34%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PPL 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83.7266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87.2351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4.02%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PPL 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189.2825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200.0813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5.40%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5901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PPL 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299.5625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318.3247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5.89%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DECC76E3-BF7B-343A-CA81-874DBFE509F0}"/>
              </a:ext>
            </a:extLst>
          </p:cNvPr>
          <p:cNvSpPr txBox="1"/>
          <p:nvPr/>
        </p:nvSpPr>
        <p:spPr>
          <a:xfrm>
            <a:off x="9259410" y="461072"/>
            <a:ext cx="2743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10B token for training model</a:t>
            </a:r>
            <a:endParaRPr lang="zh-TW" alt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CFF09F6-7F17-A49F-D2F3-AA4CB1A40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592072"/>
            <a:ext cx="2743200" cy="265611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17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992EDA1D-CEF4-9B2B-D5F3-D9CD329047CE}"/>
              </a:ext>
            </a:extLst>
          </p:cNvPr>
          <p:cNvSpPr txBox="1"/>
          <p:nvPr/>
        </p:nvSpPr>
        <p:spPr>
          <a:xfrm>
            <a:off x="347472" y="4692420"/>
            <a:ext cx="799842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Observation</a:t>
            </a: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Head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 預測越遠的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token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時，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perplexity 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顯著降低達到</a:t>
            </a: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5.89%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，符合假設。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特別注意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Head 1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 也有些許提升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2163914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2">
            <a:extLst>
              <a:ext uri="{FF2B5EF4-FFF2-40B4-BE49-F238E27FC236}">
                <a16:creationId xmlns:a16="http://schemas.microsoft.com/office/drawing/2014/main" id="{5AC42501-20AC-D714-D933-D726611F3B3B}"/>
              </a:ext>
            </a:extLst>
          </p:cNvPr>
          <p:cNvSpPr/>
          <p:nvPr/>
        </p:nvSpPr>
        <p:spPr>
          <a:xfrm>
            <a:off x="347472" y="271111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Part4: Experiment results</a:t>
            </a:r>
            <a:endParaRPr 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0E2A625E-7505-7F37-9A13-70255328D5FC}"/>
              </a:ext>
            </a:extLst>
          </p:cNvPr>
          <p:cNvSpPr/>
          <p:nvPr/>
        </p:nvSpPr>
        <p:spPr>
          <a:xfrm>
            <a:off x="347472" y="453991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Formal 1.3B comparison — SDC+LCM vs. baseline. Avg Draft Tokens Accepted 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907E366-F3EF-F511-30F9-B9F33F9E93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2971722"/>
              </p:ext>
            </p:extLst>
          </p:nvPr>
        </p:nvGraphicFramePr>
        <p:xfrm>
          <a:off x="347471" y="1005625"/>
          <a:ext cx="11475720" cy="280485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Metric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Improvement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Avg Draft Tokens Accepted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0.7302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0.7010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4.17%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Prefix 128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0.9653 ± 0.0401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0.9117 ± 0.0205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5.88%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Prefix 256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0.9873 ± 0.0063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0.9458 ± 0.0068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4.39%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Prefix 512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1.0158 ± 0.0309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0.9689 ± 0.0221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4.84%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28410621"/>
                  </a:ext>
                </a:extLst>
              </a:tr>
              <a:tr h="46747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Prefix 768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1.0272 ± 0.0250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0.9760 ± 0.0222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5.25%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03051542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7BDB80DC-7FDC-5336-E751-B1ABC526DAC4}"/>
              </a:ext>
            </a:extLst>
          </p:cNvPr>
          <p:cNvSpPr txBox="1"/>
          <p:nvPr/>
        </p:nvSpPr>
        <p:spPr>
          <a:xfrm>
            <a:off x="9170634" y="457863"/>
            <a:ext cx="28319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10B token for training model</a:t>
            </a:r>
            <a:endParaRPr lang="zh-TW" alt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C56437A-C648-5521-F50A-A25F3E745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07903"/>
            <a:ext cx="2743200" cy="250097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18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DDE939C-85E6-2293-24EC-4E21D1B6C14A}"/>
              </a:ext>
            </a:extLst>
          </p:cNvPr>
          <p:cNvSpPr txBox="1"/>
          <p:nvPr/>
        </p:nvSpPr>
        <p:spPr>
          <a:xfrm>
            <a:off x="347472" y="4689211"/>
            <a:ext cx="799842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Observation</a:t>
            </a: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Avg Draft Tokens Accepted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提升</a:t>
            </a: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4.17%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在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Prefix length 768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，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Draft Tokens Accepted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顯著提升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D63EA3F-9FD6-5560-A84D-79952FD791B6}"/>
              </a:ext>
            </a:extLst>
          </p:cNvPr>
          <p:cNvSpPr txBox="1"/>
          <p:nvPr/>
        </p:nvSpPr>
        <p:spPr>
          <a:xfrm>
            <a:off x="6904618" y="5450090"/>
            <a:ext cx="528707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Note</a:t>
            </a: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Greedy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self-speculative decoding for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每次只生成一個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token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就結束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67863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2">
            <a:extLst>
              <a:ext uri="{FF2B5EF4-FFF2-40B4-BE49-F238E27FC236}">
                <a16:creationId xmlns:a16="http://schemas.microsoft.com/office/drawing/2014/main" id="{9279BDBC-2DF0-841D-1B15-28B1C6A5097A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Part4: Experiment results</a:t>
            </a:r>
            <a:endParaRPr 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0B7BDA6E-255A-BB65-DAB0-87E0B48A6A5C}"/>
              </a:ext>
            </a:extLst>
          </p:cNvPr>
          <p:cNvSpPr/>
          <p:nvPr/>
        </p:nvSpPr>
        <p:spPr>
          <a:xfrm>
            <a:off x="347472" y="457200"/>
            <a:ext cx="101903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Formal 1.3B comparison — SDC+LCM vs. baseline. Generative quality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474E11C9-B436-FCC9-3F1A-BBA38604E2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2309687"/>
              </p:ext>
            </p:extLst>
          </p:nvPr>
        </p:nvGraphicFramePr>
        <p:xfrm>
          <a:off x="347471" y="1008834"/>
          <a:ext cx="11475720" cy="2818148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868930">
                  <a:extLst>
                    <a:ext uri="{9D8B030D-6E8A-4147-A177-3AD203B41FA5}">
                      <a16:colId xmlns:a16="http://schemas.microsoft.com/office/drawing/2014/main" val="279803311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2302720759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3196848465"/>
                    </a:ext>
                  </a:extLst>
                </a:gridCol>
                <a:gridCol w="2868930">
                  <a:extLst>
                    <a:ext uri="{9D8B030D-6E8A-4147-A177-3AD203B41FA5}">
                      <a16:colId xmlns:a16="http://schemas.microsoft.com/office/drawing/2014/main" val="119275881"/>
                    </a:ext>
                  </a:extLst>
                </a:gridCol>
              </a:tblGrid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Metric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SDC+LCM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Improvement</a:t>
                      </a:r>
                      <a:endParaRPr lang="zh-TW" altLang="en-US" sz="16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08462793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Generative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18.7180 ± 0.8276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39.5580 ± 0.9425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52.68%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181710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Entropy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6.8620 ± 0.0202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7.3223 ± 0.0351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6.29%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4358862"/>
                  </a:ext>
                </a:extLst>
              </a:tr>
              <a:tr h="7045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4-gram repetition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0.0526 ± 0.0147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0.0229 ± 0.0084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-130.17%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447526"/>
                  </a:ext>
                </a:extLst>
              </a:tr>
            </a:tbl>
          </a:graphicData>
        </a:graphic>
      </p:graphicFrame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4C09DC31-8D76-606A-7915-91BDBD34C6AB}"/>
              </a:ext>
            </a:extLst>
          </p:cNvPr>
          <p:cNvSpPr/>
          <p:nvPr/>
        </p:nvSpPr>
        <p:spPr>
          <a:xfrm>
            <a:off x="11042342" y="2601086"/>
            <a:ext cx="150920" cy="36398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2" name="箭號: 向下 11">
            <a:extLst>
              <a:ext uri="{FF2B5EF4-FFF2-40B4-BE49-F238E27FC236}">
                <a16:creationId xmlns:a16="http://schemas.microsoft.com/office/drawing/2014/main" id="{5601E793-191B-D7A6-95D2-697066244270}"/>
              </a:ext>
            </a:extLst>
          </p:cNvPr>
          <p:cNvSpPr/>
          <p:nvPr/>
        </p:nvSpPr>
        <p:spPr>
          <a:xfrm>
            <a:off x="11042342" y="3325837"/>
            <a:ext cx="150920" cy="36398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3" name="箭號: 向下 12">
            <a:extLst>
              <a:ext uri="{FF2B5EF4-FFF2-40B4-BE49-F238E27FC236}">
                <a16:creationId xmlns:a16="http://schemas.microsoft.com/office/drawing/2014/main" id="{7D79ECB9-C2D5-0E2C-7463-003E9D99FD34}"/>
              </a:ext>
            </a:extLst>
          </p:cNvPr>
          <p:cNvSpPr/>
          <p:nvPr/>
        </p:nvSpPr>
        <p:spPr>
          <a:xfrm rot="10800000">
            <a:off x="11042342" y="1875240"/>
            <a:ext cx="150920" cy="363985"/>
          </a:xfrm>
          <a:prstGeom prst="down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8896C54-110C-1BFA-D35D-E8B3FB79767F}"/>
              </a:ext>
            </a:extLst>
          </p:cNvPr>
          <p:cNvSpPr txBox="1"/>
          <p:nvPr/>
        </p:nvSpPr>
        <p:spPr>
          <a:xfrm>
            <a:off x="9259410" y="461072"/>
            <a:ext cx="27431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10B token for training model</a:t>
            </a:r>
            <a:endParaRPr lang="zh-TW" alt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39565D-C13D-6AF8-6C29-7E7BF6E4F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0796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19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1CF20E4C-1F91-BFF6-7963-F44ACBFD985C}"/>
              </a:ext>
            </a:extLst>
          </p:cNvPr>
          <p:cNvSpPr txBox="1"/>
          <p:nvPr/>
        </p:nvSpPr>
        <p:spPr>
          <a:xfrm>
            <a:off x="347472" y="4692420"/>
            <a:ext cx="799842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Observation</a:t>
            </a: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Generative PPL 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提升</a:t>
            </a: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52.68%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4-gram repetition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雖然下降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130.17%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，但是實際數值只差約</a:t>
            </a: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0.03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2F81284-C265-D3D1-19FD-4871829C7CAF}"/>
              </a:ext>
            </a:extLst>
          </p:cNvPr>
          <p:cNvSpPr txBox="1"/>
          <p:nvPr/>
        </p:nvSpPr>
        <p:spPr>
          <a:xfrm>
            <a:off x="6904618" y="5450090"/>
            <a:ext cx="528707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Note</a:t>
            </a: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Top-p and temperature for sampling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生成直到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max sequence length 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或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EOS</a:t>
            </a:r>
          </a:p>
        </p:txBody>
      </p:sp>
    </p:spTree>
    <p:extLst>
      <p:ext uri="{BB962C8B-B14F-4D97-AF65-F5344CB8AC3E}">
        <p14:creationId xmlns:p14="http://schemas.microsoft.com/office/powerpoint/2010/main" val="1301914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D1EA32-D208-544F-534D-7B2308B8C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20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76D77E34-9335-8D14-9AC4-2DFEB2858879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Part4: Experiment results</a:t>
            </a:r>
            <a:endParaRPr 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1ACE38E2-E61F-F518-1FFF-813C8E95BD90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Formal 1.3B comparison — SDC+LCM vs. baseline. </a:t>
            </a:r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Zero-shot PPL improvement by head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260614E0-D186-D22F-C08A-AD50C47AE7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2697864"/>
              </p:ext>
            </p:extLst>
          </p:nvPr>
        </p:nvGraphicFramePr>
        <p:xfrm>
          <a:off x="347470" y="1020570"/>
          <a:ext cx="11475720" cy="359511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912620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27322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20736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233996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358283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4490235">
                  <a:extLst>
                    <a:ext uri="{9D8B030D-6E8A-4147-A177-3AD203B41FA5}">
                      <a16:colId xmlns:a16="http://schemas.microsoft.com/office/drawing/2014/main" val="2185817678"/>
                    </a:ext>
                  </a:extLst>
                </a:gridCol>
              </a:tblGrid>
              <a:tr h="59918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Dataset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Head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Head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Head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Head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Observation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Wikitext</a:t>
                      </a:r>
                      <a:endParaRPr lang="en-US" altLang="zh-TW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0.32%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7.57%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7.19%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5.62%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 err="1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WikiText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與 </a:t>
                      </a:r>
                      <a:r>
                        <a:rPr lang="en-US" altLang="zh-TW" sz="1400" dirty="0" err="1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OpenWebText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 </a:t>
                      </a:r>
                      <a:r>
                        <a:rPr lang="zh-TW" altLang="en-US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均屬於涵蓋多主題的一般英文文本，因此可能呈現相似的表現趨勢。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PTB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13.82%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9.90%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10.53%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5.63%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較正式且規則的句子結構，可能有助於所有 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prediction heads </a:t>
                      </a:r>
                      <a:r>
                        <a:rPr lang="zh-TW" altLang="en-US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都獲得一致的</a:t>
                      </a:r>
                      <a:r>
                        <a:rPr lang="zh-TW" altLang="en-US" sz="140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改善。</a:t>
                      </a:r>
                      <a:endParaRPr lang="zh-TW" altLang="en-US" sz="1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Lambada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38.53%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10.43%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4.44%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3.27%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對長距離上下文的高度依賴，可能是 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Head 1 </a:t>
                      </a:r>
                      <a:r>
                        <a:rPr lang="zh-TW" altLang="en-US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改善幅度較大的原因。</a:t>
                      </a:r>
                      <a:endParaRPr lang="en-US" altLang="zh-TW" sz="1400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 err="1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Arxiv</a:t>
                      </a:r>
                      <a:endParaRPr lang="en-US" altLang="zh-TW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1.48%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3.94%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3.71%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0.27%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專業詞彙與領域特定內容，可能限制各個 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prediction heads </a:t>
                      </a:r>
                      <a:r>
                        <a:rPr lang="zh-TW" altLang="en-US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的改善幅度。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599185"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PubMed</a:t>
                      </a:r>
                      <a:endParaRPr lang="zh-TW" altLang="en-US" dirty="0"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7.04%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7.76%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8.33%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8.26%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結構化且領域一致的寫作風格，可能有助於所有 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heads </a:t>
                      </a:r>
                      <a:r>
                        <a:rPr lang="zh-TW" altLang="en-US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獲得穩定改善。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34E2D6-EDB1-9E22-7D60-8A2D33EC84F0}"/>
              </a:ext>
            </a:extLst>
          </p:cNvPr>
          <p:cNvSpPr txBox="1"/>
          <p:nvPr/>
        </p:nvSpPr>
        <p:spPr>
          <a:xfrm>
            <a:off x="9161756" y="461072"/>
            <a:ext cx="28408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10B token for training model</a:t>
            </a:r>
            <a:endParaRPr lang="zh-TW" alt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D22F5D0-96C1-8836-835E-58AD28DA25D9}"/>
              </a:ext>
            </a:extLst>
          </p:cNvPr>
          <p:cNvSpPr txBox="1"/>
          <p:nvPr/>
        </p:nvSpPr>
        <p:spPr>
          <a:xfrm>
            <a:off x="347470" y="5191099"/>
            <a:ext cx="1089166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Conclusion</a:t>
            </a: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Head 1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的改善程度與資料集特性高度相關，其中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PTB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LAMBADA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與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PubMed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的提升較明顯。</a:t>
            </a:r>
            <a:b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WikiText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與 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OpenWebText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均屬於一般領域英文文本，可能因此呈現相似的表現趨勢；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Head 1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改善有限，提升主要集中於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Head 2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～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4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b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雖然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SDC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與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LCM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直接約束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Head 2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～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4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，但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Head 4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在不同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unseen datasets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上的改善幅度並不一致，尤其在 </a:t>
            </a:r>
            <a:r>
              <a:rPr lang="en-US" altLang="zh-TW" sz="1400" dirty="0" err="1">
                <a:latin typeface="標楷體" panose="03000509000000000000" pitchFamily="65" charset="-120"/>
                <a:ea typeface="標楷體" panose="03000509000000000000" pitchFamily="65" charset="-120"/>
              </a:rPr>
              <a:t>arXiv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上僅提升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0.27%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40775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字方塊 10">
            <a:extLst>
              <a:ext uri="{FF2B5EF4-FFF2-40B4-BE49-F238E27FC236}">
                <a16:creationId xmlns:a16="http://schemas.microsoft.com/office/drawing/2014/main" id="{7AA86D5A-097E-FB7C-0023-461209AEC35C}"/>
              </a:ext>
            </a:extLst>
          </p:cNvPr>
          <p:cNvSpPr txBox="1"/>
          <p:nvPr/>
        </p:nvSpPr>
        <p:spPr>
          <a:xfrm>
            <a:off x="347470" y="705057"/>
            <a:ext cx="103234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Let S</a:t>
            </a:r>
            <a:r>
              <a:rPr lang="en-US" altLang="zh-TW" sz="1400" b="1" baseline="-25000" dirty="0">
                <a:latin typeface="標楷體" panose="03000509000000000000" pitchFamily="65" charset="-120"/>
                <a:ea typeface="標楷體" panose="03000509000000000000" pitchFamily="65" charset="-120"/>
              </a:rPr>
              <a:t>W</a:t>
            </a:r>
            <a:r>
              <a:rPr lang="en-US" altLang="zh-TW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el-GR" altLang="zh-TW" sz="1400" b="1" dirty="0">
                <a:latin typeface="微軟正黑體" panose="020B0604030504040204" pitchFamily="34" charset="-120"/>
                <a:ea typeface="標楷體" panose="03000509000000000000" pitchFamily="65" charset="-120"/>
              </a:rPr>
              <a:t>τ</a:t>
            </a:r>
            <a:r>
              <a:rPr lang="en-US" altLang="zh-TW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, and L</a:t>
            </a:r>
            <a:r>
              <a:rPr lang="en-US" altLang="zh-TW" sz="1400" b="1" baseline="-25000" dirty="0">
                <a:latin typeface="標楷體" panose="03000509000000000000" pitchFamily="65" charset="-120"/>
                <a:ea typeface="標楷體" panose="03000509000000000000" pitchFamily="65" charset="-120"/>
              </a:rPr>
              <a:t>W</a:t>
            </a:r>
            <a:r>
              <a:rPr lang="en-US" altLang="zh-TW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 denote the SDC term weight, confidence threshold, and LCM term weight, respectively.</a:t>
            </a:r>
            <a:endParaRPr lang="zh-TW" altLang="en-US" sz="14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0BEF78-BCAE-A094-9708-60A5D7276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20929" y="6630152"/>
            <a:ext cx="2743200" cy="224065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21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3AC5825D-35B9-5CD5-CD54-3F87E388EBAB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Part4: Experiment results</a:t>
            </a:r>
            <a:endParaRPr 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D3C4523A-8235-3ED7-6DE2-29CBC80B1335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Ablation study — Oracle PPL 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2ABDC98F-C3A4-3E55-60C1-E7354E0FE9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653457"/>
              </p:ext>
            </p:extLst>
          </p:nvPr>
        </p:nvGraphicFramePr>
        <p:xfrm>
          <a:off x="133165" y="1020571"/>
          <a:ext cx="9099612" cy="5251987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053474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663798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781991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772899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827450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Head 1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Head 2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Head 3 PPL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Head 4 PPL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26.2356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121.8033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269.2450 ± 0.0000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406.6959 ± 0.0000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26.7541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120.6687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261.6664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394.6503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=0.3,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26.8150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120.5276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261.9479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394.7055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=0.6,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27.7396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129.2922 ± 0.0001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278.8881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417.5874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=1.5,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=0.3,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27.2684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122.5244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264.6119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397.3106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=0.5,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=0.3,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26.4587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120.7186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265.0660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402.0413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25.7096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118.9247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262.1637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397.9911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25.5312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118.5823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261.1872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395.1838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b="1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25.4583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119.1595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263.2083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398.8679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=0.3,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26.2402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b="1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118.2168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257.0344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387.7455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=0.3,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26.4553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119.2975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258.4100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390.7829 ± 0.0000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=1.5,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=0.3,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26.5485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118.4341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b="1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254.9612 ± 0.0000</a:t>
                      </a:r>
                      <a:endParaRPr lang="zh-TW" altLang="en-US" sz="1400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b="1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383.7626 ± 0.0000</a:t>
                      </a:r>
                      <a:endParaRPr lang="zh-TW" altLang="en-US" sz="1400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2" name="文字方塊 11">
            <a:extLst>
              <a:ext uri="{FF2B5EF4-FFF2-40B4-BE49-F238E27FC236}">
                <a16:creationId xmlns:a16="http://schemas.microsoft.com/office/drawing/2014/main" id="{09E7A320-DACF-E165-DF46-E8D587A76B28}"/>
              </a:ext>
            </a:extLst>
          </p:cNvPr>
          <p:cNvSpPr txBox="1"/>
          <p:nvPr/>
        </p:nvSpPr>
        <p:spPr>
          <a:xfrm>
            <a:off x="9135122" y="461072"/>
            <a:ext cx="28674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1B token for training model</a:t>
            </a:r>
            <a:endParaRPr lang="zh-TW" alt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B5C35B6D-3CEF-2D98-CE64-708B5A0435B7}"/>
              </a:ext>
            </a:extLst>
          </p:cNvPr>
          <p:cNvSpPr txBox="1"/>
          <p:nvPr/>
        </p:nvSpPr>
        <p:spPr>
          <a:xfrm>
            <a:off x="9244413" y="1012834"/>
            <a:ext cx="3096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Observation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0A9E9440-0D67-4E18-9787-17F7242972D4}"/>
              </a:ext>
            </a:extLst>
          </p:cNvPr>
          <p:cNvSpPr txBox="1"/>
          <p:nvPr/>
        </p:nvSpPr>
        <p:spPr>
          <a:xfrm>
            <a:off x="9244412" y="1441485"/>
            <a:ext cx="294758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SDC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weight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上升</a:t>
            </a:r>
            <a:endParaRPr lang="en-US" altLang="zh-TW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Head 1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PPL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上升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Head 2~4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較不受影響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EC576B6D-14B0-3F44-7BFC-4A7EFCBA7717}"/>
              </a:ext>
            </a:extLst>
          </p:cNvPr>
          <p:cNvSpPr txBox="1"/>
          <p:nvPr/>
        </p:nvSpPr>
        <p:spPr>
          <a:xfrm>
            <a:off x="9244108" y="2443484"/>
            <a:ext cx="294758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LCM</a:t>
            </a:r>
            <a:r>
              <a:rPr lang="zh-TW" altLang="en-US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weight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上升</a:t>
            </a:r>
            <a:endParaRPr lang="en-US" altLang="zh-TW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Head 1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PPL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下降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Head 2~4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較不受影響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0E9A6C7-4F86-9F1D-EC57-6FDF9AC56298}"/>
              </a:ext>
            </a:extLst>
          </p:cNvPr>
          <p:cNvSpPr txBox="1"/>
          <p:nvPr/>
        </p:nvSpPr>
        <p:spPr>
          <a:xfrm>
            <a:off x="9232777" y="3459147"/>
            <a:ext cx="2947587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Confidence Threshold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上升</a:t>
            </a:r>
            <a:endParaRPr lang="en-US" altLang="zh-TW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sz="16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All Head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PPL 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上升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9E24CA18-DFA5-64CA-0922-EF8B0EDCFD27}"/>
              </a:ext>
            </a:extLst>
          </p:cNvPr>
          <p:cNvSpPr txBox="1"/>
          <p:nvPr/>
        </p:nvSpPr>
        <p:spPr>
          <a:xfrm>
            <a:off x="9244107" y="4534129"/>
            <a:ext cx="2947587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Conclusion</a:t>
            </a:r>
          </a:p>
          <a:p>
            <a:endParaRPr lang="en-US" altLang="zh-TW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SDC + LCM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會使除了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Head 1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外的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PPL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下降。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至於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Head 1 PPL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上升，推測是訓練資料不夠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716344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2">
            <a:extLst>
              <a:ext uri="{FF2B5EF4-FFF2-40B4-BE49-F238E27FC236}">
                <a16:creationId xmlns:a16="http://schemas.microsoft.com/office/drawing/2014/main" id="{0E0182C7-7A07-7C7E-CEBE-1A990AD52502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Part4: Experiment results</a:t>
            </a:r>
            <a:endParaRPr 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2BBEAC90-0E4A-F9AC-464B-387FDC13D47B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Ablation study — Avg Draft Tokens Accepted 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769948AD-2815-5587-DAE4-23AD108037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8607222"/>
              </p:ext>
            </p:extLst>
          </p:nvPr>
        </p:nvGraphicFramePr>
        <p:xfrm>
          <a:off x="347471" y="1143813"/>
          <a:ext cx="9453478" cy="530818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969602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62461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438183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411549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  <a:gridCol w="1518082">
                  <a:extLst>
                    <a:ext uri="{9D8B030D-6E8A-4147-A177-3AD203B41FA5}">
                      <a16:colId xmlns:a16="http://schemas.microsoft.com/office/drawing/2014/main" val="107327293"/>
                    </a:ext>
                  </a:extLst>
                </a:gridCol>
                <a:gridCol w="1491449">
                  <a:extLst>
                    <a:ext uri="{9D8B030D-6E8A-4147-A177-3AD203B41FA5}">
                      <a16:colId xmlns:a16="http://schemas.microsoft.com/office/drawing/2014/main" val="3215815911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Avg Draft Token Accepted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Prefix 128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Prefix 256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Prefix 512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Prefix 768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0.6238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0.8251 ± 0.0140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0.8205 ± 0.0062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0.8519 ± 0.0195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0.8552 ± 0.0233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0.6388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0.8374 ± 0.0165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0.8746 ± 0.0108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0.8736 ± 0.0158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0.8802 ± 0.0029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=0.3,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0.6400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0.8406 ± 0.0131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0.8602 ± 0.0232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0.8720 ± 0.0233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0.8772 ± 0.0015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=0.6,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0.6113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0.7908 ± 0.0074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0.7919 ± 0.0086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0.8009 ± 0.0035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0.8174 ± 0.0130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=1.5,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=0.3,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0.6414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0.8522 ± 0.0098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0.8581 ± 0.0139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0.8897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0.9082 ± 0.0204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=0.5,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=0.3,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0.6345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0.8195 ± 0.0122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0.8416 ± 0.0115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0.8601 ± 0.0065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0.8644 ± 0.0304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0.6398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0.8517 ± 0.0156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0.8589 ± 0.0096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0.8794 ± 0.0050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0.8895 ± 0.0257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0.6442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0.8491 ± 0.0130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0.8698 ± 0.0154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0.8919 ± 0.0168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0.8943 ± 0.0012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0.6467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0.8510 ± 0.0112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b="1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0.8862 ± 0.0054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0.8951 ± 0.0129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0.9028 ± 0.0327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=0.3,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0.6507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0.8498 ± 0.0339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0.8615 ± 0.0179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0.8987 ± 0.0103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0.8862 ± 0.0151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=0.3,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0.6495 ± 0.0000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0.8402 ± 0.0209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0.8612 ± 0.0043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0.8879 ± 0.0157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0.8950 ± 0.0071</a:t>
                      </a: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=1.5,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=0.3,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b="1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0.6525 ± 0.0000</a:t>
                      </a:r>
                      <a:endParaRPr lang="zh-TW" altLang="en-US" sz="1400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b="1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0.8590 ± 0.0101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0.8656 ± 0.0214</a:t>
                      </a: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b="1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0.9023 ± 0.0277</a:t>
                      </a:r>
                      <a:endParaRPr lang="zh-TW" altLang="en-US" sz="1400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33472" marR="33472" marT="16736" marB="1673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b="1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0.9044 ± 0.0140</a:t>
                      </a:r>
                      <a:endParaRPr lang="zh-TW" altLang="en-US" sz="1400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33472" marR="33472" marT="16736" marB="16736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3940046D-72BA-82CB-8E92-F2F8504EDA92}"/>
              </a:ext>
            </a:extLst>
          </p:cNvPr>
          <p:cNvSpPr txBox="1"/>
          <p:nvPr/>
        </p:nvSpPr>
        <p:spPr>
          <a:xfrm>
            <a:off x="347471" y="805259"/>
            <a:ext cx="9361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Let S</a:t>
            </a:r>
            <a:r>
              <a:rPr lang="en-US" altLang="zh-TW" sz="1400" b="1" baseline="-25000" dirty="0">
                <a:latin typeface="標楷體" panose="03000509000000000000" pitchFamily="65" charset="-120"/>
                <a:ea typeface="標楷體" panose="03000509000000000000" pitchFamily="65" charset="-120"/>
              </a:rPr>
              <a:t>W</a:t>
            </a:r>
            <a:r>
              <a:rPr lang="en-US" altLang="zh-TW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el-GR" altLang="zh-TW" sz="1400" b="1" dirty="0">
                <a:latin typeface="微軟正黑體" panose="020B0604030504040204" pitchFamily="34" charset="-120"/>
                <a:ea typeface="標楷體" panose="03000509000000000000" pitchFamily="65" charset="-120"/>
              </a:rPr>
              <a:t>τ</a:t>
            </a:r>
            <a:r>
              <a:rPr lang="en-US" altLang="zh-TW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, and L</a:t>
            </a:r>
            <a:r>
              <a:rPr lang="en-US" altLang="zh-TW" sz="1400" b="1" baseline="-25000" dirty="0">
                <a:latin typeface="標楷體" panose="03000509000000000000" pitchFamily="65" charset="-120"/>
                <a:ea typeface="標楷體" panose="03000509000000000000" pitchFamily="65" charset="-120"/>
              </a:rPr>
              <a:t>W</a:t>
            </a:r>
            <a:r>
              <a:rPr lang="en-US" altLang="zh-TW" sz="14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 denote the SDC term weight, confidence threshold, and LCM term weight, respectively.</a:t>
            </a:r>
            <a:endParaRPr lang="zh-TW" altLang="en-US" sz="1400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EFD5CC4-4698-16E3-237A-CD98F27E3C63}"/>
              </a:ext>
            </a:extLst>
          </p:cNvPr>
          <p:cNvSpPr txBox="1"/>
          <p:nvPr/>
        </p:nvSpPr>
        <p:spPr>
          <a:xfrm>
            <a:off x="9268288" y="461072"/>
            <a:ext cx="27343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1B token for training model</a:t>
            </a:r>
            <a:endParaRPr lang="zh-TW" alt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EF0724-6B01-B89E-5909-3D4084B01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3015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22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8754BD05-D9F1-0CF9-04D7-F0149164BCFD}"/>
              </a:ext>
            </a:extLst>
          </p:cNvPr>
          <p:cNvSpPr txBox="1"/>
          <p:nvPr/>
        </p:nvSpPr>
        <p:spPr>
          <a:xfrm>
            <a:off x="9812890" y="4604738"/>
            <a:ext cx="237911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b="1" dirty="0">
                <a:latin typeface="標楷體" panose="03000509000000000000" pitchFamily="65" charset="-120"/>
                <a:ea typeface="標楷體" panose="03000509000000000000" pitchFamily="65" charset="-120"/>
              </a:rPr>
              <a:t>Observation</a:t>
            </a:r>
          </a:p>
          <a:p>
            <a:endParaRPr lang="en-US" altLang="zh-TW" b="1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200" dirty="0">
                <a:latin typeface="標楷體" panose="03000509000000000000" pitchFamily="65" charset="-120"/>
                <a:ea typeface="標楷體" panose="03000509000000000000" pitchFamily="65" charset="-120"/>
              </a:rPr>
              <a:t>SDC, LCM weight</a:t>
            </a:r>
            <a:r>
              <a:rPr lang="zh-TW" altLang="en-US" sz="1200" dirty="0">
                <a:latin typeface="標楷體" panose="03000509000000000000" pitchFamily="65" charset="-120"/>
                <a:ea typeface="標楷體" panose="03000509000000000000" pitchFamily="65" charset="-120"/>
              </a:rPr>
              <a:t>上升都能提升表現</a:t>
            </a:r>
            <a:endParaRPr lang="en-US" altLang="zh-TW" sz="1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200" dirty="0">
                <a:latin typeface="標楷體" panose="03000509000000000000" pitchFamily="65" charset="-120"/>
                <a:ea typeface="標楷體" panose="03000509000000000000" pitchFamily="65" charset="-120"/>
              </a:rPr>
              <a:t>Confidence Threshold</a:t>
            </a:r>
            <a:r>
              <a:rPr lang="zh-TW" altLang="en-US" sz="1200" dirty="0">
                <a:latin typeface="標楷體" panose="03000509000000000000" pitchFamily="65" charset="-120"/>
                <a:ea typeface="標楷體" panose="03000509000000000000" pitchFamily="65" charset="-120"/>
              </a:rPr>
              <a:t>上升到特定值，表現下降</a:t>
            </a:r>
            <a:endParaRPr lang="en-US" altLang="zh-TW" sz="1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200" dirty="0">
                <a:latin typeface="標楷體" panose="03000509000000000000" pitchFamily="65" charset="-120"/>
                <a:ea typeface="標楷體" panose="03000509000000000000" pitchFamily="65" charset="-120"/>
              </a:rPr>
              <a:t>跟</a:t>
            </a:r>
            <a:r>
              <a:rPr lang="en-US" altLang="zh-TW" sz="1200" dirty="0">
                <a:latin typeface="標楷體" panose="03000509000000000000" pitchFamily="65" charset="-120"/>
                <a:ea typeface="標楷體" panose="03000509000000000000" pitchFamily="65" charset="-120"/>
              </a:rPr>
              <a:t>ppl</a:t>
            </a:r>
            <a:r>
              <a:rPr lang="zh-TW" altLang="en-US" sz="1200" dirty="0">
                <a:latin typeface="標楷體" panose="03000509000000000000" pitchFamily="65" charset="-120"/>
                <a:ea typeface="標楷體" panose="03000509000000000000" pitchFamily="65" charset="-120"/>
              </a:rPr>
              <a:t>一樣</a:t>
            </a:r>
            <a:r>
              <a:rPr lang="en-US" altLang="zh-TW" sz="1200" dirty="0">
                <a:latin typeface="標楷體" panose="03000509000000000000" pitchFamily="65" charset="-120"/>
                <a:ea typeface="標楷體" panose="03000509000000000000" pitchFamily="65" charset="-120"/>
              </a:rPr>
              <a:t>SDC + LCM</a:t>
            </a:r>
            <a:r>
              <a:rPr lang="zh-TW" altLang="en-US" sz="1200" dirty="0">
                <a:latin typeface="標楷體" panose="03000509000000000000" pitchFamily="65" charset="-120"/>
                <a:ea typeface="標楷體" panose="03000509000000000000" pitchFamily="65" charset="-120"/>
              </a:rPr>
              <a:t>會最大程度提升</a:t>
            </a:r>
            <a:endParaRPr lang="en-US" altLang="zh-TW" sz="1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1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817168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B9E41B-FA85-B830-ACAC-6684E673F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23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5057707-2AFD-5ECF-3C7B-7A61B5E57DB8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Part4: Experiment results</a:t>
            </a:r>
            <a:endParaRPr 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8C06934D-368C-941F-BEA3-A2C9E3BCBFD8}"/>
              </a:ext>
            </a:extLst>
          </p:cNvPr>
          <p:cNvSpPr/>
          <p:nvPr/>
        </p:nvSpPr>
        <p:spPr>
          <a:xfrm>
            <a:off x="347471" y="457200"/>
            <a:ext cx="93735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Ablation study — Generative quality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C516F482-FC5B-69AB-595E-3D7730AD8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393330"/>
              </p:ext>
            </p:extLst>
          </p:nvPr>
        </p:nvGraphicFramePr>
        <p:xfrm>
          <a:off x="347470" y="1063987"/>
          <a:ext cx="7020997" cy="5251987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013990">
                  <a:extLst>
                    <a:ext uri="{9D8B030D-6E8A-4147-A177-3AD203B41FA5}">
                      <a16:colId xmlns:a16="http://schemas.microsoft.com/office/drawing/2014/main" val="2880323015"/>
                    </a:ext>
                  </a:extLst>
                </a:gridCol>
                <a:gridCol w="1589103">
                  <a:extLst>
                    <a:ext uri="{9D8B030D-6E8A-4147-A177-3AD203B41FA5}">
                      <a16:colId xmlns:a16="http://schemas.microsoft.com/office/drawing/2014/main" val="3421584875"/>
                    </a:ext>
                  </a:extLst>
                </a:gridCol>
                <a:gridCol w="1633491">
                  <a:extLst>
                    <a:ext uri="{9D8B030D-6E8A-4147-A177-3AD203B41FA5}">
                      <a16:colId xmlns:a16="http://schemas.microsoft.com/office/drawing/2014/main" val="1184110547"/>
                    </a:ext>
                  </a:extLst>
                </a:gridCol>
                <a:gridCol w="1784413">
                  <a:extLst>
                    <a:ext uri="{9D8B030D-6E8A-4147-A177-3AD203B41FA5}">
                      <a16:colId xmlns:a16="http://schemas.microsoft.com/office/drawing/2014/main" val="3781708433"/>
                    </a:ext>
                  </a:extLst>
                </a:gridCol>
              </a:tblGrid>
              <a:tr h="403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Setting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Generative </a:t>
                      </a:r>
                      <a:r>
                        <a:rPr lang="en-US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PPL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Entropy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4-gram repetition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57095099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baseline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83.8285 ± 5.1409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b="1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7.4068 ± 0.0461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b="1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0.0119 ± 0.0097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416576622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68.0596 ± 4.5760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7.3141 ± 0.0519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0.0193 ± 0.0154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088568622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=0.3,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26.3414 ± 0.3656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6.7567 ± 0.0016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0.0460 ± 0.0160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427155248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=0.6,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28.2332 ± 1.2754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6.7789 ± 0.0178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0.0393 ± 0.0080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6789601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=1.5,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=0.3,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31.8082 ± 0.4503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6.8248 ± 0.0353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0.0485 ± 0.0159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31699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=0.5,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=0.3,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52.7654 ± 2.2732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7.1490 ± 0.0335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0.0323 ± 0.0169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1810326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26.2091 ± 1.5675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6.8576 ± 0.0374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0.0555 ± 0.0204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44121391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24.0955 ± 3.2440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6.7935 ± 0.0828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0.0657 ± 0.0388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59143272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=0.0,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29.9033 ± 0.5373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6.8644 ± 0.0249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b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0.0215 ± 0.0049</a:t>
                      </a:r>
                      <a:endParaRPr lang="zh-TW" altLang="en-US" sz="1400" b="0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1309331485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=0.3,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b="1" dirty="0">
                          <a:solidFill>
                            <a:srgbClr val="FF0000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21.4788 ± 0.0773</a:t>
                      </a:r>
                      <a:endParaRPr lang="zh-TW" altLang="en-US" sz="1400" dirty="0">
                        <a:solidFill>
                          <a:srgbClr val="FF0000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b="0" dirty="0">
                          <a:solidFill>
                            <a:schemeClr val="tx1"/>
                          </a:solidFill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6.6876 ± 0.0421</a:t>
                      </a:r>
                      <a:endParaRPr lang="zh-TW" altLang="en-US" sz="1400" b="0" dirty="0">
                        <a:solidFill>
                          <a:schemeClr val="tx1"/>
                        </a:solidFill>
                        <a:latin typeface="標楷體" panose="03000509000000000000" pitchFamily="65" charset="-120"/>
                        <a:ea typeface="標楷體" panose="03000509000000000000" pitchFamily="65" charset="-120"/>
                      </a:endParaRP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0.0720 ± 0.0062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663042970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=0.3,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26.3414 ± 0.3656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6.7567 ± 0.0016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0.0460 ± 0.0160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3253892573"/>
                  </a:ext>
                </a:extLst>
              </a:tr>
              <a:tr h="40399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S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=1.5,</a:t>
                      </a:r>
                      <a:r>
                        <a:rPr lang="el-GR" altLang="zh-TW" sz="1400" dirty="0">
                          <a:ea typeface="標楷體" panose="03000509000000000000" pitchFamily="65" charset="-120"/>
                        </a:rPr>
                        <a:t> τ</a:t>
                      </a: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=0.3, L</a:t>
                      </a:r>
                      <a:r>
                        <a:rPr lang="en-US" altLang="zh-TW" sz="1400" baseline="-250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W</a:t>
                      </a:r>
                      <a:r>
                        <a:rPr lang="en-US" altLang="zh-TW" sz="1400" baseline="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=1.0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25.7832 ± 1.6338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6.7177 ± 0.0455</a:t>
                      </a:r>
                    </a:p>
                  </a:txBody>
                  <a:tcPr marL="45804" marR="45804" marT="22902" marB="2290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400" dirty="0">
                          <a:latin typeface="標楷體" panose="03000509000000000000" pitchFamily="65" charset="-120"/>
                          <a:ea typeface="標楷體" panose="03000509000000000000" pitchFamily="65" charset="-120"/>
                        </a:rPr>
                        <a:t>0.0453 ± 0.0197</a:t>
                      </a:r>
                    </a:p>
                  </a:txBody>
                  <a:tcPr marL="45804" marR="45804" marT="22902" marB="22902" anchor="ctr"/>
                </a:tc>
                <a:extLst>
                  <a:ext uri="{0D108BD9-81ED-4DB2-BD59-A6C34878D82A}">
                    <a16:rowId xmlns:a16="http://schemas.microsoft.com/office/drawing/2014/main" val="2083154564"/>
                  </a:ext>
                </a:extLst>
              </a:tr>
            </a:tbl>
          </a:graphicData>
        </a:graphic>
      </p:graphicFrame>
      <p:sp>
        <p:nvSpPr>
          <p:cNvPr id="11" name="文字方塊 10">
            <a:extLst>
              <a:ext uri="{FF2B5EF4-FFF2-40B4-BE49-F238E27FC236}">
                <a16:creationId xmlns:a16="http://schemas.microsoft.com/office/drawing/2014/main" id="{2EBAF181-8C61-1DC0-AE74-09A0F83D3663}"/>
              </a:ext>
            </a:extLst>
          </p:cNvPr>
          <p:cNvSpPr txBox="1"/>
          <p:nvPr/>
        </p:nvSpPr>
        <p:spPr>
          <a:xfrm>
            <a:off x="267571" y="747141"/>
            <a:ext cx="109715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Let S</a:t>
            </a:r>
            <a:r>
              <a:rPr lang="en-US" altLang="zh-TW" sz="1600" baseline="-25000" dirty="0">
                <a:latin typeface="標楷體" panose="03000509000000000000" pitchFamily="65" charset="-120"/>
                <a:ea typeface="標楷體" panose="03000509000000000000" pitchFamily="65" charset="-120"/>
              </a:rPr>
              <a:t>W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, </a:t>
            </a:r>
            <a:r>
              <a:rPr lang="el-GR" altLang="zh-TW" sz="1600" dirty="0">
                <a:latin typeface="微軟正黑體" panose="020B0604030504040204" pitchFamily="34" charset="-120"/>
                <a:ea typeface="標楷體" panose="03000509000000000000" pitchFamily="65" charset="-120"/>
              </a:rPr>
              <a:t>τ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, and L</a:t>
            </a:r>
            <a:r>
              <a:rPr lang="en-US" altLang="zh-TW" sz="1600" baseline="-25000" dirty="0">
                <a:latin typeface="標楷體" panose="03000509000000000000" pitchFamily="65" charset="-120"/>
                <a:ea typeface="標楷體" panose="03000509000000000000" pitchFamily="65" charset="-120"/>
              </a:rPr>
              <a:t>W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 denote the SDC term weight, confidence threshold, and LCM term weight, respectively.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063CE1AD-3B9C-58B4-C1AC-C8E97F22BE81}"/>
              </a:ext>
            </a:extLst>
          </p:cNvPr>
          <p:cNvSpPr txBox="1"/>
          <p:nvPr/>
        </p:nvSpPr>
        <p:spPr>
          <a:xfrm>
            <a:off x="9339310" y="461072"/>
            <a:ext cx="26633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1B token for training model</a:t>
            </a:r>
            <a:endParaRPr lang="zh-TW" alt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E2D2E5A-5E54-C872-15B4-CC51DC4FB6A0}"/>
              </a:ext>
            </a:extLst>
          </p:cNvPr>
          <p:cNvSpPr txBox="1"/>
          <p:nvPr/>
        </p:nvSpPr>
        <p:spPr>
          <a:xfrm>
            <a:off x="7430611" y="5023312"/>
            <a:ext cx="4823228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Observation</a:t>
            </a: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只要使用到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Consistency Method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，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Entropy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會下降，</a:t>
            </a:r>
            <a:r>
              <a:rPr lang="en-US" altLang="zh-TW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 4-gram repetition</a:t>
            </a: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會上升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</a:rPr>
              <a:t>所有參數都有一個最佳值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1354904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5">
            <a:extLst>
              <a:ext uri="{FF2B5EF4-FFF2-40B4-BE49-F238E27FC236}">
                <a16:creationId xmlns:a16="http://schemas.microsoft.com/office/drawing/2014/main" id="{988930A7-81CB-E995-9864-0C85E29BD516}"/>
              </a:ext>
            </a:extLst>
          </p:cNvPr>
          <p:cNvSpPr/>
          <p:nvPr/>
        </p:nvSpPr>
        <p:spPr>
          <a:xfrm>
            <a:off x="457200" y="2660904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Conclusion</a:t>
            </a:r>
            <a:endParaRPr lang="en-US" sz="20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0F1F236-566A-4CC2-2393-FDDC62B64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24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9726680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2">
            <a:extLst>
              <a:ext uri="{FF2B5EF4-FFF2-40B4-BE49-F238E27FC236}">
                <a16:creationId xmlns:a16="http://schemas.microsoft.com/office/drawing/2014/main" id="{DC6B1835-635C-4F80-612E-FCCFC22A546E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Part5: Conclusion</a:t>
            </a:r>
            <a:endParaRPr 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30F11580-A42C-EDDD-3705-F11B9F2BFFC0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Conclusion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03D1EFE5-CCE9-4DDD-3723-0D96BBF83B00}"/>
              </a:ext>
            </a:extLst>
          </p:cNvPr>
          <p:cNvSpPr/>
          <p:nvPr/>
        </p:nvSpPr>
        <p:spPr>
          <a:xfrm>
            <a:off x="914400" y="4892040"/>
            <a:ext cx="10332720" cy="502920"/>
          </a:xfrm>
          <a:prstGeom prst="rect">
            <a:avLst/>
          </a:prstGeom>
          <a:noFill/>
          <a:ln>
            <a:noFill/>
          </a:ln>
        </p:spPr>
        <p:txBody>
          <a:bodyPr wrap="square" lIns="1143" tIns="1143" rIns="1143" bIns="1143" rtlCol="0" anchor="ctr">
            <a:normAutofit/>
          </a:bodyPr>
          <a:lstStyle/>
          <a:p>
            <a:pPr marL="0" indent="0">
              <a:buNone/>
            </a:pPr>
            <a:r>
              <a:rPr lang="en-US" sz="1600" dirty="0" err="1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核心訊息：consistency-based</a:t>
            </a:r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 training 能有效降低 draft heads 的分佈漂移，使 semi-autoregressive generation 更穩定。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E3128151-E7C4-035C-451C-1BBB0D1B31F6}"/>
              </a:ext>
            </a:extLst>
          </p:cNvPr>
          <p:cNvSpPr txBox="1"/>
          <p:nvPr/>
        </p:nvSpPr>
        <p:spPr>
          <a:xfrm>
            <a:off x="905877" y="1965960"/>
            <a:ext cx="10768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本研究在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MTP 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架構中加入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SDC 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與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LCM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，不改變架構即能改善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draft head 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品質。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正式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1.3B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model 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比較中，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SDC+LCM 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使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Head 1~4 PPL 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全部下降，且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Head 4 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降幅達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5.89%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。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token accept rate 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從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0.7010 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提升到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0.7302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，代表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self-speculative decoding 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有更好的接受潛力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。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Generative PPL 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從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39.5580 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大幅降至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18.7180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，顯示生成品質改善最明顯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。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4C3F506-AED1-581F-6918-6B50B8911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25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429643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A995A56-FEA0-A053-1F22-D9D3B3A39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495" y="6611112"/>
            <a:ext cx="2743200" cy="246888"/>
          </a:xfrm>
        </p:spPr>
        <p:txBody>
          <a:bodyPr/>
          <a:lstStyle/>
          <a:p>
            <a:fld id="{A98399F2-4B7C-4808-8B27-A13C76E6A9FD}" type="slidenum">
              <a:rPr lang="zh-TW" altLang="en-US" smtClean="0">
                <a:solidFill>
                  <a:schemeClr val="tx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26</a:t>
            </a:fld>
            <a:endParaRPr lang="zh-TW" altLang="en-US" dirty="0">
              <a:solidFill>
                <a:schemeClr val="tx1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5F26F63F-8532-04F1-9964-112805509495}"/>
              </a:ext>
            </a:extLst>
          </p:cNvPr>
          <p:cNvSpPr/>
          <p:nvPr/>
        </p:nvSpPr>
        <p:spPr>
          <a:xfrm>
            <a:off x="347472" y="27432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Part5: Conclusion</a:t>
            </a:r>
            <a:endParaRPr 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A7E00D96-A7C5-FCFC-DAE8-B4ADA238E429}"/>
              </a:ext>
            </a:extLst>
          </p:cNvPr>
          <p:cNvSpPr/>
          <p:nvPr/>
        </p:nvSpPr>
        <p:spPr>
          <a:xfrm>
            <a:off x="347472" y="457200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Future work &amp; references</a:t>
            </a:r>
            <a:endParaRPr 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D7ABAA1D-76A5-0413-D261-1B18BAF75060}"/>
              </a:ext>
            </a:extLst>
          </p:cNvPr>
          <p:cNvSpPr txBox="1"/>
          <p:nvPr/>
        </p:nvSpPr>
        <p:spPr>
          <a:xfrm>
            <a:off x="905877" y="1965960"/>
            <a:ext cx="1076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進一步測試不同模型規模、更多資料量、不同種類資料集。</a:t>
            </a:r>
            <a:endParaRPr lang="en-US" altLang="zh-TW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繼續下一步訓練計畫如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Continue training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SFT</a:t>
            </a:r>
            <a:endParaRPr lang="zh-TW" altLang="en-US" sz="16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訓練足夠多資料量後補上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greedy self-speculative decoding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，測試實際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speed-up 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與 </a:t>
            </a:r>
            <a:r>
              <a:rPr lang="en-US" altLang="zh-TW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oracle speed test </a:t>
            </a:r>
            <a:r>
              <a:rPr lang="zh-TW" altLang="en-US" sz="1600" dirty="0">
                <a:latin typeface="標楷體" panose="03000509000000000000" pitchFamily="65" charset="-120"/>
                <a:ea typeface="標楷體" panose="03000509000000000000" pitchFamily="65" charset="-120"/>
              </a:rPr>
              <a:t>對照。</a:t>
            </a:r>
          </a:p>
        </p:txBody>
      </p:sp>
    </p:spTree>
    <p:extLst>
      <p:ext uri="{BB962C8B-B14F-4D97-AF65-F5344CB8AC3E}">
        <p14:creationId xmlns:p14="http://schemas.microsoft.com/office/powerpoint/2010/main" val="3515957656"/>
      </p:ext>
    </p:extLst>
  </p:cSld>
  <p:clrMapOvr>
    <a:masterClrMapping/>
  </p:clrMapOvr>
</p:sld>
</file>

<file path=ppt/theme/theme1.xml><?xml version="1.0" encoding="utf-8"?>
<a:theme xmlns:a="http://schemas.openxmlformats.org/drawingml/2006/main" name="多面向">
  <a:themeElements>
    <a:clrScheme name="多面向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多面向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多面向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多面向</Template>
  <TotalTime>402</TotalTime>
  <Words>2985</Words>
  <Application>Microsoft Office PowerPoint</Application>
  <PresentationFormat>寬螢幕</PresentationFormat>
  <Paragraphs>618</Paragraphs>
  <Slides>26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34" baseType="lpstr">
      <vt:lpstr>微軟正黑體</vt:lpstr>
      <vt:lpstr>標楷體</vt:lpstr>
      <vt:lpstr>Arial</vt:lpstr>
      <vt:lpstr>Calibri</vt:lpstr>
      <vt:lpstr>Cambria Math</vt:lpstr>
      <vt:lpstr>Trebuchet MS</vt:lpstr>
      <vt:lpstr>Wingdings 3</vt:lpstr>
      <vt:lpstr>多面向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陳 九龍</dc:creator>
  <cp:lastModifiedBy>陳 九龍</cp:lastModifiedBy>
  <cp:revision>177</cp:revision>
  <dcterms:created xsi:type="dcterms:W3CDTF">2026-07-31T02:55:52Z</dcterms:created>
  <dcterms:modified xsi:type="dcterms:W3CDTF">2026-07-31T15:09:54Z</dcterms:modified>
</cp:coreProperties>
</file>