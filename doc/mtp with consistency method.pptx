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7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0" r:id="rId10"/>
    <p:sldId id="266" r:id="rId11"/>
    <p:sldId id="267" r:id="rId12"/>
    <p:sldId id="269" r:id="rId13"/>
    <p:sldId id="270" r:id="rId14"/>
    <p:sldId id="272" r:id="rId15"/>
    <p:sldId id="273" r:id="rId16"/>
    <p:sldId id="277" r:id="rId17"/>
    <p:sldId id="268" r:id="rId18"/>
    <p:sldId id="282" r:id="rId19"/>
    <p:sldId id="284" r:id="rId20"/>
    <p:sldId id="285" r:id="rId21"/>
    <p:sldId id="283" r:id="rId22"/>
    <p:sldId id="286" r:id="rId23"/>
    <p:sldId id="287" r:id="rId24"/>
    <p:sldId id="288" r:id="rId25"/>
    <p:sldId id="289" r:id="rId26"/>
    <p:sldId id="290" r:id="rId27"/>
    <p:sldId id="291" r:id="rId2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20" autoAdjust="0"/>
  </p:normalViewPr>
  <p:slideViewPr>
    <p:cSldViewPr snapToGrid="0">
      <p:cViewPr varScale="1">
        <p:scale>
          <a:sx n="108" d="100"/>
          <a:sy n="108" d="100"/>
        </p:scale>
        <p:origin x="65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6BDD37CE-6CDA-215C-4DD9-4B66855AF0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72A98A1-E786-682A-BAA2-DD58CB4065C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92C71C-3914-42D5-B995-B912727F46CE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28BB9B5-D863-566A-04E9-2DB7E3302B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897E260-DB04-7ADD-3EA1-E78C4C5669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2652CF-8462-4E11-A08C-167A8EFB4E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84422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F2EC2-8746-4753-8458-2ED9A5172172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D40A98-DCF1-4378-8414-2ECEE4C892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5062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24634-E03F-AF66-60D4-9E9D033DC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C8B9A-55D7-725F-92E8-70380118D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CBC7E8-298A-FD2B-1E0D-C57615334A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B453C-C33D-ADC3-C131-3141E1355E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763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917F-EBDC-EB46-A7BA-315CE34E0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686EC9-CB1F-95DF-DA60-6EACF1A1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829D1-D037-211C-7B86-967D19293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278B1-447E-B011-931E-FE422F5B1F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1963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C8543-7AA4-92A7-B252-22D89A44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C8F80C-9DCE-819A-25AF-BAEEEF951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B2AD5-2449-7256-6736-3900A1E9C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E20D7-DCF0-9DF2-8FB8-1E05515E6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533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7DD52-0FAF-345F-9912-90F0329A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7AEAE5-A2C0-BF09-CED8-AF53A4B24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9C4A2-6F60-C1E0-909E-F95CC6CD3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35F89-881E-E2C7-65EC-ED35B18900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658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87594-A613-C428-BF95-70C2C15D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68E46-B6E0-363A-C1DC-AC07831FD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EDF4B1-24D0-43A9-DF60-B31EB6888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D5FB-8001-12A9-FDCA-824E0EE02F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868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36706-125F-12CD-ED88-32DB4F2047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B5DFABF-0F4B-17DB-9B73-CD861D592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C61054-A3D2-D90E-AD64-6ADFA43B9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20C32E3-FB2F-12A4-ABFE-3AB72273E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3AE3071-30B2-2E48-7183-339660AA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5614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FE1B37-0C43-C999-5BF0-51FED140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634840-298B-44A1-FA53-DDB379F74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4EF8D6E-02C3-2D00-DDF6-2AFA4CDA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53E862-FB60-A35B-2ADE-3437F06F5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49BA38B-5551-1C15-BC2B-9439EFB6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484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EE5A2-7F90-D27C-7020-E04E96AD1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F1BAE32-8AAA-F09E-626F-B6292B938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94C3A9-0C7F-D73C-9F2B-636ECE138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E6853D-C6E6-4CDD-00D7-7ACC8FBF4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D4CE597-821C-4CA9-4386-8201E9CB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5648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73FE62-152D-7604-6000-F2DDB1C62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0982AF-5704-E2D3-105B-3A34BDF39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9BEF807-4EAD-29D2-5A62-D0A4532EA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8A0BA5-03CC-F63B-E377-219B959B7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274FC20-8679-797E-8A11-1D3764B72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02FF951-111D-C927-09A7-2211D2C0E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9938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B5D226-C9B6-3BBE-EF04-DB6C600B0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BBA24F8-CB9E-E67A-4FCA-ADFEF5471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44AC94-2A98-0EE9-92AA-ABF09F0A68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D700161-931D-A4B1-155B-89A7F1081E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F0A7546-4DD4-DFB7-319B-211F3BD84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3093A68-7182-C563-0CCE-8DF81B3C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9CC9754-F380-999D-1FB4-A782AAAD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166EC6-3664-9F35-4A47-3CF0757B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433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3B556-3D9B-52F3-1A54-F5DEE64B2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3341AF2-7C80-8F75-8A62-F5DCFFABE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1C16671-9987-63BC-F084-74F8FCA51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EDBBDA-06AF-D594-BA30-ADF3D01E1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2486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D8F9C8E-DB37-7C04-BF0A-121BEA03C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3DB21BB-1FD5-16D4-0490-B6A682C02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A19B9A-B74F-728E-E037-3BCD755EE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438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D5348-76F1-E3D5-9FCA-4608645C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06E907-1BE4-FC3F-2EC0-0FE7F2D1F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67FFD92-730F-22E4-D51E-2C72765EF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94B48D6-28A5-D0AC-3F5C-F910CCF51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ECF954A-A576-30C1-5458-2C8826F81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AE6B147-712B-92CA-55E3-EDD15C41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77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D81DA-15D8-1E90-FFDC-E361A2AAC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12FE043-DA9A-A2B6-292E-EBB1CCA1CF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A9D4375-50F8-D10C-2673-7838E60ECF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2A8E83C-11F5-9F26-B6F9-D7E03316F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CBACB56-4815-8764-6844-F414EBE6F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6451016-B0C5-4A91-A833-D1847D50D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7964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674EA3-1A91-41C9-2183-FA9EAD40E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7419D6D-6CB7-ABE3-2732-F4A40234EF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D635167-FD48-130A-1E87-A48830A54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CC9F14-04C4-267B-3B2C-4152F7307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F9765AE-5066-CC7E-D0E8-8C3655C0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592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4E562CA-401B-256A-317F-B0F0B7F1E0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0C12EE1-1F1A-B63F-1F84-7F4341A33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5C80A5-2CAD-3CE3-F489-CB8A2DA6D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0343FC-03B2-AD54-2B03-33656782E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7EF3D64-808D-5EF2-A26B-90E868051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1117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7698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FB96DA5-76AA-FB61-F287-6D9FFB51A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65D6D5-2CE3-B0A2-A3C0-FF4392E75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193A39-297C-A4FF-4971-77EEDFCCA4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E4F6AA4-6C08-2494-E486-1D9E14270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47633C7-5887-851F-8072-7808047D76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045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260836" y="6629400"/>
            <a:ext cx="717804" cy="153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Reporter：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0759736" y="6629400"/>
            <a:ext cx="1218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188C588C-89B1-3410-1BC0-F158F5EF5E71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6" name="Text 4"/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084C671-A121-F9CE-3A25-92393B0D7CEE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7" name="Text 5"/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" name="Text 6"/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4 ~ Page 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391DDADA-07BF-0C03-9DCD-D25D9F435617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9" name="Text 7"/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24E3DAC9-E439-A9DD-8BA2-93CF689E1CAA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0" name="Text 8"/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works / MTP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1" name="Text 9"/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9 ~ Page 11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DE0F1279-943B-DD6C-31C3-643CAE5F9529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12" name="Text 10"/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5E40D145-1165-CB8C-9694-7AE66D4BB3A6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13" name="Text 11"/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4" name="Text 12"/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13 ~ Page 15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E15B758C-2D4E-41E8-B8A6-6A175BC47746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15" name="Text 13"/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7BCD5C17-E437-C85B-92EE-E42458873CD6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16" name="Text 14"/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Text 15"/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17 ~ Page 24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99F6D134-707D-E129-668B-29B1897D77A1}"/>
              </a:ext>
            </a:extLst>
          </p:cNvPr>
          <p:cNvGrpSpPr/>
          <p:nvPr/>
        </p:nvGrpSpPr>
        <p:grpSpPr>
          <a:xfrm>
            <a:off x="6365289" y="2912121"/>
            <a:ext cx="2916759" cy="720000"/>
            <a:chOff x="6365289" y="2995326"/>
            <a:chExt cx="2916759" cy="720000"/>
          </a:xfrm>
        </p:grpSpPr>
        <p:sp>
          <p:nvSpPr>
            <p:cNvPr id="18" name="Text 16"/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01FB5000-A7C2-0EF2-9717-AE1CB7B6E68E}"/>
                </a:ext>
              </a:extLst>
            </p:cNvPr>
            <p:cNvGrpSpPr/>
            <p:nvPr/>
          </p:nvGrpSpPr>
          <p:grpSpPr>
            <a:xfrm>
              <a:off x="7270368" y="3215826"/>
              <a:ext cx="2011680" cy="338328"/>
              <a:chOff x="4389120" y="4773168"/>
              <a:chExt cx="2011680" cy="338328"/>
            </a:xfrm>
          </p:grpSpPr>
          <p:sp>
            <p:nvSpPr>
              <p:cNvPr id="19" name="Text 17"/>
              <p:cNvSpPr/>
              <p:nvPr/>
            </p:nvSpPr>
            <p:spPr>
              <a:xfrm>
                <a:off x="4389120" y="47731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0" name="Text 18"/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26 ~ Page 27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0768614" y="6629400"/>
            <a:ext cx="1210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2543896" cy="101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ONE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292840" y="6629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的目標：一次 forward 不只預測下一個 token，也讓多個 draft models 預測更遠的 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 flipV="1">
            <a:off x="3084909" y="2338920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1800000" cy="900000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Input</a:t>
            </a:r>
            <a:r>
              <a: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t₀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55462" y="1920239"/>
            <a:ext cx="1800000" cy="900000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</a:p>
          <a:p>
            <a:pPr marL="0" indent="0" algn="ctr">
              <a:buNone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(target + draft)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16568" y="1920240"/>
            <a:ext cx="1800000" cy="90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Output: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… </a:t>
            </a:r>
            <a:r>
              <a:rPr lang="en-US" altLang="zh-TW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k</a:t>
            </a:r>
            <a:endParaRPr lang="en-US" sz="1600" baseline="-25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1560" y="4023360"/>
            <a:ext cx="10058400" cy="502920"/>
          </a:xfrm>
          <a:prstGeom prst="rect">
            <a:avLst/>
          </a:prstGeom>
          <a:solidFill>
            <a:srgbClr val="EEF5F7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核心假設：若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draft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的預測與主模型一致，self-speculative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decoding 就能一次接受多個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token，降低實際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推論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成本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6746A784-61D3-BDE6-778F-9F611E4AB0D3}"/>
              </a:ext>
            </a:extLst>
          </p:cNvPr>
          <p:cNvSpPr/>
          <p:nvPr/>
        </p:nvSpPr>
        <p:spPr>
          <a:xfrm flipV="1">
            <a:off x="7346015" y="2374104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28286FF-E264-6FDB-CE49-CF64B2E2E71A}"/>
              </a:ext>
            </a:extLst>
          </p:cNvPr>
          <p:cNvSpPr txBox="1"/>
          <p:nvPr/>
        </p:nvSpPr>
        <p:spPr>
          <a:xfrm>
            <a:off x="1051560" y="4836219"/>
            <a:ext cx="6920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看到的訓練目標越困難，因此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通常快速升高。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更加難被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target model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接受。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407806" y="6629400"/>
            <a:ext cx="5708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deeper </a:t>
            </a:r>
            <a:r>
              <a:rPr lang="en-US" sz="160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draft model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are harder to optimize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標準 MTP 只用 CE loss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訓練每個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target, draft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model，但不同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之間缺少明確的一致性約束。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91540" y="2112264"/>
            <a:ext cx="2340000" cy="108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Draft model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預測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越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遠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，PPL 越高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25112" y="2112264"/>
            <a:ext cx="2340000" cy="1080000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Target model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accepte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tokens 不穩定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160577" y="2112264"/>
            <a:ext cx="2340000" cy="108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生成品質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無法最大程度提升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91540" y="4823682"/>
            <a:ext cx="10195560" cy="438912"/>
          </a:xfrm>
          <a:prstGeom prst="rect">
            <a:avLst/>
          </a:prstGeom>
          <a:solidFill>
            <a:srgbClr val="EEF5F7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研究焦點：在不改變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MTP baseline 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架構的前提下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，用 consistency-method 強化 draft model。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319029" y="6629400"/>
            <a:ext cx="6596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6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goal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85800" y="1051560"/>
            <a:ext cx="10835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Goal：在既有 MTP 架構上加入 selective distribution consistency 與 latent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consistency，使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model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同時改善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PPL、acceptance 與 generative quality。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32304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590288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6748272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8906256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1719072" cy="658368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baseline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98064" y="2331720"/>
            <a:ext cx="1719072" cy="658368"/>
          </a:xfrm>
          <a:prstGeom prst="rect">
            <a:avLst/>
          </a:prstGeom>
          <a:solidFill>
            <a:srgbClr val="E8F2F6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Add SDC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(KL with confidence)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56048" y="2331720"/>
            <a:ext cx="1719072" cy="658368"/>
          </a:xfrm>
          <a:prstGeom prst="rect">
            <a:avLst/>
          </a:prstGeom>
          <a:solidFill>
            <a:srgbClr val="E7F4EC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Add LCM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(latent matching)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114032" y="2331720"/>
            <a:ext cx="1719072" cy="658368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Train on 10B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openwebtext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272016" y="2331720"/>
            <a:ext cx="1719072" cy="658368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Evaluate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PPL / GenPPL / Accept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0120" y="425196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SDC：用 teacher distribution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約束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student，並用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confidence mask 過濾不可靠 token。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LCM：在 embedding / hidden representation 層級進行一致性對齊。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SDC+LCM：同時對齊 token distribution 與 latent representation。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384280" y="66294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7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1600200" y="12527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600200" y="152704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將 consistency regularization 轉成適合 MTP draft model 的 KL loss。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600200" y="24871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Confidence-aware distillation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600200" y="276148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只在 teacher confidence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足夠的位置進行分佈蒸餾，避免噪聲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600200" y="3721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 joint training</a:t>
            </a:r>
          </a:p>
        </p:txBody>
      </p:sp>
      <p:sp>
        <p:nvSpPr>
          <p:cNvPr id="16" name="Text 14"/>
          <p:cNvSpPr/>
          <p:nvPr/>
        </p:nvSpPr>
        <p:spPr>
          <a:xfrm>
            <a:off x="1600200" y="399592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同時約束 token-level distribution 與 latent representation，改善生成品質與接受率。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64E6999E-C590-4981-6881-A6D8D661F83B}"/>
              </a:ext>
            </a:extLst>
          </p:cNvPr>
          <p:cNvSpPr/>
          <p:nvPr/>
        </p:nvSpPr>
        <p:spPr>
          <a:xfrm>
            <a:off x="653396" y="1099656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3B93BB8-F6A8-1662-6AFA-87F1DD71AFB1}"/>
              </a:ext>
            </a:extLst>
          </p:cNvPr>
          <p:cNvSpPr/>
          <p:nvPr/>
        </p:nvSpPr>
        <p:spPr>
          <a:xfrm>
            <a:off x="653396" y="2401488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059B001-AC70-22A1-C08C-0E5FF1CD6836}"/>
              </a:ext>
            </a:extLst>
          </p:cNvPr>
          <p:cNvSpPr/>
          <p:nvPr/>
        </p:nvSpPr>
        <p:spPr>
          <a:xfrm>
            <a:off x="664493" y="3635928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58726" y="6629400"/>
            <a:ext cx="41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works / MTP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0830757" y="6629400"/>
            <a:ext cx="1147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Part2: Related works / MTP</a:t>
            </a: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8C43E5C1-A5F7-E08B-6CC0-50D658AC909C}"/>
              </a:ext>
            </a:extLst>
          </p:cNvPr>
          <p:cNvGrpSpPr/>
          <p:nvPr/>
        </p:nvGrpSpPr>
        <p:grpSpPr>
          <a:xfrm>
            <a:off x="545128" y="6145832"/>
            <a:ext cx="3756533" cy="433276"/>
            <a:chOff x="47811" y="6225945"/>
            <a:chExt cx="3756533" cy="433276"/>
          </a:xfrm>
        </p:grpSpPr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227B8893-0082-DE7A-8D4D-E0778065AD40}"/>
                </a:ext>
              </a:extLst>
            </p:cNvPr>
            <p:cNvSpPr txBox="1"/>
            <p:nvPr/>
          </p:nvSpPr>
          <p:spPr>
            <a:xfrm>
              <a:off x="47811" y="6289889"/>
              <a:ext cx="1353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Input Token</a:t>
              </a:r>
              <a:endParaRPr lang="zh-TW" altLang="en-US" dirty="0"/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E670EA16-E1FC-48D3-ECAC-194DD122D4F9}"/>
                </a:ext>
              </a:extLst>
            </p:cNvPr>
            <p:cNvGrpSpPr/>
            <p:nvPr/>
          </p:nvGrpSpPr>
          <p:grpSpPr>
            <a:xfrm>
              <a:off x="1617869" y="6225945"/>
              <a:ext cx="2186475" cy="433276"/>
              <a:chOff x="1401542" y="6225945"/>
              <a:chExt cx="2186475" cy="433276"/>
            </a:xfrm>
          </p:grpSpPr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C96421B2-B35B-6B6E-152C-F91A10ED7BE3}"/>
                  </a:ext>
                </a:extLst>
              </p:cNvPr>
              <p:cNvSpPr/>
              <p:nvPr/>
            </p:nvSpPr>
            <p:spPr>
              <a:xfrm>
                <a:off x="1401542" y="6289889"/>
                <a:ext cx="351683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baseline="-25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7176D048-9897-9DED-DD93-E45DB68F274D}"/>
                  </a:ext>
                </a:extLst>
              </p:cNvPr>
              <p:cNvSpPr/>
              <p:nvPr/>
            </p:nvSpPr>
            <p:spPr>
              <a:xfrm>
                <a:off x="1894350" y="6289889"/>
                <a:ext cx="351683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baseline="-25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895DB94C-8812-159A-4442-CA854BFAE433}"/>
                  </a:ext>
                </a:extLst>
              </p:cNvPr>
              <p:cNvSpPr txBox="1"/>
              <p:nvPr/>
            </p:nvSpPr>
            <p:spPr>
              <a:xfrm>
                <a:off x="2386495" y="6225945"/>
                <a:ext cx="568251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dirty="0"/>
                  <a:t>… …</a:t>
                </a:r>
                <a:endParaRPr lang="zh-TW" altLang="en-US" dirty="0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760B9962-B18E-E242-7A80-9B4693ABDA73}"/>
                  </a:ext>
                </a:extLst>
              </p:cNvPr>
              <p:cNvSpPr/>
              <p:nvPr/>
            </p:nvSpPr>
            <p:spPr>
              <a:xfrm>
                <a:off x="3095209" y="6289889"/>
                <a:ext cx="492808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baseline="-25000" dirty="0">
                    <a:solidFill>
                      <a:schemeClr val="tx1"/>
                    </a:solidFill>
                  </a:rPr>
                  <a:t>T-1</a:t>
                </a:r>
              </a:p>
            </p:txBody>
          </p:sp>
        </p:grp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7CE40BDD-15E7-FF61-C403-04B199135A25}"/>
              </a:ext>
            </a:extLst>
          </p:cNvPr>
          <p:cNvGrpSpPr/>
          <p:nvPr/>
        </p:nvGrpSpPr>
        <p:grpSpPr>
          <a:xfrm>
            <a:off x="545128" y="3105810"/>
            <a:ext cx="3990547" cy="3070004"/>
            <a:chOff x="-479210" y="3292106"/>
            <a:chExt cx="3990547" cy="3070004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E41BF910-18F3-0D67-ADDA-9381B1852D91}"/>
                </a:ext>
              </a:extLst>
            </p:cNvPr>
            <p:cNvSpPr/>
            <p:nvPr/>
          </p:nvSpPr>
          <p:spPr>
            <a:xfrm>
              <a:off x="331472" y="3680892"/>
              <a:ext cx="3179865" cy="2463211"/>
            </a:xfrm>
            <a:prstGeom prst="roundRect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D74D9E31-DB6B-9C8E-E6DD-DC81A5BBCEDD}"/>
                </a:ext>
              </a:extLst>
            </p:cNvPr>
            <p:cNvSpPr/>
            <p:nvPr/>
          </p:nvSpPr>
          <p:spPr>
            <a:xfrm>
              <a:off x="640734" y="5475895"/>
              <a:ext cx="2601124" cy="607553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Embedding Layer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3B0A5A25-2ED5-31F9-875E-28B7680FE294}"/>
                </a:ext>
              </a:extLst>
            </p:cNvPr>
            <p:cNvGrpSpPr/>
            <p:nvPr/>
          </p:nvGrpSpPr>
          <p:grpSpPr>
            <a:xfrm>
              <a:off x="640734" y="4591204"/>
              <a:ext cx="2601124" cy="665883"/>
              <a:chOff x="1626094" y="3075858"/>
              <a:chExt cx="2999172" cy="774092"/>
            </a:xfrm>
          </p:grpSpPr>
          <p:sp>
            <p:nvSpPr>
              <p:cNvPr id="36" name="矩形: 圓角 35">
                <a:extLst>
                  <a:ext uri="{FF2B5EF4-FFF2-40B4-BE49-F238E27FC236}">
                    <a16:creationId xmlns:a16="http://schemas.microsoft.com/office/drawing/2014/main" id="{8F6BDD36-EDEC-B53F-CD4D-AEA828D67157}"/>
                  </a:ext>
                </a:extLst>
              </p:cNvPr>
              <p:cNvSpPr/>
              <p:nvPr/>
            </p:nvSpPr>
            <p:spPr>
              <a:xfrm>
                <a:off x="1731146" y="3143667"/>
                <a:ext cx="2894120" cy="70628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Embedding Layer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: 圓角 36">
                    <a:extLst>
                      <a:ext uri="{FF2B5EF4-FFF2-40B4-BE49-F238E27FC236}">
                        <a16:creationId xmlns:a16="http://schemas.microsoft.com/office/drawing/2014/main" id="{275D349D-365A-5D7D-0BA5-E56EEF2FAEBB}"/>
                      </a:ext>
                    </a:extLst>
                  </p:cNvPr>
                  <p:cNvSpPr/>
                  <p:nvPr/>
                </p:nvSpPr>
                <p:spPr>
                  <a:xfrm>
                    <a:off x="1626094" y="3075858"/>
                    <a:ext cx="2894120" cy="706283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Transformer Block </a:t>
                    </a:r>
                    <a14:m>
                      <m:oMath xmlns:m="http://schemas.openxmlformats.org/officeDocument/2006/math"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</m:oMath>
                    </a14:m>
                    <a:r>
                      <a:rPr lang="zh-TW" altLang="en-US" b="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altLang="zh-TW" b="0" dirty="0">
                        <a:solidFill>
                          <a:schemeClr val="tx1"/>
                        </a:solidFill>
                      </a:rPr>
                      <a:t>L</a:t>
                    </a:r>
                  </a:p>
                </p:txBody>
              </p:sp>
            </mc:Choice>
            <mc:Fallback xmlns="">
              <p:sp>
                <p:nvSpPr>
                  <p:cNvPr id="37" name="矩形: 圓角 36">
                    <a:extLst>
                      <a:ext uri="{FF2B5EF4-FFF2-40B4-BE49-F238E27FC236}">
                        <a16:creationId xmlns:a16="http://schemas.microsoft.com/office/drawing/2014/main" id="{275D349D-365A-5D7D-0BA5-E56EEF2FAE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6094" y="3075858"/>
                    <a:ext cx="2894120" cy="706283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B210C8D8-7F70-0C2B-EDA9-4E764EC5A105}"/>
                </a:ext>
              </a:extLst>
            </p:cNvPr>
            <p:cNvSpPr/>
            <p:nvPr/>
          </p:nvSpPr>
          <p:spPr>
            <a:xfrm>
              <a:off x="640734" y="3739715"/>
              <a:ext cx="2601124" cy="60755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hidden layer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箭號: 向上 31">
              <a:extLst>
                <a:ext uri="{FF2B5EF4-FFF2-40B4-BE49-F238E27FC236}">
                  <a16:creationId xmlns:a16="http://schemas.microsoft.com/office/drawing/2014/main" id="{4A57F663-63F4-A84D-A7C2-590874465FAE}"/>
                </a:ext>
              </a:extLst>
            </p:cNvPr>
            <p:cNvSpPr/>
            <p:nvPr/>
          </p:nvSpPr>
          <p:spPr>
            <a:xfrm>
              <a:off x="1814896" y="6163557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箭號: 向上 32">
              <a:extLst>
                <a:ext uri="{FF2B5EF4-FFF2-40B4-BE49-F238E27FC236}">
                  <a16:creationId xmlns:a16="http://schemas.microsoft.com/office/drawing/2014/main" id="{F42EB6FD-5217-E696-917E-6E5575EE07BE}"/>
                </a:ext>
              </a:extLst>
            </p:cNvPr>
            <p:cNvSpPr/>
            <p:nvPr/>
          </p:nvSpPr>
          <p:spPr>
            <a:xfrm>
              <a:off x="1814896" y="5267214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箭號: 向上 33">
              <a:extLst>
                <a:ext uri="{FF2B5EF4-FFF2-40B4-BE49-F238E27FC236}">
                  <a16:creationId xmlns:a16="http://schemas.microsoft.com/office/drawing/2014/main" id="{5B79B0C1-FFAB-FE39-AD40-7A5B3D48393B}"/>
                </a:ext>
              </a:extLst>
            </p:cNvPr>
            <p:cNvSpPr/>
            <p:nvPr/>
          </p:nvSpPr>
          <p:spPr>
            <a:xfrm>
              <a:off x="1814896" y="4373197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417D5546-6CD9-5FB7-7727-02B79C679C56}"/>
                </a:ext>
              </a:extLst>
            </p:cNvPr>
            <p:cNvSpPr txBox="1"/>
            <p:nvPr/>
          </p:nvSpPr>
          <p:spPr>
            <a:xfrm>
              <a:off x="-479210" y="3292106"/>
              <a:ext cx="25100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Shared Trunk Network</a:t>
              </a:r>
              <a:endParaRPr lang="zh-TW" altLang="en-US" dirty="0"/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564D8A92-4225-C515-6632-01A674C114EA}"/>
              </a:ext>
            </a:extLst>
          </p:cNvPr>
          <p:cNvGrpSpPr/>
          <p:nvPr/>
        </p:nvGrpSpPr>
        <p:grpSpPr>
          <a:xfrm>
            <a:off x="2823905" y="3053135"/>
            <a:ext cx="5910103" cy="474681"/>
            <a:chOff x="2654618" y="3043672"/>
            <a:chExt cx="5910103" cy="474681"/>
          </a:xfrm>
        </p:grpSpPr>
        <p:sp>
          <p:nvSpPr>
            <p:cNvPr id="39" name="箭號: 向上 38">
              <a:extLst>
                <a:ext uri="{FF2B5EF4-FFF2-40B4-BE49-F238E27FC236}">
                  <a16:creationId xmlns:a16="http://schemas.microsoft.com/office/drawing/2014/main" id="{FE33D9D5-C52F-037D-F0BE-6DE76EB553A9}"/>
                </a:ext>
              </a:extLst>
            </p:cNvPr>
            <p:cNvSpPr/>
            <p:nvPr/>
          </p:nvSpPr>
          <p:spPr>
            <a:xfrm>
              <a:off x="2654618" y="3086353"/>
              <a:ext cx="161688" cy="432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箭號: 上彎 39">
              <a:extLst>
                <a:ext uri="{FF2B5EF4-FFF2-40B4-BE49-F238E27FC236}">
                  <a16:creationId xmlns:a16="http://schemas.microsoft.com/office/drawing/2014/main" id="{891115AF-5B5A-0ED3-98FA-87B43103AD9D}"/>
                </a:ext>
              </a:extLst>
            </p:cNvPr>
            <p:cNvSpPr/>
            <p:nvPr/>
          </p:nvSpPr>
          <p:spPr>
            <a:xfrm>
              <a:off x="2711107" y="3043672"/>
              <a:ext cx="2917349" cy="304478"/>
            </a:xfrm>
            <a:prstGeom prst="bent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1" name="箭號: 上彎 40">
              <a:extLst>
                <a:ext uri="{FF2B5EF4-FFF2-40B4-BE49-F238E27FC236}">
                  <a16:creationId xmlns:a16="http://schemas.microsoft.com/office/drawing/2014/main" id="{A975311E-7EE8-48E2-1978-BF3712F6BB10}"/>
                </a:ext>
              </a:extLst>
            </p:cNvPr>
            <p:cNvSpPr/>
            <p:nvPr/>
          </p:nvSpPr>
          <p:spPr>
            <a:xfrm>
              <a:off x="5544171" y="3043672"/>
              <a:ext cx="3020550" cy="304478"/>
            </a:xfrm>
            <a:prstGeom prst="bent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54DEBAC-A7A2-9C52-6117-5D4F34984E50}"/>
              </a:ext>
            </a:extLst>
          </p:cNvPr>
          <p:cNvGrpSpPr/>
          <p:nvPr/>
        </p:nvGrpSpPr>
        <p:grpSpPr>
          <a:xfrm>
            <a:off x="1590919" y="1600954"/>
            <a:ext cx="8240542" cy="1440847"/>
            <a:chOff x="1403832" y="1568746"/>
            <a:chExt cx="8240542" cy="1440847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5244741F-B424-3715-CBEC-8E8C79D68552}"/>
                </a:ext>
              </a:extLst>
            </p:cNvPr>
            <p:cNvGrpSpPr/>
            <p:nvPr/>
          </p:nvGrpSpPr>
          <p:grpSpPr>
            <a:xfrm>
              <a:off x="1403832" y="1572359"/>
              <a:ext cx="2496659" cy="1437234"/>
              <a:chOff x="5015648" y="1510684"/>
              <a:chExt cx="2761191" cy="1590626"/>
            </a:xfrm>
          </p:grpSpPr>
          <p:sp>
            <p:nvSpPr>
              <p:cNvPr id="44" name="矩形: 圓角 43">
                <a:extLst>
                  <a:ext uri="{FF2B5EF4-FFF2-40B4-BE49-F238E27FC236}">
                    <a16:creationId xmlns:a16="http://schemas.microsoft.com/office/drawing/2014/main" id="{8A4821BB-4A0A-91F4-36A0-3609A20D1238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5" name="矩形: 圓角 44">
                <a:extLst>
                  <a:ext uri="{FF2B5EF4-FFF2-40B4-BE49-F238E27FC236}">
                    <a16:creationId xmlns:a16="http://schemas.microsoft.com/office/drawing/2014/main" id="{9174BA99-5FD4-2133-A867-E3AB089838E6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8F87F7AF-5EC3-DC0C-F471-8DC2EBFA48AA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1</a:t>
                </a:r>
                <a:endParaRPr lang="zh-TW" altLang="en-US" dirty="0"/>
              </a:p>
            </p:txBody>
          </p:sp>
          <p:sp>
            <p:nvSpPr>
              <p:cNvPr id="47" name="箭號: 向上 46">
                <a:extLst>
                  <a:ext uri="{FF2B5EF4-FFF2-40B4-BE49-F238E27FC236}">
                    <a16:creationId xmlns:a16="http://schemas.microsoft.com/office/drawing/2014/main" id="{00A6C228-C15D-F068-01E1-D0BB335D1B86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6241E75B-291D-DCB1-2B83-178284D97A37}"/>
                </a:ext>
              </a:extLst>
            </p:cNvPr>
            <p:cNvGrpSpPr/>
            <p:nvPr/>
          </p:nvGrpSpPr>
          <p:grpSpPr>
            <a:xfrm>
              <a:off x="4211450" y="1568746"/>
              <a:ext cx="2496659" cy="1437234"/>
              <a:chOff x="5015648" y="1510684"/>
              <a:chExt cx="2761191" cy="1590626"/>
            </a:xfrm>
          </p:grpSpPr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8A2C7EF4-2292-7DCE-1DEA-AC70C00E794E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: 圓角 49">
                <a:extLst>
                  <a:ext uri="{FF2B5EF4-FFF2-40B4-BE49-F238E27FC236}">
                    <a16:creationId xmlns:a16="http://schemas.microsoft.com/office/drawing/2014/main" id="{FF13D42F-4D83-8FD7-5995-1ADA14F5CE91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E84C5157-DE62-AD74-BC01-BEF2DD2C5F63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2</a:t>
                </a:r>
                <a:endParaRPr lang="zh-TW" altLang="en-US" dirty="0"/>
              </a:p>
            </p:txBody>
          </p:sp>
          <p:sp>
            <p:nvSpPr>
              <p:cNvPr id="52" name="箭號: 向上 51">
                <a:extLst>
                  <a:ext uri="{FF2B5EF4-FFF2-40B4-BE49-F238E27FC236}">
                    <a16:creationId xmlns:a16="http://schemas.microsoft.com/office/drawing/2014/main" id="{0B56BD44-B623-C225-B832-CC36664B6744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081D907E-75C3-5C12-BA87-3D67F028F09B}"/>
                </a:ext>
              </a:extLst>
            </p:cNvPr>
            <p:cNvGrpSpPr/>
            <p:nvPr/>
          </p:nvGrpSpPr>
          <p:grpSpPr>
            <a:xfrm>
              <a:off x="7147715" y="1570626"/>
              <a:ext cx="2496659" cy="1437234"/>
              <a:chOff x="5015648" y="1510684"/>
              <a:chExt cx="2761191" cy="1590626"/>
            </a:xfrm>
          </p:grpSpPr>
          <p:sp>
            <p:nvSpPr>
              <p:cNvPr id="54" name="矩形: 圓角 53">
                <a:extLst>
                  <a:ext uri="{FF2B5EF4-FFF2-40B4-BE49-F238E27FC236}">
                    <a16:creationId xmlns:a16="http://schemas.microsoft.com/office/drawing/2014/main" id="{0D069134-A8DE-DB3B-C2E7-3AB5B2A94A50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C731E410-FD63-F22D-2378-4114B76B9FEE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11C2AE9-5CF8-02CD-EB7A-C9262322F44E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K</a:t>
                </a:r>
                <a:endParaRPr lang="zh-TW" altLang="en-US" dirty="0"/>
              </a:p>
            </p:txBody>
          </p:sp>
          <p:sp>
            <p:nvSpPr>
              <p:cNvPr id="57" name="箭號: 向上 56">
                <a:extLst>
                  <a:ext uri="{FF2B5EF4-FFF2-40B4-BE49-F238E27FC236}">
                    <a16:creationId xmlns:a16="http://schemas.microsoft.com/office/drawing/2014/main" id="{5B7C456D-0DFE-F0AD-0AF7-A7A126809611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9D308BDC-6DD4-997C-1324-C3A74C916B13}"/>
                </a:ext>
              </a:extLst>
            </p:cNvPr>
            <p:cNvSpPr txBox="1"/>
            <p:nvPr/>
          </p:nvSpPr>
          <p:spPr>
            <a:xfrm>
              <a:off x="6708107" y="228426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</p:grp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8C0DF537-A743-4131-4AD6-11A576126F40}"/>
              </a:ext>
            </a:extLst>
          </p:cNvPr>
          <p:cNvSpPr/>
          <p:nvPr/>
        </p:nvSpPr>
        <p:spPr>
          <a:xfrm>
            <a:off x="1469116" y="1250305"/>
            <a:ext cx="8484145" cy="36976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Position-wise FFN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9813407C-8571-9B1F-03F6-0BE6058BFA7B}"/>
              </a:ext>
            </a:extLst>
          </p:cNvPr>
          <p:cNvGrpSpPr/>
          <p:nvPr/>
        </p:nvGrpSpPr>
        <p:grpSpPr>
          <a:xfrm>
            <a:off x="545128" y="724529"/>
            <a:ext cx="9596563" cy="468605"/>
            <a:chOff x="47811" y="1058033"/>
            <a:chExt cx="9596563" cy="468605"/>
          </a:xfrm>
        </p:grpSpPr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80B00B47-67B2-A662-D0C0-A702A8F0A8E9}"/>
                </a:ext>
              </a:extLst>
            </p:cNvPr>
            <p:cNvSpPr txBox="1"/>
            <p:nvPr/>
          </p:nvSpPr>
          <p:spPr>
            <a:xfrm>
              <a:off x="47811" y="1150374"/>
              <a:ext cx="14547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Output Token</a:t>
              </a:r>
              <a:endParaRPr lang="zh-TW" altLang="en-US" dirty="0"/>
            </a:p>
          </p:txBody>
        </p: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B6B3EE4D-6C91-5E6A-4138-88A336C479FB}"/>
                </a:ext>
              </a:extLst>
            </p:cNvPr>
            <p:cNvGrpSpPr/>
            <p:nvPr/>
          </p:nvGrpSpPr>
          <p:grpSpPr>
            <a:xfrm>
              <a:off x="1617869" y="1058033"/>
              <a:ext cx="8026505" cy="468605"/>
              <a:chOff x="1617869" y="1058033"/>
              <a:chExt cx="8026505" cy="468605"/>
            </a:xfrm>
          </p:grpSpPr>
          <p:grpSp>
            <p:nvGrpSpPr>
              <p:cNvPr id="64" name="群組 63">
                <a:extLst>
                  <a:ext uri="{FF2B5EF4-FFF2-40B4-BE49-F238E27FC236}">
                    <a16:creationId xmlns:a16="http://schemas.microsoft.com/office/drawing/2014/main" id="{C181C5A4-CB6A-9EC5-43E9-856E8423990A}"/>
                  </a:ext>
                </a:extLst>
              </p:cNvPr>
              <p:cNvGrpSpPr/>
              <p:nvPr/>
            </p:nvGrpSpPr>
            <p:grpSpPr>
              <a:xfrm>
                <a:off x="1617869" y="1093362"/>
                <a:ext cx="2186475" cy="433276"/>
                <a:chOff x="1401542" y="6225945"/>
                <a:chExt cx="2186475" cy="433276"/>
              </a:xfrm>
            </p:grpSpPr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E8F273A4-6537-81E7-5188-C807DF210F7F}"/>
                    </a:ext>
                  </a:extLst>
                </p:cNvPr>
                <p:cNvSpPr/>
                <p:nvPr/>
              </p:nvSpPr>
              <p:spPr>
                <a:xfrm>
                  <a:off x="1401542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76" name="矩形 75">
                  <a:extLst>
                    <a:ext uri="{FF2B5EF4-FFF2-40B4-BE49-F238E27FC236}">
                      <a16:creationId xmlns:a16="http://schemas.microsoft.com/office/drawing/2014/main" id="{76C4E416-E83B-ACB7-08F7-3FF2B5F219C3}"/>
                    </a:ext>
                  </a:extLst>
                </p:cNvPr>
                <p:cNvSpPr/>
                <p:nvPr/>
              </p:nvSpPr>
              <p:spPr>
                <a:xfrm>
                  <a:off x="1894350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C17652F-787E-D956-FF4D-C50E025B0F89}"/>
                    </a:ext>
                  </a:extLst>
                </p:cNvPr>
                <p:cNvSpPr txBox="1"/>
                <p:nvPr/>
              </p:nvSpPr>
              <p:spPr>
                <a:xfrm>
                  <a:off x="2386495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E666BF87-860F-B499-8974-80C8AA9ABD7A}"/>
                    </a:ext>
                  </a:extLst>
                </p:cNvPr>
                <p:cNvSpPr/>
                <p:nvPr/>
              </p:nvSpPr>
              <p:spPr>
                <a:xfrm>
                  <a:off x="3095209" y="6289889"/>
                  <a:ext cx="492808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 err="1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 err="1">
                      <a:solidFill>
                        <a:schemeClr val="tx1"/>
                      </a:solidFill>
                    </a:rPr>
                    <a:t>T</a:t>
                  </a:r>
                  <a:endParaRPr lang="en-US" altLang="zh-TW" baseline="-25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5" name="群組 64">
                <a:extLst>
                  <a:ext uri="{FF2B5EF4-FFF2-40B4-BE49-F238E27FC236}">
                    <a16:creationId xmlns:a16="http://schemas.microsoft.com/office/drawing/2014/main" id="{7A161CCD-65AC-6D02-7A44-212DC4727313}"/>
                  </a:ext>
                </a:extLst>
              </p:cNvPr>
              <p:cNvGrpSpPr/>
              <p:nvPr/>
            </p:nvGrpSpPr>
            <p:grpSpPr>
              <a:xfrm>
                <a:off x="4430864" y="1058033"/>
                <a:ext cx="2186475" cy="433276"/>
                <a:chOff x="1401542" y="6225945"/>
                <a:chExt cx="2186475" cy="433276"/>
              </a:xfrm>
            </p:grpSpPr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21DA31A-D807-06D4-CD03-E007385A9956}"/>
                    </a:ext>
                  </a:extLst>
                </p:cNvPr>
                <p:cNvSpPr/>
                <p:nvPr/>
              </p:nvSpPr>
              <p:spPr>
                <a:xfrm>
                  <a:off x="1401542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76C4EBC5-5944-DFAB-571C-9FEC73F05412}"/>
                    </a:ext>
                  </a:extLst>
                </p:cNvPr>
                <p:cNvSpPr/>
                <p:nvPr/>
              </p:nvSpPr>
              <p:spPr>
                <a:xfrm>
                  <a:off x="1894350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73" name="文字方塊 72">
                  <a:extLst>
                    <a:ext uri="{FF2B5EF4-FFF2-40B4-BE49-F238E27FC236}">
                      <a16:creationId xmlns:a16="http://schemas.microsoft.com/office/drawing/2014/main" id="{E72ADD5D-AE16-F8D1-AD61-EE83955BFA79}"/>
                    </a:ext>
                  </a:extLst>
                </p:cNvPr>
                <p:cNvSpPr txBox="1"/>
                <p:nvPr/>
              </p:nvSpPr>
              <p:spPr>
                <a:xfrm>
                  <a:off x="2386495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38BEDFF7-EAD9-883B-905D-8FBF0241A43C}"/>
                    </a:ext>
                  </a:extLst>
                </p:cNvPr>
                <p:cNvSpPr/>
                <p:nvPr/>
              </p:nvSpPr>
              <p:spPr>
                <a:xfrm>
                  <a:off x="3095209" y="6289889"/>
                  <a:ext cx="492808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T+1</a:t>
                  </a:r>
                </a:p>
              </p:txBody>
            </p:sp>
          </p:grpSp>
          <p:grpSp>
            <p:nvGrpSpPr>
              <p:cNvPr id="66" name="群組 65">
                <a:extLst>
                  <a:ext uri="{FF2B5EF4-FFF2-40B4-BE49-F238E27FC236}">
                    <a16:creationId xmlns:a16="http://schemas.microsoft.com/office/drawing/2014/main" id="{BE47FB69-2BE5-B288-1C2C-8B48A7505BB2}"/>
                  </a:ext>
                </a:extLst>
              </p:cNvPr>
              <p:cNvGrpSpPr/>
              <p:nvPr/>
            </p:nvGrpSpPr>
            <p:grpSpPr>
              <a:xfrm>
                <a:off x="7302913" y="1058033"/>
                <a:ext cx="2341461" cy="433276"/>
                <a:chOff x="1401542" y="6225945"/>
                <a:chExt cx="2341461" cy="433276"/>
              </a:xfrm>
            </p:grpSpPr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695BF23E-44AF-CC59-C489-F61BBB9006E0}"/>
                    </a:ext>
                  </a:extLst>
                </p:cNvPr>
                <p:cNvSpPr/>
                <p:nvPr/>
              </p:nvSpPr>
              <p:spPr>
                <a:xfrm>
                  <a:off x="1401542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 err="1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 err="1">
                      <a:solidFill>
                        <a:schemeClr val="tx1"/>
                      </a:solidFill>
                    </a:rPr>
                    <a:t>k</a:t>
                  </a:r>
                  <a:endParaRPr lang="en-US" altLang="zh-TW" baseline="-250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8" name="矩形 67">
                  <a:extLst>
                    <a:ext uri="{FF2B5EF4-FFF2-40B4-BE49-F238E27FC236}">
                      <a16:creationId xmlns:a16="http://schemas.microsoft.com/office/drawing/2014/main" id="{41C92049-8F0C-C791-4179-23987A0F3803}"/>
                    </a:ext>
                  </a:extLst>
                </p:cNvPr>
                <p:cNvSpPr/>
                <p:nvPr/>
              </p:nvSpPr>
              <p:spPr>
                <a:xfrm>
                  <a:off x="1894350" y="6289889"/>
                  <a:ext cx="544449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k+1</a:t>
                  </a:r>
                </a:p>
              </p:txBody>
            </p:sp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E149DFC9-CC0D-3F49-D530-727EF1849846}"/>
                    </a:ext>
                  </a:extLst>
                </p:cNvPr>
                <p:cNvSpPr txBox="1"/>
                <p:nvPr/>
              </p:nvSpPr>
              <p:spPr>
                <a:xfrm>
                  <a:off x="2386495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A883EED4-E6F5-FEA3-FE36-334FFB71CB6A}"/>
                    </a:ext>
                  </a:extLst>
                </p:cNvPr>
                <p:cNvSpPr/>
                <p:nvPr/>
              </p:nvSpPr>
              <p:spPr>
                <a:xfrm>
                  <a:off x="3095209" y="6289889"/>
                  <a:ext cx="647794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T+k-1</a:t>
                  </a:r>
                </a:p>
              </p:txBody>
            </p:sp>
          </p:grpSp>
        </p:grpSp>
      </p:grp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87394BAF-B8A1-8AE8-D4D5-A084CED03D0E}"/>
              </a:ext>
            </a:extLst>
          </p:cNvPr>
          <p:cNvSpPr txBox="1"/>
          <p:nvPr/>
        </p:nvSpPr>
        <p:spPr>
          <a:xfrm>
            <a:off x="4844937" y="4583036"/>
            <a:ext cx="64788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(target model)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模型架構重點：計算成本主要集中在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的額外成本相對較小，因此可用於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475720" y="6629400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10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Related works / MTP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Baseline training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未加入 consistency 時，每個 head 只根據自己的 target offset 計算 CE loss。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19BF25-9735-8D18-1732-C1D72C93C50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可能與可靠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/ 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0DB2690-6F5C-99B3-EA4D-A28717A4F9C9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D27D74E4-D606-FD57-3680-5D8C248CF416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6B13D94C-EAAF-98FB-26BC-A3FF955B202B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9" name="群組 18">
                <a:extLst>
                  <a:ext uri="{FF2B5EF4-FFF2-40B4-BE49-F238E27FC236}">
                    <a16:creationId xmlns:a16="http://schemas.microsoft.com/office/drawing/2014/main" id="{42F8B22D-63E6-B10E-00F2-3B91626D0D72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21" name="群組 20">
                  <a:extLst>
                    <a:ext uri="{FF2B5EF4-FFF2-40B4-BE49-F238E27FC236}">
                      <a16:creationId xmlns:a16="http://schemas.microsoft.com/office/drawing/2014/main" id="{E7DDFE72-7E31-FF34-9BD6-3AB52D31DDAE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8" name="矩形: 圓角 27">
                    <a:extLst>
                      <a:ext uri="{FF2B5EF4-FFF2-40B4-BE49-F238E27FC236}">
                        <a16:creationId xmlns:a16="http://schemas.microsoft.com/office/drawing/2014/main" id="{29183A70-3519-4022-A8AB-6905C95AEF9B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矩形: 圓角 28">
                    <a:extLst>
                      <a:ext uri="{FF2B5EF4-FFF2-40B4-BE49-F238E27FC236}">
                        <a16:creationId xmlns:a16="http://schemas.microsoft.com/office/drawing/2014/main" id="{1FE55618-178A-B171-B85C-739224691B24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0" name="文字方塊 29">
                    <a:extLst>
                      <a:ext uri="{FF2B5EF4-FFF2-40B4-BE49-F238E27FC236}">
                        <a16:creationId xmlns:a16="http://schemas.microsoft.com/office/drawing/2014/main" id="{94B20C0F-DFF8-EF56-2642-5DA45DB64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31" name="矩形: 圓角 30">
                    <a:extLst>
                      <a:ext uri="{FF2B5EF4-FFF2-40B4-BE49-F238E27FC236}">
                        <a16:creationId xmlns:a16="http://schemas.microsoft.com/office/drawing/2014/main" id="{86AE9CAA-01C5-29CC-3C23-A645C6715C86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2" name="箭號: 上彎 31">
                    <a:extLst>
                      <a:ext uri="{FF2B5EF4-FFF2-40B4-BE49-F238E27FC236}">
                        <a16:creationId xmlns:a16="http://schemas.microsoft.com/office/drawing/2014/main" id="{00F0454B-B828-A058-B546-413F73374959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33" name="箭號: 上彎 32">
                    <a:extLst>
                      <a:ext uri="{FF2B5EF4-FFF2-40B4-BE49-F238E27FC236}">
                        <a16:creationId xmlns:a16="http://schemas.microsoft.com/office/drawing/2014/main" id="{B87B3718-F907-12D5-20F8-827941911018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4" name="箭號: 上彎 33">
                    <a:extLst>
                      <a:ext uri="{FF2B5EF4-FFF2-40B4-BE49-F238E27FC236}">
                        <a16:creationId xmlns:a16="http://schemas.microsoft.com/office/drawing/2014/main" id="{BFE6D144-ECAE-AA6B-EC85-2A5739AC2A77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22" name="群組 21">
                  <a:extLst>
                    <a:ext uri="{FF2B5EF4-FFF2-40B4-BE49-F238E27FC236}">
                      <a16:creationId xmlns:a16="http://schemas.microsoft.com/office/drawing/2014/main" id="{8F400DC1-865C-75AF-057D-35EC25A91648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23" name="矩形 22">
                    <a:extLst>
                      <a:ext uri="{FF2B5EF4-FFF2-40B4-BE49-F238E27FC236}">
                        <a16:creationId xmlns:a16="http://schemas.microsoft.com/office/drawing/2014/main" id="{FBDC415E-631D-B932-8A74-0454B3707534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6574E9D8-B709-B1DF-31F3-77708BD1CE07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5" name="矩形 24">
                    <a:extLst>
                      <a:ext uri="{FF2B5EF4-FFF2-40B4-BE49-F238E27FC236}">
                        <a16:creationId xmlns:a16="http://schemas.microsoft.com/office/drawing/2014/main" id="{29CF474B-6B19-9354-7133-DA5658FBE7A1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6" name="矩形 25">
                    <a:extLst>
                      <a:ext uri="{FF2B5EF4-FFF2-40B4-BE49-F238E27FC236}">
                        <a16:creationId xmlns:a16="http://schemas.microsoft.com/office/drawing/2014/main" id="{D19A49E2-CA27-4793-6BA2-DC2D6DA9561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7" name="箭號: 向下 26">
                    <a:extLst>
                      <a:ext uri="{FF2B5EF4-FFF2-40B4-BE49-F238E27FC236}">
                        <a16:creationId xmlns:a16="http://schemas.microsoft.com/office/drawing/2014/main" id="{E9EAC942-2DFC-AFF9-4A25-B4CBDCF1788D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C0BF961-DFEF-2814-05B8-C7C8959E8718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81D46F92-4F3B-1499-18FA-813A0E81E5C7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A0526EC1-9C16-8C5E-8FD0-1E0E6D0CDD58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矩形: 圓角 36">
              <a:extLst>
                <a:ext uri="{FF2B5EF4-FFF2-40B4-BE49-F238E27FC236}">
                  <a16:creationId xmlns:a16="http://schemas.microsoft.com/office/drawing/2014/main" id="{F12C196F-E3A5-BDC8-3792-6C92081AD5D3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0E854134-7155-B096-7AA0-D25A817CC56B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9" name="矩形: 圓角 38">
              <a:extLst>
                <a:ext uri="{FF2B5EF4-FFF2-40B4-BE49-F238E27FC236}">
                  <a16:creationId xmlns:a16="http://schemas.microsoft.com/office/drawing/2014/main" id="{AC3EFFC5-65D8-3C57-ED7A-5FF9168A1D63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94A4BE25-2A6D-3EA1-D733-CFA2C87C362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7" name="箭號: 向上 46">
                <a:extLst>
                  <a:ext uri="{FF2B5EF4-FFF2-40B4-BE49-F238E27FC236}">
                    <a16:creationId xmlns:a16="http://schemas.microsoft.com/office/drawing/2014/main" id="{AAD734F2-50CD-932A-C900-AB3767DF9A6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8" name="箭號: 向上 47">
                <a:extLst>
                  <a:ext uri="{FF2B5EF4-FFF2-40B4-BE49-F238E27FC236}">
                    <a16:creationId xmlns:a16="http://schemas.microsoft.com/office/drawing/2014/main" id="{F747AFEB-DE94-2A0A-A81D-34B98E131BC9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1" name="群組 40">
              <a:extLst>
                <a:ext uri="{FF2B5EF4-FFF2-40B4-BE49-F238E27FC236}">
                  <a16:creationId xmlns:a16="http://schemas.microsoft.com/office/drawing/2014/main" id="{152FE89E-8FF2-54A0-48A0-0FBD97C262FD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5" name="箭號: 向上 44">
                <a:extLst>
                  <a:ext uri="{FF2B5EF4-FFF2-40B4-BE49-F238E27FC236}">
                    <a16:creationId xmlns:a16="http://schemas.microsoft.com/office/drawing/2014/main" id="{365C9BCA-84BB-7387-895A-663483E95F67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6" name="箭號: 向上 45">
                <a:extLst>
                  <a:ext uri="{FF2B5EF4-FFF2-40B4-BE49-F238E27FC236}">
                    <a16:creationId xmlns:a16="http://schemas.microsoft.com/office/drawing/2014/main" id="{D2302F61-FB3F-8275-B456-22B4F251388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2" name="群組 41">
              <a:extLst>
                <a:ext uri="{FF2B5EF4-FFF2-40B4-BE49-F238E27FC236}">
                  <a16:creationId xmlns:a16="http://schemas.microsoft.com/office/drawing/2014/main" id="{396292E6-83EB-EFB5-CD4A-719FFFF412BA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1A3DA002-23AC-6BB0-6FC7-E49205907C6C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7D574673-444E-0A6F-C43C-DD4AD1A0BD8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FF75840B-9137-D44E-83C2-3C00295E77D3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62761AEA-8BCB-04B5-7E8A-4F782574E681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51" name="箭號: 向上 50">
              <a:extLst>
                <a:ext uri="{FF2B5EF4-FFF2-40B4-BE49-F238E27FC236}">
                  <a16:creationId xmlns:a16="http://schemas.microsoft.com/office/drawing/2014/main" id="{5E987716-527A-F54D-3068-06826A6AA13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箭號: 向上 51">
              <a:extLst>
                <a:ext uri="{FF2B5EF4-FFF2-40B4-BE49-F238E27FC236}">
                  <a16:creationId xmlns:a16="http://schemas.microsoft.com/office/drawing/2014/main" id="{66196920-872C-09B7-95B9-8F7EB1F49E0A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96971C90-30E2-127C-CFAA-9C3051E9D81C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40971" y="6629400"/>
            <a:ext cx="4376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11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Related works / MTP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55235AD4-D98D-E730-EE6E-FC8FFB3EE63C}"/>
              </a:ext>
            </a:extLst>
          </p:cNvPr>
          <p:cNvGrpSpPr/>
          <p:nvPr/>
        </p:nvGrpSpPr>
        <p:grpSpPr>
          <a:xfrm>
            <a:off x="347471" y="735984"/>
            <a:ext cx="3445903" cy="3836938"/>
            <a:chOff x="638400" y="1449914"/>
            <a:chExt cx="3445903" cy="3836938"/>
          </a:xfrm>
        </p:grpSpPr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177A29CD-4CEC-4B12-03F9-72DC250DD8FC}"/>
                </a:ext>
              </a:extLst>
            </p:cNvPr>
            <p:cNvSpPr txBox="1"/>
            <p:nvPr/>
          </p:nvSpPr>
          <p:spPr>
            <a:xfrm>
              <a:off x="638400" y="1449914"/>
              <a:ext cx="17603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Propose + verify</a:t>
              </a:r>
              <a:endParaRPr lang="zh-TW" altLang="en-US" dirty="0"/>
            </a:p>
          </p:txBody>
        </p:sp>
        <p:grpSp>
          <p:nvGrpSpPr>
            <p:cNvPr id="128" name="群組 127">
              <a:extLst>
                <a:ext uri="{FF2B5EF4-FFF2-40B4-BE49-F238E27FC236}">
                  <a16:creationId xmlns:a16="http://schemas.microsoft.com/office/drawing/2014/main" id="{45AFBFB4-BD64-23E4-ECB3-21025FE319AE}"/>
                </a:ext>
              </a:extLst>
            </p:cNvPr>
            <p:cNvGrpSpPr/>
            <p:nvPr/>
          </p:nvGrpSpPr>
          <p:grpSpPr>
            <a:xfrm>
              <a:off x="638402" y="2094095"/>
              <a:ext cx="3445901" cy="3192757"/>
              <a:chOff x="-7395" y="3688950"/>
              <a:chExt cx="3445901" cy="3192757"/>
            </a:xfrm>
          </p:grpSpPr>
          <p:grpSp>
            <p:nvGrpSpPr>
              <p:cNvPr id="126" name="群組 125">
                <a:extLst>
                  <a:ext uri="{FF2B5EF4-FFF2-40B4-BE49-F238E27FC236}">
                    <a16:creationId xmlns:a16="http://schemas.microsoft.com/office/drawing/2014/main" id="{E2DD556E-62E3-3613-F08E-7D5A86345D76}"/>
                  </a:ext>
                </a:extLst>
              </p:cNvPr>
              <p:cNvGrpSpPr/>
              <p:nvPr/>
            </p:nvGrpSpPr>
            <p:grpSpPr>
              <a:xfrm>
                <a:off x="1508908" y="4875034"/>
                <a:ext cx="1704512" cy="1239539"/>
                <a:chOff x="1965168" y="3162640"/>
                <a:chExt cx="1704512" cy="1239539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30F475C6-2F91-7CC4-89FA-BA1A5B18F40D}"/>
                    </a:ext>
                  </a:extLst>
                </p:cNvPr>
                <p:cNvSpPr/>
                <p:nvPr/>
              </p:nvSpPr>
              <p:spPr>
                <a:xfrm>
                  <a:off x="1965168" y="3443361"/>
                  <a:ext cx="1704512" cy="692458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Model(K = 3)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" name="箭號: 向上 31">
                  <a:extLst>
                    <a:ext uri="{FF2B5EF4-FFF2-40B4-BE49-F238E27FC236}">
                      <a16:creationId xmlns:a16="http://schemas.microsoft.com/office/drawing/2014/main" id="{A47C2927-F8E9-6C4A-3691-B66B842DAF3E}"/>
                    </a:ext>
                  </a:extLst>
                </p:cNvPr>
                <p:cNvSpPr/>
                <p:nvPr/>
              </p:nvSpPr>
              <p:spPr>
                <a:xfrm>
                  <a:off x="2748807" y="4150179"/>
                  <a:ext cx="140462" cy="252000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  <p:sp>
              <p:nvSpPr>
                <p:cNvPr id="44" name="箭號: 向上 43">
                  <a:extLst>
                    <a:ext uri="{FF2B5EF4-FFF2-40B4-BE49-F238E27FC236}">
                      <a16:creationId xmlns:a16="http://schemas.microsoft.com/office/drawing/2014/main" id="{25164CCB-05F5-A1B0-DF7A-A82561D6B8CF}"/>
                    </a:ext>
                  </a:extLst>
                </p:cNvPr>
                <p:cNvSpPr/>
                <p:nvPr/>
              </p:nvSpPr>
              <p:spPr>
                <a:xfrm>
                  <a:off x="2747193" y="3162640"/>
                  <a:ext cx="140462" cy="252000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p:grpSp>
            <p:nvGrpSpPr>
              <p:cNvPr id="124" name="群組 123">
                <a:extLst>
                  <a:ext uri="{FF2B5EF4-FFF2-40B4-BE49-F238E27FC236}">
                    <a16:creationId xmlns:a16="http://schemas.microsoft.com/office/drawing/2014/main" id="{DAC5D0FF-E03D-1CD0-3190-A7EB9BFE6738}"/>
                  </a:ext>
                </a:extLst>
              </p:cNvPr>
              <p:cNvGrpSpPr/>
              <p:nvPr/>
            </p:nvGrpSpPr>
            <p:grpSpPr>
              <a:xfrm>
                <a:off x="-7395" y="3688950"/>
                <a:ext cx="3154904" cy="1154932"/>
                <a:chOff x="429928" y="1981136"/>
                <a:chExt cx="3154904" cy="1154932"/>
              </a:xfrm>
            </p:grpSpPr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C3991DE-C2A6-113A-485F-F600734E50EB}"/>
                    </a:ext>
                  </a:extLst>
                </p:cNvPr>
                <p:cNvGrpSpPr/>
                <p:nvPr/>
              </p:nvGrpSpPr>
              <p:grpSpPr>
                <a:xfrm>
                  <a:off x="429928" y="2766371"/>
                  <a:ext cx="3154904" cy="369697"/>
                  <a:chOff x="-26810" y="4587425"/>
                  <a:chExt cx="3154904" cy="369697"/>
                </a:xfrm>
              </p:grpSpPr>
              <p:grpSp>
                <p:nvGrpSpPr>
                  <p:cNvPr id="34" name="群組 33">
                    <a:extLst>
                      <a:ext uri="{FF2B5EF4-FFF2-40B4-BE49-F238E27FC236}">
                        <a16:creationId xmlns:a16="http://schemas.microsoft.com/office/drawing/2014/main" id="{449312BB-9678-61CE-4BD9-8A242C3A0625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69697"/>
                    <a:chOff x="0" y="4588587"/>
                    <a:chExt cx="3114546" cy="369697"/>
                  </a:xfrm>
                </p:grpSpPr>
                <p:grpSp>
                  <p:nvGrpSpPr>
                    <p:cNvPr id="36" name="群組 35">
                      <a:extLst>
                        <a:ext uri="{FF2B5EF4-FFF2-40B4-BE49-F238E27FC236}">
                          <a16:creationId xmlns:a16="http://schemas.microsoft.com/office/drawing/2014/main" id="{421859A5-0646-43F6-16EB-EEA18B89D9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42" name="文字方塊 41">
                        <a:extLst>
                          <a:ext uri="{FF2B5EF4-FFF2-40B4-BE49-F238E27FC236}">
                            <a16:creationId xmlns:a16="http://schemas.microsoft.com/office/drawing/2014/main" id="{AD2FC6D9-5DEF-D5B9-C7C9-29ED37B472E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1: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43" name="矩形 42">
                        <a:extLst>
                          <a:ext uri="{FF2B5EF4-FFF2-40B4-BE49-F238E27FC236}">
                            <a16:creationId xmlns:a16="http://schemas.microsoft.com/office/drawing/2014/main" id="{6AB74D8B-7DF9-1C65-52B0-123AD7F5D6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37" name="矩形 36">
                      <a:extLst>
                        <a:ext uri="{FF2B5EF4-FFF2-40B4-BE49-F238E27FC236}">
                          <a16:creationId xmlns:a16="http://schemas.microsoft.com/office/drawing/2014/main" id="{392265FF-4B14-12EE-1A6B-FEA5FCC8B8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1FD60A51-EC2C-468B-B7C9-B1EBC1098A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598284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483DDF4-93DB-DEB7-B824-BC822568892D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2" name="群組 101">
                  <a:extLst>
                    <a:ext uri="{FF2B5EF4-FFF2-40B4-BE49-F238E27FC236}">
                      <a16:creationId xmlns:a16="http://schemas.microsoft.com/office/drawing/2014/main" id="{EE72A749-92AC-F07A-5759-F3E0842165E9}"/>
                    </a:ext>
                  </a:extLst>
                </p:cNvPr>
                <p:cNvGrpSpPr/>
                <p:nvPr/>
              </p:nvGrpSpPr>
              <p:grpSpPr>
                <a:xfrm>
                  <a:off x="429928" y="2375168"/>
                  <a:ext cx="3154904" cy="372397"/>
                  <a:chOff x="-26810" y="4587425"/>
                  <a:chExt cx="3154904" cy="372397"/>
                </a:xfrm>
              </p:grpSpPr>
              <p:grpSp>
                <p:nvGrpSpPr>
                  <p:cNvPr id="103" name="群組 102">
                    <a:extLst>
                      <a:ext uri="{FF2B5EF4-FFF2-40B4-BE49-F238E27FC236}">
                        <a16:creationId xmlns:a16="http://schemas.microsoft.com/office/drawing/2014/main" id="{B09A45D8-69E9-FC80-8232-49617E224682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72397"/>
                    <a:chOff x="0" y="4588587"/>
                    <a:chExt cx="3114546" cy="372397"/>
                  </a:xfrm>
                </p:grpSpPr>
                <p:grpSp>
                  <p:nvGrpSpPr>
                    <p:cNvPr id="105" name="群組 104">
                      <a:extLst>
                        <a:ext uri="{FF2B5EF4-FFF2-40B4-BE49-F238E27FC236}">
                          <a16:creationId xmlns:a16="http://schemas.microsoft.com/office/drawing/2014/main" id="{4F929EA8-0213-71CF-790B-087BD3B24C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111" name="文字方塊 110">
                        <a:extLst>
                          <a:ext uri="{FF2B5EF4-FFF2-40B4-BE49-F238E27FC236}">
                            <a16:creationId xmlns:a16="http://schemas.microsoft.com/office/drawing/2014/main" id="{3A3D5D9A-C6E2-E744-6E90-A69D1C72657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2: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112" name="矩形 111">
                        <a:extLst>
                          <a:ext uri="{FF2B5EF4-FFF2-40B4-BE49-F238E27FC236}">
                            <a16:creationId xmlns:a16="http://schemas.microsoft.com/office/drawing/2014/main" id="{EE2CB262-458B-FA93-2CF8-C754B969D3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106" name="矩形 105">
                      <a:extLst>
                        <a:ext uri="{FF2B5EF4-FFF2-40B4-BE49-F238E27FC236}">
                          <a16:creationId xmlns:a16="http://schemas.microsoft.com/office/drawing/2014/main" id="{2CBF5E42-A230-FA88-2534-1245ECB44D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7" name="矩形 106">
                      <a:extLst>
                        <a:ext uri="{FF2B5EF4-FFF2-40B4-BE49-F238E27FC236}">
                          <a16:creationId xmlns:a16="http://schemas.microsoft.com/office/drawing/2014/main" id="{E6960E9A-89FA-8E04-06C7-BCF78BD7B5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600984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25DB0C71-966F-36B3-89A4-BE3EF1B60641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13" name="群組 112">
                  <a:extLst>
                    <a:ext uri="{FF2B5EF4-FFF2-40B4-BE49-F238E27FC236}">
                      <a16:creationId xmlns:a16="http://schemas.microsoft.com/office/drawing/2014/main" id="{C8C04B85-2193-E600-924B-B341DA35205A}"/>
                    </a:ext>
                  </a:extLst>
                </p:cNvPr>
                <p:cNvGrpSpPr/>
                <p:nvPr/>
              </p:nvGrpSpPr>
              <p:grpSpPr>
                <a:xfrm>
                  <a:off x="429928" y="1981136"/>
                  <a:ext cx="3154904" cy="371081"/>
                  <a:chOff x="-26810" y="4587425"/>
                  <a:chExt cx="3154904" cy="371081"/>
                </a:xfrm>
              </p:grpSpPr>
              <p:grpSp>
                <p:nvGrpSpPr>
                  <p:cNvPr id="114" name="群組 113">
                    <a:extLst>
                      <a:ext uri="{FF2B5EF4-FFF2-40B4-BE49-F238E27FC236}">
                        <a16:creationId xmlns:a16="http://schemas.microsoft.com/office/drawing/2014/main" id="{A23A0048-3769-E5B2-7B0E-1BDA2EEF4319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71081"/>
                    <a:chOff x="0" y="4588587"/>
                    <a:chExt cx="3114546" cy="371081"/>
                  </a:xfrm>
                </p:grpSpPr>
                <p:grpSp>
                  <p:nvGrpSpPr>
                    <p:cNvPr id="116" name="群組 115">
                      <a:extLst>
                        <a:ext uri="{FF2B5EF4-FFF2-40B4-BE49-F238E27FC236}">
                          <a16:creationId xmlns:a16="http://schemas.microsoft.com/office/drawing/2014/main" id="{8D41EEB3-564C-3325-ED78-93645D079A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122" name="文字方塊 121">
                        <a:extLst>
                          <a:ext uri="{FF2B5EF4-FFF2-40B4-BE49-F238E27FC236}">
                            <a16:creationId xmlns:a16="http://schemas.microsoft.com/office/drawing/2014/main" id="{C684E76D-EFE0-277F-2C2C-53652DD0A1E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3: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123" name="矩形 122">
                        <a:extLst>
                          <a:ext uri="{FF2B5EF4-FFF2-40B4-BE49-F238E27FC236}">
                            <a16:creationId xmlns:a16="http://schemas.microsoft.com/office/drawing/2014/main" id="{E9FFBB6D-B599-46BE-5894-39B88EB760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117" name="矩形 116">
                      <a:extLst>
                        <a:ext uri="{FF2B5EF4-FFF2-40B4-BE49-F238E27FC236}">
                          <a16:creationId xmlns:a16="http://schemas.microsoft.com/office/drawing/2014/main" id="{741095D4-1135-3F7B-A456-0A4F48B469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18" name="矩形 117">
                      <a:extLst>
                        <a:ext uri="{FF2B5EF4-FFF2-40B4-BE49-F238E27FC236}">
                          <a16:creationId xmlns:a16="http://schemas.microsoft.com/office/drawing/2014/main" id="{6F7AF0BC-365C-42DA-9DC8-D4A8B86B73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599668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15" name="矩形 114">
                    <a:extLst>
                      <a:ext uri="{FF2B5EF4-FFF2-40B4-BE49-F238E27FC236}">
                        <a16:creationId xmlns:a16="http://schemas.microsoft.com/office/drawing/2014/main" id="{090BDF83-60F3-C3E7-E8BA-CDE9DB89CA0C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3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7" name="群組 126">
                <a:extLst>
                  <a:ext uri="{FF2B5EF4-FFF2-40B4-BE49-F238E27FC236}">
                    <a16:creationId xmlns:a16="http://schemas.microsoft.com/office/drawing/2014/main" id="{943A7811-246A-4093-8B02-CDD8EA930239}"/>
                  </a:ext>
                </a:extLst>
              </p:cNvPr>
              <p:cNvGrpSpPr/>
              <p:nvPr/>
            </p:nvGrpSpPr>
            <p:grpSpPr>
              <a:xfrm>
                <a:off x="0" y="6160086"/>
                <a:ext cx="3438506" cy="721621"/>
                <a:chOff x="429928" y="4430900"/>
                <a:chExt cx="3438506" cy="721621"/>
              </a:xfrm>
            </p:grpSpPr>
            <p:grpSp>
              <p:nvGrpSpPr>
                <p:cNvPr id="23" name="群組 22">
                  <a:extLst>
                    <a:ext uri="{FF2B5EF4-FFF2-40B4-BE49-F238E27FC236}">
                      <a16:creationId xmlns:a16="http://schemas.microsoft.com/office/drawing/2014/main" id="{F091865A-D936-CFDE-4247-F6302D659E3E}"/>
                    </a:ext>
                  </a:extLst>
                </p:cNvPr>
                <p:cNvGrpSpPr/>
                <p:nvPr/>
              </p:nvGrpSpPr>
              <p:grpSpPr>
                <a:xfrm>
                  <a:off x="429928" y="4430900"/>
                  <a:ext cx="3115944" cy="369332"/>
                  <a:chOff x="0" y="6423020"/>
                  <a:chExt cx="3115944" cy="369332"/>
                </a:xfrm>
              </p:grpSpPr>
              <p:grpSp>
                <p:nvGrpSpPr>
                  <p:cNvPr id="24" name="群組 23">
                    <a:extLst>
                      <a:ext uri="{FF2B5EF4-FFF2-40B4-BE49-F238E27FC236}">
                        <a16:creationId xmlns:a16="http://schemas.microsoft.com/office/drawing/2014/main" id="{8B8880A8-C4EC-721A-8ED1-5E287D03F11E}"/>
                      </a:ext>
                    </a:extLst>
                  </p:cNvPr>
                  <p:cNvGrpSpPr/>
                  <p:nvPr/>
                </p:nvGrpSpPr>
                <p:grpSpPr>
                  <a:xfrm>
                    <a:off x="0" y="6423020"/>
                    <a:ext cx="2326384" cy="369332"/>
                    <a:chOff x="47811" y="6289889"/>
                    <a:chExt cx="2326384" cy="369332"/>
                  </a:xfrm>
                </p:grpSpPr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7DE4276A-FE3C-3815-846D-F486BABFB2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811" y="6289889"/>
                      <a:ext cx="13537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TW" dirty="0"/>
                        <a:t>Input Token:</a:t>
                      </a:r>
                      <a:endParaRPr lang="zh-TW" altLang="en-US" dirty="0"/>
                    </a:p>
                  </p:txBody>
                </p:sp>
                <p:grpSp>
                  <p:nvGrpSpPr>
                    <p:cNvPr id="28" name="群組 27">
                      <a:extLst>
                        <a:ext uri="{FF2B5EF4-FFF2-40B4-BE49-F238E27FC236}">
                          <a16:creationId xmlns:a16="http://schemas.microsoft.com/office/drawing/2014/main" id="{413F2123-8092-C8ED-4FAE-C1B78924A1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17868" y="6289889"/>
                      <a:ext cx="756327" cy="360000"/>
                      <a:chOff x="1401541" y="6289889"/>
                      <a:chExt cx="756327" cy="360000"/>
                    </a:xfrm>
                  </p:grpSpPr>
                  <p:sp>
                    <p:nvSpPr>
                      <p:cNvPr id="29" name="矩形 28">
                        <a:extLst>
                          <a:ext uri="{FF2B5EF4-FFF2-40B4-BE49-F238E27FC236}">
                            <a16:creationId xmlns:a16="http://schemas.microsoft.com/office/drawing/2014/main" id="{3EF0C0F6-75A1-702E-6111-117832BCDB0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01541" y="6289889"/>
                        <a:ext cx="360000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0" name="矩形 29">
                        <a:extLst>
                          <a:ext uri="{FF2B5EF4-FFF2-40B4-BE49-F238E27FC236}">
                            <a16:creationId xmlns:a16="http://schemas.microsoft.com/office/drawing/2014/main" id="{D695467B-DFFA-1058-203C-C951359004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97868" y="6289889"/>
                        <a:ext cx="360000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1</a:t>
                        </a:r>
                      </a:p>
                    </p:txBody>
                  </p:sp>
                </p:grpSp>
              </p:grpSp>
              <p:sp>
                <p:nvSpPr>
                  <p:cNvPr id="25" name="矩形 24">
                    <a:extLst>
                      <a:ext uri="{FF2B5EF4-FFF2-40B4-BE49-F238E27FC236}">
                        <a16:creationId xmlns:a16="http://schemas.microsoft.com/office/drawing/2014/main" id="{3A465585-1335-59AF-58E1-40D319897F45}"/>
                      </a:ext>
                    </a:extLst>
                  </p:cNvPr>
                  <p:cNvSpPr/>
                  <p:nvPr/>
                </p:nvSpPr>
                <p:spPr>
                  <a:xfrm>
                    <a:off x="2361164" y="6423020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26" name="矩形 25">
                    <a:extLst>
                      <a:ext uri="{FF2B5EF4-FFF2-40B4-BE49-F238E27FC236}">
                        <a16:creationId xmlns:a16="http://schemas.microsoft.com/office/drawing/2014/main" id="{1CBE36FA-501B-4E78-12DD-07FF898F0380}"/>
                      </a:ext>
                    </a:extLst>
                  </p:cNvPr>
                  <p:cNvSpPr/>
                  <p:nvPr/>
                </p:nvSpPr>
                <p:spPr>
                  <a:xfrm>
                    <a:off x="2755944" y="6423020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文字方塊 124">
                      <a:extLst>
                        <a:ext uri="{FF2B5EF4-FFF2-40B4-BE49-F238E27FC236}">
                          <a16:creationId xmlns:a16="http://schemas.microsoft.com/office/drawing/2014/main" id="{385C0702-1971-FE9B-AF9C-480558AFDD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9928" y="4809863"/>
                      <a:ext cx="3438506" cy="34265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假設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</a:t>
                      </a:r>
                      <a:r>
                        <a:rPr lang="en-US" altLang="zh-TW" sz="1600" kern="100" baseline="-25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,t</a:t>
                      </a:r>
                      <a:r>
                        <a:rPr lang="en-US" altLang="zh-TW" sz="1600" kern="100" baseline="-25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是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draft token</a:t>
                      </a:r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標記為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</m:ctrlPr>
                            </m:sSubSupPr>
                            <m:e>
                              <m: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1</m:t>
                              </m:r>
                            </m:sup>
                          </m:sSubSup>
                          <m:r>
                            <a:rPr lang="en-US" altLang="zh-TW" sz="1600" b="0" i="1" kern="100" smtClean="0">
                              <a:latin typeface="Cambria Math" panose="02040503050406030204" pitchFamily="18" charset="0"/>
                              <a:ea typeface="微軟正黑體" panose="020B0604030504040204" pitchFamily="34" charset="-12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TW" sz="1600" i="1" kern="10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 kern="10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altLang="zh-TW" sz="1600" i="1" kern="10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1</m:t>
                              </m:r>
                            </m:sup>
                          </m:sSubSup>
                        </m:oMath>
                      </a14:m>
                      <a:endParaRPr lang="zh-TW" altLang="en-US" sz="1600" kern="1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mc:Choice>
              <mc:Fallback xmlns="">
                <p:sp>
                  <p:nvSpPr>
                    <p:cNvPr id="125" name="文字方塊 124">
                      <a:extLst>
                        <a:ext uri="{FF2B5EF4-FFF2-40B4-BE49-F238E27FC236}">
                          <a16:creationId xmlns:a16="http://schemas.microsoft.com/office/drawing/2014/main" id="{385C0702-1971-FE9B-AF9C-480558AFDD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9928" y="4809863"/>
                      <a:ext cx="3438506" cy="342658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887" t="-5357" b="-2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6B0AACB7-BA3F-C16D-2915-B3E178A70998}"/>
                  </a:ext>
                </a:extLst>
              </p:cNvPr>
              <p:cNvSpPr txBox="1"/>
              <p:nvPr/>
            </p:nvSpPr>
            <p:spPr>
              <a:xfrm>
                <a:off x="347470" y="1068084"/>
                <a:ext cx="4349680" cy="3431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600" dirty="0"/>
                  <a:t>Head 1(target model)</a:t>
                </a:r>
                <a:r>
                  <a:rPr lang="zh-TW" altLang="en-US" sz="1600" dirty="0"/>
                  <a:t>中的</a:t>
                </a:r>
                <a:r>
                  <a:rPr lang="en-US" altLang="zh-TW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</a:t>
                </a:r>
                <a:r>
                  <a:rPr lang="en-US" altLang="zh-TW" sz="1600" kern="100" baseline="-250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2</a:t>
                </a:r>
                <a:r>
                  <a:rPr lang="en-US" altLang="zh-TW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,t</a:t>
                </a:r>
                <a:r>
                  <a:rPr lang="en-US" altLang="zh-TW" sz="1600" kern="100" baseline="-250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3</a:t>
                </a:r>
                <a:r>
                  <a:rPr lang="zh-TW" altLang="en-US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標記為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sz="1600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  <m:r>
                      <a:rPr lang="en-US" altLang="zh-TW" sz="1600" i="1" kern="10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sz="1600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6B0AACB7-BA3F-C16D-2915-B3E178A70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0" y="1068084"/>
                <a:ext cx="4349680" cy="343171"/>
              </a:xfrm>
              <a:prstGeom prst="rect">
                <a:avLst/>
              </a:prstGeom>
              <a:blipFill>
                <a:blip r:embed="rId4"/>
                <a:stretch>
                  <a:fillRect l="-700" t="-7018" b="-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FCC253EC-28A5-936E-0BBD-8B1B49D0DD44}"/>
                  </a:ext>
                </a:extLst>
              </p:cNvPr>
              <p:cNvSpPr txBox="1"/>
              <p:nvPr/>
            </p:nvSpPr>
            <p:spPr>
              <a:xfrm>
                <a:off x="4789941" y="1017798"/>
                <a:ext cx="2103186" cy="3730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1: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FCC253EC-28A5-936E-0BBD-8B1B49D0D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1" y="1017798"/>
                <a:ext cx="2103186" cy="373051"/>
              </a:xfrm>
              <a:prstGeom prst="rect">
                <a:avLst/>
              </a:prstGeom>
              <a:blipFill>
                <a:blip r:embed="rId5"/>
                <a:stretch>
                  <a:fillRect l="-2609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72E0CD2C-D3DA-BC80-3CC5-9971C5B14CFE}"/>
              </a:ext>
            </a:extLst>
          </p:cNvPr>
          <p:cNvGrpSpPr/>
          <p:nvPr/>
        </p:nvGrpSpPr>
        <p:grpSpPr>
          <a:xfrm>
            <a:off x="4697150" y="1389497"/>
            <a:ext cx="3159588" cy="931070"/>
            <a:chOff x="4697150" y="1314973"/>
            <a:chExt cx="3159588" cy="931070"/>
          </a:xfrm>
        </p:grpSpPr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E4F7EDF-1783-014F-C61D-DAF819AAE13C}"/>
                </a:ext>
              </a:extLst>
            </p:cNvPr>
            <p:cNvGrpSpPr/>
            <p:nvPr/>
          </p:nvGrpSpPr>
          <p:grpSpPr>
            <a:xfrm>
              <a:off x="4789941" y="1416502"/>
              <a:ext cx="2981741" cy="722361"/>
              <a:chOff x="4789941" y="1380165"/>
              <a:chExt cx="2981741" cy="722361"/>
            </a:xfrm>
          </p:grpSpPr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7DEAC80E-F23F-A581-4CCE-FECD8CD12461}"/>
                  </a:ext>
                </a:extLst>
              </p:cNvPr>
              <p:cNvSpPr txBox="1"/>
              <p:nvPr/>
            </p:nvSpPr>
            <p:spPr>
              <a:xfrm>
                <a:off x="4789941" y="1380165"/>
                <a:ext cx="280934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dirty="0"/>
                  <a:t>退化為</a:t>
                </a:r>
                <a:r>
                  <a:rPr lang="en-US" altLang="zh-TW" sz="1600" dirty="0"/>
                  <a:t>NTP,</a:t>
                </a:r>
                <a:r>
                  <a:rPr lang="zh-TW" altLang="en-US" sz="1600" dirty="0"/>
                  <a:t> 不產生</a:t>
                </a:r>
                <a:r>
                  <a:rPr lang="en-US" altLang="zh-TW" sz="1600" dirty="0"/>
                  <a:t>draft token</a:t>
                </a:r>
              </a:p>
            </p:txBody>
          </p:sp>
          <p:grpSp>
            <p:nvGrpSpPr>
              <p:cNvPr id="135" name="群組 134">
                <a:extLst>
                  <a:ext uri="{FF2B5EF4-FFF2-40B4-BE49-F238E27FC236}">
                    <a16:creationId xmlns:a16="http://schemas.microsoft.com/office/drawing/2014/main" id="{CD6436F7-E541-774A-836A-30BC05F974D5}"/>
                  </a:ext>
                </a:extLst>
              </p:cNvPr>
              <p:cNvGrpSpPr/>
              <p:nvPr/>
            </p:nvGrpSpPr>
            <p:grpSpPr>
              <a:xfrm>
                <a:off x="4789941" y="1733194"/>
                <a:ext cx="2981741" cy="369332"/>
                <a:chOff x="-26810" y="4587425"/>
                <a:chExt cx="2981741" cy="369332"/>
              </a:xfrm>
            </p:grpSpPr>
            <p:grpSp>
              <p:nvGrpSpPr>
                <p:cNvPr id="136" name="群組 135">
                  <a:extLst>
                    <a:ext uri="{FF2B5EF4-FFF2-40B4-BE49-F238E27FC236}">
                      <a16:creationId xmlns:a16="http://schemas.microsoft.com/office/drawing/2014/main" id="{E40A1751-158F-CBFC-B6AC-136CDCCF0E21}"/>
                    </a:ext>
                  </a:extLst>
                </p:cNvPr>
                <p:cNvGrpSpPr/>
                <p:nvPr/>
              </p:nvGrpSpPr>
              <p:grpSpPr>
                <a:xfrm>
                  <a:off x="-26810" y="4587425"/>
                  <a:ext cx="2981741" cy="369332"/>
                  <a:chOff x="0" y="4588587"/>
                  <a:chExt cx="2943598" cy="369332"/>
                </a:xfrm>
              </p:grpSpPr>
              <p:grpSp>
                <p:nvGrpSpPr>
                  <p:cNvPr id="138" name="群組 137">
                    <a:extLst>
                      <a:ext uri="{FF2B5EF4-FFF2-40B4-BE49-F238E27FC236}">
                        <a16:creationId xmlns:a16="http://schemas.microsoft.com/office/drawing/2014/main" id="{3DFABEE1-9654-8D98-BFD8-51033973B269}"/>
                      </a:ext>
                    </a:extLst>
                  </p:cNvPr>
                  <p:cNvGrpSpPr/>
                  <p:nvPr/>
                </p:nvGrpSpPr>
                <p:grpSpPr>
                  <a:xfrm>
                    <a:off x="0" y="4588587"/>
                    <a:ext cx="2508383" cy="369332"/>
                    <a:chOff x="47811" y="6289889"/>
                    <a:chExt cx="2321320" cy="369332"/>
                  </a:xfrm>
                </p:grpSpPr>
                <p:sp>
                  <p:nvSpPr>
                    <p:cNvPr id="144" name="文字方塊 143">
                      <a:extLst>
                        <a:ext uri="{FF2B5EF4-FFF2-40B4-BE49-F238E27FC236}">
                          <a16:creationId xmlns:a16="http://schemas.microsoft.com/office/drawing/2014/main" id="{3583C8F6-EC60-6E4F-C843-6503759107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811" y="6289889"/>
                      <a:ext cx="157005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TW" dirty="0"/>
                        <a:t>Output Token:</a:t>
                      </a:r>
                      <a:endParaRPr lang="zh-TW" altLang="en-US" dirty="0"/>
                    </a:p>
                  </p:txBody>
                </p:sp>
                <p:sp>
                  <p:nvSpPr>
                    <p:cNvPr id="145" name="矩形 144">
                      <a:extLst>
                        <a:ext uri="{FF2B5EF4-FFF2-40B4-BE49-F238E27FC236}">
                          <a16:creationId xmlns:a16="http://schemas.microsoft.com/office/drawing/2014/main" id="{0E912042-3D50-1774-7C15-84FF35C067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40240" y="6289889"/>
                      <a:ext cx="328891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39" name="矩形 138">
                    <a:extLst>
                      <a:ext uri="{FF2B5EF4-FFF2-40B4-BE49-F238E27FC236}">
                        <a16:creationId xmlns:a16="http://schemas.microsoft.com/office/drawing/2014/main" id="{09D3366B-D64B-21D5-3BC5-7095C56BC7FC}"/>
                      </a:ext>
                    </a:extLst>
                  </p:cNvPr>
                  <p:cNvSpPr/>
                  <p:nvPr/>
                </p:nvSpPr>
                <p:spPr>
                  <a:xfrm>
                    <a:off x="2588203" y="4588587"/>
                    <a:ext cx="355395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37" name="矩形 136">
                  <a:extLst>
                    <a:ext uri="{FF2B5EF4-FFF2-40B4-BE49-F238E27FC236}">
                      <a16:creationId xmlns:a16="http://schemas.microsoft.com/office/drawing/2014/main" id="{A74506E8-9FF7-0F6F-20E5-914604363BCD}"/>
                    </a:ext>
                  </a:extLst>
                </p:cNvPr>
                <p:cNvSpPr/>
                <p:nvPr/>
              </p:nvSpPr>
              <p:spPr>
                <a:xfrm>
                  <a:off x="1716376" y="4587425"/>
                  <a:ext cx="360000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0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EA6EC23-E362-D235-207A-05BB8151488B}"/>
                </a:ext>
              </a:extLst>
            </p:cNvPr>
            <p:cNvSpPr/>
            <p:nvPr/>
          </p:nvSpPr>
          <p:spPr>
            <a:xfrm>
              <a:off x="4697150" y="1314973"/>
              <a:ext cx="3159588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AE18457B-DDB1-7470-F9D5-6DA719577024}"/>
                  </a:ext>
                </a:extLst>
              </p:cNvPr>
              <p:cNvSpPr txBox="1"/>
              <p:nvPr/>
            </p:nvSpPr>
            <p:spPr>
              <a:xfrm>
                <a:off x="4789941" y="2522565"/>
                <a:ext cx="2809344" cy="374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2: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i="1" kern="1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AE18457B-DDB1-7470-F9D5-6DA719577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1" y="2522565"/>
                <a:ext cx="2809344" cy="374461"/>
              </a:xfrm>
              <a:prstGeom prst="rect">
                <a:avLst/>
              </a:prstGeom>
              <a:blipFill>
                <a:blip r:embed="rId6"/>
                <a:stretch>
                  <a:fillRect l="-1952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27085AB5-C701-4FEA-3A2C-5AA86AF9E23C}"/>
              </a:ext>
            </a:extLst>
          </p:cNvPr>
          <p:cNvGrpSpPr/>
          <p:nvPr/>
        </p:nvGrpSpPr>
        <p:grpSpPr>
          <a:xfrm>
            <a:off x="4697149" y="2894264"/>
            <a:ext cx="4473483" cy="931070"/>
            <a:chOff x="4697149" y="1314973"/>
            <a:chExt cx="4473483" cy="931070"/>
          </a:xfrm>
        </p:grpSpPr>
        <p:grpSp>
          <p:nvGrpSpPr>
            <p:cNvPr id="157" name="群組 156">
              <a:extLst>
                <a:ext uri="{FF2B5EF4-FFF2-40B4-BE49-F238E27FC236}">
                  <a16:creationId xmlns:a16="http://schemas.microsoft.com/office/drawing/2014/main" id="{950334AD-50C2-07AE-1AC6-5CF44D2EC4AB}"/>
                </a:ext>
              </a:extLst>
            </p:cNvPr>
            <p:cNvGrpSpPr/>
            <p:nvPr/>
          </p:nvGrpSpPr>
          <p:grpSpPr>
            <a:xfrm>
              <a:off x="4789941" y="1769531"/>
              <a:ext cx="2981741" cy="369332"/>
              <a:chOff x="-26810" y="4587425"/>
              <a:chExt cx="2981741" cy="369332"/>
            </a:xfrm>
          </p:grpSpPr>
          <p:grpSp>
            <p:nvGrpSpPr>
              <p:cNvPr id="158" name="群組 157">
                <a:extLst>
                  <a:ext uri="{FF2B5EF4-FFF2-40B4-BE49-F238E27FC236}">
                    <a16:creationId xmlns:a16="http://schemas.microsoft.com/office/drawing/2014/main" id="{0B8BFC17-5D7F-059D-5A0A-35BA1F9EA458}"/>
                  </a:ext>
                </a:extLst>
              </p:cNvPr>
              <p:cNvGrpSpPr/>
              <p:nvPr/>
            </p:nvGrpSpPr>
            <p:grpSpPr>
              <a:xfrm>
                <a:off x="-26810" y="4587425"/>
                <a:ext cx="2981741" cy="369332"/>
                <a:chOff x="0" y="4588587"/>
                <a:chExt cx="2943598" cy="369332"/>
              </a:xfrm>
            </p:grpSpPr>
            <p:grpSp>
              <p:nvGrpSpPr>
                <p:cNvPr id="160" name="群組 159">
                  <a:extLst>
                    <a:ext uri="{FF2B5EF4-FFF2-40B4-BE49-F238E27FC236}">
                      <a16:creationId xmlns:a16="http://schemas.microsoft.com/office/drawing/2014/main" id="{28117064-38FD-0187-787E-2BEDE4F19600}"/>
                    </a:ext>
                  </a:extLst>
                </p:cNvPr>
                <p:cNvGrpSpPr/>
                <p:nvPr/>
              </p:nvGrpSpPr>
              <p:grpSpPr>
                <a:xfrm>
                  <a:off x="0" y="4588587"/>
                  <a:ext cx="2508383" cy="369332"/>
                  <a:chOff x="47811" y="6289889"/>
                  <a:chExt cx="2321320" cy="369332"/>
                </a:xfrm>
              </p:grpSpPr>
              <p:sp>
                <p:nvSpPr>
                  <p:cNvPr id="162" name="文字方塊 161">
                    <a:extLst>
                      <a:ext uri="{FF2B5EF4-FFF2-40B4-BE49-F238E27FC236}">
                        <a16:creationId xmlns:a16="http://schemas.microsoft.com/office/drawing/2014/main" id="{768ADF05-95A1-6420-1FDE-F20372943DFE}"/>
                      </a:ext>
                    </a:extLst>
                  </p:cNvPr>
                  <p:cNvSpPr txBox="1"/>
                  <p:nvPr/>
                </p:nvSpPr>
                <p:spPr>
                  <a:xfrm>
                    <a:off x="47811" y="6289889"/>
                    <a:ext cx="157005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TW" dirty="0"/>
                      <a:t>Output Token:</a:t>
                    </a:r>
                    <a:endParaRPr lang="zh-TW" altLang="en-US" dirty="0"/>
                  </a:p>
                </p:txBody>
              </p:sp>
              <p:sp>
                <p:nvSpPr>
                  <p:cNvPr id="163" name="矩形 162">
                    <a:extLst>
                      <a:ext uri="{FF2B5EF4-FFF2-40B4-BE49-F238E27FC236}">
                        <a16:creationId xmlns:a16="http://schemas.microsoft.com/office/drawing/2014/main" id="{746CF886-084A-B3DF-79FB-98369E689913}"/>
                      </a:ext>
                    </a:extLst>
                  </p:cNvPr>
                  <p:cNvSpPr/>
                  <p:nvPr/>
                </p:nvSpPr>
                <p:spPr>
                  <a:xfrm>
                    <a:off x="2040240" y="6289889"/>
                    <a:ext cx="328891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C1E086F3-33B6-723A-B960-6313689B3EA9}"/>
                    </a:ext>
                  </a:extLst>
                </p:cNvPr>
                <p:cNvSpPr/>
                <p:nvPr/>
              </p:nvSpPr>
              <p:spPr>
                <a:xfrm>
                  <a:off x="2588203" y="4588587"/>
                  <a:ext cx="355395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2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15939C40-270D-8A36-D90A-FDFCC8B89DA1}"/>
                  </a:ext>
                </a:extLst>
              </p:cNvPr>
              <p:cNvSpPr/>
              <p:nvPr/>
            </p:nvSpPr>
            <p:spPr>
              <a:xfrm>
                <a:off x="1716376" y="4587425"/>
                <a:ext cx="360000" cy="360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sz="1600" baseline="-25000" dirty="0">
                    <a:solidFill>
                      <a:schemeClr val="tx1"/>
                    </a:solidFill>
                  </a:rPr>
                  <a:t>0</a:t>
                </a:r>
                <a:endParaRPr lang="en-US" altLang="zh-TW" sz="16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E0B520FB-D582-8ACA-216A-3BC21ECC1233}"/>
                </a:ext>
              </a:extLst>
            </p:cNvPr>
            <p:cNvSpPr/>
            <p:nvPr/>
          </p:nvSpPr>
          <p:spPr>
            <a:xfrm>
              <a:off x="4697149" y="1314973"/>
              <a:ext cx="4473483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64" name="矩形 163">
            <a:extLst>
              <a:ext uri="{FF2B5EF4-FFF2-40B4-BE49-F238E27FC236}">
                <a16:creationId xmlns:a16="http://schemas.microsoft.com/office/drawing/2014/main" id="{01B2DCD5-1AFC-E980-A2EB-E2AA16CC1EAD}"/>
              </a:ext>
            </a:extLst>
          </p:cNvPr>
          <p:cNvSpPr/>
          <p:nvPr/>
        </p:nvSpPr>
        <p:spPr>
          <a:xfrm>
            <a:off x="7837698" y="334882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3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776A4160-3F7C-11CC-00BC-8B7FB4ED0B39}"/>
              </a:ext>
            </a:extLst>
          </p:cNvPr>
          <p:cNvSpPr/>
          <p:nvPr/>
        </p:nvSpPr>
        <p:spPr>
          <a:xfrm>
            <a:off x="8247555" y="334882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078440B0-249B-2B29-F8F6-FFB53F2C3CC3}"/>
              </a:ext>
            </a:extLst>
          </p:cNvPr>
          <p:cNvSpPr/>
          <p:nvPr/>
        </p:nvSpPr>
        <p:spPr>
          <a:xfrm>
            <a:off x="8677298" y="3359799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E34F2B1E-B9D4-E9A3-CBB6-D2C8E60FA9AD}"/>
              </a:ext>
            </a:extLst>
          </p:cNvPr>
          <p:cNvSpPr txBox="1"/>
          <p:nvPr/>
        </p:nvSpPr>
        <p:spPr>
          <a:xfrm>
            <a:off x="4789940" y="2960255"/>
            <a:ext cx="171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Draft Token:</a:t>
            </a:r>
            <a:endParaRPr lang="zh-TW" altLang="en-US" dirty="0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CB202A74-2F4A-0EFC-C863-435FA89B000E}"/>
              </a:ext>
            </a:extLst>
          </p:cNvPr>
          <p:cNvSpPr/>
          <p:nvPr/>
        </p:nvSpPr>
        <p:spPr>
          <a:xfrm>
            <a:off x="6533127" y="294292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A9096159-681D-ABFC-4695-DB6141BE4FA0}"/>
              </a:ext>
            </a:extLst>
          </p:cNvPr>
          <p:cNvSpPr/>
          <p:nvPr/>
        </p:nvSpPr>
        <p:spPr>
          <a:xfrm>
            <a:off x="6970828" y="294198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92A11309-E159-4364-3917-8410030A16D9}"/>
                  </a:ext>
                </a:extLst>
              </p:cNvPr>
              <p:cNvSpPr txBox="1"/>
              <p:nvPr/>
            </p:nvSpPr>
            <p:spPr>
              <a:xfrm>
                <a:off x="4789941" y="4027332"/>
                <a:ext cx="2809344" cy="374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3: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i="1" kern="10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92A11309-E159-4364-3917-8410030A1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1" y="4027332"/>
                <a:ext cx="2809344" cy="374461"/>
              </a:xfrm>
              <a:prstGeom prst="rect">
                <a:avLst/>
              </a:prstGeom>
              <a:blipFill>
                <a:blip r:embed="rId7"/>
                <a:stretch>
                  <a:fillRect l="-1952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0BD48BAA-F5E8-5CE2-665F-9E9B34566158}"/>
              </a:ext>
            </a:extLst>
          </p:cNvPr>
          <p:cNvGrpSpPr/>
          <p:nvPr/>
        </p:nvGrpSpPr>
        <p:grpSpPr>
          <a:xfrm>
            <a:off x="4697149" y="4399031"/>
            <a:ext cx="4846346" cy="931070"/>
            <a:chOff x="4697149" y="1314973"/>
            <a:chExt cx="4846346" cy="931070"/>
          </a:xfrm>
        </p:grpSpPr>
        <p:grpSp>
          <p:nvGrpSpPr>
            <p:cNvPr id="174" name="群組 173">
              <a:extLst>
                <a:ext uri="{FF2B5EF4-FFF2-40B4-BE49-F238E27FC236}">
                  <a16:creationId xmlns:a16="http://schemas.microsoft.com/office/drawing/2014/main" id="{5BFC9401-E1DE-E1A3-7AF9-A49B4EBED953}"/>
                </a:ext>
              </a:extLst>
            </p:cNvPr>
            <p:cNvGrpSpPr/>
            <p:nvPr/>
          </p:nvGrpSpPr>
          <p:grpSpPr>
            <a:xfrm>
              <a:off x="4789941" y="1769531"/>
              <a:ext cx="2981741" cy="369332"/>
              <a:chOff x="-26810" y="4587425"/>
              <a:chExt cx="2981741" cy="369332"/>
            </a:xfrm>
          </p:grpSpPr>
          <p:grpSp>
            <p:nvGrpSpPr>
              <p:cNvPr id="176" name="群組 175">
                <a:extLst>
                  <a:ext uri="{FF2B5EF4-FFF2-40B4-BE49-F238E27FC236}">
                    <a16:creationId xmlns:a16="http://schemas.microsoft.com/office/drawing/2014/main" id="{4E7B7F6A-CA8D-CD4E-9AE5-8C5B60E36D75}"/>
                  </a:ext>
                </a:extLst>
              </p:cNvPr>
              <p:cNvGrpSpPr/>
              <p:nvPr/>
            </p:nvGrpSpPr>
            <p:grpSpPr>
              <a:xfrm>
                <a:off x="-26810" y="4587425"/>
                <a:ext cx="2981741" cy="369332"/>
                <a:chOff x="0" y="4588587"/>
                <a:chExt cx="2943598" cy="369332"/>
              </a:xfrm>
            </p:grpSpPr>
            <p:grpSp>
              <p:nvGrpSpPr>
                <p:cNvPr id="178" name="群組 177">
                  <a:extLst>
                    <a:ext uri="{FF2B5EF4-FFF2-40B4-BE49-F238E27FC236}">
                      <a16:creationId xmlns:a16="http://schemas.microsoft.com/office/drawing/2014/main" id="{699AB3CC-C397-CD5F-FD1A-9A8BC79004F6}"/>
                    </a:ext>
                  </a:extLst>
                </p:cNvPr>
                <p:cNvGrpSpPr/>
                <p:nvPr/>
              </p:nvGrpSpPr>
              <p:grpSpPr>
                <a:xfrm>
                  <a:off x="0" y="4588587"/>
                  <a:ext cx="2508383" cy="369332"/>
                  <a:chOff x="47811" y="6289889"/>
                  <a:chExt cx="2321320" cy="369332"/>
                </a:xfrm>
              </p:grpSpPr>
              <p:sp>
                <p:nvSpPr>
                  <p:cNvPr id="180" name="文字方塊 179">
                    <a:extLst>
                      <a:ext uri="{FF2B5EF4-FFF2-40B4-BE49-F238E27FC236}">
                        <a16:creationId xmlns:a16="http://schemas.microsoft.com/office/drawing/2014/main" id="{05E448AC-D180-9F07-D4D8-65A6C088C6BB}"/>
                      </a:ext>
                    </a:extLst>
                  </p:cNvPr>
                  <p:cNvSpPr txBox="1"/>
                  <p:nvPr/>
                </p:nvSpPr>
                <p:spPr>
                  <a:xfrm>
                    <a:off x="47811" y="6289889"/>
                    <a:ext cx="157005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TW" dirty="0"/>
                      <a:t>Output Token:</a:t>
                    </a:r>
                    <a:endParaRPr lang="zh-TW" altLang="en-US" dirty="0"/>
                  </a:p>
                </p:txBody>
              </p:sp>
              <p:sp>
                <p:nvSpPr>
                  <p:cNvPr id="181" name="矩形 180">
                    <a:extLst>
                      <a:ext uri="{FF2B5EF4-FFF2-40B4-BE49-F238E27FC236}">
                        <a16:creationId xmlns:a16="http://schemas.microsoft.com/office/drawing/2014/main" id="{D8F5D5B4-0879-7CB8-9FE4-567F89DF0209}"/>
                      </a:ext>
                    </a:extLst>
                  </p:cNvPr>
                  <p:cNvSpPr/>
                  <p:nvPr/>
                </p:nvSpPr>
                <p:spPr>
                  <a:xfrm>
                    <a:off x="2040240" y="6289889"/>
                    <a:ext cx="328891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79" name="矩形 178">
                  <a:extLst>
                    <a:ext uri="{FF2B5EF4-FFF2-40B4-BE49-F238E27FC236}">
                      <a16:creationId xmlns:a16="http://schemas.microsoft.com/office/drawing/2014/main" id="{AABE3452-C34B-A616-52CA-E67190AF31F8}"/>
                    </a:ext>
                  </a:extLst>
                </p:cNvPr>
                <p:cNvSpPr/>
                <p:nvPr/>
              </p:nvSpPr>
              <p:spPr>
                <a:xfrm>
                  <a:off x="2588203" y="4588587"/>
                  <a:ext cx="355395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2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EA8C8741-4DD5-B54E-CA59-E72F5D71CC10}"/>
                  </a:ext>
                </a:extLst>
              </p:cNvPr>
              <p:cNvSpPr/>
              <p:nvPr/>
            </p:nvSpPr>
            <p:spPr>
              <a:xfrm>
                <a:off x="1716376" y="4587425"/>
                <a:ext cx="360000" cy="360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sz="1600" baseline="-25000" dirty="0">
                    <a:solidFill>
                      <a:schemeClr val="tx1"/>
                    </a:solidFill>
                  </a:rPr>
                  <a:t>0</a:t>
                </a:r>
                <a:endParaRPr lang="en-US" altLang="zh-TW" sz="16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5" name="矩形 174">
              <a:extLst>
                <a:ext uri="{FF2B5EF4-FFF2-40B4-BE49-F238E27FC236}">
                  <a16:creationId xmlns:a16="http://schemas.microsoft.com/office/drawing/2014/main" id="{F86BF1F7-AF9A-D73A-DD83-45C85EDAAE76}"/>
                </a:ext>
              </a:extLst>
            </p:cNvPr>
            <p:cNvSpPr/>
            <p:nvPr/>
          </p:nvSpPr>
          <p:spPr>
            <a:xfrm>
              <a:off x="4697149" y="1314973"/>
              <a:ext cx="4846346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82" name="文字方塊 181">
            <a:extLst>
              <a:ext uri="{FF2B5EF4-FFF2-40B4-BE49-F238E27FC236}">
                <a16:creationId xmlns:a16="http://schemas.microsoft.com/office/drawing/2014/main" id="{AC762827-4A79-9F32-9B5A-F3CA3773C9CA}"/>
              </a:ext>
            </a:extLst>
          </p:cNvPr>
          <p:cNvSpPr txBox="1"/>
          <p:nvPr/>
        </p:nvSpPr>
        <p:spPr>
          <a:xfrm>
            <a:off x="4789940" y="4473937"/>
            <a:ext cx="171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Draft Token:</a:t>
            </a:r>
            <a:endParaRPr lang="zh-TW" altLang="en-US" dirty="0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5241A560-1F0A-FA50-BC66-4030C9E96FCE}"/>
              </a:ext>
            </a:extLst>
          </p:cNvPr>
          <p:cNvSpPr/>
          <p:nvPr/>
        </p:nvSpPr>
        <p:spPr>
          <a:xfrm>
            <a:off x="6533127" y="4456606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1B99ABC5-7800-11CE-30BA-6296A68C245F}"/>
              </a:ext>
            </a:extLst>
          </p:cNvPr>
          <p:cNvSpPr/>
          <p:nvPr/>
        </p:nvSpPr>
        <p:spPr>
          <a:xfrm>
            <a:off x="6970828" y="445566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6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4230B5A-CA34-A6FA-70A7-BF6CC8DED78B}"/>
              </a:ext>
            </a:extLst>
          </p:cNvPr>
          <p:cNvSpPr/>
          <p:nvPr/>
        </p:nvSpPr>
        <p:spPr>
          <a:xfrm>
            <a:off x="7829618" y="484973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3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5F6269B3-0365-8A3D-F762-69977915AF2E}"/>
              </a:ext>
            </a:extLst>
          </p:cNvPr>
          <p:cNvSpPr/>
          <p:nvPr/>
        </p:nvSpPr>
        <p:spPr>
          <a:xfrm>
            <a:off x="8247555" y="485951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FF75B4CD-99A8-42EA-8995-2258459E233B}"/>
              </a:ext>
            </a:extLst>
          </p:cNvPr>
          <p:cNvSpPr/>
          <p:nvPr/>
        </p:nvSpPr>
        <p:spPr>
          <a:xfrm>
            <a:off x="8677298" y="4852735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D4126BE5-AB14-BA54-5364-FCED3F9B5708}"/>
              </a:ext>
            </a:extLst>
          </p:cNvPr>
          <p:cNvSpPr/>
          <p:nvPr/>
        </p:nvSpPr>
        <p:spPr>
          <a:xfrm>
            <a:off x="9100874" y="4852735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6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90" name="箭號: 向上 189">
            <a:extLst>
              <a:ext uri="{FF2B5EF4-FFF2-40B4-BE49-F238E27FC236}">
                <a16:creationId xmlns:a16="http://schemas.microsoft.com/office/drawing/2014/main" id="{9208418C-53A9-CE94-606D-48A6A7423B68}"/>
              </a:ext>
            </a:extLst>
          </p:cNvPr>
          <p:cNvSpPr/>
          <p:nvPr/>
        </p:nvSpPr>
        <p:spPr>
          <a:xfrm rot="5400000">
            <a:off x="4075928" y="2708912"/>
            <a:ext cx="140462" cy="25200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94237" y="6629400"/>
            <a:ext cx="3844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THREE</a:t>
            </a:r>
            <a:endParaRPr lang="en-US" sz="5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647503" y="6629400"/>
            <a:ext cx="3311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14</a:t>
            </a: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/ LCM consistency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結合，對齊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和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的分佈。</a:t>
            </a:r>
          </a:p>
        </p:txBody>
      </p: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EFBF1C37-A13F-CCFA-FB1D-9B4CB39C0295}"/>
              </a:ext>
            </a:extLst>
          </p:cNvPr>
          <p:cNvGrpSpPr/>
          <p:nvPr/>
        </p:nvGrpSpPr>
        <p:grpSpPr>
          <a:xfrm>
            <a:off x="8352521" y="1309035"/>
            <a:ext cx="3126666" cy="2784737"/>
            <a:chOff x="8243996" y="1035356"/>
            <a:chExt cx="3126666" cy="2784737"/>
          </a:xfrm>
        </p:grpSpPr>
        <p:grpSp>
          <p:nvGrpSpPr>
            <p:cNvPr id="89" name="群組 88">
              <a:extLst>
                <a:ext uri="{FF2B5EF4-FFF2-40B4-BE49-F238E27FC236}">
                  <a16:creationId xmlns:a16="http://schemas.microsoft.com/office/drawing/2014/main" id="{83F67626-1028-82D3-DF1A-98B18E7A8B81}"/>
                </a:ext>
              </a:extLst>
            </p:cNvPr>
            <p:cNvGrpSpPr/>
            <p:nvPr/>
          </p:nvGrpSpPr>
          <p:grpSpPr>
            <a:xfrm>
              <a:off x="8243996" y="1035356"/>
              <a:ext cx="3126666" cy="2784737"/>
              <a:chOff x="4831952" y="1346844"/>
              <a:chExt cx="3126666" cy="1855026"/>
            </a:xfrm>
          </p:grpSpPr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09E908E3-1D13-CCE5-B26E-9EAC8F1B16CE}"/>
                  </a:ext>
                </a:extLst>
              </p:cNvPr>
              <p:cNvSpPr txBox="1"/>
              <p:nvPr/>
            </p:nvSpPr>
            <p:spPr>
              <a:xfrm>
                <a:off x="4831952" y="1346844"/>
                <a:ext cx="3126666" cy="18550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Teacher probability/latent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Student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Student probability</a:t>
                </a:r>
              </a:p>
            </p:txBody>
          </p:sp>
          <p:sp>
            <p:nvSpPr>
              <p:cNvPr id="91" name="箭號: 向上 90">
                <a:extLst>
                  <a:ext uri="{FF2B5EF4-FFF2-40B4-BE49-F238E27FC236}">
                    <a16:creationId xmlns:a16="http://schemas.microsoft.com/office/drawing/2014/main" id="{0E7DF15C-A878-8DCD-20B3-0CDDE46BEB50}"/>
                  </a:ext>
                </a:extLst>
              </p:cNvPr>
              <p:cNvSpPr/>
              <p:nvPr/>
            </p:nvSpPr>
            <p:spPr>
              <a:xfrm>
                <a:off x="4861741" y="1446963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92" name="箭號: 向上 91">
                <a:extLst>
                  <a:ext uri="{FF2B5EF4-FFF2-40B4-BE49-F238E27FC236}">
                    <a16:creationId xmlns:a16="http://schemas.microsoft.com/office/drawing/2014/main" id="{D441CD76-5FFA-ED85-2854-45FEE900627D}"/>
                  </a:ext>
                </a:extLst>
              </p:cNvPr>
              <p:cNvSpPr/>
              <p:nvPr/>
            </p:nvSpPr>
            <p:spPr>
              <a:xfrm>
                <a:off x="4861741" y="1796970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93" name="箭號: 向上 92">
              <a:extLst>
                <a:ext uri="{FF2B5EF4-FFF2-40B4-BE49-F238E27FC236}">
                  <a16:creationId xmlns:a16="http://schemas.microsoft.com/office/drawing/2014/main" id="{68946771-1B59-254F-7268-F3412CD269ED}"/>
                </a:ext>
              </a:extLst>
            </p:cNvPr>
            <p:cNvSpPr/>
            <p:nvPr/>
          </p:nvSpPr>
          <p:spPr>
            <a:xfrm>
              <a:off x="8273785" y="2243078"/>
              <a:ext cx="215809" cy="432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</a:endParaRPr>
            </a:p>
          </p:txBody>
        </p:sp>
        <p:sp>
          <p:nvSpPr>
            <p:cNvPr id="94" name="箭號: 向上 93">
              <a:extLst>
                <a:ext uri="{FF2B5EF4-FFF2-40B4-BE49-F238E27FC236}">
                  <a16:creationId xmlns:a16="http://schemas.microsoft.com/office/drawing/2014/main" id="{F6382B9D-6D9C-749E-FD09-90EDEEBCA0B3}"/>
                </a:ext>
              </a:extLst>
            </p:cNvPr>
            <p:cNvSpPr/>
            <p:nvPr/>
          </p:nvSpPr>
          <p:spPr>
            <a:xfrm>
              <a:off x="8273784" y="2779166"/>
              <a:ext cx="215809" cy="432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16" name="群組 115">
            <a:extLst>
              <a:ext uri="{FF2B5EF4-FFF2-40B4-BE49-F238E27FC236}">
                <a16:creationId xmlns:a16="http://schemas.microsoft.com/office/drawing/2014/main" id="{67EB2C07-3BA4-C182-895D-FD30535B6E3A}"/>
              </a:ext>
            </a:extLst>
          </p:cNvPr>
          <p:cNvGrpSpPr/>
          <p:nvPr/>
        </p:nvGrpSpPr>
        <p:grpSpPr>
          <a:xfrm>
            <a:off x="57720" y="1477631"/>
            <a:ext cx="7955280" cy="4405659"/>
            <a:chOff x="605936" y="1379985"/>
            <a:chExt cx="10121382" cy="4405659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C2EA02CA-EB09-2C99-2201-E3FFD06557FD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52" name="群組 51">
              <a:extLst>
                <a:ext uri="{FF2B5EF4-FFF2-40B4-BE49-F238E27FC236}">
                  <a16:creationId xmlns:a16="http://schemas.microsoft.com/office/drawing/2014/main" id="{5C560143-43BD-25D1-BF11-1E2F814DACC7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58" name="箭號: 向上 57">
                <a:extLst>
                  <a:ext uri="{FF2B5EF4-FFF2-40B4-BE49-F238E27FC236}">
                    <a16:creationId xmlns:a16="http://schemas.microsoft.com/office/drawing/2014/main" id="{0DF1B0BF-00A4-1BE7-4DE5-1CD5E9041D84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9" name="箭號: 向上 58">
                <a:extLst>
                  <a:ext uri="{FF2B5EF4-FFF2-40B4-BE49-F238E27FC236}">
                    <a16:creationId xmlns:a16="http://schemas.microsoft.com/office/drawing/2014/main" id="{37806454-B0E1-0280-153B-4EEF97C1B52B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54" name="箭號: 向上 53">
              <a:extLst>
                <a:ext uri="{FF2B5EF4-FFF2-40B4-BE49-F238E27FC236}">
                  <a16:creationId xmlns:a16="http://schemas.microsoft.com/office/drawing/2014/main" id="{4ECE44A2-F576-642A-D508-BCFC5D378506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10" name="群組 109">
              <a:extLst>
                <a:ext uri="{FF2B5EF4-FFF2-40B4-BE49-F238E27FC236}">
                  <a16:creationId xmlns:a16="http://schemas.microsoft.com/office/drawing/2014/main" id="{C813AC02-ACD5-FFC3-2CCF-3A9AC0DFE30C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111" name="箭號: 向上 110">
                <a:extLst>
                  <a:ext uri="{FF2B5EF4-FFF2-40B4-BE49-F238E27FC236}">
                    <a16:creationId xmlns:a16="http://schemas.microsoft.com/office/drawing/2014/main" id="{3280E5E7-5BC1-6316-730C-36D862D4088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12" name="箭號: 向上 111">
                <a:extLst>
                  <a:ext uri="{FF2B5EF4-FFF2-40B4-BE49-F238E27FC236}">
                    <a16:creationId xmlns:a16="http://schemas.microsoft.com/office/drawing/2014/main" id="{14D3EECD-A5C9-DC82-7923-423578128BA0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15" name="群組 114">
              <a:extLst>
                <a:ext uri="{FF2B5EF4-FFF2-40B4-BE49-F238E27FC236}">
                  <a16:creationId xmlns:a16="http://schemas.microsoft.com/office/drawing/2014/main" id="{9295AB36-2AFC-8E00-1355-368A780276D0}"/>
                </a:ext>
              </a:extLst>
            </p:cNvPr>
            <p:cNvGrpSpPr/>
            <p:nvPr/>
          </p:nvGrpSpPr>
          <p:grpSpPr>
            <a:xfrm>
              <a:off x="605936" y="1379985"/>
              <a:ext cx="10121382" cy="4405659"/>
              <a:chOff x="605936" y="1379985"/>
              <a:chExt cx="10121382" cy="4405659"/>
            </a:xfrm>
          </p:grpSpPr>
          <p:sp>
            <p:nvSpPr>
              <p:cNvPr id="64" name="矩形: 圓角 63">
                <a:extLst>
                  <a:ext uri="{FF2B5EF4-FFF2-40B4-BE49-F238E27FC236}">
                    <a16:creationId xmlns:a16="http://schemas.microsoft.com/office/drawing/2014/main" id="{3824C6DF-8283-E581-EDDA-101EBAE4E343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LCM Loss 2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矩形: 圓角 65">
                <a:extLst>
                  <a:ext uri="{FF2B5EF4-FFF2-40B4-BE49-F238E27FC236}">
                    <a16:creationId xmlns:a16="http://schemas.microsoft.com/office/drawing/2014/main" id="{F81703BD-7728-F835-22FC-9DCC63847F47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CE</a:t>
                </a:r>
                <a:r>
                  <a:rPr lang="zh-TW" altLang="en-US" sz="12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sz="1200" b="1" dirty="0">
                    <a:solidFill>
                      <a:schemeClr val="tx1"/>
                    </a:solidFill>
                  </a:rPr>
                  <a:t>Loss 2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箭號: 向上 44">
                <a:extLst>
                  <a:ext uri="{FF2B5EF4-FFF2-40B4-BE49-F238E27FC236}">
                    <a16:creationId xmlns:a16="http://schemas.microsoft.com/office/drawing/2014/main" id="{0D96F54B-F7A3-ED4A-25DD-82CB82FDC2E9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6" name="箭號: 向上 45">
                <a:extLst>
                  <a:ext uri="{FF2B5EF4-FFF2-40B4-BE49-F238E27FC236}">
                    <a16:creationId xmlns:a16="http://schemas.microsoft.com/office/drawing/2014/main" id="{4A84FE22-F790-EF94-F0DC-700754AC328B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6D03476D-C59F-3DE9-5731-7493269C6D0F}"/>
                  </a:ext>
                </a:extLst>
              </p:cNvPr>
              <p:cNvGrpSpPr/>
              <p:nvPr/>
            </p:nvGrpSpPr>
            <p:grpSpPr>
              <a:xfrm>
                <a:off x="605936" y="1379985"/>
                <a:ext cx="10121382" cy="4405659"/>
                <a:chOff x="605936" y="1379985"/>
                <a:chExt cx="10121382" cy="4405659"/>
              </a:xfrm>
            </p:grpSpPr>
            <p:sp>
              <p:nvSpPr>
                <p:cNvPr id="24" name="矩形: 圓角 23">
                  <a:extLst>
                    <a:ext uri="{FF2B5EF4-FFF2-40B4-BE49-F238E27FC236}">
                      <a16:creationId xmlns:a16="http://schemas.microsoft.com/office/drawing/2014/main" id="{FB3D7F6B-63B3-DCFF-097E-F0F0E14586D6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0" name="矩形: 圓角 79">
                  <a:extLst>
                    <a:ext uri="{FF2B5EF4-FFF2-40B4-BE49-F238E27FC236}">
                      <a16:creationId xmlns:a16="http://schemas.microsoft.com/office/drawing/2014/main" id="{38C37932-BCBF-0990-1394-FB48BC959667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Head 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6" name="群組 25">
                  <a:extLst>
                    <a:ext uri="{FF2B5EF4-FFF2-40B4-BE49-F238E27FC236}">
                      <a16:creationId xmlns:a16="http://schemas.microsoft.com/office/drawing/2014/main" id="{0C42DB66-CCCD-DAF3-54A5-21035E138176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69" name="群組 68">
                    <a:extLst>
                      <a:ext uri="{FF2B5EF4-FFF2-40B4-BE49-F238E27FC236}">
                        <a16:creationId xmlns:a16="http://schemas.microsoft.com/office/drawing/2014/main" id="{8BDE5217-3477-CC23-39E1-10079B616D98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5" name="矩形 74">
                      <a:extLst>
                        <a:ext uri="{FF2B5EF4-FFF2-40B4-BE49-F238E27FC236}">
                          <a16:creationId xmlns:a16="http://schemas.microsoft.com/office/drawing/2014/main" id="{5FC7AAB6-144F-AF9C-2ED1-08220BDC1F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9DC00401-7BCA-450C-482F-B7C108BFCE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39C143B5-F6A8-FBD4-8C63-30D9A2DFF5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97148565-8E43-A798-6DC1-9FF242ED368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79" name="箭號: 向下 78">
                      <a:extLst>
                        <a:ext uri="{FF2B5EF4-FFF2-40B4-BE49-F238E27FC236}">
                          <a16:creationId xmlns:a16="http://schemas.microsoft.com/office/drawing/2014/main" id="{CDE6F8D8-FED8-687D-806A-029E922441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grpSp>
                <p:nvGrpSpPr>
                  <p:cNvPr id="70" name="群組 69">
                    <a:extLst>
                      <a:ext uri="{FF2B5EF4-FFF2-40B4-BE49-F238E27FC236}">
                        <a16:creationId xmlns:a16="http://schemas.microsoft.com/office/drawing/2014/main" id="{09EB8A7B-B1F3-6693-AEBC-6FF7FF64E915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1" name="箭號: 上彎 70">
                      <a:extLst>
                        <a:ext uri="{FF2B5EF4-FFF2-40B4-BE49-F238E27FC236}">
                          <a16:creationId xmlns:a16="http://schemas.microsoft.com/office/drawing/2014/main" id="{5DAA6211-AAD4-E2FE-96AD-01BA921C0F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2" name="箭號: 上彎 71">
                      <a:extLst>
                        <a:ext uri="{FF2B5EF4-FFF2-40B4-BE49-F238E27FC236}">
                          <a16:creationId xmlns:a16="http://schemas.microsoft.com/office/drawing/2014/main" id="{992F3A4B-981C-5557-E8C2-A90DF14104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C190D8DB-2A2D-9EAB-8828-6343E8C31E94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A0136C40-E0E0-91EE-75D1-624CD7FB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</p:grpSp>
            </p:grpSp>
            <p:sp>
              <p:nvSpPr>
                <p:cNvPr id="65" name="矩形: 圓角 64">
                  <a:extLst>
                    <a:ext uri="{FF2B5EF4-FFF2-40B4-BE49-F238E27FC236}">
                      <a16:creationId xmlns:a16="http://schemas.microsoft.com/office/drawing/2014/main" id="{A0B8F154-B8CA-9B92-EAB6-716CD00486A0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200" b="1" dirty="0">
                      <a:solidFill>
                        <a:schemeClr val="tx1"/>
                      </a:solidFill>
                    </a:rPr>
                    <a:t>CE</a:t>
                  </a:r>
                  <a:r>
                    <a:rPr lang="zh-TW" altLang="en-US" sz="1200" b="1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TW" sz="1200" b="1" dirty="0">
                      <a:solidFill>
                        <a:schemeClr val="tx1"/>
                      </a:solidFill>
                    </a:rPr>
                    <a:t>Loss 1</a:t>
                  </a:r>
                  <a:endParaRPr lang="zh-TW" altLang="en-US" sz="1200" b="1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1" name="群組 50">
                  <a:extLst>
                    <a:ext uri="{FF2B5EF4-FFF2-40B4-BE49-F238E27FC236}">
                      <a16:creationId xmlns:a16="http://schemas.microsoft.com/office/drawing/2014/main" id="{8D40AEA5-10E0-399B-26A5-9572A48CE3B0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0" name="群組 59">
                    <a:extLst>
                      <a:ext uri="{FF2B5EF4-FFF2-40B4-BE49-F238E27FC236}">
                        <a16:creationId xmlns:a16="http://schemas.microsoft.com/office/drawing/2014/main" id="{8F951905-5C32-5B59-C589-031C2B6FD552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2" name="箭號: 向上 61">
                      <a:extLst>
                        <a:ext uri="{FF2B5EF4-FFF2-40B4-BE49-F238E27FC236}">
                          <a16:creationId xmlns:a16="http://schemas.microsoft.com/office/drawing/2014/main" id="{8395AE15-458B-CA6D-C005-0CCE601861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63" name="箭號: 向上 62">
                      <a:extLst>
                        <a:ext uri="{FF2B5EF4-FFF2-40B4-BE49-F238E27FC236}">
                          <a16:creationId xmlns:a16="http://schemas.microsoft.com/office/drawing/2014/main" id="{0CA42F72-80F4-104F-DEF9-05EC26E6A547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61" name="矩形 60">
                    <a:extLst>
                      <a:ext uri="{FF2B5EF4-FFF2-40B4-BE49-F238E27FC236}">
                        <a16:creationId xmlns:a16="http://schemas.microsoft.com/office/drawing/2014/main" id="{6AF8AA71-244E-D83C-1196-6A32929A0F7D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  <p:grpSp>
              <p:nvGrpSpPr>
                <p:cNvPr id="106" name="群組 105">
                  <a:extLst>
                    <a:ext uri="{FF2B5EF4-FFF2-40B4-BE49-F238E27FC236}">
                      <a16:creationId xmlns:a16="http://schemas.microsoft.com/office/drawing/2014/main" id="{CE85A746-4F4C-81EC-34D8-593D34052AA9}"/>
                    </a:ext>
                  </a:extLst>
                </p:cNvPr>
                <p:cNvGrpSpPr/>
                <p:nvPr/>
              </p:nvGrpSpPr>
              <p:grpSpPr>
                <a:xfrm>
                  <a:off x="6062367" y="1400830"/>
                  <a:ext cx="571221" cy="2546814"/>
                  <a:chOff x="4361572" y="1466689"/>
                  <a:chExt cx="571221" cy="2546814"/>
                </a:xfrm>
              </p:grpSpPr>
              <p:sp>
                <p:nvSpPr>
                  <p:cNvPr id="82" name="文字方塊 81">
                    <a:extLst>
                      <a:ext uri="{FF2B5EF4-FFF2-40B4-BE49-F238E27FC236}">
                        <a16:creationId xmlns:a16="http://schemas.microsoft.com/office/drawing/2014/main" id="{50231DEF-50DE-478E-5C19-244569F85BD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644171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67" name="文字方塊 66">
                    <a:extLst>
                      <a:ext uri="{FF2B5EF4-FFF2-40B4-BE49-F238E27FC236}">
                        <a16:creationId xmlns:a16="http://schemas.microsoft.com/office/drawing/2014/main" id="{E5B3DD03-2C8A-559A-E3D3-311BD3232653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1" y="2351811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383F0368-67D2-41FA-4611-C0246453BD4A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466689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</p:grpSp>
            <p:grpSp>
              <p:nvGrpSpPr>
                <p:cNvPr id="107" name="群組 106">
                  <a:extLst>
                    <a:ext uri="{FF2B5EF4-FFF2-40B4-BE49-F238E27FC236}">
                      <a16:creationId xmlns:a16="http://schemas.microsoft.com/office/drawing/2014/main" id="{D29FBD48-4D8C-C9B3-A458-E78E043B3540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81" name="矩形: 圓角 80">
                    <a:extLst>
                      <a:ext uri="{FF2B5EF4-FFF2-40B4-BE49-F238E27FC236}">
                        <a16:creationId xmlns:a16="http://schemas.microsoft.com/office/drawing/2014/main" id="{426E5A67-6F93-8DE0-AAFD-EB42C4C2F279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" name="矩形: 圓角 41">
                    <a:extLst>
                      <a:ext uri="{FF2B5EF4-FFF2-40B4-BE49-F238E27FC236}">
                        <a16:creationId xmlns:a16="http://schemas.microsoft.com/office/drawing/2014/main" id="{2D26AD19-3F27-E640-09A9-AB93E1F39413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32" name="群組 31">
                    <a:extLst>
                      <a:ext uri="{FF2B5EF4-FFF2-40B4-BE49-F238E27FC236}">
                        <a16:creationId xmlns:a16="http://schemas.microsoft.com/office/drawing/2014/main" id="{ED0423D8-0221-CE43-B138-971D42086A5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1A33B6E5-0907-D520-8D2B-50C72104F2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grpSp>
                  <p:nvGrpSpPr>
                    <p:cNvPr id="39" name="群組 38">
                      <a:extLst>
                        <a:ext uri="{FF2B5EF4-FFF2-40B4-BE49-F238E27FC236}">
                          <a16:creationId xmlns:a16="http://schemas.microsoft.com/office/drawing/2014/main" id="{BFA073F8-3807-3361-7EE2-C7F373A870C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40" name="矩形 39">
                        <a:extLst>
                          <a:ext uri="{FF2B5EF4-FFF2-40B4-BE49-F238E27FC236}">
                            <a16:creationId xmlns:a16="http://schemas.microsoft.com/office/drawing/2014/main" id="{C849B078-C5B1-4D66-EAB6-41623D5595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/>
                      </a:p>
                    </p:txBody>
                  </p:sp>
                  <p:sp>
                    <p:nvSpPr>
                      <p:cNvPr id="41" name="箭號: 向左 40">
                        <a:extLst>
                          <a:ext uri="{FF2B5EF4-FFF2-40B4-BE49-F238E27FC236}">
                            <a16:creationId xmlns:a16="http://schemas.microsoft.com/office/drawing/2014/main" id="{46D4202F-513A-7304-19F0-D1E318251D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/>
                      </a:p>
                    </p:txBody>
                  </p:sp>
                </p:grpSp>
              </p:grpSp>
            </p:grpSp>
            <p:grpSp>
              <p:nvGrpSpPr>
                <p:cNvPr id="105" name="群組 104">
                  <a:extLst>
                    <a:ext uri="{FF2B5EF4-FFF2-40B4-BE49-F238E27FC236}">
                      <a16:creationId xmlns:a16="http://schemas.microsoft.com/office/drawing/2014/main" id="{2700B445-401F-A7AB-BD92-FCCC8DD5F9AA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68" name="矩形: 圓角 67">
                    <a:extLst>
                      <a:ext uri="{FF2B5EF4-FFF2-40B4-BE49-F238E27FC236}">
                        <a16:creationId xmlns:a16="http://schemas.microsoft.com/office/drawing/2014/main" id="{29F99D35-3120-770E-BEF2-36329FB6D90A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CE</a:t>
                    </a:r>
                    <a:r>
                      <a:rPr lang="zh-TW" altLang="en-US" sz="1200" b="1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53" name="群組 52">
                    <a:extLst>
                      <a:ext uri="{FF2B5EF4-FFF2-40B4-BE49-F238E27FC236}">
                        <a16:creationId xmlns:a16="http://schemas.microsoft.com/office/drawing/2014/main" id="{E22BCFA8-E70D-723E-BC0A-8E486A854400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B11F51E7-2096-B595-56BB-0B6284755E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57" name="箭號: 向上 56">
                      <a:extLst>
                        <a:ext uri="{FF2B5EF4-FFF2-40B4-BE49-F238E27FC236}">
                          <a16:creationId xmlns:a16="http://schemas.microsoft.com/office/drawing/2014/main" id="{CB59C7D4-3896-A4AC-0115-4E7B18E131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55" name="箭號: 向上 54">
                    <a:extLst>
                      <a:ext uri="{FF2B5EF4-FFF2-40B4-BE49-F238E27FC236}">
                        <a16:creationId xmlns:a16="http://schemas.microsoft.com/office/drawing/2014/main" id="{29F6C90C-BBE8-EBE1-19E9-FEDEAB280CCC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47" name="箭號: 向上 46">
                    <a:extLst>
                      <a:ext uri="{FF2B5EF4-FFF2-40B4-BE49-F238E27FC236}">
                        <a16:creationId xmlns:a16="http://schemas.microsoft.com/office/drawing/2014/main" id="{392EA078-CFE0-F911-22C0-9F0D95096976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48" name="箭號: 向上 47">
                    <a:extLst>
                      <a:ext uri="{FF2B5EF4-FFF2-40B4-BE49-F238E27FC236}">
                        <a16:creationId xmlns:a16="http://schemas.microsoft.com/office/drawing/2014/main" id="{F16E6986-1A02-5DD1-954D-497C33765E55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83" name="矩形: 圓角 82">
                    <a:extLst>
                      <a:ext uri="{FF2B5EF4-FFF2-40B4-BE49-F238E27FC236}">
                        <a16:creationId xmlns:a16="http://schemas.microsoft.com/office/drawing/2014/main" id="{B986A042-D0F8-3049-0B98-CD967B6DF29E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35" name="群組 34">
                    <a:extLst>
                      <a:ext uri="{FF2B5EF4-FFF2-40B4-BE49-F238E27FC236}">
                        <a16:creationId xmlns:a16="http://schemas.microsoft.com/office/drawing/2014/main" id="{BBA8340C-1772-F32E-3444-9F501E78319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36" name="矩形 35">
                      <a:extLst>
                        <a:ext uri="{FF2B5EF4-FFF2-40B4-BE49-F238E27FC236}">
                          <a16:creationId xmlns:a16="http://schemas.microsoft.com/office/drawing/2014/main" id="{DBAD3EF9-5BA7-79C9-AAD1-4984CB7A4A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37" name="箭號: 向左 36">
                      <a:extLst>
                        <a:ext uri="{FF2B5EF4-FFF2-40B4-BE49-F238E27FC236}">
                          <a16:creationId xmlns:a16="http://schemas.microsoft.com/office/drawing/2014/main" id="{0077B422-779F-32BA-D62C-9E12C2E7B0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43" name="矩形: 圓角 42">
                    <a:extLst>
                      <a:ext uri="{FF2B5EF4-FFF2-40B4-BE49-F238E27FC236}">
                        <a16:creationId xmlns:a16="http://schemas.microsoft.com/office/drawing/2014/main" id="{028A8C48-4812-C3DA-960D-D1BBE2322457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DB5E7AA6-75A0-77B6-3C0A-DF1D86414886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84" name="矩形: 圓角 83">
                    <a:extLst>
                      <a:ext uri="{FF2B5EF4-FFF2-40B4-BE49-F238E27FC236}">
                        <a16:creationId xmlns:a16="http://schemas.microsoft.com/office/drawing/2014/main" id="{F4A75B6D-E8AB-8476-38D3-D1717FBFA939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LCM 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矩形: 圓角 99">
                    <a:extLst>
                      <a:ext uri="{FF2B5EF4-FFF2-40B4-BE49-F238E27FC236}">
                        <a16:creationId xmlns:a16="http://schemas.microsoft.com/office/drawing/2014/main" id="{6C6D1599-F703-AC80-2445-99522F57CB9A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SDC 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箭號: 向上 101">
                    <a:extLst>
                      <a:ext uri="{FF2B5EF4-FFF2-40B4-BE49-F238E27FC236}">
                        <a16:creationId xmlns:a16="http://schemas.microsoft.com/office/drawing/2014/main" id="{5AD4ED8F-2635-13E5-520D-B260BFE9B33D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103" name="箭號: 向上 102">
                    <a:extLst>
                      <a:ext uri="{FF2B5EF4-FFF2-40B4-BE49-F238E27FC236}">
                        <a16:creationId xmlns:a16="http://schemas.microsoft.com/office/drawing/2014/main" id="{6A2160AE-D339-97EC-774F-A3E1C1F0D3D8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104" name="箭號: 向上 103">
                    <a:extLst>
                      <a:ext uri="{FF2B5EF4-FFF2-40B4-BE49-F238E27FC236}">
                        <a16:creationId xmlns:a16="http://schemas.microsoft.com/office/drawing/2014/main" id="{D197C1F1-B220-E7D8-548C-D61E4ABC4749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D6A40E28-6FB7-5412-739C-0236AB74DACB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SDC Loss K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箭號: 向上 113">
                <a:extLst>
                  <a:ext uri="{FF2B5EF4-FFF2-40B4-BE49-F238E27FC236}">
                    <a16:creationId xmlns:a16="http://schemas.microsoft.com/office/drawing/2014/main" id="{56A8638F-CB86-1B55-C61B-4AE784D9C54A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17" name="箭號: 向上 116">
            <a:extLst>
              <a:ext uri="{FF2B5EF4-FFF2-40B4-BE49-F238E27FC236}">
                <a16:creationId xmlns:a16="http://schemas.microsoft.com/office/drawing/2014/main" id="{7EA2DEAD-57CA-DF92-09AF-1FD788680231}"/>
              </a:ext>
            </a:extLst>
          </p:cNvPr>
          <p:cNvSpPr/>
          <p:nvPr/>
        </p:nvSpPr>
        <p:spPr>
          <a:xfrm>
            <a:off x="8396782" y="3591107"/>
            <a:ext cx="215809" cy="432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7AE00958-E32C-8716-567F-29F74CA04508}"/>
              </a:ext>
            </a:extLst>
          </p:cNvPr>
          <p:cNvSpPr txBox="1"/>
          <p:nvPr/>
        </p:nvSpPr>
        <p:spPr>
          <a:xfrm>
            <a:off x="6528971" y="5156670"/>
            <a:ext cx="55269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CE loss: cross entropy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SDC(selective distribution consistency ): define on Page. 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LCM(Latent Consistency Matching): define on Page.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92840" y="6629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15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— confidence-aware KL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A8B0D57F-9369-4AB8-A08B-52E71589CF1F}"/>
              </a:ext>
            </a:extLst>
          </p:cNvPr>
          <p:cNvGrpSpPr/>
          <p:nvPr/>
        </p:nvGrpSpPr>
        <p:grpSpPr>
          <a:xfrm>
            <a:off x="787179" y="1698618"/>
            <a:ext cx="2782957" cy="2864787"/>
            <a:chOff x="787179" y="946205"/>
            <a:chExt cx="2782957" cy="2864787"/>
          </a:xfrm>
        </p:grpSpPr>
        <p:sp>
          <p:nvSpPr>
            <p:cNvPr id="19" name="文字方塊 18">
              <a:extLst>
                <a:ext uri="{FF2B5EF4-FFF2-40B4-BE49-F238E27FC236}">
                  <a16:creationId xmlns:a16="http://schemas.microsoft.com/office/drawing/2014/main" id="{D7267312-9933-82F9-2BE4-976D7724B619}"/>
                </a:ext>
              </a:extLst>
            </p:cNvPr>
            <p:cNvSpPr txBox="1"/>
            <p:nvPr/>
          </p:nvSpPr>
          <p:spPr>
            <a:xfrm>
              <a:off x="787179" y="946205"/>
              <a:ext cx="27829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Step1. Calculate Confidence 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51BA7951-16A8-138E-2BE3-A6CCC52EA800}"/>
                    </a:ext>
                  </a:extLst>
                </p:cNvPr>
                <p:cNvSpPr txBox="1"/>
                <p:nvPr/>
              </p:nvSpPr>
              <p:spPr>
                <a:xfrm>
                  <a:off x="787179" y="2041469"/>
                  <a:ext cx="2530136" cy="17695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𝑠𝑜𝑓𝑡𝑚𝑎𝑥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600" i="1" dirty="0"/>
                </a:p>
                <a:p>
                  <a:r>
                    <a:rPr lang="en-US" altLang="zh-TW" sz="1600" i="1" dirty="0"/>
                    <a:t>V = vocabulary size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600" i="1">
                            <a:latin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ar-AE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TW" altLang="ar-AE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ar-AE" altLang="zh-TW" sz="1600">
                            <a:latin typeface="Cambria Math" panose="02040503050406030204" pitchFamily="18" charset="0"/>
                          </a:rPr>
                          <m:t>=−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altLang="zh-TW" sz="16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zh-TW" altLang="ar-AE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 altLang="zh-TW" sz="160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 altLang="zh-TW" sz="1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zh-TW" altLang="ar-AE" sz="16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ar-AE" sz="1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zh-TW" altLang="ar-AE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func>
                          <m:funcPr>
                            <m:ctrlPr>
                              <a:rPr lang="ar-AE" altLang="zh-TW" sz="16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6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sSub>
                              <m:sSubPr>
                                <m:ctrlPr>
                                  <a:rPr lang="ar-AE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ar-AE" sz="1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zh-TW" altLang="ar-AE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oMath>
                    </m:oMathPara>
                  </a14:m>
                  <a:endParaRPr lang="ar-AE" altLang="zh-TW" sz="1600" dirty="0"/>
                </a:p>
                <a:p>
                  <a:endParaRPr lang="ar-AE" altLang="zh-TW" sz="1600" b="0" dirty="0"/>
                </a:p>
                <a:p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51BA7951-16A8-138E-2BE3-A6CCC52EA8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179" y="2041469"/>
                  <a:ext cx="2530136" cy="1769523"/>
                </a:xfrm>
                <a:prstGeom prst="rect">
                  <a:avLst/>
                </a:prstGeom>
                <a:blipFill>
                  <a:blip r:embed="rId3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661189BA-4F7B-6CEA-C738-20D3FB1EDC20}"/>
                    </a:ext>
                  </a:extLst>
                </p:cNvPr>
                <p:cNvSpPr txBox="1"/>
                <p:nvPr/>
              </p:nvSpPr>
              <p:spPr>
                <a:xfrm>
                  <a:off x="787179" y="1373934"/>
                  <a:ext cx="2439448" cy="67845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b="0" smtClean="0"/>
                          <m:t>Confidence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altLang="zh-TW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ar-AE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TW" altLang="ar-AE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d>
                          </m:num>
                          <m:den>
                            <m:func>
                              <m:funcPr>
                                <m:ctrlPr>
                                  <a:rPr lang="ar-AE" altLang="zh-TW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zh-TW" altLang="ar-AE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func>
                          </m:den>
                        </m:f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661189BA-4F7B-6CEA-C738-20D3FB1EDC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179" y="1373934"/>
                  <a:ext cx="2439448" cy="67845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C2D51AC1-AC20-2F03-CA23-AC2B738AD25C}"/>
                </a:ext>
              </a:extLst>
            </p:cNvPr>
            <p:cNvSpPr/>
            <p:nvPr/>
          </p:nvSpPr>
          <p:spPr>
            <a:xfrm>
              <a:off x="787179" y="1310179"/>
              <a:ext cx="2782956" cy="201029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E22EDB1-A38A-085E-EAFA-FA376075DBFD}"/>
              </a:ext>
            </a:extLst>
          </p:cNvPr>
          <p:cNvGrpSpPr/>
          <p:nvPr/>
        </p:nvGrpSpPr>
        <p:grpSpPr>
          <a:xfrm>
            <a:off x="4025863" y="1698618"/>
            <a:ext cx="3926620" cy="2374267"/>
            <a:chOff x="4064441" y="946205"/>
            <a:chExt cx="3926620" cy="2374267"/>
          </a:xfrm>
        </p:grpSpPr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14AFE812-81B3-60E6-7A59-79D2C8B9CA7B}"/>
                </a:ext>
              </a:extLst>
            </p:cNvPr>
            <p:cNvSpPr txBox="1"/>
            <p:nvPr/>
          </p:nvSpPr>
          <p:spPr>
            <a:xfrm>
              <a:off x="4064441" y="946205"/>
              <a:ext cx="39266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Step2. Mask with Confidence threshold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FD2B5406-CDC9-91E7-45A0-E24264165997}"/>
                    </a:ext>
                  </a:extLst>
                </p:cNvPr>
                <p:cNvSpPr txBox="1"/>
                <p:nvPr/>
              </p:nvSpPr>
              <p:spPr>
                <a:xfrm>
                  <a:off x="4064441" y="1373934"/>
                  <a:ext cx="2495385" cy="7101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</a:rPr>
                          <m:t>1</m:t>
                        </m:r>
                        <m:d>
                          <m:d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= 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FD2B5406-CDC9-91E7-45A0-E242641659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4441" y="1373934"/>
                  <a:ext cx="2495385" cy="710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1963B69-6019-C7EA-06F4-3098975B8961}"/>
                    </a:ext>
                  </a:extLst>
                </p:cNvPr>
                <p:cNvSpPr txBox="1"/>
                <p:nvPr/>
              </p:nvSpPr>
              <p:spPr>
                <a:xfrm>
                  <a:off x="4064441" y="2041469"/>
                  <a:ext cx="2670314" cy="64613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𝐶𝑜𝑛𝑓𝑖𝑑𝑒𝑛𝑐𝑒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600" i="1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TW" sz="1600" i="1" dirty="0"/>
                          <m:t>Confidence</m:t>
                        </m:r>
                        <m:r>
                          <m:rPr>
                            <m:nor/>
                          </m:rPr>
                          <a:rPr lang="en-US" altLang="zh-TW" sz="1600" i="1" dirty="0"/>
                          <m:t> </m:t>
                        </m:r>
                        <m:r>
                          <m:rPr>
                            <m:nor/>
                          </m:rPr>
                          <a:rPr lang="en-US" altLang="zh-TW" sz="1600" i="1" dirty="0"/>
                          <m:t>threshold</m:t>
                        </m:r>
                      </m:oMath>
                    </m:oMathPara>
                  </a14:m>
                  <a:endParaRPr lang="en-US" altLang="zh-TW" sz="1600" i="1" dirty="0"/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1963B69-6019-C7EA-06F4-3098975B89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4441" y="2041469"/>
                  <a:ext cx="2670314" cy="646139"/>
                </a:xfrm>
                <a:prstGeom prst="rect">
                  <a:avLst/>
                </a:prstGeom>
                <a:blipFill>
                  <a:blip r:embed="rId6"/>
                  <a:stretch>
                    <a:fillRect b="-28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520AF61F-0858-7EB1-1CB4-B467D14BBB8C}"/>
                </a:ext>
              </a:extLst>
            </p:cNvPr>
            <p:cNvSpPr/>
            <p:nvPr/>
          </p:nvSpPr>
          <p:spPr>
            <a:xfrm>
              <a:off x="4064441" y="1310179"/>
              <a:ext cx="3766830" cy="201029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07E39926-2A7E-FA77-56B6-C6BA4687B218}"/>
              </a:ext>
            </a:extLst>
          </p:cNvPr>
          <p:cNvGrpSpPr/>
          <p:nvPr/>
        </p:nvGrpSpPr>
        <p:grpSpPr>
          <a:xfrm>
            <a:off x="8052017" y="1688176"/>
            <a:ext cx="3926623" cy="2610294"/>
            <a:chOff x="8152734" y="946205"/>
            <a:chExt cx="3926623" cy="2610294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54E6BCDB-7E57-4689-5CC2-5F948A672DF9}"/>
                </a:ext>
              </a:extLst>
            </p:cNvPr>
            <p:cNvSpPr txBox="1"/>
            <p:nvPr/>
          </p:nvSpPr>
          <p:spPr>
            <a:xfrm>
              <a:off x="8152737" y="946205"/>
              <a:ext cx="39266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Step3. Calculate SDC loss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60507A5D-3A65-2995-531D-DA310F61B4C1}"/>
                    </a:ext>
                  </a:extLst>
                </p:cNvPr>
                <p:cNvSpPr txBox="1"/>
                <p:nvPr/>
              </p:nvSpPr>
              <p:spPr>
                <a:xfrm>
                  <a:off x="8152735" y="1310179"/>
                  <a:ext cx="3926620" cy="87126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𝑆𝐷𝐶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nary>
                          <m:naryPr>
                            <m:chr m:val="∑"/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zh-TW" alt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𝐾𝐿</m:t>
                                </m:r>
                              </m:sub>
                            </m:s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TW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||</m:t>
                            </m:r>
                            <m:sSubSup>
                              <m:sSubSup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  <m:sup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b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60507A5D-3A65-2995-531D-DA310F61B4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2735" y="1310179"/>
                  <a:ext cx="3926620" cy="8712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12E01B2-F296-D266-5250-CBBEDDEFD543}"/>
                    </a:ext>
                  </a:extLst>
                </p:cNvPr>
                <p:cNvSpPr txBox="1"/>
                <p:nvPr/>
              </p:nvSpPr>
              <p:spPr>
                <a:xfrm>
                  <a:off x="8152734" y="2181443"/>
                  <a:ext cx="2857969" cy="13750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𝑡𝑒𝑎𝑐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𝑒𝑟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𝑖𝑑𝑑𝑒𝑛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𝑠𝑡𝑎𝑡𝑒</m:t>
                        </m:r>
                      </m:oMath>
                    </m:oMathPara>
                  </a14:m>
                  <a:endParaRPr lang="en-US" altLang="zh-TW" sz="1600" b="0" i="1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𝑠𝑡𝑢𝑑𝑒𝑛𝑡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𝑖𝑑𝑑𝑒𝑛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𝑠𝑡𝑎𝑡𝑒</m:t>
                        </m:r>
                      </m:oMath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𝑠𝑜𝑓𝑡𝑚𝑎𝑥</m:t>
                        </m:r>
                        <m:d>
                          <m:d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TW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TW" sz="1600" b="0" dirty="0"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𝑠𝑜𝑓𝑡𝑚𝑎𝑥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600" dirty="0"/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12E01B2-F296-D266-5250-CBBEDDEFD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2734" y="2181443"/>
                  <a:ext cx="2857969" cy="1375056"/>
                </a:xfrm>
                <a:prstGeom prst="rect">
                  <a:avLst/>
                </a:prstGeom>
                <a:blipFill>
                  <a:blip r:embed="rId8"/>
                  <a:stretch>
                    <a:fillRect b="-1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22EB0429-617F-CD4D-48E4-43AA5D4587D4}"/>
                </a:ext>
              </a:extLst>
            </p:cNvPr>
            <p:cNvSpPr/>
            <p:nvPr/>
          </p:nvSpPr>
          <p:spPr>
            <a:xfrm>
              <a:off x="8152734" y="1316262"/>
              <a:ext cx="3766830" cy="22119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F5B8F945-52E7-F5F0-E3D9-03D7EA9206C0}"/>
              </a:ext>
            </a:extLst>
          </p:cNvPr>
          <p:cNvSpPr txBox="1"/>
          <p:nvPr/>
        </p:nvSpPr>
        <p:spPr>
          <a:xfrm>
            <a:off x="787179" y="5149712"/>
            <a:ext cx="109628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confidence threshold </a:t>
            </a:r>
            <a:r>
              <a:rPr lang="el-GR" altLang="zh-TW" sz="1600" dirty="0"/>
              <a:t>τ </a:t>
            </a:r>
            <a:r>
              <a:rPr lang="zh-TW" altLang="en-US" sz="1600" dirty="0"/>
              <a:t>控制噪聲干擾。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若 </a:t>
            </a:r>
            <a:r>
              <a:rPr lang="el-GR" altLang="zh-TW" sz="1600" dirty="0"/>
              <a:t>τ </a:t>
            </a:r>
            <a:r>
              <a:rPr lang="zh-TW" altLang="en-US" sz="1600" dirty="0"/>
              <a:t>過高，會讓模型整體傾向高信心度</a:t>
            </a:r>
            <a:r>
              <a:rPr lang="en-US" altLang="zh-TW" sz="1600" dirty="0"/>
              <a:t>/</a:t>
            </a:r>
            <a:r>
              <a:rPr lang="zh-TW" altLang="en-US" sz="1600" dirty="0"/>
              <a:t>重複度的回答，可能造成 </a:t>
            </a:r>
            <a:r>
              <a:rPr lang="en-US" altLang="zh-TW" sz="1600" dirty="0"/>
              <a:t>PPL / draft acceptance </a:t>
            </a:r>
            <a:r>
              <a:rPr lang="zh-TW" altLang="en-US" sz="1600" dirty="0"/>
              <a:t>下降，</a:t>
            </a:r>
            <a:r>
              <a:rPr lang="en-US" altLang="zh-TW" sz="1600" dirty="0" err="1"/>
              <a:t>GenPPL</a:t>
            </a:r>
            <a:r>
              <a:rPr lang="en-US" altLang="zh-TW" sz="1600" dirty="0"/>
              <a:t>/ repetition</a:t>
            </a:r>
            <a:r>
              <a:rPr lang="zh-TW" altLang="en-US" sz="1600" dirty="0"/>
              <a:t>上升。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0" y="6629399"/>
            <a:ext cx="548640" cy="168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16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softmax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A298F69-B887-4EFD-476D-255EFD4CC9F5}"/>
                  </a:ext>
                </a:extLst>
              </p:cNvPr>
              <p:cNvSpPr txBox="1"/>
              <p:nvPr/>
            </p:nvSpPr>
            <p:spPr>
              <a:xfrm>
                <a:off x="731520" y="2277665"/>
                <a:ext cx="4087850" cy="7884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A298F69-B887-4EFD-476D-255EFD4CC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277665"/>
                <a:ext cx="4087850" cy="7884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7A73503-B096-1CB1-8ADB-B48E423BB0E8}"/>
                  </a:ext>
                </a:extLst>
              </p:cNvPr>
              <p:cNvSpPr txBox="1"/>
              <p:nvPr/>
            </p:nvSpPr>
            <p:spPr>
              <a:xfrm>
                <a:off x="731520" y="3429000"/>
                <a:ext cx="2816477" cy="13849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head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index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shift</m:t>
                      </m:r>
                    </m:oMath>
                  </m:oMathPara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7A73503-B096-1CB1-8ADB-B48E423BB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3429000"/>
                <a:ext cx="2816477" cy="1384995"/>
              </a:xfrm>
              <a:prstGeom prst="rect">
                <a:avLst/>
              </a:prstGeom>
              <a:blipFill>
                <a:blip r:embed="rId4"/>
                <a:stretch>
                  <a:fillRect l="-3030" t="-881" r="-433" b="-4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441927" y="6629400"/>
            <a:ext cx="536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Experiment results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FOUR</a:t>
            </a:r>
            <a:endParaRPr lang="en-US" sz="5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49849" y="6629400"/>
            <a:ext cx="428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12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altLang="zh-TW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330D437E-2C43-3467-413B-E55AA9405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364041"/>
              </p:ext>
            </p:extLst>
          </p:nvPr>
        </p:nvGraphicFramePr>
        <p:xfrm>
          <a:off x="494811" y="1181303"/>
          <a:ext cx="11202378" cy="4740099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674517">
                  <a:extLst>
                    <a:ext uri="{9D8B030D-6E8A-4147-A177-3AD203B41FA5}">
                      <a16:colId xmlns:a16="http://schemas.microsoft.com/office/drawing/2014/main" val="1065077904"/>
                    </a:ext>
                  </a:extLst>
                </a:gridCol>
                <a:gridCol w="5921406">
                  <a:extLst>
                    <a:ext uri="{9D8B030D-6E8A-4147-A177-3AD203B41FA5}">
                      <a16:colId xmlns:a16="http://schemas.microsoft.com/office/drawing/2014/main" val="978672596"/>
                    </a:ext>
                  </a:extLst>
                </a:gridCol>
                <a:gridCol w="2606455">
                  <a:extLst>
                    <a:ext uri="{9D8B030D-6E8A-4147-A177-3AD203B41FA5}">
                      <a16:colId xmlns:a16="http://schemas.microsoft.com/office/drawing/2014/main" val="1651558404"/>
                    </a:ext>
                  </a:extLst>
                </a:gridCol>
              </a:tblGrid>
              <a:tr h="67715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Definition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備註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9705471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Oracle PPL head 1~K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各 </a:t>
                      </a:r>
                      <a:r>
                        <a:rPr lang="en-US" altLang="zh-TW" sz="1600" dirty="0"/>
                        <a:t>head </a:t>
                      </a:r>
                      <a:r>
                        <a:rPr lang="zh-TW" altLang="en-US" sz="1600" dirty="0"/>
                        <a:t>在 </a:t>
                      </a:r>
                      <a:r>
                        <a:rPr lang="en-US" altLang="zh-TW" sz="1600" dirty="0"/>
                        <a:t>token prediction </a:t>
                      </a:r>
                      <a:r>
                        <a:rPr lang="zh-TW" altLang="en-US" sz="1600" dirty="0"/>
                        <a:t>上的 </a:t>
                      </a:r>
                      <a:r>
                        <a:rPr lang="en-US" altLang="zh-TW" sz="1600" dirty="0"/>
                        <a:t>perplexity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3415258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Avg Draft Token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不同 </a:t>
                      </a:r>
                      <a:r>
                        <a:rPr lang="en-US" altLang="zh-TW" sz="1600" dirty="0"/>
                        <a:t>prefix(prompt) length </a:t>
                      </a:r>
                      <a:r>
                        <a:rPr lang="zh-TW" altLang="en-US" sz="1600" dirty="0"/>
                        <a:t>下的 </a:t>
                      </a:r>
                      <a:r>
                        <a:rPr lang="en-US" altLang="zh-TW" sz="1600" dirty="0"/>
                        <a:t>accepted tokens per forward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prefix length </a:t>
                      </a:r>
                      <a:r>
                        <a:rPr lang="zh-TW" altLang="en-US" sz="1600" dirty="0"/>
                        <a:t>從</a:t>
                      </a:r>
                      <a:r>
                        <a:rPr lang="en-US" altLang="zh-TW" sz="1600" dirty="0"/>
                        <a:t>1~1024</a:t>
                      </a:r>
                      <a:r>
                        <a:rPr lang="zh-TW" altLang="en-US" sz="1600" dirty="0"/>
                        <a:t>依次遞增加總取平均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094444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Avg Draft Tokens Accepted vs. Prefix Length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不同 </a:t>
                      </a:r>
                      <a:r>
                        <a:rPr lang="en-US" altLang="zh-TW" sz="1600" dirty="0"/>
                        <a:t>prefix(prompt) length </a:t>
                      </a:r>
                      <a:r>
                        <a:rPr lang="zh-TW" altLang="en-US" sz="1600" dirty="0"/>
                        <a:t>下的 </a:t>
                      </a:r>
                      <a:r>
                        <a:rPr lang="en-US" altLang="zh-TW" sz="1600" dirty="0"/>
                        <a:t>accepted tokens per forward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128, 256, 512, 768 length with random continue slicing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852090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生成文字由外部 </a:t>
                      </a:r>
                      <a:r>
                        <a:rPr lang="en-US" altLang="zh-TW" sz="1600" dirty="0"/>
                        <a:t>LM </a:t>
                      </a:r>
                      <a:r>
                        <a:rPr lang="zh-TW" altLang="en-US" sz="1600" dirty="0"/>
                        <a:t>評估的 </a:t>
                      </a:r>
                      <a:r>
                        <a:rPr lang="en-US" altLang="zh-TW" sz="1600" dirty="0"/>
                        <a:t>perplexity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LM</a:t>
                      </a:r>
                      <a:r>
                        <a:rPr lang="zh-TW" altLang="en-US" sz="1600" dirty="0"/>
                        <a:t>使用</a:t>
                      </a:r>
                      <a:r>
                        <a:rPr lang="en-US" altLang="zh-TW" sz="1600" dirty="0"/>
                        <a:t>gpt2-large, </a:t>
                      </a:r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9289110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生成分佈的不確定性 </a:t>
                      </a:r>
                      <a:r>
                        <a:rPr lang="en-US" altLang="zh-TW" sz="1600" dirty="0"/>
                        <a:t>/ </a:t>
                      </a:r>
                      <a:r>
                        <a:rPr lang="zh-TW" altLang="en-US" sz="1600" dirty="0"/>
                        <a:t>多樣性指標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497681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生成文字重複程度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229758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Oracle PPL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BA3C4AD7-4912-5CD1-B4D0-610C78A29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810299"/>
              </p:ext>
            </p:extLst>
          </p:nvPr>
        </p:nvGraphicFramePr>
        <p:xfrm>
          <a:off x="347472" y="1008835"/>
          <a:ext cx="11475720" cy="450899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16C0230B-EEBF-E83E-AE74-AC4C0C9423D5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5FE34-DE46-7C88-B2CA-423CE3CBC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911295E-14F7-A3E3-7F73-D0AC8AA92512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B09BBF0-0944-77A9-2EE8-522B6A687624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19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82DBD3-0B65-4922-4D07-0351417E50B6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C75DBB6-392C-1A1E-D200-1F2F0804F4D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Avg Draft Tokens Accepted 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24BEE52-C35A-EC62-029C-0FE6E0AA77E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644F6D47-7C0E-64ED-B35D-637766B3B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61294"/>
              </p:ext>
            </p:extLst>
          </p:nvPr>
        </p:nvGraphicFramePr>
        <p:xfrm>
          <a:off x="347471" y="1008834"/>
          <a:ext cx="11475720" cy="541078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Avg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C07697EA-B5B2-1B66-1F61-022F3AA7ABFC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37843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8BB6E-12E1-EEA8-0713-F9D387D79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CA5463-EEDE-FD64-F0DD-618D2BC98B9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5EE915-09D5-98ED-49AB-507EFF513C55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843D7CA-621D-7EE6-6819-0CB19A95C09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0C3F48-773A-B085-028F-766629FFA22A}"/>
              </a:ext>
            </a:extLst>
          </p:cNvPr>
          <p:cNvSpPr/>
          <p:nvPr/>
        </p:nvSpPr>
        <p:spPr>
          <a:xfrm>
            <a:off x="347472" y="457200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Generative quality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BC0ECBE-93FD-66A9-9FD9-351765D31D1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1CFAD70E-BDD4-5EE7-564F-0FBA22FA1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960667"/>
              </p:ext>
            </p:extLst>
          </p:nvPr>
        </p:nvGraphicFramePr>
        <p:xfrm>
          <a:off x="347471" y="1008834"/>
          <a:ext cx="11475720" cy="36071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26E9213-DDA1-48B0-0D84-4563C83B6684}"/>
              </a:ext>
            </a:extLst>
          </p:cNvPr>
          <p:cNvSpPr/>
          <p:nvPr/>
        </p:nvSpPr>
        <p:spPr>
          <a:xfrm>
            <a:off x="11027546" y="3105630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36EB1FBE-BD9F-7FE2-D17B-A428A3E7FB80}"/>
              </a:ext>
            </a:extLst>
          </p:cNvPr>
          <p:cNvSpPr/>
          <p:nvPr/>
        </p:nvSpPr>
        <p:spPr>
          <a:xfrm>
            <a:off x="11027546" y="3998922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AD875A98-4ED0-5E69-A914-8BD51E633B46}"/>
              </a:ext>
            </a:extLst>
          </p:cNvPr>
          <p:cNvSpPr/>
          <p:nvPr/>
        </p:nvSpPr>
        <p:spPr>
          <a:xfrm rot="10800000">
            <a:off x="11027546" y="2212338"/>
            <a:ext cx="150920" cy="36398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D7964B-012C-314B-D6DD-18E3C6C882C8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054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</a:t>
            </a: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Zero-shot PPL improvement by head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8216F9A1-FFD7-3D36-0CD9-2D2EB55541BF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21</a:t>
            </a:r>
            <a:endParaRPr lang="en-US" sz="1200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C6C3DFB3-B9F6-12A4-6F5E-A47320FF6C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725280"/>
              </p:ext>
            </p:extLst>
          </p:nvPr>
        </p:nvGraphicFramePr>
        <p:xfrm>
          <a:off x="347470" y="1020570"/>
          <a:ext cx="11475720" cy="45254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7542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Observation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consistency mainly improves distant draft prediction.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regular syntax leads to gains across all heads.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strong context dependence produces the largest Head 1 gain.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domain-specific knowledge limits improvement.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structured biomedical writing provides stable gains across heads.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E213558D-FE79-D2C2-D5BC-62F0FD05A71E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419F2-D775-11DD-65F0-55862AE43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74057B-3D30-9F3D-E41F-6830E688000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C7B687B-4163-746E-180C-40D5A59918C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6DEC72A-1451-5822-DFB1-366706CBC0CC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Oracle PPL 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17D31D8-00E8-7BA1-5BC5-889B65E73C3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713D0A59-A09E-B3C3-F7B0-8F1861BD2D8D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22</a:t>
            </a:r>
            <a:endParaRPr lang="en-US" sz="1200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E0D42E36-1191-3073-6607-BE5E045CB0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403884"/>
              </p:ext>
            </p:extLst>
          </p:nvPr>
        </p:nvGraphicFramePr>
        <p:xfrm>
          <a:off x="347470" y="1020571"/>
          <a:ext cx="11475720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14204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2091644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983450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2027202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2231381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A9B66502-775B-245F-E461-CF986EB3F8B6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EE75B88-F1B5-F047-040C-8C2D6885DC88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5875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39A16-4E0C-D0DB-4567-D7DFB04B6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F41718-BFAD-8797-E817-2BBAE9DA9732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129113D-2072-4B7F-83A1-53AD641B82DA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DCB4D3-5893-5145-8F7D-0E3F2DBDFB81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Avg Draft Tokens Accepted 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F2DC6C8-3CB0-F3FC-11CA-AF1CD7EDC81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1A2D604-B9AA-6D6F-8781-24D79187D610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23</a:t>
            </a:r>
            <a:endParaRPr lang="en-US" sz="1200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083F11C3-8E2A-E29F-BE4F-F2929CE71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4111409"/>
              </p:ext>
            </p:extLst>
          </p:nvPr>
        </p:nvGraphicFramePr>
        <p:xfrm>
          <a:off x="347470" y="931881"/>
          <a:ext cx="11475719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630549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751145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60564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69719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868134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868134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Avg Draft Token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208DF93E-9F83-087B-6F84-6C59BBDE7955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D307BE5-537F-E472-EC84-1093A4706950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63133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EE752-3C1C-296A-7D31-796F534C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DADE8F-F386-0497-9D29-20211925D138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D2B12B-6C97-83BC-94CC-AA00372C411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3D63-57C6-AED6-1766-79E0E184C04A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Generative quality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5AD2620-D6F0-1E86-09CA-1997608D21F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BF27876B-D3A4-A62F-7BA0-C3191108D7DC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24</a:t>
            </a:r>
            <a:endParaRPr lang="en-US" sz="1200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B7EFFAAB-6533-AC11-342F-F3956440C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386680"/>
              </p:ext>
            </p:extLst>
          </p:nvPr>
        </p:nvGraphicFramePr>
        <p:xfrm>
          <a:off x="347470" y="931881"/>
          <a:ext cx="11475720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90046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2250521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2808212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2516524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73ABA95-FB42-08EE-7487-4B52C15B0915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50A8D5C-F453-56CA-6858-C41E410160A4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4084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629748" y="6629400"/>
            <a:ext cx="3488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FIVE</a:t>
            </a:r>
            <a:endParaRPr lang="en-US" sz="54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567160" y="662940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Part5: Conclusion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92040"/>
            <a:ext cx="10332720" cy="502920"/>
          </a:xfrm>
          <a:prstGeom prst="rect">
            <a:avLst/>
          </a:prstGeom>
          <a:noFill/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dirty="0" err="1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核心訊息：consistency-based</a:t>
            </a:r>
            <a:r>
              <a:rPr lang="en-US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training 能有效降低 draft heads 的分佈漂移，使 semi-autoregressive generation 更穩定。</a:t>
            </a:r>
            <a:endParaRPr lang="en-US" sz="16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18EE479-80D9-A5EC-082E-0615E26B6FFA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本研究在 </a:t>
            </a:r>
            <a:r>
              <a:rPr lang="en-US" altLang="zh-TW" sz="1600" dirty="0"/>
              <a:t>MTP </a:t>
            </a:r>
            <a:r>
              <a:rPr lang="zh-TW" altLang="en-US" sz="1600" dirty="0"/>
              <a:t>架構中加入 </a:t>
            </a:r>
            <a:r>
              <a:rPr lang="en-US" altLang="zh-TW" sz="1600" dirty="0"/>
              <a:t>SDC </a:t>
            </a:r>
            <a:r>
              <a:rPr lang="zh-TW" altLang="en-US" sz="1600" dirty="0"/>
              <a:t>與 </a:t>
            </a:r>
            <a:r>
              <a:rPr lang="en-US" altLang="zh-TW" sz="1600" dirty="0"/>
              <a:t>LCM</a:t>
            </a:r>
            <a:r>
              <a:rPr lang="zh-TW" altLang="en-US" sz="1600" dirty="0"/>
              <a:t>，不改變 </a:t>
            </a:r>
            <a:r>
              <a:rPr lang="en-US" altLang="zh-TW" sz="1600" dirty="0"/>
              <a:t>backbone </a:t>
            </a:r>
            <a:r>
              <a:rPr lang="zh-TW" altLang="en-US" sz="1600" dirty="0"/>
              <a:t>即能改善 </a:t>
            </a:r>
            <a:r>
              <a:rPr lang="en-US" altLang="zh-TW" sz="1600" dirty="0"/>
              <a:t>draft head </a:t>
            </a:r>
            <a:r>
              <a:rPr lang="zh-TW" altLang="en-US" sz="1600" dirty="0"/>
              <a:t>品質。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正式 </a:t>
            </a:r>
            <a:r>
              <a:rPr lang="en-US" altLang="zh-TW" sz="1600" dirty="0"/>
              <a:t>1.3B_4 </a:t>
            </a:r>
            <a:r>
              <a:rPr lang="zh-TW" altLang="en-US" sz="1600" dirty="0"/>
              <a:t>比較中，</a:t>
            </a:r>
            <a:r>
              <a:rPr lang="en-US" altLang="zh-TW" sz="1600" dirty="0"/>
              <a:t>SDC+LCM </a:t>
            </a:r>
            <a:r>
              <a:rPr lang="zh-TW" altLang="en-US" sz="1600" dirty="0"/>
              <a:t>使 </a:t>
            </a:r>
            <a:r>
              <a:rPr lang="en-US" altLang="zh-TW" sz="1600" dirty="0"/>
              <a:t>Head 1~4 PPL </a:t>
            </a:r>
            <a:r>
              <a:rPr lang="zh-TW" altLang="en-US" sz="1600" dirty="0"/>
              <a:t>全部下降，且 </a:t>
            </a:r>
            <a:r>
              <a:rPr lang="en-US" altLang="zh-TW" sz="1600" dirty="0"/>
              <a:t>Head 4 </a:t>
            </a:r>
            <a:r>
              <a:rPr lang="zh-TW" altLang="en-US" sz="1600" dirty="0"/>
              <a:t>降幅達 </a:t>
            </a:r>
            <a:r>
              <a:rPr lang="en-US" altLang="zh-TW" sz="1600" dirty="0"/>
              <a:t>5.89%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token accept rate </a:t>
            </a:r>
            <a:r>
              <a:rPr lang="zh-TW" altLang="en-US" sz="1600" dirty="0"/>
              <a:t>從 </a:t>
            </a:r>
            <a:r>
              <a:rPr lang="en-US" altLang="zh-TW" sz="1600" dirty="0"/>
              <a:t>0.7010 </a:t>
            </a:r>
            <a:r>
              <a:rPr lang="zh-TW" altLang="en-US" sz="1600" dirty="0"/>
              <a:t>提升到 </a:t>
            </a:r>
            <a:r>
              <a:rPr lang="en-US" altLang="zh-TW" sz="1600" dirty="0"/>
              <a:t>0.7302</a:t>
            </a:r>
            <a:r>
              <a:rPr lang="zh-TW" altLang="en-US" sz="1600" dirty="0"/>
              <a:t>，代表 </a:t>
            </a:r>
            <a:r>
              <a:rPr lang="en-US" altLang="zh-TW" sz="1600" dirty="0"/>
              <a:t>self-speculative decoding </a:t>
            </a:r>
            <a:r>
              <a:rPr lang="zh-TW" altLang="en-US" sz="1600" dirty="0"/>
              <a:t>有更好的接受潛力</a:t>
            </a:r>
            <a:r>
              <a:rPr lang="en-US" altLang="zh-TW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Generative PPL </a:t>
            </a:r>
            <a:r>
              <a:rPr lang="zh-TW" altLang="en-US" sz="1600" dirty="0"/>
              <a:t>從 </a:t>
            </a:r>
            <a:r>
              <a:rPr lang="en-US" altLang="zh-TW" sz="1600" dirty="0"/>
              <a:t>39.5580 </a:t>
            </a:r>
            <a:r>
              <a:rPr lang="zh-TW" altLang="en-US" sz="1600" dirty="0"/>
              <a:t>大幅降至 </a:t>
            </a:r>
            <a:r>
              <a:rPr lang="en-US" altLang="zh-TW" sz="1600" dirty="0"/>
              <a:t>18.7180</a:t>
            </a:r>
            <a:r>
              <a:rPr lang="zh-TW" altLang="en-US" sz="1600" dirty="0"/>
              <a:t>，顯示生成品質改善最明顯</a:t>
            </a:r>
            <a:r>
              <a:rPr lang="en-US" altLang="zh-TW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558726" y="6629400"/>
            <a:ext cx="41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Part5: Conclusion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Future work &amp; references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FB77CBB2-D2D3-454F-C60E-019D7B0BBAFA}"/>
              </a:ext>
            </a:extLst>
          </p:cNvPr>
          <p:cNvSpPr txBox="1"/>
          <p:nvPr/>
        </p:nvSpPr>
        <p:spPr>
          <a:xfrm>
            <a:off x="905877" y="1965960"/>
            <a:ext cx="1076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進一步測試不同模型規模、更多資料量、不同種類資料集。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繼續下一步訓練計畫如</a:t>
            </a:r>
            <a:r>
              <a:rPr lang="en-US" altLang="zh-TW" sz="1600" dirty="0"/>
              <a:t>Continue training</a:t>
            </a:r>
            <a:r>
              <a:rPr lang="zh-TW" altLang="en-US" sz="1600" dirty="0"/>
              <a:t>、</a:t>
            </a:r>
            <a:r>
              <a:rPr lang="en-US" altLang="zh-TW" sz="1600" dirty="0"/>
              <a:t>SFT</a:t>
            </a:r>
            <a:endParaRPr lang="zh-TW" alt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餵進更多資料量後補上 </a:t>
            </a:r>
            <a:r>
              <a:rPr lang="en-US" altLang="zh-TW" sz="1600" dirty="0"/>
              <a:t>greedy self-speculative decoding </a:t>
            </a:r>
            <a:r>
              <a:rPr lang="zh-TW" altLang="en-US" sz="1600" dirty="0"/>
              <a:t>的實際 </a:t>
            </a:r>
            <a:r>
              <a:rPr lang="en-US" altLang="zh-TW" sz="1600" dirty="0"/>
              <a:t>speed-up </a:t>
            </a:r>
            <a:r>
              <a:rPr lang="zh-TW" altLang="en-US" sz="1600" dirty="0"/>
              <a:t>與 </a:t>
            </a:r>
            <a:r>
              <a:rPr lang="en-US" altLang="zh-TW" sz="1600" dirty="0"/>
              <a:t>oracle speed test </a:t>
            </a:r>
            <a:r>
              <a:rPr lang="zh-TW" altLang="en-US" sz="1600" dirty="0"/>
              <a:t>對照。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2621</Words>
  <Application>Microsoft Office PowerPoint</Application>
  <PresentationFormat>寬螢幕</PresentationFormat>
  <Paragraphs>646</Paragraphs>
  <Slides>27</Slides>
  <Notes>27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5" baseType="lpstr">
      <vt:lpstr>Noto Sans CJK TC</vt:lpstr>
      <vt:lpstr>微軟正黑體</vt:lpstr>
      <vt:lpstr>Arial</vt:lpstr>
      <vt:lpstr>Calibri</vt:lpstr>
      <vt:lpstr>Calibri Light</vt:lpstr>
      <vt:lpstr>Cambria Math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145</cp:revision>
  <dcterms:created xsi:type="dcterms:W3CDTF">2026-07-06T10:21:07Z</dcterms:created>
  <dcterms:modified xsi:type="dcterms:W3CDTF">2026-07-12T23:21:14Z</dcterms:modified>
</cp:coreProperties>
</file>