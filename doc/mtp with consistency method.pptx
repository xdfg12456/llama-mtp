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29"/>
  </p:notesMasterIdLst>
  <p:handoutMasterIdLst>
    <p:handoutMasterId r:id="rId30"/>
  </p:handoutMasterIdLst>
  <p:sldIdLst>
    <p:sldId id="257" r:id="rId2"/>
    <p:sldId id="258" r:id="rId3"/>
    <p:sldId id="259" r:id="rId4"/>
    <p:sldId id="261" r:id="rId5"/>
    <p:sldId id="262" r:id="rId6"/>
    <p:sldId id="263" r:id="rId7"/>
    <p:sldId id="264" r:id="rId8"/>
    <p:sldId id="265" r:id="rId9"/>
    <p:sldId id="260" r:id="rId10"/>
    <p:sldId id="266" r:id="rId11"/>
    <p:sldId id="267" r:id="rId12"/>
    <p:sldId id="269" r:id="rId13"/>
    <p:sldId id="270" r:id="rId14"/>
    <p:sldId id="272" r:id="rId15"/>
    <p:sldId id="273" r:id="rId16"/>
    <p:sldId id="277" r:id="rId17"/>
    <p:sldId id="268" r:id="rId18"/>
    <p:sldId id="282" r:id="rId19"/>
    <p:sldId id="284" r:id="rId20"/>
    <p:sldId id="285" r:id="rId21"/>
    <p:sldId id="283" r:id="rId22"/>
    <p:sldId id="286" r:id="rId23"/>
    <p:sldId id="287" r:id="rId24"/>
    <p:sldId id="288" r:id="rId25"/>
    <p:sldId id="289" r:id="rId26"/>
    <p:sldId id="290" r:id="rId27"/>
    <p:sldId id="291" r:id="rId28"/>
  </p:sldIdLst>
  <p:sldSz cx="12192000" cy="6858000"/>
  <p:notesSz cx="6858000" cy="9144000"/>
  <p:defaultTextStyle>
    <a:defPPr>
      <a:defRPr lang="zh-TW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中等深淺樣式 2 - 輔色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5A111915-BE36-4E01-A7E5-04B1672EAD32}" styleName="淺色樣式 2 - 輔色 5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5"/>
            </a:lnRef>
          </a:left>
          <a:right>
            <a:lnRef idx="1">
              <a:schemeClr val="accent5"/>
            </a:lnRef>
          </a:right>
          <a:top>
            <a:lnRef idx="1">
              <a:schemeClr val="accent5"/>
            </a:lnRef>
          </a:top>
          <a:bottom>
            <a:lnRef idx="1">
              <a:schemeClr val="accent5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5"/>
            </a:lnRef>
          </a:top>
          <a:bottom>
            <a:lnRef idx="1">
              <a:schemeClr val="accent5"/>
            </a:lnRef>
          </a:bottom>
        </a:tcBdr>
      </a:tcStyle>
    </a:band1H>
    <a:band1V>
      <a:tcStyle>
        <a:tcBdr>
          <a:left>
            <a:lnRef idx="1">
              <a:schemeClr val="accent5"/>
            </a:lnRef>
          </a:left>
          <a:right>
            <a:lnRef idx="1">
              <a:schemeClr val="accent5"/>
            </a:lnRef>
          </a:right>
        </a:tcBdr>
      </a:tcStyle>
    </a:band1V>
    <a:band2V>
      <a:tcStyle>
        <a:tcBdr>
          <a:left>
            <a:lnRef idx="1">
              <a:schemeClr val="accent5"/>
            </a:lnRef>
          </a:left>
          <a:right>
            <a:lnRef idx="1">
              <a:schemeClr val="accent5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5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5"/>
        </a:fillRef>
      </a:tcStyle>
    </a:firstRow>
  </a:tblStyle>
  <a:tblStyle styleId="{5FD0F851-EC5A-4D38-B0AD-8093EC10F338}" styleName="淺色樣式 1 - 輔色 5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5"/>
              </a:solidFill>
            </a:ln>
          </a:top>
          <a:bottom>
            <a:ln w="12700" cmpd="sng">
              <a:solidFill>
                <a:schemeClr val="accent5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5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5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5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5"/>
              </a:solidFill>
            </a:ln>
          </a:bottom>
        </a:tcBdr>
        <a:fill>
          <a:noFill/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987" autoAdjust="0"/>
    <p:restoredTop sz="94620" autoAdjust="0"/>
  </p:normalViewPr>
  <p:slideViewPr>
    <p:cSldViewPr snapToGrid="0">
      <p:cViewPr varScale="1">
        <p:scale>
          <a:sx n="108" d="100"/>
          <a:sy n="108" d="100"/>
        </p:scale>
        <p:origin x="654" y="84"/>
      </p:cViewPr>
      <p:guideLst/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" d="1"/>
        <a:sy n="1" d="1"/>
      </p:scale>
      <p:origin x="0" y="0"/>
    </p:cViewPr>
  </p:notesTextViewPr>
  <p:sorterViewPr>
    <p:cViewPr>
      <p:scale>
        <a:sx n="100" d="100"/>
        <a:sy n="100" d="100"/>
      </p:scale>
      <p:origin x="0" y="0"/>
    </p:cViewPr>
  </p:sorter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34" Type="http://schemas.openxmlformats.org/officeDocument/2006/relationships/tableStyles" Target="tableStyle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notesMaster" Target="notesMasters/notesMaster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viewProps" Target="view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handoutMaster" Target="handoutMasters/handoutMaster1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頁首版面配置區 1">
            <a:extLst>
              <a:ext uri="{FF2B5EF4-FFF2-40B4-BE49-F238E27FC236}">
                <a16:creationId xmlns:a16="http://schemas.microsoft.com/office/drawing/2014/main" id="{6BDD37CE-6CDA-215C-4DD9-4B66855AF047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zh-TW" altLang="en-US"/>
          </a:p>
        </p:txBody>
      </p:sp>
      <p:sp>
        <p:nvSpPr>
          <p:cNvPr id="3" name="日期版面配置區 2">
            <a:extLst>
              <a:ext uri="{FF2B5EF4-FFF2-40B4-BE49-F238E27FC236}">
                <a16:creationId xmlns:a16="http://schemas.microsoft.com/office/drawing/2014/main" id="{E72A98A1-E786-682A-BAA2-DD58CB4065CA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D392C71C-3914-42D5-B995-B912727F46CE}" type="datetimeFigureOut">
              <a:rPr lang="zh-TW" altLang="en-US" smtClean="0"/>
              <a:t>2026/7/9</a:t>
            </a:fld>
            <a:endParaRPr lang="zh-TW" altLang="en-US"/>
          </a:p>
        </p:txBody>
      </p:sp>
      <p:sp>
        <p:nvSpPr>
          <p:cNvPr id="4" name="頁尾版面配置區 3">
            <a:extLst>
              <a:ext uri="{FF2B5EF4-FFF2-40B4-BE49-F238E27FC236}">
                <a16:creationId xmlns:a16="http://schemas.microsoft.com/office/drawing/2014/main" id="{A28BB9B5-D863-566A-04E9-2DB7E3302BAE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zh-TW" altLang="en-US"/>
          </a:p>
        </p:txBody>
      </p:sp>
      <p:sp>
        <p:nvSpPr>
          <p:cNvPr id="5" name="投影片編號版面配置區 4">
            <a:extLst>
              <a:ext uri="{FF2B5EF4-FFF2-40B4-BE49-F238E27FC236}">
                <a16:creationId xmlns:a16="http://schemas.microsoft.com/office/drawing/2014/main" id="{8897E260-DB04-7ADD-3EA1-E78C4C566927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372652CF-8462-4E11-A08C-167A8EFB4E41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978442241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頁首版面配置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zh-TW" altLang="en-US"/>
          </a:p>
        </p:txBody>
      </p:sp>
      <p:sp>
        <p:nvSpPr>
          <p:cNvPr id="3" name="日期版面配置區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1EF2EC2-8746-4753-8458-2ED9A5172172}" type="datetimeFigureOut">
              <a:rPr lang="zh-TW" altLang="en-US" smtClean="0"/>
              <a:t>2026/7/9</a:t>
            </a:fld>
            <a:endParaRPr lang="zh-TW" altLang="en-US"/>
          </a:p>
        </p:txBody>
      </p:sp>
      <p:sp>
        <p:nvSpPr>
          <p:cNvPr id="4" name="投影片影像版面配置區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zh-TW" altLang="en-US"/>
          </a:p>
        </p:txBody>
      </p:sp>
      <p:sp>
        <p:nvSpPr>
          <p:cNvPr id="5" name="備忘稿版面配置區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6" name="頁尾版面配置區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zh-TW" altLang="en-US"/>
          </a:p>
        </p:txBody>
      </p:sp>
      <p:sp>
        <p:nvSpPr>
          <p:cNvPr id="7" name="投影片編號版面配置區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49D40A98-DCF1-4378-8414-2ECEE4C892C8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17506215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0524634-E03F-AF66-60D4-9E9D033DC93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B54C8B9A-55D7-725F-92E8-70380118D39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4ECBC7E8-298A-FD2B-1E0D-C57615334A7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46B453C-C33D-ADC3-C131-3141E1355E46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16376347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7A8917F-EBDC-EB46-A7BA-315CE34E084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B2686EC9-CB1F-95DF-DA60-6EACF1A1291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238829D1-D037-211C-7B86-967D19293F2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E1278B1-447E-B011-931E-FE422F5B1FAD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87196398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E7C8543-7AA4-92A7-B252-22D89A442AE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ECC8F80C-9DCE-819A-25AF-BAEEEF95132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999B2AD5-2449-7256-6736-3900A1E9C91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6EE20D7-DCF0-9DF2-8FB8-1E05515E683F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53453356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367DD52-0FAF-345F-9912-90F0329AF29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5B7AEAE5-A2C0-BF09-CED8-AF53A4B2490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7529C4A2-6F60-C1E0-909E-F95CC6CD31C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4235F89-881E-E2C7-65EC-ED35B18900DA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765844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4987594-A613-C428-BF95-70C2C15D000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48168E46-B6E0-363A-C1DC-AC07831FD23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45EDF4B1-24D0-43A9-DF60-B31EB688897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1AED5FB-8001-12A9-FDCA-824E0EE02FEA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11186843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標題投影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5B136706-125F-12CD-ED88-32DB4F2047F8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副標題 2">
            <a:extLst>
              <a:ext uri="{FF2B5EF4-FFF2-40B4-BE49-F238E27FC236}">
                <a16:creationId xmlns:a16="http://schemas.microsoft.com/office/drawing/2014/main" id="{1B5DFABF-0F4B-17DB-9B73-CD861D5924D5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zh-TW" altLang="en-US"/>
              <a:t>按一下以編輯母片子標題樣式</a:t>
            </a:r>
          </a:p>
        </p:txBody>
      </p:sp>
      <p:sp>
        <p:nvSpPr>
          <p:cNvPr id="4" name="日期版面配置區 3">
            <a:extLst>
              <a:ext uri="{FF2B5EF4-FFF2-40B4-BE49-F238E27FC236}">
                <a16:creationId xmlns:a16="http://schemas.microsoft.com/office/drawing/2014/main" id="{D7C61054-A3D2-D90E-AD64-6ADFA43B921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5" name="頁尾版面配置區 4">
            <a:extLst>
              <a:ext uri="{FF2B5EF4-FFF2-40B4-BE49-F238E27FC236}">
                <a16:creationId xmlns:a16="http://schemas.microsoft.com/office/drawing/2014/main" id="{220C32E3-FB2F-12A4-ABFE-3AB72273E0C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6" name="投影片編號版面配置區 5">
            <a:extLst>
              <a:ext uri="{FF2B5EF4-FFF2-40B4-BE49-F238E27FC236}">
                <a16:creationId xmlns:a16="http://schemas.microsoft.com/office/drawing/2014/main" id="{E3AE3071-30B2-2E48-7183-339660AAD17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97AAEA7-375C-44A8-9289-5769353442A9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165614384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標題及內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F7FE1B37-0C43-C999-5BF0-51FED140D5C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AF634840-298B-44A1-FA53-DDB379F74A2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4" name="日期版面配置區 3">
            <a:extLst>
              <a:ext uri="{FF2B5EF4-FFF2-40B4-BE49-F238E27FC236}">
                <a16:creationId xmlns:a16="http://schemas.microsoft.com/office/drawing/2014/main" id="{D4EF8D6E-02C3-2D00-DDF6-2AFA4CDA7BC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5" name="頁尾版面配置區 4">
            <a:extLst>
              <a:ext uri="{FF2B5EF4-FFF2-40B4-BE49-F238E27FC236}">
                <a16:creationId xmlns:a16="http://schemas.microsoft.com/office/drawing/2014/main" id="{EA53E862-FB60-A35B-2ADE-3437F06F5A8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6" name="投影片編號版面配置區 5">
            <a:extLst>
              <a:ext uri="{FF2B5EF4-FFF2-40B4-BE49-F238E27FC236}">
                <a16:creationId xmlns:a16="http://schemas.microsoft.com/office/drawing/2014/main" id="{649BA38B-5551-1C15-BC2B-9439EFB60CC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97AAEA7-375C-44A8-9289-5769353442A9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70948490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章節標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BA1EE5A2-7F90-D27C-7020-E04E96AD19C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文字版面配置區 2">
            <a:extLst>
              <a:ext uri="{FF2B5EF4-FFF2-40B4-BE49-F238E27FC236}">
                <a16:creationId xmlns:a16="http://schemas.microsoft.com/office/drawing/2014/main" id="{BF1BAE32-8AAA-F09E-626F-B6292B93849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4" name="日期版面配置區 3">
            <a:extLst>
              <a:ext uri="{FF2B5EF4-FFF2-40B4-BE49-F238E27FC236}">
                <a16:creationId xmlns:a16="http://schemas.microsoft.com/office/drawing/2014/main" id="{0E94C3A9-0C7F-D73C-9F2B-636ECE138DD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5" name="頁尾版面配置區 4">
            <a:extLst>
              <a:ext uri="{FF2B5EF4-FFF2-40B4-BE49-F238E27FC236}">
                <a16:creationId xmlns:a16="http://schemas.microsoft.com/office/drawing/2014/main" id="{37E6853D-C6E6-4CDD-00D7-7ACC8FBF4A9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6" name="投影片編號版面配置區 5">
            <a:extLst>
              <a:ext uri="{FF2B5EF4-FFF2-40B4-BE49-F238E27FC236}">
                <a16:creationId xmlns:a16="http://schemas.microsoft.com/office/drawing/2014/main" id="{1D4CE597-821C-4CA9-4386-8201E9CB828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97AAEA7-375C-44A8-9289-5769353442A9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89564872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兩個內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3573FE62-152D-7604-6000-F2DDB1C6253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DC0982AF-5704-E2D3-105B-3A34BDF39FF1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4" name="內容版面配置區 3">
            <a:extLst>
              <a:ext uri="{FF2B5EF4-FFF2-40B4-BE49-F238E27FC236}">
                <a16:creationId xmlns:a16="http://schemas.microsoft.com/office/drawing/2014/main" id="{09BEF807-4EAD-29D2-5A62-D0A4532EA7FC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5" name="日期版面配置區 4">
            <a:extLst>
              <a:ext uri="{FF2B5EF4-FFF2-40B4-BE49-F238E27FC236}">
                <a16:creationId xmlns:a16="http://schemas.microsoft.com/office/drawing/2014/main" id="{418A0BA5-03CC-F63B-E377-219B959B72A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6" name="頁尾版面配置區 5">
            <a:extLst>
              <a:ext uri="{FF2B5EF4-FFF2-40B4-BE49-F238E27FC236}">
                <a16:creationId xmlns:a16="http://schemas.microsoft.com/office/drawing/2014/main" id="{7274FC20-8679-797E-8A11-1D3764B728B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7" name="投影片編號版面配置區 6">
            <a:extLst>
              <a:ext uri="{FF2B5EF4-FFF2-40B4-BE49-F238E27FC236}">
                <a16:creationId xmlns:a16="http://schemas.microsoft.com/office/drawing/2014/main" id="{302FF951-111D-C927-09A7-2211D2C0E60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97AAEA7-375C-44A8-9289-5769353442A9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54993810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CCB5D226-C9B6-3BBE-EF04-DB6C600B0FC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文字版面配置區 2">
            <a:extLst>
              <a:ext uri="{FF2B5EF4-FFF2-40B4-BE49-F238E27FC236}">
                <a16:creationId xmlns:a16="http://schemas.microsoft.com/office/drawing/2014/main" id="{6BBA24F8-CB9E-E67A-4FCA-ADFEF5471FD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4" name="內容版面配置區 3">
            <a:extLst>
              <a:ext uri="{FF2B5EF4-FFF2-40B4-BE49-F238E27FC236}">
                <a16:creationId xmlns:a16="http://schemas.microsoft.com/office/drawing/2014/main" id="{6644AC94-2A98-0EE9-92AA-ABF09F0A680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5" name="文字版面配置區 4">
            <a:extLst>
              <a:ext uri="{FF2B5EF4-FFF2-40B4-BE49-F238E27FC236}">
                <a16:creationId xmlns:a16="http://schemas.microsoft.com/office/drawing/2014/main" id="{DD700161-931D-A4B1-155B-89A7F1081E6A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6" name="內容版面配置區 5">
            <a:extLst>
              <a:ext uri="{FF2B5EF4-FFF2-40B4-BE49-F238E27FC236}">
                <a16:creationId xmlns:a16="http://schemas.microsoft.com/office/drawing/2014/main" id="{AF0A7546-4DD4-DFB7-319B-211F3BD848B2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7" name="日期版面配置區 6">
            <a:extLst>
              <a:ext uri="{FF2B5EF4-FFF2-40B4-BE49-F238E27FC236}">
                <a16:creationId xmlns:a16="http://schemas.microsoft.com/office/drawing/2014/main" id="{43093A68-7182-C563-0CCE-8DF81B3C4A8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8" name="頁尾版面配置區 7">
            <a:extLst>
              <a:ext uri="{FF2B5EF4-FFF2-40B4-BE49-F238E27FC236}">
                <a16:creationId xmlns:a16="http://schemas.microsoft.com/office/drawing/2014/main" id="{69CC9754-F380-999D-1FB4-A782AAADF8C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9" name="投影片編號版面配置區 8">
            <a:extLst>
              <a:ext uri="{FF2B5EF4-FFF2-40B4-BE49-F238E27FC236}">
                <a16:creationId xmlns:a16="http://schemas.microsoft.com/office/drawing/2014/main" id="{3B166EC6-3664-9F35-4A47-3CF0757BB1F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97AAEA7-375C-44A8-9289-5769353442A9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01843323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只有標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0B73B556-3D9B-52F3-1A54-F5DEE64B265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日期版面配置區 2">
            <a:extLst>
              <a:ext uri="{FF2B5EF4-FFF2-40B4-BE49-F238E27FC236}">
                <a16:creationId xmlns:a16="http://schemas.microsoft.com/office/drawing/2014/main" id="{F3341AF2-7C80-8F75-8A62-F5DCFFABEE2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4" name="頁尾版面配置區 3">
            <a:extLst>
              <a:ext uri="{FF2B5EF4-FFF2-40B4-BE49-F238E27FC236}">
                <a16:creationId xmlns:a16="http://schemas.microsoft.com/office/drawing/2014/main" id="{91C16671-9987-63BC-F084-74F8FCA5110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5" name="投影片編號版面配置區 4">
            <a:extLst>
              <a:ext uri="{FF2B5EF4-FFF2-40B4-BE49-F238E27FC236}">
                <a16:creationId xmlns:a16="http://schemas.microsoft.com/office/drawing/2014/main" id="{1CEDBBDA-06AF-D594-BA30-ADF3D01E10E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97AAEA7-375C-44A8-9289-5769353442A9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242486427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期版面配置區 1">
            <a:extLst>
              <a:ext uri="{FF2B5EF4-FFF2-40B4-BE49-F238E27FC236}">
                <a16:creationId xmlns:a16="http://schemas.microsoft.com/office/drawing/2014/main" id="{9D8F9C8E-DB37-7C04-BF0A-121BEA03CEB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3" name="頁尾版面配置區 2">
            <a:extLst>
              <a:ext uri="{FF2B5EF4-FFF2-40B4-BE49-F238E27FC236}">
                <a16:creationId xmlns:a16="http://schemas.microsoft.com/office/drawing/2014/main" id="{B3DB21BB-1FD5-16D4-0490-B6A682C021A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6FA19B9A-B74F-728E-E037-3BCD755EE2C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97AAEA7-375C-44A8-9289-5769353442A9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64643882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含輔助字幕的內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5ADD5348-76F1-E3D5-9FCA-4608645CDC3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6B06E907-1BE4-FC3F-2EC0-0FE7F2D1F01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4" name="文字版面配置區 3">
            <a:extLst>
              <a:ext uri="{FF2B5EF4-FFF2-40B4-BE49-F238E27FC236}">
                <a16:creationId xmlns:a16="http://schemas.microsoft.com/office/drawing/2014/main" id="{B67FFD92-730F-22E4-D51E-2C72765EFB85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5" name="日期版面配置區 4">
            <a:extLst>
              <a:ext uri="{FF2B5EF4-FFF2-40B4-BE49-F238E27FC236}">
                <a16:creationId xmlns:a16="http://schemas.microsoft.com/office/drawing/2014/main" id="{294B48D6-28A5-D0AC-3F5C-F910CCF512C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6" name="頁尾版面配置區 5">
            <a:extLst>
              <a:ext uri="{FF2B5EF4-FFF2-40B4-BE49-F238E27FC236}">
                <a16:creationId xmlns:a16="http://schemas.microsoft.com/office/drawing/2014/main" id="{3ECF954A-A576-30C1-5458-2C8826F812C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7" name="投影片編號版面配置區 6">
            <a:extLst>
              <a:ext uri="{FF2B5EF4-FFF2-40B4-BE49-F238E27FC236}">
                <a16:creationId xmlns:a16="http://schemas.microsoft.com/office/drawing/2014/main" id="{CAE6B147-712B-92CA-55E3-EDD15C412EE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97AAEA7-375C-44A8-9289-5769353442A9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27778079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含輔助字幕的圖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716D81DA-15D8-1E90-FFDC-E361A2AAC4D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圖片版面配置區 2">
            <a:extLst>
              <a:ext uri="{FF2B5EF4-FFF2-40B4-BE49-F238E27FC236}">
                <a16:creationId xmlns:a16="http://schemas.microsoft.com/office/drawing/2014/main" id="{112FE043-DA9A-A2B6-292E-EBB1CCA1CF37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zh-TW" altLang="en-US"/>
          </a:p>
        </p:txBody>
      </p:sp>
      <p:sp>
        <p:nvSpPr>
          <p:cNvPr id="4" name="文字版面配置區 3">
            <a:extLst>
              <a:ext uri="{FF2B5EF4-FFF2-40B4-BE49-F238E27FC236}">
                <a16:creationId xmlns:a16="http://schemas.microsoft.com/office/drawing/2014/main" id="{8A9D4375-50F8-D10C-2673-7838E60ECF44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5" name="日期版面配置區 4">
            <a:extLst>
              <a:ext uri="{FF2B5EF4-FFF2-40B4-BE49-F238E27FC236}">
                <a16:creationId xmlns:a16="http://schemas.microsoft.com/office/drawing/2014/main" id="{82A8E83C-11F5-9F26-B6F9-D7E03316F47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6" name="頁尾版面配置區 5">
            <a:extLst>
              <a:ext uri="{FF2B5EF4-FFF2-40B4-BE49-F238E27FC236}">
                <a16:creationId xmlns:a16="http://schemas.microsoft.com/office/drawing/2014/main" id="{DCBACB56-4815-8764-6844-F414EBE6FCA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7" name="投影片編號版面配置區 6">
            <a:extLst>
              <a:ext uri="{FF2B5EF4-FFF2-40B4-BE49-F238E27FC236}">
                <a16:creationId xmlns:a16="http://schemas.microsoft.com/office/drawing/2014/main" id="{36451016-B0C5-4A91-A833-D1847D50D9A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97AAEA7-375C-44A8-9289-5769353442A9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12796433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標題及直排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AC674EA3-1A91-41C9-2183-FA9EAD40E54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直排文字版面配置區 2">
            <a:extLst>
              <a:ext uri="{FF2B5EF4-FFF2-40B4-BE49-F238E27FC236}">
                <a16:creationId xmlns:a16="http://schemas.microsoft.com/office/drawing/2014/main" id="{D7419D6D-6CB7-ABE3-2732-F4A40234EF6F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4" name="日期版面配置區 3">
            <a:extLst>
              <a:ext uri="{FF2B5EF4-FFF2-40B4-BE49-F238E27FC236}">
                <a16:creationId xmlns:a16="http://schemas.microsoft.com/office/drawing/2014/main" id="{FD635167-FD48-130A-1E87-A48830A54C0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5" name="頁尾版面配置區 4">
            <a:extLst>
              <a:ext uri="{FF2B5EF4-FFF2-40B4-BE49-F238E27FC236}">
                <a16:creationId xmlns:a16="http://schemas.microsoft.com/office/drawing/2014/main" id="{9CCC9F14-04C4-267B-3B2C-4152F73079A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6" name="投影片編號版面配置區 5">
            <a:extLst>
              <a:ext uri="{FF2B5EF4-FFF2-40B4-BE49-F238E27FC236}">
                <a16:creationId xmlns:a16="http://schemas.microsoft.com/office/drawing/2014/main" id="{4F9765AE-5066-CC7E-D0E8-8C3655C09DC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97AAEA7-375C-44A8-9289-5769353442A9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289592322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直排標題及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直排標題 1">
            <a:extLst>
              <a:ext uri="{FF2B5EF4-FFF2-40B4-BE49-F238E27FC236}">
                <a16:creationId xmlns:a16="http://schemas.microsoft.com/office/drawing/2014/main" id="{A4E562CA-401B-256A-317F-B0F0B7F1E01A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直排文字版面配置區 2">
            <a:extLst>
              <a:ext uri="{FF2B5EF4-FFF2-40B4-BE49-F238E27FC236}">
                <a16:creationId xmlns:a16="http://schemas.microsoft.com/office/drawing/2014/main" id="{10C12EE1-1F1A-B63F-1F84-7F4341A33112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4" name="日期版面配置區 3">
            <a:extLst>
              <a:ext uri="{FF2B5EF4-FFF2-40B4-BE49-F238E27FC236}">
                <a16:creationId xmlns:a16="http://schemas.microsoft.com/office/drawing/2014/main" id="{595C80A5-2CAD-3CE3-F489-CB8A2DA6D89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5" name="頁尾版面配置區 4">
            <a:extLst>
              <a:ext uri="{FF2B5EF4-FFF2-40B4-BE49-F238E27FC236}">
                <a16:creationId xmlns:a16="http://schemas.microsoft.com/office/drawing/2014/main" id="{A80343FC-03B2-AD54-2B03-33656782EA3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6" name="投影片編號版面配置區 5">
            <a:extLst>
              <a:ext uri="{FF2B5EF4-FFF2-40B4-BE49-F238E27FC236}">
                <a16:creationId xmlns:a16="http://schemas.microsoft.com/office/drawing/2014/main" id="{37EF3D64-808D-5EF2-A26B-90E86805175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97AAEA7-375C-44A8-9289-5769353442A9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731117503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917698291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版面配置區 1">
            <a:extLst>
              <a:ext uri="{FF2B5EF4-FFF2-40B4-BE49-F238E27FC236}">
                <a16:creationId xmlns:a16="http://schemas.microsoft.com/office/drawing/2014/main" id="{7FB96DA5-76AA-FB61-F287-6D9FFB51AA1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文字版面配置區 2">
            <a:extLst>
              <a:ext uri="{FF2B5EF4-FFF2-40B4-BE49-F238E27FC236}">
                <a16:creationId xmlns:a16="http://schemas.microsoft.com/office/drawing/2014/main" id="{E165D6D5-2CE3-B0A2-A3C0-FF4392E75D0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4" name="日期版面配置區 3">
            <a:extLst>
              <a:ext uri="{FF2B5EF4-FFF2-40B4-BE49-F238E27FC236}">
                <a16:creationId xmlns:a16="http://schemas.microsoft.com/office/drawing/2014/main" id="{F1193A39-297C-A4FF-4971-77EEDFCCA420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zh-TW" altLang="en-US"/>
          </a:p>
        </p:txBody>
      </p:sp>
      <p:sp>
        <p:nvSpPr>
          <p:cNvPr id="5" name="頁尾版面配置區 4">
            <a:extLst>
              <a:ext uri="{FF2B5EF4-FFF2-40B4-BE49-F238E27FC236}">
                <a16:creationId xmlns:a16="http://schemas.microsoft.com/office/drawing/2014/main" id="{6E4F6AA4-6C08-2494-E486-1D9E1427074D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zh-TW" altLang="en-US"/>
          </a:p>
        </p:txBody>
      </p:sp>
      <p:sp>
        <p:nvSpPr>
          <p:cNvPr id="6" name="投影片編號版面配置區 5">
            <a:extLst>
              <a:ext uri="{FF2B5EF4-FFF2-40B4-BE49-F238E27FC236}">
                <a16:creationId xmlns:a16="http://schemas.microsoft.com/office/drawing/2014/main" id="{D47633C7-5887-851F-8072-7808047D7630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97AAEA7-375C-44A8-9289-5769353442A9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54045015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</p:sldLayoutIdLst>
  <p:hf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TW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2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2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7" Type="http://schemas.openxmlformats.org/officeDocument/2006/relationships/image" Target="../media/image6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2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2.xml"/></Relationships>
</file>

<file path=ppt/slides/_rels/slide14.xml.rels><?xml version="1.0" encoding="UTF-8" standalone="yes"?>
<Relationships xmlns="http://schemas.openxmlformats.org/package/2006/relationships"><Relationship Id="rId8" Type="http://schemas.openxmlformats.org/officeDocument/2006/relationships/image" Target="../media/image12.png"/><Relationship Id="rId3" Type="http://schemas.openxmlformats.org/officeDocument/2006/relationships/image" Target="../media/image7.png"/><Relationship Id="rId7" Type="http://schemas.openxmlformats.org/officeDocument/2006/relationships/image" Target="../media/image11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2.xml"/><Relationship Id="rId6" Type="http://schemas.openxmlformats.org/officeDocument/2006/relationships/image" Target="../media/image10.png"/><Relationship Id="rId5" Type="http://schemas.openxmlformats.org/officeDocument/2006/relationships/image" Target="../media/image9.png"/><Relationship Id="rId4" Type="http://schemas.openxmlformats.org/officeDocument/2006/relationships/image" Target="../media/image8.png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2.xml"/><Relationship Id="rId4" Type="http://schemas.openxmlformats.org/officeDocument/2006/relationships/image" Target="../media/image14.png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12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12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12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12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12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12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12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12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12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12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12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6611112"/>
            <a:ext cx="12191695" cy="246888"/>
          </a:xfrm>
          <a:prstGeom prst="rect">
            <a:avLst/>
          </a:prstGeom>
          <a:solidFill>
            <a:srgbClr val="5B839B"/>
          </a:solidFill>
          <a:ln w="12700">
            <a:solidFill>
              <a:srgbClr val="5B839B"/>
            </a:solidFill>
            <a:prstDash val="solid"/>
          </a:ln>
        </p:spPr>
        <p:txBody>
          <a:bodyPr/>
          <a:lstStyle/>
          <a:p>
            <a:endParaRPr lang="zh-TW" altLang="en-US"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3" name="Text 1"/>
          <p:cNvSpPr/>
          <p:nvPr/>
        </p:nvSpPr>
        <p:spPr>
          <a:xfrm>
            <a:off x="11260836" y="6629400"/>
            <a:ext cx="717804" cy="1531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200" dirty="0">
                <a:solidFill>
                  <a:srgbClr val="FFFFFF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Noto Sans CJK TC" pitchFamily="34" charset="-120"/>
              </a:rPr>
              <a:t>1</a:t>
            </a:r>
            <a:endParaRPr lang="en-US" sz="1200" dirty="0"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6" name="Shape 4"/>
          <p:cNvSpPr/>
          <p:nvPr/>
        </p:nvSpPr>
        <p:spPr>
          <a:xfrm>
            <a:off x="0" y="1544715"/>
            <a:ext cx="12191695" cy="1289925"/>
          </a:xfrm>
          <a:prstGeom prst="rect">
            <a:avLst/>
          </a:prstGeom>
          <a:solidFill>
            <a:srgbClr val="5B839B"/>
          </a:solidFill>
          <a:ln w="12700">
            <a:solidFill>
              <a:srgbClr val="5B839B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7" name="Text 5"/>
          <p:cNvSpPr/>
          <p:nvPr/>
        </p:nvSpPr>
        <p:spPr>
          <a:xfrm>
            <a:off x="722376" y="1759910"/>
            <a:ext cx="10744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FFFFFF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Noto Sans CJK TC" pitchFamily="34" charset="-120"/>
              </a:rPr>
              <a:t>Multi-Token Prediction with Consistency Method</a:t>
            </a:r>
            <a:endParaRPr lang="en-US" sz="2000" dirty="0"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8" name="Text 6"/>
          <p:cNvSpPr/>
          <p:nvPr/>
        </p:nvSpPr>
        <p:spPr>
          <a:xfrm>
            <a:off x="928116" y="2358841"/>
            <a:ext cx="103327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rgbClr val="FFFFFF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Noto Sans CJK TC" pitchFamily="34" charset="-120"/>
              </a:rPr>
              <a:t>Selective Distribution Consistency + Latent </a:t>
            </a:r>
            <a:r>
              <a:rPr lang="en-US" sz="1600">
                <a:solidFill>
                  <a:srgbClr val="FFFFFF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Noto Sans CJK TC" pitchFamily="34" charset="-120"/>
              </a:rPr>
              <a:t>Consistency Matching</a:t>
            </a:r>
            <a:endParaRPr lang="en-US" sz="1600" dirty="0"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9" name="Shape 7"/>
          <p:cNvSpPr/>
          <p:nvPr/>
        </p:nvSpPr>
        <p:spPr>
          <a:xfrm>
            <a:off x="4334256" y="3703319"/>
            <a:ext cx="3520440" cy="868679"/>
          </a:xfrm>
          <a:prstGeom prst="rect">
            <a:avLst/>
          </a:prstGeom>
          <a:solidFill>
            <a:srgbClr val="5B839B"/>
          </a:solidFill>
          <a:ln w="12700">
            <a:solidFill>
              <a:srgbClr val="5B839B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10" name="Text 8"/>
          <p:cNvSpPr/>
          <p:nvPr/>
        </p:nvSpPr>
        <p:spPr>
          <a:xfrm>
            <a:off x="4334256" y="3703318"/>
            <a:ext cx="35204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dirty="0">
                <a:solidFill>
                  <a:srgbClr val="FFFFFF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Noto Sans CJK TC" pitchFamily="34" charset="-120"/>
              </a:rPr>
              <a:t>Reporter：</a:t>
            </a:r>
            <a:r>
              <a:rPr lang="zh-TW" altLang="en-US" dirty="0">
                <a:solidFill>
                  <a:srgbClr val="FFFFFF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Noto Sans CJK TC" pitchFamily="34" charset="-120"/>
              </a:rPr>
              <a:t>陳九龍</a:t>
            </a:r>
            <a:endParaRPr lang="en-US" dirty="0"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6611112"/>
            <a:ext cx="12191695" cy="246888"/>
          </a:xfrm>
          <a:prstGeom prst="rect">
            <a:avLst/>
          </a:prstGeom>
          <a:solidFill>
            <a:srgbClr val="5B839B"/>
          </a:solidFill>
          <a:ln w="12700">
            <a:solidFill>
              <a:srgbClr val="5B839B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3" name="Text 1"/>
          <p:cNvSpPr/>
          <p:nvPr/>
        </p:nvSpPr>
        <p:spPr>
          <a:xfrm>
            <a:off x="10759736" y="6629400"/>
            <a:ext cx="1218904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200" dirty="0">
                <a:solidFill>
                  <a:srgbClr val="FFFFFF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Noto Sans CJK TC" pitchFamily="34" charset="-120"/>
              </a:rPr>
              <a:t>2</a:t>
            </a:r>
            <a:endParaRPr lang="en-US" sz="1200" dirty="0"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4" name="Shape 2"/>
          <p:cNvSpPr/>
          <p:nvPr/>
        </p:nvSpPr>
        <p:spPr>
          <a:xfrm>
            <a:off x="-1" y="320040"/>
            <a:ext cx="12192001" cy="411480"/>
          </a:xfrm>
          <a:prstGeom prst="rect">
            <a:avLst/>
          </a:prstGeom>
          <a:solidFill>
            <a:srgbClr val="5B839B"/>
          </a:solidFill>
          <a:ln w="12700">
            <a:solidFill>
              <a:srgbClr val="5B839B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5" name="Text 3"/>
          <p:cNvSpPr/>
          <p:nvPr/>
        </p:nvSpPr>
        <p:spPr>
          <a:xfrm>
            <a:off x="320040" y="411480"/>
            <a:ext cx="11291952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FFFFFF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Noto Sans CJK TC" pitchFamily="34" charset="-120"/>
              </a:rPr>
              <a:t>CONTENTS</a:t>
            </a:r>
            <a:endParaRPr lang="en-US" sz="1600" dirty="0"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grpSp>
        <p:nvGrpSpPr>
          <p:cNvPr id="26" name="群組 25">
            <a:extLst>
              <a:ext uri="{FF2B5EF4-FFF2-40B4-BE49-F238E27FC236}">
                <a16:creationId xmlns:a16="http://schemas.microsoft.com/office/drawing/2014/main" id="{188C588C-89B1-3410-1BC0-F158F5EF5E71}"/>
              </a:ext>
            </a:extLst>
          </p:cNvPr>
          <p:cNvGrpSpPr/>
          <p:nvPr/>
        </p:nvGrpSpPr>
        <p:grpSpPr>
          <a:xfrm>
            <a:off x="1097280" y="1397367"/>
            <a:ext cx="2910543" cy="720000"/>
            <a:chOff x="1097280" y="1397367"/>
            <a:chExt cx="2910543" cy="720000"/>
          </a:xfrm>
        </p:grpSpPr>
        <p:sp>
          <p:nvSpPr>
            <p:cNvPr id="6" name="Text 4"/>
            <p:cNvSpPr/>
            <p:nvPr/>
          </p:nvSpPr>
          <p:spPr>
            <a:xfrm>
              <a:off x="1097280" y="1397367"/>
              <a:ext cx="720000" cy="720000"/>
            </a:xfrm>
            <a:prstGeom prst="rect">
              <a:avLst/>
            </a:prstGeom>
            <a:solidFill>
              <a:srgbClr val="5B839B"/>
            </a:solidFill>
            <a:ln>
              <a:solidFill>
                <a:srgbClr val="C8D6DE"/>
              </a:solidFill>
            </a:ln>
          </p:spPr>
          <p:txBody>
            <a:bodyPr wrap="square" lIns="635" tIns="635" rIns="635" bIns="635" rtlCol="0" anchor="ctr">
              <a:normAutofit/>
            </a:bodyPr>
            <a:lstStyle/>
            <a:p>
              <a:pPr marL="0" indent="0" algn="ctr">
                <a:buNone/>
              </a:pPr>
              <a:r>
                <a:rPr lang="en-US" sz="1400" b="1" dirty="0">
                  <a:solidFill>
                    <a:srgbClr val="FFFFFF"/>
                  </a:solidFill>
                  <a:latin typeface="微軟正黑體" panose="020B0604030504040204" pitchFamily="34" charset="-120"/>
                  <a:ea typeface="微軟正黑體" panose="020B0604030504040204" pitchFamily="34" charset="-120"/>
                  <a:cs typeface="Noto Sans CJK TC" pitchFamily="34" charset="-120"/>
                </a:rPr>
                <a:t>01</a:t>
              </a:r>
              <a:endParaRPr lang="en-US" sz="1400" dirty="0">
                <a:latin typeface="微軟正黑體" panose="020B0604030504040204" pitchFamily="34" charset="-120"/>
                <a:ea typeface="微軟正黑體" panose="020B0604030504040204" pitchFamily="34" charset="-120"/>
              </a:endParaRPr>
            </a:p>
          </p:txBody>
        </p:sp>
        <p:grpSp>
          <p:nvGrpSpPr>
            <p:cNvPr id="22" name="群組 21">
              <a:extLst>
                <a:ext uri="{FF2B5EF4-FFF2-40B4-BE49-F238E27FC236}">
                  <a16:creationId xmlns:a16="http://schemas.microsoft.com/office/drawing/2014/main" id="{0084C671-A121-F9CE-3A25-92393B0D7CEE}"/>
                </a:ext>
              </a:extLst>
            </p:cNvPr>
            <p:cNvGrpSpPr/>
            <p:nvPr/>
          </p:nvGrpSpPr>
          <p:grpSpPr>
            <a:xfrm>
              <a:off x="1996143" y="1577340"/>
              <a:ext cx="2011680" cy="338328"/>
              <a:chOff x="1783080" y="1572768"/>
              <a:chExt cx="2011680" cy="338328"/>
            </a:xfrm>
          </p:grpSpPr>
          <p:sp>
            <p:nvSpPr>
              <p:cNvPr id="7" name="Text 5"/>
              <p:cNvSpPr/>
              <p:nvPr/>
            </p:nvSpPr>
            <p:spPr>
              <a:xfrm>
                <a:off x="1783080" y="1572768"/>
                <a:ext cx="2011680" cy="182880"/>
              </a:xfrm>
              <a:prstGeom prst="rect">
                <a:avLst/>
              </a:prstGeom>
              <a:noFill/>
              <a:ln/>
            </p:spPr>
            <p:txBody>
              <a:bodyPr wrap="square" lIns="0" tIns="0" rIns="0" bIns="0" rtlCol="0" anchor="ctr"/>
              <a:lstStyle/>
              <a:p>
                <a:pPr marL="0" indent="0">
                  <a:buNone/>
                </a:pPr>
                <a:r>
                  <a:rPr lang="en-US" sz="1600" b="1" dirty="0">
                    <a:solidFill>
                      <a:srgbClr val="1B2E3A"/>
                    </a:solidFill>
                    <a:latin typeface="微軟正黑體" panose="020B0604030504040204" pitchFamily="34" charset="-120"/>
                    <a:ea typeface="微軟正黑體" panose="020B0604030504040204" pitchFamily="34" charset="-120"/>
                    <a:cs typeface="Noto Sans CJK TC" pitchFamily="34" charset="-120"/>
                  </a:rPr>
                  <a:t>Introduction</a:t>
                </a:r>
                <a:endParaRPr lang="en-US" sz="1600" dirty="0">
                  <a:latin typeface="微軟正黑體" panose="020B0604030504040204" pitchFamily="34" charset="-120"/>
                  <a:ea typeface="微軟正黑體" panose="020B0604030504040204" pitchFamily="34" charset="-120"/>
                </a:endParaRPr>
              </a:p>
            </p:txBody>
          </p:sp>
          <p:sp>
            <p:nvSpPr>
              <p:cNvPr id="8" name="Text 6"/>
              <p:cNvSpPr/>
              <p:nvPr/>
            </p:nvSpPr>
            <p:spPr>
              <a:xfrm>
                <a:off x="1783080" y="1783080"/>
                <a:ext cx="2011680" cy="128016"/>
              </a:xfrm>
              <a:prstGeom prst="rect">
                <a:avLst/>
              </a:prstGeom>
              <a:noFill/>
              <a:ln/>
            </p:spPr>
            <p:txBody>
              <a:bodyPr wrap="square" lIns="0" tIns="0" rIns="0" bIns="0" rtlCol="0" anchor="ctr"/>
              <a:lstStyle/>
              <a:p>
                <a:pPr marL="0" indent="0">
                  <a:buNone/>
                </a:pPr>
                <a:r>
                  <a:rPr lang="en-US" sz="1400" dirty="0">
                    <a:solidFill>
                      <a:srgbClr val="60707A"/>
                    </a:solidFill>
                    <a:latin typeface="微軟正黑體" panose="020B0604030504040204" pitchFamily="34" charset="-120"/>
                    <a:ea typeface="微軟正黑體" panose="020B0604030504040204" pitchFamily="34" charset="-120"/>
                    <a:cs typeface="Noto Sans CJK TC" pitchFamily="34" charset="-120"/>
                  </a:rPr>
                  <a:t>Page 3 ~ Page 8</a:t>
                </a:r>
                <a:endParaRPr lang="en-US" sz="1400" dirty="0">
                  <a:latin typeface="微軟正黑體" panose="020B0604030504040204" pitchFamily="34" charset="-120"/>
                  <a:ea typeface="微軟正黑體" panose="020B0604030504040204" pitchFamily="34" charset="-120"/>
                </a:endParaRPr>
              </a:p>
            </p:txBody>
          </p:sp>
        </p:grpSp>
      </p:grpSp>
      <p:grpSp>
        <p:nvGrpSpPr>
          <p:cNvPr id="27" name="群組 26">
            <a:extLst>
              <a:ext uri="{FF2B5EF4-FFF2-40B4-BE49-F238E27FC236}">
                <a16:creationId xmlns:a16="http://schemas.microsoft.com/office/drawing/2014/main" id="{391DDADA-07BF-0C03-9DCD-D25D9F435617}"/>
              </a:ext>
            </a:extLst>
          </p:cNvPr>
          <p:cNvGrpSpPr/>
          <p:nvPr/>
        </p:nvGrpSpPr>
        <p:grpSpPr>
          <a:xfrm>
            <a:off x="1097280" y="3055428"/>
            <a:ext cx="3084103" cy="720000"/>
            <a:chOff x="1097280" y="3055428"/>
            <a:chExt cx="2910543" cy="720000"/>
          </a:xfrm>
        </p:grpSpPr>
        <p:sp>
          <p:nvSpPr>
            <p:cNvPr id="9" name="Text 7"/>
            <p:cNvSpPr/>
            <p:nvPr/>
          </p:nvSpPr>
          <p:spPr>
            <a:xfrm>
              <a:off x="1097280" y="3055428"/>
              <a:ext cx="720000" cy="720000"/>
            </a:xfrm>
            <a:prstGeom prst="rect">
              <a:avLst/>
            </a:prstGeom>
            <a:solidFill>
              <a:srgbClr val="5B839B"/>
            </a:solidFill>
            <a:ln>
              <a:solidFill>
                <a:srgbClr val="C8D6DE"/>
              </a:solidFill>
            </a:ln>
          </p:spPr>
          <p:txBody>
            <a:bodyPr wrap="square" lIns="635" tIns="635" rIns="635" bIns="635" rtlCol="0" anchor="ctr">
              <a:normAutofit/>
            </a:bodyPr>
            <a:lstStyle/>
            <a:p>
              <a:pPr marL="0" indent="0" algn="ctr">
                <a:buNone/>
              </a:pPr>
              <a:r>
                <a:rPr lang="en-US" sz="1400" b="1" dirty="0">
                  <a:solidFill>
                    <a:srgbClr val="FFFFFF"/>
                  </a:solidFill>
                  <a:latin typeface="微軟正黑體" panose="020B0604030504040204" pitchFamily="34" charset="-120"/>
                  <a:ea typeface="微軟正黑體" panose="020B0604030504040204" pitchFamily="34" charset="-120"/>
                  <a:cs typeface="Noto Sans CJK TC" pitchFamily="34" charset="-120"/>
                </a:rPr>
                <a:t>02</a:t>
              </a:r>
              <a:endParaRPr lang="en-US" sz="1400" dirty="0">
                <a:latin typeface="微軟正黑體" panose="020B0604030504040204" pitchFamily="34" charset="-120"/>
                <a:ea typeface="微軟正黑體" panose="020B0604030504040204" pitchFamily="34" charset="-120"/>
              </a:endParaRPr>
            </a:p>
          </p:txBody>
        </p:sp>
        <p:grpSp>
          <p:nvGrpSpPr>
            <p:cNvPr id="23" name="群組 22">
              <a:extLst>
                <a:ext uri="{FF2B5EF4-FFF2-40B4-BE49-F238E27FC236}">
                  <a16:creationId xmlns:a16="http://schemas.microsoft.com/office/drawing/2014/main" id="{24E3DAC9-E439-A9DD-8BA2-93CF689E1CAA}"/>
                </a:ext>
              </a:extLst>
            </p:cNvPr>
            <p:cNvGrpSpPr/>
            <p:nvPr/>
          </p:nvGrpSpPr>
          <p:grpSpPr>
            <a:xfrm>
              <a:off x="1996143" y="3180681"/>
              <a:ext cx="2011680" cy="338328"/>
              <a:chOff x="6995160" y="1572768"/>
              <a:chExt cx="2011680" cy="338328"/>
            </a:xfrm>
          </p:grpSpPr>
          <p:sp>
            <p:nvSpPr>
              <p:cNvPr id="10" name="Text 8"/>
              <p:cNvSpPr/>
              <p:nvPr/>
            </p:nvSpPr>
            <p:spPr>
              <a:xfrm>
                <a:off x="6995160" y="1572768"/>
                <a:ext cx="2011680" cy="182880"/>
              </a:xfrm>
              <a:prstGeom prst="rect">
                <a:avLst/>
              </a:prstGeom>
              <a:noFill/>
              <a:ln/>
            </p:spPr>
            <p:txBody>
              <a:bodyPr wrap="square" lIns="0" tIns="0" rIns="0" bIns="0" rtlCol="0" anchor="ctr"/>
              <a:lstStyle/>
              <a:p>
                <a:pPr marL="0" indent="0">
                  <a:buNone/>
                </a:pPr>
                <a:r>
                  <a:rPr lang="en-US" sz="1600" b="1" dirty="0">
                    <a:solidFill>
                      <a:srgbClr val="1B2E3A"/>
                    </a:solidFill>
                    <a:latin typeface="微軟正黑體" panose="020B0604030504040204" pitchFamily="34" charset="-120"/>
                    <a:ea typeface="微軟正黑體" panose="020B0604030504040204" pitchFamily="34" charset="-120"/>
                    <a:cs typeface="Noto Sans CJK TC" pitchFamily="34" charset="-120"/>
                  </a:rPr>
                  <a:t>Related works / MTP</a:t>
                </a:r>
                <a:endParaRPr lang="en-US" sz="1600" dirty="0">
                  <a:latin typeface="微軟正黑體" panose="020B0604030504040204" pitchFamily="34" charset="-120"/>
                  <a:ea typeface="微軟正黑體" panose="020B0604030504040204" pitchFamily="34" charset="-120"/>
                </a:endParaRPr>
              </a:p>
            </p:txBody>
          </p:sp>
          <p:sp>
            <p:nvSpPr>
              <p:cNvPr id="11" name="Text 9"/>
              <p:cNvSpPr/>
              <p:nvPr/>
            </p:nvSpPr>
            <p:spPr>
              <a:xfrm>
                <a:off x="6995160" y="1783080"/>
                <a:ext cx="2011680" cy="128016"/>
              </a:xfrm>
              <a:prstGeom prst="rect">
                <a:avLst/>
              </a:prstGeom>
              <a:noFill/>
              <a:ln/>
            </p:spPr>
            <p:txBody>
              <a:bodyPr wrap="square" lIns="0" tIns="0" rIns="0" bIns="0" rtlCol="0" anchor="ctr"/>
              <a:lstStyle/>
              <a:p>
                <a:pPr marL="0" indent="0">
                  <a:buNone/>
                </a:pPr>
                <a:r>
                  <a:rPr lang="en-US" sz="1400" dirty="0">
                    <a:solidFill>
                      <a:srgbClr val="60707A"/>
                    </a:solidFill>
                    <a:latin typeface="微軟正黑體" panose="020B0604030504040204" pitchFamily="34" charset="-120"/>
                    <a:ea typeface="微軟正黑體" panose="020B0604030504040204" pitchFamily="34" charset="-120"/>
                    <a:cs typeface="Noto Sans CJK TC" pitchFamily="34" charset="-120"/>
                  </a:rPr>
                  <a:t>Page 9 ~ Page 13</a:t>
                </a:r>
                <a:endParaRPr lang="en-US" sz="1400" dirty="0">
                  <a:latin typeface="微軟正黑體" panose="020B0604030504040204" pitchFamily="34" charset="-120"/>
                  <a:ea typeface="微軟正黑體" panose="020B0604030504040204" pitchFamily="34" charset="-120"/>
                </a:endParaRPr>
              </a:p>
            </p:txBody>
          </p:sp>
        </p:grpSp>
      </p:grpSp>
      <p:grpSp>
        <p:nvGrpSpPr>
          <p:cNvPr id="28" name="群組 27">
            <a:extLst>
              <a:ext uri="{FF2B5EF4-FFF2-40B4-BE49-F238E27FC236}">
                <a16:creationId xmlns:a16="http://schemas.microsoft.com/office/drawing/2014/main" id="{DE0F1279-943B-DD6C-31C3-643CAE5F9529}"/>
              </a:ext>
            </a:extLst>
          </p:cNvPr>
          <p:cNvGrpSpPr/>
          <p:nvPr/>
        </p:nvGrpSpPr>
        <p:grpSpPr>
          <a:xfrm>
            <a:off x="1087737" y="4745736"/>
            <a:ext cx="2920086" cy="720000"/>
            <a:chOff x="1087737" y="4745736"/>
            <a:chExt cx="2920086" cy="720000"/>
          </a:xfrm>
        </p:grpSpPr>
        <p:sp>
          <p:nvSpPr>
            <p:cNvPr id="12" name="Text 10"/>
            <p:cNvSpPr/>
            <p:nvPr/>
          </p:nvSpPr>
          <p:spPr>
            <a:xfrm>
              <a:off x="1087737" y="4745736"/>
              <a:ext cx="720000" cy="720000"/>
            </a:xfrm>
            <a:prstGeom prst="rect">
              <a:avLst/>
            </a:prstGeom>
            <a:solidFill>
              <a:srgbClr val="5B839B"/>
            </a:solidFill>
            <a:ln>
              <a:solidFill>
                <a:srgbClr val="C8D6DE"/>
              </a:solidFill>
            </a:ln>
          </p:spPr>
          <p:txBody>
            <a:bodyPr wrap="square" lIns="635" tIns="635" rIns="635" bIns="635" rtlCol="0" anchor="ctr">
              <a:normAutofit/>
            </a:bodyPr>
            <a:lstStyle/>
            <a:p>
              <a:pPr marL="0" indent="0" algn="ctr">
                <a:buNone/>
              </a:pPr>
              <a:r>
                <a:rPr lang="en-US" sz="1400" b="1" dirty="0">
                  <a:solidFill>
                    <a:srgbClr val="FFFFFF"/>
                  </a:solidFill>
                  <a:latin typeface="微軟正黑體" panose="020B0604030504040204" pitchFamily="34" charset="-120"/>
                  <a:ea typeface="微軟正黑體" panose="020B0604030504040204" pitchFamily="34" charset="-120"/>
                  <a:cs typeface="Noto Sans CJK TC" pitchFamily="34" charset="-120"/>
                </a:rPr>
                <a:t>03</a:t>
              </a:r>
              <a:endParaRPr lang="en-US" sz="1400" dirty="0">
                <a:latin typeface="微軟正黑體" panose="020B0604030504040204" pitchFamily="34" charset="-120"/>
                <a:ea typeface="微軟正黑體" panose="020B0604030504040204" pitchFamily="34" charset="-120"/>
              </a:endParaRPr>
            </a:p>
          </p:txBody>
        </p:sp>
        <p:grpSp>
          <p:nvGrpSpPr>
            <p:cNvPr id="21" name="群組 20">
              <a:extLst>
                <a:ext uri="{FF2B5EF4-FFF2-40B4-BE49-F238E27FC236}">
                  <a16:creationId xmlns:a16="http://schemas.microsoft.com/office/drawing/2014/main" id="{5E40D145-1165-CB8C-9694-7AE66D4BB3A6}"/>
                </a:ext>
              </a:extLst>
            </p:cNvPr>
            <p:cNvGrpSpPr/>
            <p:nvPr/>
          </p:nvGrpSpPr>
          <p:grpSpPr>
            <a:xfrm>
              <a:off x="1996143" y="4942332"/>
              <a:ext cx="2011680" cy="338328"/>
              <a:chOff x="1783080" y="3081528"/>
              <a:chExt cx="2011680" cy="338328"/>
            </a:xfrm>
          </p:grpSpPr>
          <p:sp>
            <p:nvSpPr>
              <p:cNvPr id="13" name="Text 11"/>
              <p:cNvSpPr/>
              <p:nvPr/>
            </p:nvSpPr>
            <p:spPr>
              <a:xfrm>
                <a:off x="1783080" y="3081528"/>
                <a:ext cx="2011680" cy="182880"/>
              </a:xfrm>
              <a:prstGeom prst="rect">
                <a:avLst/>
              </a:prstGeom>
              <a:noFill/>
              <a:ln/>
            </p:spPr>
            <p:txBody>
              <a:bodyPr wrap="square" lIns="0" tIns="0" rIns="0" bIns="0" rtlCol="0" anchor="ctr"/>
              <a:lstStyle/>
              <a:p>
                <a:pPr marL="0" indent="0">
                  <a:buNone/>
                </a:pPr>
                <a:r>
                  <a:rPr lang="en-US" sz="1600" b="1" dirty="0">
                    <a:solidFill>
                      <a:srgbClr val="1B2E3A"/>
                    </a:solidFill>
                    <a:latin typeface="微軟正黑體" panose="020B0604030504040204" pitchFamily="34" charset="-120"/>
                    <a:ea typeface="微軟正黑體" panose="020B0604030504040204" pitchFamily="34" charset="-120"/>
                    <a:cs typeface="Noto Sans CJK TC" pitchFamily="34" charset="-120"/>
                  </a:rPr>
                  <a:t>Proposed method</a:t>
                </a:r>
                <a:endParaRPr lang="en-US" sz="1600" dirty="0">
                  <a:latin typeface="微軟正黑體" panose="020B0604030504040204" pitchFamily="34" charset="-120"/>
                  <a:ea typeface="微軟正黑體" panose="020B0604030504040204" pitchFamily="34" charset="-120"/>
                </a:endParaRPr>
              </a:p>
            </p:txBody>
          </p:sp>
          <p:sp>
            <p:nvSpPr>
              <p:cNvPr id="14" name="Text 12"/>
              <p:cNvSpPr/>
              <p:nvPr/>
            </p:nvSpPr>
            <p:spPr>
              <a:xfrm>
                <a:off x="1783080" y="3291840"/>
                <a:ext cx="2011680" cy="128016"/>
              </a:xfrm>
              <a:prstGeom prst="rect">
                <a:avLst/>
              </a:prstGeom>
              <a:noFill/>
              <a:ln/>
            </p:spPr>
            <p:txBody>
              <a:bodyPr wrap="square" lIns="0" tIns="0" rIns="0" bIns="0" rtlCol="0" anchor="ctr"/>
              <a:lstStyle/>
              <a:p>
                <a:pPr marL="0" indent="0">
                  <a:buNone/>
                </a:pPr>
                <a:r>
                  <a:rPr lang="en-US" sz="1400" dirty="0">
                    <a:solidFill>
                      <a:srgbClr val="60707A"/>
                    </a:solidFill>
                    <a:latin typeface="微軟正黑體" panose="020B0604030504040204" pitchFamily="34" charset="-120"/>
                    <a:ea typeface="微軟正黑體" panose="020B0604030504040204" pitchFamily="34" charset="-120"/>
                    <a:cs typeface="Noto Sans CJK TC" pitchFamily="34" charset="-120"/>
                  </a:rPr>
                  <a:t>Page 14 ~ Page 21</a:t>
                </a:r>
                <a:endParaRPr lang="en-US" sz="1400" dirty="0">
                  <a:latin typeface="微軟正黑體" panose="020B0604030504040204" pitchFamily="34" charset="-120"/>
                  <a:ea typeface="微軟正黑體" panose="020B0604030504040204" pitchFamily="34" charset="-120"/>
                </a:endParaRPr>
              </a:p>
            </p:txBody>
          </p:sp>
        </p:grpSp>
      </p:grpSp>
      <p:grpSp>
        <p:nvGrpSpPr>
          <p:cNvPr id="29" name="群組 28">
            <a:extLst>
              <a:ext uri="{FF2B5EF4-FFF2-40B4-BE49-F238E27FC236}">
                <a16:creationId xmlns:a16="http://schemas.microsoft.com/office/drawing/2014/main" id="{E15B758C-2D4E-41E8-B8A6-6A175BC47746}"/>
              </a:ext>
            </a:extLst>
          </p:cNvPr>
          <p:cNvGrpSpPr/>
          <p:nvPr/>
        </p:nvGrpSpPr>
        <p:grpSpPr>
          <a:xfrm>
            <a:off x="6365289" y="1429784"/>
            <a:ext cx="2916759" cy="720000"/>
            <a:chOff x="6365289" y="1540365"/>
            <a:chExt cx="2916759" cy="720000"/>
          </a:xfrm>
        </p:grpSpPr>
        <p:sp>
          <p:nvSpPr>
            <p:cNvPr id="15" name="Text 13"/>
            <p:cNvSpPr/>
            <p:nvPr/>
          </p:nvSpPr>
          <p:spPr>
            <a:xfrm>
              <a:off x="6365289" y="1540365"/>
              <a:ext cx="720000" cy="720000"/>
            </a:xfrm>
            <a:prstGeom prst="rect">
              <a:avLst/>
            </a:prstGeom>
            <a:solidFill>
              <a:srgbClr val="5B839B"/>
            </a:solidFill>
            <a:ln>
              <a:solidFill>
                <a:srgbClr val="C8D6DE"/>
              </a:solidFill>
            </a:ln>
          </p:spPr>
          <p:txBody>
            <a:bodyPr wrap="square" lIns="635" tIns="635" rIns="635" bIns="635" rtlCol="0" anchor="ctr">
              <a:normAutofit/>
            </a:bodyPr>
            <a:lstStyle/>
            <a:p>
              <a:pPr marL="0" indent="0" algn="ctr">
                <a:buNone/>
              </a:pPr>
              <a:r>
                <a:rPr lang="en-US" sz="1400" b="1" dirty="0">
                  <a:solidFill>
                    <a:srgbClr val="FFFFFF"/>
                  </a:solidFill>
                  <a:latin typeface="微軟正黑體" panose="020B0604030504040204" pitchFamily="34" charset="-120"/>
                  <a:ea typeface="微軟正黑體" panose="020B0604030504040204" pitchFamily="34" charset="-120"/>
                  <a:cs typeface="Noto Sans CJK TC" pitchFamily="34" charset="-120"/>
                </a:rPr>
                <a:t>04</a:t>
              </a:r>
              <a:endParaRPr lang="en-US" sz="1400" dirty="0">
                <a:latin typeface="微軟正黑體" panose="020B0604030504040204" pitchFamily="34" charset="-120"/>
                <a:ea typeface="微軟正黑體" panose="020B0604030504040204" pitchFamily="34" charset="-120"/>
              </a:endParaRPr>
            </a:p>
          </p:txBody>
        </p:sp>
        <p:grpSp>
          <p:nvGrpSpPr>
            <p:cNvPr id="24" name="群組 23">
              <a:extLst>
                <a:ext uri="{FF2B5EF4-FFF2-40B4-BE49-F238E27FC236}">
                  <a16:creationId xmlns:a16="http://schemas.microsoft.com/office/drawing/2014/main" id="{7BCD5C17-E437-C85B-92EE-E42458873CD6}"/>
                </a:ext>
              </a:extLst>
            </p:cNvPr>
            <p:cNvGrpSpPr/>
            <p:nvPr/>
          </p:nvGrpSpPr>
          <p:grpSpPr>
            <a:xfrm>
              <a:off x="7270368" y="1744951"/>
              <a:ext cx="2011680" cy="338328"/>
              <a:chOff x="6995160" y="3081528"/>
              <a:chExt cx="2011680" cy="338328"/>
            </a:xfrm>
          </p:grpSpPr>
          <p:sp>
            <p:nvSpPr>
              <p:cNvPr id="16" name="Text 14"/>
              <p:cNvSpPr/>
              <p:nvPr/>
            </p:nvSpPr>
            <p:spPr>
              <a:xfrm>
                <a:off x="6995160" y="3081528"/>
                <a:ext cx="2011680" cy="182880"/>
              </a:xfrm>
              <a:prstGeom prst="rect">
                <a:avLst/>
              </a:prstGeom>
              <a:noFill/>
              <a:ln/>
            </p:spPr>
            <p:txBody>
              <a:bodyPr wrap="square" lIns="0" tIns="0" rIns="0" bIns="0" rtlCol="0" anchor="ctr"/>
              <a:lstStyle/>
              <a:p>
                <a:pPr marL="0" indent="0">
                  <a:buNone/>
                </a:pPr>
                <a:r>
                  <a:rPr lang="en-US" sz="1600" b="1" dirty="0">
                    <a:solidFill>
                      <a:srgbClr val="1B2E3A"/>
                    </a:solidFill>
                    <a:latin typeface="微軟正黑體" panose="020B0604030504040204" pitchFamily="34" charset="-120"/>
                    <a:ea typeface="微軟正黑體" panose="020B0604030504040204" pitchFamily="34" charset="-120"/>
                    <a:cs typeface="Noto Sans CJK TC" pitchFamily="34" charset="-120"/>
                  </a:rPr>
                  <a:t>Experiment results</a:t>
                </a:r>
                <a:endParaRPr lang="en-US" sz="1600" dirty="0">
                  <a:latin typeface="微軟正黑體" panose="020B0604030504040204" pitchFamily="34" charset="-120"/>
                  <a:ea typeface="微軟正黑體" panose="020B0604030504040204" pitchFamily="34" charset="-120"/>
                </a:endParaRPr>
              </a:p>
            </p:txBody>
          </p:sp>
          <p:sp>
            <p:nvSpPr>
              <p:cNvPr id="17" name="Text 15"/>
              <p:cNvSpPr/>
              <p:nvPr/>
            </p:nvSpPr>
            <p:spPr>
              <a:xfrm>
                <a:off x="6995160" y="3291840"/>
                <a:ext cx="2011680" cy="128016"/>
              </a:xfrm>
              <a:prstGeom prst="rect">
                <a:avLst/>
              </a:prstGeom>
              <a:noFill/>
              <a:ln/>
            </p:spPr>
            <p:txBody>
              <a:bodyPr wrap="square" lIns="0" tIns="0" rIns="0" bIns="0" rtlCol="0" anchor="ctr"/>
              <a:lstStyle/>
              <a:p>
                <a:pPr marL="0" indent="0">
                  <a:buNone/>
                </a:pPr>
                <a:r>
                  <a:rPr lang="en-US" sz="1400" dirty="0">
                    <a:solidFill>
                      <a:srgbClr val="60707A"/>
                    </a:solidFill>
                    <a:latin typeface="微軟正黑體" panose="020B0604030504040204" pitchFamily="34" charset="-120"/>
                    <a:ea typeface="微軟正黑體" panose="020B0604030504040204" pitchFamily="34" charset="-120"/>
                    <a:cs typeface="Noto Sans CJK TC" pitchFamily="34" charset="-120"/>
                  </a:rPr>
                  <a:t>Page 22 ~ Page 31</a:t>
                </a:r>
                <a:endParaRPr lang="en-US" sz="1400" dirty="0">
                  <a:latin typeface="微軟正黑體" panose="020B0604030504040204" pitchFamily="34" charset="-120"/>
                  <a:ea typeface="微軟正黑體" panose="020B0604030504040204" pitchFamily="34" charset="-120"/>
                </a:endParaRPr>
              </a:p>
            </p:txBody>
          </p:sp>
        </p:grpSp>
      </p:grpSp>
      <p:grpSp>
        <p:nvGrpSpPr>
          <p:cNvPr id="30" name="群組 29">
            <a:extLst>
              <a:ext uri="{FF2B5EF4-FFF2-40B4-BE49-F238E27FC236}">
                <a16:creationId xmlns:a16="http://schemas.microsoft.com/office/drawing/2014/main" id="{99F6D134-707D-E129-668B-29B1897D77A1}"/>
              </a:ext>
            </a:extLst>
          </p:cNvPr>
          <p:cNvGrpSpPr/>
          <p:nvPr/>
        </p:nvGrpSpPr>
        <p:grpSpPr>
          <a:xfrm>
            <a:off x="6365289" y="2912121"/>
            <a:ext cx="2916759" cy="720000"/>
            <a:chOff x="6365289" y="2995326"/>
            <a:chExt cx="2916759" cy="720000"/>
          </a:xfrm>
        </p:grpSpPr>
        <p:sp>
          <p:nvSpPr>
            <p:cNvPr id="18" name="Text 16"/>
            <p:cNvSpPr/>
            <p:nvPr/>
          </p:nvSpPr>
          <p:spPr>
            <a:xfrm>
              <a:off x="6365289" y="2995326"/>
              <a:ext cx="720000" cy="720000"/>
            </a:xfrm>
            <a:prstGeom prst="rect">
              <a:avLst/>
            </a:prstGeom>
            <a:solidFill>
              <a:srgbClr val="5B839B"/>
            </a:solidFill>
            <a:ln>
              <a:solidFill>
                <a:srgbClr val="C8D6DE"/>
              </a:solidFill>
            </a:ln>
          </p:spPr>
          <p:txBody>
            <a:bodyPr wrap="square" lIns="635" tIns="635" rIns="635" bIns="635" rtlCol="0" anchor="ctr">
              <a:normAutofit/>
            </a:bodyPr>
            <a:lstStyle/>
            <a:p>
              <a:pPr marL="0" indent="0" algn="ctr">
                <a:buNone/>
              </a:pPr>
              <a:r>
                <a:rPr lang="en-US" sz="1400" b="1" dirty="0">
                  <a:solidFill>
                    <a:srgbClr val="FFFFFF"/>
                  </a:solidFill>
                  <a:latin typeface="微軟正黑體" panose="020B0604030504040204" pitchFamily="34" charset="-120"/>
                  <a:ea typeface="微軟正黑體" panose="020B0604030504040204" pitchFamily="34" charset="-120"/>
                  <a:cs typeface="Noto Sans CJK TC" pitchFamily="34" charset="-120"/>
                </a:rPr>
                <a:t>05</a:t>
              </a:r>
              <a:endParaRPr lang="en-US" sz="1400" dirty="0">
                <a:latin typeface="微軟正黑體" panose="020B0604030504040204" pitchFamily="34" charset="-120"/>
                <a:ea typeface="微軟正黑體" panose="020B0604030504040204" pitchFamily="34" charset="-120"/>
              </a:endParaRPr>
            </a:p>
          </p:txBody>
        </p:sp>
        <p:grpSp>
          <p:nvGrpSpPr>
            <p:cNvPr id="25" name="群組 24">
              <a:extLst>
                <a:ext uri="{FF2B5EF4-FFF2-40B4-BE49-F238E27FC236}">
                  <a16:creationId xmlns:a16="http://schemas.microsoft.com/office/drawing/2014/main" id="{01FB5000-A7C2-0EF2-9717-AE1CB7B6E68E}"/>
                </a:ext>
              </a:extLst>
            </p:cNvPr>
            <p:cNvGrpSpPr/>
            <p:nvPr/>
          </p:nvGrpSpPr>
          <p:grpSpPr>
            <a:xfrm>
              <a:off x="7270368" y="3215826"/>
              <a:ext cx="2011680" cy="338328"/>
              <a:chOff x="4389120" y="4773168"/>
              <a:chExt cx="2011680" cy="338328"/>
            </a:xfrm>
          </p:grpSpPr>
          <p:sp>
            <p:nvSpPr>
              <p:cNvPr id="19" name="Text 17"/>
              <p:cNvSpPr/>
              <p:nvPr/>
            </p:nvSpPr>
            <p:spPr>
              <a:xfrm>
                <a:off x="4389120" y="4773168"/>
                <a:ext cx="2011680" cy="182880"/>
              </a:xfrm>
              <a:prstGeom prst="rect">
                <a:avLst/>
              </a:prstGeom>
              <a:noFill/>
              <a:ln/>
            </p:spPr>
            <p:txBody>
              <a:bodyPr wrap="square" lIns="0" tIns="0" rIns="0" bIns="0" rtlCol="0" anchor="ctr"/>
              <a:lstStyle/>
              <a:p>
                <a:pPr marL="0" indent="0">
                  <a:buNone/>
                </a:pPr>
                <a:r>
                  <a:rPr lang="en-US" sz="1600" b="1" dirty="0">
                    <a:solidFill>
                      <a:srgbClr val="1B2E3A"/>
                    </a:solidFill>
                    <a:latin typeface="微軟正黑體" panose="020B0604030504040204" pitchFamily="34" charset="-120"/>
                    <a:ea typeface="微軟正黑體" panose="020B0604030504040204" pitchFamily="34" charset="-120"/>
                    <a:cs typeface="Noto Sans CJK TC" pitchFamily="34" charset="-120"/>
                  </a:rPr>
                  <a:t>Conclusion</a:t>
                </a:r>
                <a:endParaRPr lang="en-US" sz="1600" dirty="0">
                  <a:latin typeface="微軟正黑體" panose="020B0604030504040204" pitchFamily="34" charset="-120"/>
                  <a:ea typeface="微軟正黑體" panose="020B0604030504040204" pitchFamily="34" charset="-120"/>
                </a:endParaRPr>
              </a:p>
            </p:txBody>
          </p:sp>
          <p:sp>
            <p:nvSpPr>
              <p:cNvPr id="20" name="Text 18"/>
              <p:cNvSpPr/>
              <p:nvPr/>
            </p:nvSpPr>
            <p:spPr>
              <a:xfrm>
                <a:off x="4389120" y="4983480"/>
                <a:ext cx="2011680" cy="128016"/>
              </a:xfrm>
              <a:prstGeom prst="rect">
                <a:avLst/>
              </a:prstGeom>
              <a:noFill/>
              <a:ln/>
            </p:spPr>
            <p:txBody>
              <a:bodyPr wrap="square" lIns="0" tIns="0" rIns="0" bIns="0" rtlCol="0" anchor="ctr"/>
              <a:lstStyle/>
              <a:p>
                <a:pPr marL="0" indent="0">
                  <a:buNone/>
                </a:pPr>
                <a:r>
                  <a:rPr lang="en-US" sz="1400" dirty="0">
                    <a:solidFill>
                      <a:srgbClr val="60707A"/>
                    </a:solidFill>
                    <a:latin typeface="微軟正黑體" panose="020B0604030504040204" pitchFamily="34" charset="-120"/>
                    <a:ea typeface="微軟正黑體" panose="020B0604030504040204" pitchFamily="34" charset="-120"/>
                    <a:cs typeface="Noto Sans CJK TC" pitchFamily="34" charset="-120"/>
                  </a:rPr>
                  <a:t>Page 32 ~ Page 34</a:t>
                </a:r>
                <a:endParaRPr lang="en-US" sz="1400" dirty="0">
                  <a:latin typeface="微軟正黑體" panose="020B0604030504040204" pitchFamily="34" charset="-120"/>
                  <a:ea typeface="微軟正黑體" panose="020B0604030504040204" pitchFamily="34" charset="-120"/>
                </a:endParaRPr>
              </a:p>
            </p:txBody>
          </p:sp>
        </p:grpSp>
      </p:grp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6611112"/>
            <a:ext cx="12191695" cy="246888"/>
          </a:xfrm>
          <a:prstGeom prst="rect">
            <a:avLst/>
          </a:prstGeom>
          <a:solidFill>
            <a:srgbClr val="5B839B"/>
          </a:solidFill>
          <a:ln w="12700">
            <a:solidFill>
              <a:srgbClr val="5B839B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3" name="Text 1"/>
          <p:cNvSpPr/>
          <p:nvPr/>
        </p:nvSpPr>
        <p:spPr>
          <a:xfrm>
            <a:off x="10768614" y="6629400"/>
            <a:ext cx="1210026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200" dirty="0">
                <a:solidFill>
                  <a:srgbClr val="FFFFFF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3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0" y="2496312"/>
            <a:ext cx="12191695" cy="676656"/>
          </a:xfrm>
          <a:prstGeom prst="rect">
            <a:avLst/>
          </a:prstGeom>
          <a:solidFill>
            <a:srgbClr val="5B839B"/>
          </a:solidFill>
          <a:ln w="12700">
            <a:solidFill>
              <a:srgbClr val="5B839B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7" name="Text 5"/>
          <p:cNvSpPr/>
          <p:nvPr/>
        </p:nvSpPr>
        <p:spPr>
          <a:xfrm>
            <a:off x="457200" y="2660904"/>
            <a:ext cx="1127455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FFFFFF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Noto Sans CJK TC" pitchFamily="34" charset="-120"/>
              </a:rPr>
              <a:t>Introduction</a:t>
            </a:r>
            <a:endParaRPr lang="en-US" sz="2000" dirty="0"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9" name="Text 7"/>
          <p:cNvSpPr/>
          <p:nvPr/>
        </p:nvSpPr>
        <p:spPr>
          <a:xfrm>
            <a:off x="5623560" y="4361688"/>
            <a:ext cx="2543896" cy="10181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dirty="0">
                <a:solidFill>
                  <a:srgbClr val="FFFFFF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ONE</a:t>
            </a:r>
            <a:endParaRPr lang="en-US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6611112"/>
            <a:ext cx="12191695" cy="246888"/>
          </a:xfrm>
          <a:prstGeom prst="rect">
            <a:avLst/>
          </a:prstGeom>
          <a:solidFill>
            <a:srgbClr val="5B839B"/>
          </a:solidFill>
          <a:ln w="12700">
            <a:solidFill>
              <a:srgbClr val="5B839B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3" name="Text 1"/>
          <p:cNvSpPr/>
          <p:nvPr/>
        </p:nvSpPr>
        <p:spPr>
          <a:xfrm>
            <a:off x="11292840" y="6629400"/>
            <a:ext cx="685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200" dirty="0">
                <a:solidFill>
                  <a:srgbClr val="FFFFFF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Noto Sans CJK TC" pitchFamily="34" charset="-120"/>
              </a:rPr>
              <a:t>4</a:t>
            </a:r>
            <a:endParaRPr lang="en-US" sz="1200" dirty="0"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4" name="Text 2"/>
          <p:cNvSpPr/>
          <p:nvPr/>
        </p:nvSpPr>
        <p:spPr>
          <a:xfrm>
            <a:off x="347472" y="274320"/>
            <a:ext cx="30175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b="1" dirty="0">
                <a:solidFill>
                  <a:srgbClr val="1B2E3A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Noto Sans CJK TC" pitchFamily="34" charset="-120"/>
              </a:rPr>
              <a:t>Part1: Introduction</a:t>
            </a:r>
            <a:endParaRPr lang="en-US" dirty="0"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5" name="Text 3"/>
          <p:cNvSpPr/>
          <p:nvPr/>
        </p:nvSpPr>
        <p:spPr>
          <a:xfrm>
            <a:off x="347472" y="457200"/>
            <a:ext cx="79552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rgbClr val="60707A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Noto Sans CJK TC" pitchFamily="34" charset="-120"/>
              </a:rPr>
              <a:t>Background — Multi-token prediction for faster generation</a:t>
            </a:r>
            <a:endParaRPr lang="en-US" sz="1600" dirty="0"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7" name="Shape 5"/>
          <p:cNvSpPr/>
          <p:nvPr/>
        </p:nvSpPr>
        <p:spPr>
          <a:xfrm>
            <a:off x="347472" y="749808"/>
            <a:ext cx="11475720" cy="0"/>
          </a:xfrm>
          <a:prstGeom prst="line">
            <a:avLst/>
          </a:prstGeom>
          <a:noFill/>
          <a:ln w="12700">
            <a:solidFill>
              <a:srgbClr val="C8D6DE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8" name="Text 6"/>
          <p:cNvSpPr/>
          <p:nvPr/>
        </p:nvSpPr>
        <p:spPr>
          <a:xfrm>
            <a:off x="502920" y="960120"/>
            <a:ext cx="11155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27323A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Noto Sans CJK TC" pitchFamily="34" charset="-120"/>
              </a:rPr>
              <a:t>MTP 的目標：一次 forward 不只預測下一個 token，也讓多個 draft models 預測更遠的 future tokens。</a:t>
            </a:r>
            <a:endParaRPr lang="en-US" sz="1600" dirty="0"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10" name="Shape 8"/>
          <p:cNvSpPr/>
          <p:nvPr/>
        </p:nvSpPr>
        <p:spPr>
          <a:xfrm flipV="1">
            <a:off x="3084909" y="2338920"/>
            <a:ext cx="1080000" cy="5504"/>
          </a:xfrm>
          <a:prstGeom prst="line">
            <a:avLst/>
          </a:prstGeom>
          <a:noFill/>
          <a:ln w="12700">
            <a:solidFill>
              <a:srgbClr val="5B839B"/>
            </a:solidFill>
            <a:prstDash val="solid"/>
            <a:headEnd type="none"/>
            <a:tailEnd type="triangle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13" name="Text 11"/>
          <p:cNvSpPr/>
          <p:nvPr/>
        </p:nvSpPr>
        <p:spPr>
          <a:xfrm>
            <a:off x="594360" y="1920240"/>
            <a:ext cx="1800000" cy="900000"/>
          </a:xfrm>
          <a:prstGeom prst="rect">
            <a:avLst/>
          </a:prstGeom>
          <a:solidFill>
            <a:srgbClr val="FFFFFF"/>
          </a:solidFill>
          <a:ln>
            <a:solidFill>
              <a:srgbClr val="C8D6DE"/>
            </a:solidFill>
          </a:ln>
        </p:spPr>
        <p:txBody>
          <a:bodyPr wrap="square" lIns="635" tIns="635" rIns="635" bIns="635" rtlCol="0" anchor="ctr">
            <a:normAutofit/>
          </a:bodyPr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27323A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Noto Sans CJK TC" pitchFamily="34" charset="-120"/>
              </a:rPr>
              <a:t>Input</a:t>
            </a:r>
            <a:r>
              <a:rPr lang="en-US" sz="16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: </a:t>
            </a:r>
            <a:r>
              <a:rPr lang="en-US" sz="1600" b="1" dirty="0">
                <a:solidFill>
                  <a:srgbClr val="27323A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Noto Sans CJK TC" pitchFamily="34" charset="-120"/>
              </a:rPr>
              <a:t>t₀</a:t>
            </a:r>
            <a:endParaRPr lang="en-US" sz="1600" dirty="0"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15" name="Text 13"/>
          <p:cNvSpPr/>
          <p:nvPr/>
        </p:nvSpPr>
        <p:spPr>
          <a:xfrm>
            <a:off x="4855462" y="1920239"/>
            <a:ext cx="1800000" cy="900000"/>
          </a:xfrm>
          <a:prstGeom prst="rect">
            <a:avLst/>
          </a:prstGeom>
          <a:solidFill>
            <a:srgbClr val="FFF3C8"/>
          </a:solidFill>
          <a:ln>
            <a:solidFill>
              <a:srgbClr val="C8D6DE"/>
            </a:solidFill>
          </a:ln>
        </p:spPr>
        <p:txBody>
          <a:bodyPr wrap="square" lIns="635" tIns="635" rIns="635" bIns="635" rtlCol="0" anchor="ctr">
            <a:normAutofit/>
          </a:bodyPr>
          <a:lstStyle/>
          <a:p>
            <a:pPr marL="0" indent="0" algn="ctr">
              <a:buNone/>
            </a:pPr>
            <a:r>
              <a:rPr lang="en-US" sz="1600" dirty="0">
                <a:solidFill>
                  <a:srgbClr val="27323A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Noto Sans CJK TC" pitchFamily="34" charset="-120"/>
              </a:rPr>
              <a:t>Model</a:t>
            </a:r>
          </a:p>
          <a:p>
            <a:pPr marL="0" indent="0" algn="ctr">
              <a:buNone/>
            </a:pPr>
            <a:r>
              <a:rPr lang="en-US" altLang="zh-TW" sz="1600" dirty="0">
                <a:solidFill>
                  <a:srgbClr val="27323A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(target + draft)</a:t>
            </a:r>
            <a:endParaRPr lang="en-US" sz="1600" dirty="0"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17" name="Text 15"/>
          <p:cNvSpPr/>
          <p:nvPr/>
        </p:nvSpPr>
        <p:spPr>
          <a:xfrm>
            <a:off x="9116568" y="1920240"/>
            <a:ext cx="1800000" cy="900000"/>
          </a:xfrm>
          <a:prstGeom prst="rect">
            <a:avLst/>
          </a:prstGeom>
          <a:solidFill>
            <a:srgbClr val="FBE8E4"/>
          </a:solidFill>
          <a:ln>
            <a:solidFill>
              <a:srgbClr val="C8D6DE"/>
            </a:solidFill>
          </a:ln>
        </p:spPr>
        <p:txBody>
          <a:bodyPr wrap="square" lIns="635" tIns="635" rIns="635" bIns="635" rtlCol="0" anchor="ctr">
            <a:normAutofit/>
          </a:bodyPr>
          <a:lstStyle/>
          <a:p>
            <a:pPr algn="ctr"/>
            <a:r>
              <a:rPr lang="en-US" sz="1600" b="1" dirty="0">
                <a:solidFill>
                  <a:srgbClr val="27323A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Noto Sans CJK TC" pitchFamily="34" charset="-120"/>
              </a:rPr>
              <a:t>Output: </a:t>
            </a:r>
            <a:r>
              <a:rPr lang="en-US" altLang="zh-TW" sz="1600" b="1" dirty="0">
                <a:solidFill>
                  <a:srgbClr val="27323A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Noto Sans CJK TC" pitchFamily="34" charset="-120"/>
              </a:rPr>
              <a:t>t</a:t>
            </a:r>
            <a:r>
              <a:rPr lang="en-US" altLang="zh-TW" sz="1600" b="1" baseline="-25000" dirty="0">
                <a:solidFill>
                  <a:srgbClr val="27323A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Noto Sans CJK TC" pitchFamily="34" charset="-120"/>
              </a:rPr>
              <a:t>1</a:t>
            </a:r>
            <a:r>
              <a:rPr lang="en-US" altLang="zh-TW" sz="1600" b="1" dirty="0">
                <a:solidFill>
                  <a:srgbClr val="27323A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Noto Sans CJK TC" pitchFamily="34" charset="-120"/>
              </a:rPr>
              <a:t>… </a:t>
            </a:r>
            <a:r>
              <a:rPr lang="en-US" altLang="zh-TW" sz="1600" b="1" dirty="0" err="1">
                <a:solidFill>
                  <a:srgbClr val="27323A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Noto Sans CJK TC" pitchFamily="34" charset="-120"/>
              </a:rPr>
              <a:t>t</a:t>
            </a:r>
            <a:r>
              <a:rPr lang="en-US" altLang="zh-TW" sz="1600" b="1" baseline="-25000" dirty="0" err="1">
                <a:solidFill>
                  <a:srgbClr val="27323A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Noto Sans CJK TC" pitchFamily="34" charset="-120"/>
              </a:rPr>
              <a:t>k</a:t>
            </a:r>
            <a:endParaRPr lang="en-US" sz="1600" baseline="-25000" dirty="0"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18" name="Text 16"/>
          <p:cNvSpPr/>
          <p:nvPr/>
        </p:nvSpPr>
        <p:spPr>
          <a:xfrm>
            <a:off x="1051560" y="4023360"/>
            <a:ext cx="10058400" cy="502920"/>
          </a:xfrm>
          <a:prstGeom prst="rect">
            <a:avLst/>
          </a:prstGeom>
          <a:solidFill>
            <a:srgbClr val="EEF5F7"/>
          </a:solidFill>
          <a:ln>
            <a:solidFill>
              <a:srgbClr val="C8D6DE"/>
            </a:solidFill>
          </a:ln>
        </p:spPr>
        <p:txBody>
          <a:bodyPr wrap="square" lIns="1143" tIns="1143" rIns="1143" bIns="1143" rtlCol="0" anchor="ctr">
            <a:normAutofit/>
          </a:bodyPr>
          <a:lstStyle/>
          <a:p>
            <a:pPr marL="0" indent="0">
              <a:buNone/>
            </a:pPr>
            <a:r>
              <a:rPr lang="en-US" sz="1400" dirty="0" err="1">
                <a:solidFill>
                  <a:srgbClr val="27323A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Noto Sans CJK TC" pitchFamily="34" charset="-120"/>
              </a:rPr>
              <a:t>核心假設：若</a:t>
            </a:r>
            <a:r>
              <a:rPr lang="en-US" sz="1400" dirty="0">
                <a:solidFill>
                  <a:srgbClr val="27323A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Noto Sans CJK TC" pitchFamily="34" charset="-120"/>
              </a:rPr>
              <a:t> draft</a:t>
            </a:r>
            <a:r>
              <a:rPr lang="zh-TW" altLang="en-US" sz="1400" dirty="0">
                <a:solidFill>
                  <a:srgbClr val="27323A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Noto Sans CJK TC" pitchFamily="34" charset="-120"/>
              </a:rPr>
              <a:t> </a:t>
            </a:r>
            <a:r>
              <a:rPr lang="en-US" sz="1400" dirty="0" err="1">
                <a:solidFill>
                  <a:srgbClr val="27323A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Noto Sans CJK TC" pitchFamily="34" charset="-120"/>
              </a:rPr>
              <a:t>的預測與主模型一致，self-speculative</a:t>
            </a:r>
            <a:r>
              <a:rPr lang="en-US" sz="1400" dirty="0">
                <a:solidFill>
                  <a:srgbClr val="27323A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Noto Sans CJK TC" pitchFamily="34" charset="-120"/>
              </a:rPr>
              <a:t> decoding 就能一次接受多個 </a:t>
            </a:r>
            <a:r>
              <a:rPr lang="en-US" sz="1400" dirty="0" err="1">
                <a:solidFill>
                  <a:srgbClr val="27323A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Noto Sans CJK TC" pitchFamily="34" charset="-120"/>
              </a:rPr>
              <a:t>token，降低實際</a:t>
            </a:r>
            <a:r>
              <a:rPr lang="zh-TW" altLang="en-US" sz="1400" dirty="0">
                <a:solidFill>
                  <a:srgbClr val="27323A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Noto Sans CJK TC" pitchFamily="34" charset="-120"/>
              </a:rPr>
              <a:t>推論</a:t>
            </a:r>
            <a:r>
              <a:rPr lang="en-US" sz="1400" dirty="0" err="1">
                <a:solidFill>
                  <a:srgbClr val="27323A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Noto Sans CJK TC" pitchFamily="34" charset="-120"/>
              </a:rPr>
              <a:t>成本</a:t>
            </a:r>
            <a:r>
              <a:rPr lang="en-US" sz="1400" dirty="0">
                <a:solidFill>
                  <a:srgbClr val="27323A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Noto Sans CJK TC" pitchFamily="34" charset="-120"/>
              </a:rPr>
              <a:t>。</a:t>
            </a:r>
            <a:endParaRPr lang="en-US" sz="1400" dirty="0"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20" name="Shape 8">
            <a:extLst>
              <a:ext uri="{FF2B5EF4-FFF2-40B4-BE49-F238E27FC236}">
                <a16:creationId xmlns:a16="http://schemas.microsoft.com/office/drawing/2014/main" id="{6746A784-61D3-BDE6-778F-9F611E4AB0D3}"/>
              </a:ext>
            </a:extLst>
          </p:cNvPr>
          <p:cNvSpPr/>
          <p:nvPr/>
        </p:nvSpPr>
        <p:spPr>
          <a:xfrm flipV="1">
            <a:off x="7346015" y="2374104"/>
            <a:ext cx="1080000" cy="5504"/>
          </a:xfrm>
          <a:prstGeom prst="line">
            <a:avLst/>
          </a:prstGeom>
          <a:noFill/>
          <a:ln w="12700">
            <a:solidFill>
              <a:srgbClr val="5B839B"/>
            </a:solidFill>
            <a:prstDash val="solid"/>
            <a:headEnd type="none"/>
            <a:tailEnd type="triangle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22" name="文字方塊 21">
            <a:extLst>
              <a:ext uri="{FF2B5EF4-FFF2-40B4-BE49-F238E27FC236}">
                <a16:creationId xmlns:a16="http://schemas.microsoft.com/office/drawing/2014/main" id="{328286FF-E264-6FDB-CE49-CF64B2E2E71A}"/>
              </a:ext>
            </a:extLst>
          </p:cNvPr>
          <p:cNvSpPr txBox="1"/>
          <p:nvPr/>
        </p:nvSpPr>
        <p:spPr>
          <a:xfrm>
            <a:off x="1051560" y="4836219"/>
            <a:ext cx="6920588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Wingdings" panose="05000000000000000000" pitchFamily="2" charset="2"/>
              <a:buChar char="l"/>
            </a:pPr>
            <a:r>
              <a:rPr lang="en-US" altLang="zh-TW" sz="14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Draft model</a:t>
            </a:r>
            <a:r>
              <a:rPr lang="zh-TW" altLang="en-US" sz="14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 預測越遠的 </a:t>
            </a:r>
            <a:r>
              <a:rPr lang="en-US" altLang="zh-TW" sz="14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token </a:t>
            </a:r>
            <a:r>
              <a:rPr lang="zh-TW" altLang="en-US" sz="14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看到的訓練目標越困難，因此 </a:t>
            </a:r>
            <a:r>
              <a:rPr lang="en-US" altLang="zh-TW" sz="14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PPL </a:t>
            </a:r>
            <a:r>
              <a:rPr lang="zh-TW" altLang="en-US" sz="14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通常快速升高。</a:t>
            </a:r>
            <a:endParaRPr lang="en-US" altLang="zh-TW" sz="1400" dirty="0"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  <a:p>
            <a:pPr marL="285750" indent="-285750">
              <a:buFont typeface="Wingdings" panose="05000000000000000000" pitchFamily="2" charset="2"/>
              <a:buChar char="l"/>
            </a:pPr>
            <a:r>
              <a:rPr lang="en-US" altLang="zh-TW" sz="14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Draft model</a:t>
            </a:r>
            <a:r>
              <a:rPr lang="zh-TW" altLang="en-US" sz="14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 預測越遠的 </a:t>
            </a:r>
            <a:r>
              <a:rPr lang="en-US" altLang="zh-TW" sz="14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token </a:t>
            </a:r>
            <a:r>
              <a:rPr lang="zh-TW" altLang="en-US" sz="14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更加難被 </a:t>
            </a:r>
            <a:r>
              <a:rPr lang="en-US" altLang="zh-TW" sz="14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target model </a:t>
            </a:r>
            <a:r>
              <a:rPr lang="zh-TW" altLang="en-US" sz="14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接受。</a:t>
            </a:r>
            <a:endParaRPr lang="en-US" altLang="zh-TW" sz="1400" dirty="0"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6611112"/>
            <a:ext cx="12191695" cy="246888"/>
          </a:xfrm>
          <a:prstGeom prst="rect">
            <a:avLst/>
          </a:prstGeom>
          <a:solidFill>
            <a:srgbClr val="5B839B"/>
          </a:solidFill>
          <a:ln w="12700">
            <a:solidFill>
              <a:srgbClr val="5B839B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3" name="Text 1"/>
          <p:cNvSpPr/>
          <p:nvPr/>
        </p:nvSpPr>
        <p:spPr>
          <a:xfrm>
            <a:off x="11407806" y="6629400"/>
            <a:ext cx="570834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200" dirty="0">
                <a:solidFill>
                  <a:srgbClr val="FFFFFF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Noto Sans CJK TC" pitchFamily="34" charset="-120"/>
              </a:rPr>
              <a:t>5</a:t>
            </a:r>
            <a:endParaRPr lang="en-US" sz="1200" dirty="0"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4" name="Text 2"/>
          <p:cNvSpPr/>
          <p:nvPr/>
        </p:nvSpPr>
        <p:spPr>
          <a:xfrm>
            <a:off x="347472" y="274320"/>
            <a:ext cx="30175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b="1" dirty="0">
                <a:solidFill>
                  <a:srgbClr val="1B2E3A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Noto Sans CJK TC" pitchFamily="34" charset="-120"/>
              </a:rPr>
              <a:t>Part1: Introduction</a:t>
            </a:r>
            <a:endParaRPr lang="en-US" dirty="0"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5" name="Text 3"/>
          <p:cNvSpPr/>
          <p:nvPr/>
        </p:nvSpPr>
        <p:spPr>
          <a:xfrm>
            <a:off x="347472" y="457200"/>
            <a:ext cx="79552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rgbClr val="60707A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Noto Sans CJK TC" pitchFamily="34" charset="-120"/>
              </a:rPr>
              <a:t>Motivation — deeper </a:t>
            </a:r>
            <a:r>
              <a:rPr lang="en-US" sz="1600">
                <a:solidFill>
                  <a:srgbClr val="60707A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Noto Sans CJK TC" pitchFamily="34" charset="-120"/>
              </a:rPr>
              <a:t>draft model </a:t>
            </a:r>
            <a:r>
              <a:rPr lang="en-US" sz="1600" dirty="0">
                <a:solidFill>
                  <a:srgbClr val="60707A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Noto Sans CJK TC" pitchFamily="34" charset="-120"/>
              </a:rPr>
              <a:t>are harder to optimize</a:t>
            </a:r>
            <a:endParaRPr lang="en-US" sz="1600" dirty="0"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7" name="Shape 5"/>
          <p:cNvSpPr/>
          <p:nvPr/>
        </p:nvSpPr>
        <p:spPr>
          <a:xfrm>
            <a:off x="347472" y="749808"/>
            <a:ext cx="11475720" cy="0"/>
          </a:xfrm>
          <a:prstGeom prst="line">
            <a:avLst/>
          </a:prstGeom>
          <a:noFill/>
          <a:ln w="12700">
            <a:solidFill>
              <a:srgbClr val="C8D6DE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8" name="Text 6"/>
          <p:cNvSpPr/>
          <p:nvPr/>
        </p:nvSpPr>
        <p:spPr>
          <a:xfrm>
            <a:off x="502920" y="932688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600" b="1" dirty="0">
                <a:solidFill>
                  <a:srgbClr val="27323A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Noto Sans CJK TC" pitchFamily="34" charset="-120"/>
              </a:rPr>
              <a:t>標準 MTP 只用 CE loss </a:t>
            </a:r>
            <a:r>
              <a:rPr lang="en-US" sz="1600" b="1" dirty="0" err="1">
                <a:solidFill>
                  <a:srgbClr val="27323A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Noto Sans CJK TC" pitchFamily="34" charset="-120"/>
              </a:rPr>
              <a:t>訓練每個</a:t>
            </a:r>
            <a:r>
              <a:rPr lang="en-US" sz="1600" b="1" dirty="0">
                <a:solidFill>
                  <a:srgbClr val="27323A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Noto Sans CJK TC" pitchFamily="34" charset="-120"/>
              </a:rPr>
              <a:t> target, draft </a:t>
            </a:r>
            <a:r>
              <a:rPr lang="en-US" sz="1600" b="1" dirty="0" err="1">
                <a:solidFill>
                  <a:srgbClr val="27323A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Noto Sans CJK TC" pitchFamily="34" charset="-120"/>
              </a:rPr>
              <a:t>model，但不同</a:t>
            </a:r>
            <a:r>
              <a:rPr lang="en-US" sz="1600" b="1" dirty="0">
                <a:solidFill>
                  <a:srgbClr val="27323A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Noto Sans CJK TC" pitchFamily="34" charset="-120"/>
              </a:rPr>
              <a:t> </a:t>
            </a:r>
            <a:r>
              <a:rPr lang="en-US" altLang="zh-TW" sz="1600" b="1" dirty="0">
                <a:solidFill>
                  <a:srgbClr val="27323A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Noto Sans CJK TC" pitchFamily="34" charset="-120"/>
              </a:rPr>
              <a:t>model</a:t>
            </a:r>
            <a:r>
              <a:rPr lang="en-US" sz="1600" b="1" dirty="0">
                <a:solidFill>
                  <a:srgbClr val="27323A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Noto Sans CJK TC" pitchFamily="34" charset="-120"/>
              </a:rPr>
              <a:t> 之間缺少明確的一致性約束。</a:t>
            </a:r>
            <a:endParaRPr lang="en-US" sz="1600" dirty="0"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16" name="Text 14"/>
          <p:cNvSpPr/>
          <p:nvPr/>
        </p:nvSpPr>
        <p:spPr>
          <a:xfrm>
            <a:off x="891540" y="2112264"/>
            <a:ext cx="2340000" cy="1080000"/>
          </a:xfrm>
          <a:prstGeom prst="rect">
            <a:avLst/>
          </a:prstGeom>
          <a:solidFill>
            <a:srgbClr val="FBE8E4"/>
          </a:solidFill>
          <a:ln>
            <a:solidFill>
              <a:srgbClr val="C8D6DE"/>
            </a:solidFill>
          </a:ln>
        </p:spPr>
        <p:txBody>
          <a:bodyPr wrap="square" lIns="635" tIns="635" rIns="635" bIns="635" rtlCol="0" anchor="ctr">
            <a:normAutofit/>
          </a:bodyPr>
          <a:lstStyle/>
          <a:p>
            <a:pPr marL="0" indent="0" algn="ctr">
              <a:buNone/>
            </a:pPr>
            <a:r>
              <a:rPr lang="en-US" sz="1400" dirty="0">
                <a:solidFill>
                  <a:srgbClr val="27323A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Noto Sans CJK TC" pitchFamily="34" charset="-120"/>
              </a:rPr>
              <a:t>問題 1</a:t>
            </a:r>
            <a:endParaRPr lang="en-US" sz="1400" dirty="0"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  <a:p>
            <a:pPr marL="0" indent="0" algn="ctr">
              <a:buNone/>
            </a:pPr>
            <a:r>
              <a:rPr lang="en-US" sz="1400" dirty="0">
                <a:solidFill>
                  <a:srgbClr val="27323A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Noto Sans CJK TC" pitchFamily="34" charset="-120"/>
              </a:rPr>
              <a:t>Draft model</a:t>
            </a:r>
            <a:r>
              <a:rPr lang="zh-TW" altLang="en-US" sz="1400" dirty="0">
                <a:solidFill>
                  <a:srgbClr val="27323A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Noto Sans CJK TC" pitchFamily="34" charset="-120"/>
              </a:rPr>
              <a:t> 預測</a:t>
            </a:r>
            <a:r>
              <a:rPr lang="en-US" sz="1400" dirty="0">
                <a:solidFill>
                  <a:srgbClr val="27323A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Noto Sans CJK TC" pitchFamily="34" charset="-120"/>
              </a:rPr>
              <a:t>越</a:t>
            </a:r>
            <a:r>
              <a:rPr lang="zh-TW" altLang="en-US" sz="1400" dirty="0">
                <a:solidFill>
                  <a:srgbClr val="27323A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Noto Sans CJK TC" pitchFamily="34" charset="-120"/>
              </a:rPr>
              <a:t>遠</a:t>
            </a:r>
            <a:r>
              <a:rPr lang="en-US" sz="1400" dirty="0">
                <a:solidFill>
                  <a:srgbClr val="27323A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Noto Sans CJK TC" pitchFamily="34" charset="-120"/>
              </a:rPr>
              <a:t>，PPL 越高</a:t>
            </a:r>
            <a:endParaRPr lang="en-US" sz="1400" dirty="0"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17" name="Text 15"/>
          <p:cNvSpPr/>
          <p:nvPr/>
        </p:nvSpPr>
        <p:spPr>
          <a:xfrm>
            <a:off x="4325112" y="2112264"/>
            <a:ext cx="2340000" cy="1080000"/>
          </a:xfrm>
          <a:prstGeom prst="rect">
            <a:avLst/>
          </a:prstGeom>
          <a:solidFill>
            <a:srgbClr val="FFF3C8"/>
          </a:solidFill>
          <a:ln>
            <a:solidFill>
              <a:srgbClr val="C8D6DE"/>
            </a:solidFill>
          </a:ln>
        </p:spPr>
        <p:txBody>
          <a:bodyPr wrap="square" lIns="635" tIns="635" rIns="635" bIns="635" rtlCol="0" anchor="ctr">
            <a:normAutofit/>
          </a:bodyPr>
          <a:lstStyle/>
          <a:p>
            <a:pPr marL="0" indent="0" algn="ctr">
              <a:buNone/>
            </a:pPr>
            <a:r>
              <a:rPr lang="en-US" sz="1400" dirty="0">
                <a:solidFill>
                  <a:srgbClr val="27323A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Noto Sans CJK TC" pitchFamily="34" charset="-120"/>
              </a:rPr>
              <a:t>問題 2</a:t>
            </a:r>
            <a:endParaRPr lang="en-US" sz="1400" dirty="0"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  <a:p>
            <a:pPr marL="0" indent="0" algn="ctr">
              <a:buNone/>
            </a:pPr>
            <a:r>
              <a:rPr lang="en-US" sz="1400" dirty="0">
                <a:solidFill>
                  <a:srgbClr val="27323A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Noto Sans CJK TC" pitchFamily="34" charset="-120"/>
              </a:rPr>
              <a:t>Target model </a:t>
            </a:r>
            <a:r>
              <a:rPr lang="en-US" sz="1400" dirty="0" err="1">
                <a:solidFill>
                  <a:srgbClr val="27323A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Noto Sans CJK TC" pitchFamily="34" charset="-120"/>
              </a:rPr>
              <a:t>accepte</a:t>
            </a:r>
            <a:r>
              <a:rPr lang="en-US" sz="1400" dirty="0">
                <a:solidFill>
                  <a:srgbClr val="27323A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Noto Sans CJK TC" pitchFamily="34" charset="-120"/>
              </a:rPr>
              <a:t> tokens 不穩定</a:t>
            </a:r>
            <a:endParaRPr lang="en-US" sz="1400" dirty="0"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18" name="Text 16"/>
          <p:cNvSpPr/>
          <p:nvPr/>
        </p:nvSpPr>
        <p:spPr>
          <a:xfrm>
            <a:off x="8160577" y="2112264"/>
            <a:ext cx="2340000" cy="1080000"/>
          </a:xfrm>
          <a:prstGeom prst="rect">
            <a:avLst/>
          </a:prstGeom>
          <a:solidFill>
            <a:srgbClr val="FBE8E4"/>
          </a:solidFill>
          <a:ln>
            <a:solidFill>
              <a:srgbClr val="C8D6DE"/>
            </a:solidFill>
          </a:ln>
        </p:spPr>
        <p:txBody>
          <a:bodyPr wrap="square" lIns="635" tIns="635" rIns="635" bIns="635" rtlCol="0" anchor="ctr">
            <a:normAutofit/>
          </a:bodyPr>
          <a:lstStyle/>
          <a:p>
            <a:pPr marL="0" indent="0" algn="ctr">
              <a:buNone/>
            </a:pPr>
            <a:r>
              <a:rPr lang="en-US" sz="1400" dirty="0">
                <a:solidFill>
                  <a:srgbClr val="27323A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Noto Sans CJK TC" pitchFamily="34" charset="-120"/>
              </a:rPr>
              <a:t>問題 3</a:t>
            </a:r>
            <a:endParaRPr lang="en-US" sz="1400" dirty="0"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  <a:p>
            <a:pPr marL="0" indent="0" algn="ctr">
              <a:buNone/>
            </a:pPr>
            <a:r>
              <a:rPr lang="en-US" sz="1400" dirty="0" err="1">
                <a:solidFill>
                  <a:srgbClr val="27323A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Noto Sans CJK TC" pitchFamily="34" charset="-120"/>
              </a:rPr>
              <a:t>生成品質</a:t>
            </a:r>
            <a:r>
              <a:rPr lang="zh-TW" altLang="en-US" sz="1400" dirty="0">
                <a:solidFill>
                  <a:srgbClr val="27323A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Noto Sans CJK TC" pitchFamily="34" charset="-120"/>
              </a:rPr>
              <a:t>無法最大程度提升</a:t>
            </a:r>
            <a:endParaRPr lang="en-US" sz="1400" dirty="0"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19" name="Text 17"/>
          <p:cNvSpPr/>
          <p:nvPr/>
        </p:nvSpPr>
        <p:spPr>
          <a:xfrm>
            <a:off x="891540" y="4823682"/>
            <a:ext cx="10195560" cy="438912"/>
          </a:xfrm>
          <a:prstGeom prst="rect">
            <a:avLst/>
          </a:prstGeom>
          <a:solidFill>
            <a:srgbClr val="EEF5F7"/>
          </a:solidFill>
          <a:ln>
            <a:solidFill>
              <a:srgbClr val="C8D6DE"/>
            </a:solidFill>
          </a:ln>
        </p:spPr>
        <p:txBody>
          <a:bodyPr wrap="square" lIns="1143" tIns="1143" rIns="1143" bIns="1143" rtlCol="0" anchor="ctr">
            <a:normAutofit/>
          </a:bodyPr>
          <a:lstStyle/>
          <a:p>
            <a:pPr marL="0" indent="0">
              <a:buNone/>
            </a:pPr>
            <a:r>
              <a:rPr lang="en-US" sz="1400" dirty="0" err="1">
                <a:solidFill>
                  <a:srgbClr val="27323A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Noto Sans CJK TC" pitchFamily="34" charset="-120"/>
              </a:rPr>
              <a:t>研究焦點：在不改變</a:t>
            </a:r>
            <a:r>
              <a:rPr lang="en-US" sz="1400" dirty="0">
                <a:solidFill>
                  <a:srgbClr val="27323A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Noto Sans CJK TC" pitchFamily="34" charset="-120"/>
              </a:rPr>
              <a:t> MTP baseline </a:t>
            </a:r>
            <a:r>
              <a:rPr lang="zh-TW" altLang="en-US" sz="1400" dirty="0">
                <a:solidFill>
                  <a:srgbClr val="27323A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Noto Sans CJK TC" pitchFamily="34" charset="-120"/>
              </a:rPr>
              <a:t>架構的前提下</a:t>
            </a:r>
            <a:r>
              <a:rPr lang="en-US" sz="1400" dirty="0">
                <a:solidFill>
                  <a:srgbClr val="27323A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Noto Sans CJK TC" pitchFamily="34" charset="-120"/>
              </a:rPr>
              <a:t>，用 consistency-method 強化 draft model。</a:t>
            </a:r>
            <a:endParaRPr lang="en-US" sz="1400" dirty="0"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6611112"/>
            <a:ext cx="12191695" cy="246888"/>
          </a:xfrm>
          <a:prstGeom prst="rect">
            <a:avLst/>
          </a:prstGeom>
          <a:solidFill>
            <a:srgbClr val="5B839B"/>
          </a:solidFill>
          <a:ln w="12700">
            <a:solidFill>
              <a:srgbClr val="5B839B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3" name="Text 1"/>
          <p:cNvSpPr/>
          <p:nvPr/>
        </p:nvSpPr>
        <p:spPr>
          <a:xfrm>
            <a:off x="11319029" y="6629400"/>
            <a:ext cx="659611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200" dirty="0">
                <a:solidFill>
                  <a:srgbClr val="FFFFFF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Noto Sans CJK TC" pitchFamily="34" charset="-120"/>
              </a:rPr>
              <a:t>6</a:t>
            </a:r>
            <a:endParaRPr lang="en-US" sz="1200" dirty="0"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4" name="Text 2"/>
          <p:cNvSpPr/>
          <p:nvPr/>
        </p:nvSpPr>
        <p:spPr>
          <a:xfrm>
            <a:off x="347472" y="274320"/>
            <a:ext cx="30175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b="1" dirty="0">
                <a:solidFill>
                  <a:srgbClr val="1B2E3A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Noto Sans CJK TC" pitchFamily="34" charset="-120"/>
              </a:rPr>
              <a:t>Part1: Introduction</a:t>
            </a:r>
            <a:endParaRPr lang="en-US" dirty="0"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5" name="Text 3"/>
          <p:cNvSpPr/>
          <p:nvPr/>
        </p:nvSpPr>
        <p:spPr>
          <a:xfrm>
            <a:off x="347472" y="457200"/>
            <a:ext cx="79552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rgbClr val="60707A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Noto Sans CJK TC" pitchFamily="34" charset="-120"/>
              </a:rPr>
              <a:t>Research goal</a:t>
            </a:r>
            <a:endParaRPr lang="en-US" sz="1600" dirty="0"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7" name="Shape 5"/>
          <p:cNvSpPr/>
          <p:nvPr/>
        </p:nvSpPr>
        <p:spPr>
          <a:xfrm>
            <a:off x="347472" y="749808"/>
            <a:ext cx="11475720" cy="0"/>
          </a:xfrm>
          <a:prstGeom prst="line">
            <a:avLst/>
          </a:prstGeom>
          <a:noFill/>
          <a:ln w="12700">
            <a:solidFill>
              <a:srgbClr val="C8D6DE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8" name="Text 6"/>
          <p:cNvSpPr/>
          <p:nvPr/>
        </p:nvSpPr>
        <p:spPr>
          <a:xfrm>
            <a:off x="685800" y="1051560"/>
            <a:ext cx="10835640" cy="502920"/>
          </a:xfrm>
          <a:prstGeom prst="rect">
            <a:avLst/>
          </a:prstGeom>
          <a:solidFill>
            <a:srgbClr val="FFFFFF"/>
          </a:solidFill>
          <a:ln>
            <a:solidFill>
              <a:srgbClr val="C8D6DE"/>
            </a:solidFill>
          </a:ln>
        </p:spPr>
        <p:txBody>
          <a:bodyPr wrap="square" lIns="1143" tIns="1143" rIns="1143" bIns="1143" rtlCol="0" anchor="ctr">
            <a:normAutofit/>
          </a:bodyPr>
          <a:lstStyle/>
          <a:p>
            <a:pPr marL="0" indent="0">
              <a:buNone/>
            </a:pPr>
            <a:r>
              <a:rPr lang="en-US" sz="1200" dirty="0">
                <a:solidFill>
                  <a:srgbClr val="27323A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Noto Sans CJK TC" pitchFamily="34" charset="-120"/>
              </a:rPr>
              <a:t>Goal：在既有 MTP 架構上加入 selective distribution consistency 與 latent </a:t>
            </a:r>
            <a:r>
              <a:rPr lang="en-US" sz="1200" dirty="0" err="1">
                <a:solidFill>
                  <a:srgbClr val="27323A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Noto Sans CJK TC" pitchFamily="34" charset="-120"/>
              </a:rPr>
              <a:t>consistency，使</a:t>
            </a:r>
            <a:r>
              <a:rPr lang="en-US" sz="1200" dirty="0">
                <a:solidFill>
                  <a:srgbClr val="27323A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Noto Sans CJK TC" pitchFamily="34" charset="-120"/>
              </a:rPr>
              <a:t> model </a:t>
            </a:r>
            <a:r>
              <a:rPr lang="en-US" sz="1200" dirty="0" err="1">
                <a:solidFill>
                  <a:srgbClr val="27323A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Noto Sans CJK TC" pitchFamily="34" charset="-120"/>
              </a:rPr>
              <a:t>同時改善</a:t>
            </a:r>
            <a:r>
              <a:rPr lang="en-US" sz="1200" dirty="0">
                <a:solidFill>
                  <a:srgbClr val="27323A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Noto Sans CJK TC" pitchFamily="34" charset="-120"/>
              </a:rPr>
              <a:t> PPL、acceptance 與 generative quality。</a:t>
            </a:r>
            <a:endParaRPr lang="en-US" sz="1200" dirty="0"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9" name="Shape 7"/>
          <p:cNvSpPr/>
          <p:nvPr/>
        </p:nvSpPr>
        <p:spPr>
          <a:xfrm>
            <a:off x="2432304" y="2660904"/>
            <a:ext cx="292608" cy="0"/>
          </a:xfrm>
          <a:prstGeom prst="line">
            <a:avLst/>
          </a:prstGeom>
          <a:noFill/>
          <a:ln w="12700">
            <a:solidFill>
              <a:srgbClr val="5B839B"/>
            </a:solidFill>
            <a:prstDash val="solid"/>
            <a:headEnd type="none"/>
            <a:tailEnd type="triangle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10" name="Shape 8"/>
          <p:cNvSpPr/>
          <p:nvPr/>
        </p:nvSpPr>
        <p:spPr>
          <a:xfrm>
            <a:off x="4590288" y="2660904"/>
            <a:ext cx="292608" cy="0"/>
          </a:xfrm>
          <a:prstGeom prst="line">
            <a:avLst/>
          </a:prstGeom>
          <a:noFill/>
          <a:ln w="12700">
            <a:solidFill>
              <a:srgbClr val="5B839B"/>
            </a:solidFill>
            <a:prstDash val="solid"/>
            <a:headEnd type="none"/>
            <a:tailEnd type="triangle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11" name="Shape 9"/>
          <p:cNvSpPr/>
          <p:nvPr/>
        </p:nvSpPr>
        <p:spPr>
          <a:xfrm>
            <a:off x="6748272" y="2660904"/>
            <a:ext cx="292608" cy="0"/>
          </a:xfrm>
          <a:prstGeom prst="line">
            <a:avLst/>
          </a:prstGeom>
          <a:noFill/>
          <a:ln w="12700">
            <a:solidFill>
              <a:srgbClr val="5B839B"/>
            </a:solidFill>
            <a:prstDash val="solid"/>
            <a:headEnd type="none"/>
            <a:tailEnd type="triangle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12" name="Shape 10"/>
          <p:cNvSpPr/>
          <p:nvPr/>
        </p:nvSpPr>
        <p:spPr>
          <a:xfrm>
            <a:off x="8906256" y="2660904"/>
            <a:ext cx="292608" cy="0"/>
          </a:xfrm>
          <a:prstGeom prst="line">
            <a:avLst/>
          </a:prstGeom>
          <a:noFill/>
          <a:ln w="12700">
            <a:solidFill>
              <a:srgbClr val="5B839B"/>
            </a:solidFill>
            <a:prstDash val="solid"/>
            <a:headEnd type="none"/>
            <a:tailEnd type="triangle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13" name="Text 11"/>
          <p:cNvSpPr/>
          <p:nvPr/>
        </p:nvSpPr>
        <p:spPr>
          <a:xfrm>
            <a:off x="640080" y="2331720"/>
            <a:ext cx="1719072" cy="658368"/>
          </a:xfrm>
          <a:prstGeom prst="rect">
            <a:avLst/>
          </a:prstGeom>
          <a:solidFill>
            <a:srgbClr val="FFFFFF"/>
          </a:solidFill>
          <a:ln>
            <a:solidFill>
              <a:srgbClr val="C8D6DE"/>
            </a:solidFill>
          </a:ln>
        </p:spPr>
        <p:txBody>
          <a:bodyPr wrap="square" lIns="635" tIns="635" rIns="635" bIns="635" rtlCol="0" anchor="ctr">
            <a:normAutofit/>
          </a:bodyPr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27323A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Noto Sans CJK TC" pitchFamily="34" charset="-120"/>
              </a:rPr>
              <a:t>MTP baseline</a:t>
            </a:r>
            <a:endParaRPr lang="en-US" sz="1200" dirty="0"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14" name="Text 12"/>
          <p:cNvSpPr/>
          <p:nvPr/>
        </p:nvSpPr>
        <p:spPr>
          <a:xfrm>
            <a:off x="2798064" y="2331720"/>
            <a:ext cx="1719072" cy="658368"/>
          </a:xfrm>
          <a:prstGeom prst="rect">
            <a:avLst/>
          </a:prstGeom>
          <a:solidFill>
            <a:srgbClr val="E8F2F6"/>
          </a:solidFill>
          <a:ln>
            <a:solidFill>
              <a:srgbClr val="C8D6DE"/>
            </a:solidFill>
          </a:ln>
        </p:spPr>
        <p:txBody>
          <a:bodyPr wrap="square" lIns="635" tIns="635" rIns="635" bIns="635" rtlCol="0" anchor="ctr">
            <a:normAutofit/>
          </a:bodyPr>
          <a:lstStyle/>
          <a:p>
            <a:pPr marL="0" indent="0" algn="ctr">
              <a:buNone/>
            </a:pPr>
            <a:r>
              <a:rPr lang="en-US" sz="1200" dirty="0">
                <a:solidFill>
                  <a:srgbClr val="27323A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Noto Sans CJK TC" pitchFamily="34" charset="-120"/>
              </a:rPr>
              <a:t>Add SDC</a:t>
            </a:r>
            <a:endParaRPr lang="en-US" sz="1200" dirty="0"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  <a:p>
            <a:pPr marL="0" indent="0" algn="ctr">
              <a:buNone/>
            </a:pPr>
            <a:r>
              <a:rPr lang="en-US" sz="1200" dirty="0">
                <a:solidFill>
                  <a:srgbClr val="27323A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Noto Sans CJK TC" pitchFamily="34" charset="-120"/>
              </a:rPr>
              <a:t>(KL with confidence)</a:t>
            </a:r>
            <a:endParaRPr lang="en-US" sz="1200" dirty="0"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15" name="Text 13"/>
          <p:cNvSpPr/>
          <p:nvPr/>
        </p:nvSpPr>
        <p:spPr>
          <a:xfrm>
            <a:off x="4956048" y="2331720"/>
            <a:ext cx="1719072" cy="658368"/>
          </a:xfrm>
          <a:prstGeom prst="rect">
            <a:avLst/>
          </a:prstGeom>
          <a:solidFill>
            <a:srgbClr val="E7F4EC"/>
          </a:solidFill>
          <a:ln>
            <a:solidFill>
              <a:srgbClr val="C8D6DE"/>
            </a:solidFill>
          </a:ln>
        </p:spPr>
        <p:txBody>
          <a:bodyPr wrap="square" lIns="635" tIns="635" rIns="635" bIns="635" rtlCol="0" anchor="ctr">
            <a:normAutofit/>
          </a:bodyPr>
          <a:lstStyle/>
          <a:p>
            <a:pPr marL="0" indent="0" algn="ctr">
              <a:buNone/>
            </a:pPr>
            <a:r>
              <a:rPr lang="en-US" sz="1200" dirty="0">
                <a:solidFill>
                  <a:srgbClr val="27323A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Noto Sans CJK TC" pitchFamily="34" charset="-120"/>
              </a:rPr>
              <a:t>Add LCM</a:t>
            </a:r>
            <a:endParaRPr lang="en-US" sz="1200" dirty="0"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  <a:p>
            <a:pPr marL="0" indent="0" algn="ctr">
              <a:buNone/>
            </a:pPr>
            <a:r>
              <a:rPr lang="en-US" sz="1200" dirty="0">
                <a:solidFill>
                  <a:srgbClr val="27323A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Noto Sans CJK TC" pitchFamily="34" charset="-120"/>
              </a:rPr>
              <a:t>(latent matching)</a:t>
            </a:r>
            <a:endParaRPr lang="en-US" sz="1200" dirty="0"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16" name="Text 14"/>
          <p:cNvSpPr/>
          <p:nvPr/>
        </p:nvSpPr>
        <p:spPr>
          <a:xfrm>
            <a:off x="7114032" y="2331720"/>
            <a:ext cx="1719072" cy="658368"/>
          </a:xfrm>
          <a:prstGeom prst="rect">
            <a:avLst/>
          </a:prstGeom>
          <a:solidFill>
            <a:srgbClr val="FFF3C8"/>
          </a:solidFill>
          <a:ln>
            <a:solidFill>
              <a:srgbClr val="C8D6DE"/>
            </a:solidFill>
          </a:ln>
        </p:spPr>
        <p:txBody>
          <a:bodyPr wrap="square" lIns="635" tIns="635" rIns="635" bIns="635" rtlCol="0" anchor="ctr">
            <a:normAutofit/>
          </a:bodyPr>
          <a:lstStyle/>
          <a:p>
            <a:pPr marL="0" indent="0" algn="ctr">
              <a:buNone/>
            </a:pPr>
            <a:r>
              <a:rPr lang="en-US" sz="1200" dirty="0">
                <a:solidFill>
                  <a:srgbClr val="27323A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Noto Sans CJK TC" pitchFamily="34" charset="-120"/>
              </a:rPr>
              <a:t>Train on 10B </a:t>
            </a:r>
            <a:r>
              <a:rPr lang="en-US" sz="1200" dirty="0" err="1">
                <a:solidFill>
                  <a:srgbClr val="27323A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Noto Sans CJK TC" pitchFamily="34" charset="-120"/>
              </a:rPr>
              <a:t>openwebtext</a:t>
            </a:r>
            <a:endParaRPr lang="en-US" sz="1200" dirty="0"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17" name="Text 15"/>
          <p:cNvSpPr/>
          <p:nvPr/>
        </p:nvSpPr>
        <p:spPr>
          <a:xfrm>
            <a:off x="9272016" y="2331720"/>
            <a:ext cx="1719072" cy="658368"/>
          </a:xfrm>
          <a:prstGeom prst="rect">
            <a:avLst/>
          </a:prstGeom>
          <a:solidFill>
            <a:srgbClr val="FFFFFF"/>
          </a:solidFill>
          <a:ln>
            <a:solidFill>
              <a:srgbClr val="C8D6DE"/>
            </a:solidFill>
          </a:ln>
        </p:spPr>
        <p:txBody>
          <a:bodyPr wrap="square" lIns="635" tIns="635" rIns="635" bIns="635" rtlCol="0" anchor="ctr">
            <a:normAutofit/>
          </a:bodyPr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27323A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Noto Sans CJK TC" pitchFamily="34" charset="-120"/>
              </a:rPr>
              <a:t>Evaluate</a:t>
            </a:r>
            <a:endParaRPr lang="en-US" sz="1200" dirty="0"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  <a:p>
            <a:pPr marL="0" indent="0" algn="ctr">
              <a:buNone/>
            </a:pPr>
            <a:r>
              <a:rPr lang="en-US" sz="1200" b="1" dirty="0">
                <a:solidFill>
                  <a:srgbClr val="27323A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Noto Sans CJK TC" pitchFamily="34" charset="-120"/>
              </a:rPr>
              <a:t>PPL / GenPPL / Accept</a:t>
            </a:r>
            <a:endParaRPr lang="en-US" sz="1200" dirty="0"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18" name="Text 16"/>
          <p:cNvSpPr/>
          <p:nvPr/>
        </p:nvSpPr>
        <p:spPr>
          <a:xfrm>
            <a:off x="960120" y="4251960"/>
            <a:ext cx="102412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400" dirty="0">
                <a:solidFill>
                  <a:srgbClr val="27323A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Noto Sans CJK TC" pitchFamily="34" charset="-120"/>
              </a:rPr>
              <a:t>• SDC：用 teacher distribution </a:t>
            </a:r>
            <a:r>
              <a:rPr lang="en-US" sz="1400" dirty="0" err="1">
                <a:solidFill>
                  <a:srgbClr val="27323A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Noto Sans CJK TC" pitchFamily="34" charset="-120"/>
              </a:rPr>
              <a:t>約束</a:t>
            </a:r>
            <a:r>
              <a:rPr lang="en-US" sz="1400" dirty="0">
                <a:solidFill>
                  <a:srgbClr val="27323A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Noto Sans CJK TC" pitchFamily="34" charset="-120"/>
              </a:rPr>
              <a:t> </a:t>
            </a:r>
            <a:r>
              <a:rPr lang="en-US" sz="1400" dirty="0" err="1">
                <a:solidFill>
                  <a:srgbClr val="27323A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Noto Sans CJK TC" pitchFamily="34" charset="-120"/>
              </a:rPr>
              <a:t>student，並用</a:t>
            </a:r>
            <a:r>
              <a:rPr lang="en-US" sz="1400" dirty="0">
                <a:solidFill>
                  <a:srgbClr val="27323A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Noto Sans CJK TC" pitchFamily="34" charset="-120"/>
              </a:rPr>
              <a:t> confidence mask 過濾不可靠 token。</a:t>
            </a:r>
            <a:endParaRPr lang="en-US" sz="1400" dirty="0"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  <a:p>
            <a:pPr marL="0" indent="0">
              <a:buNone/>
            </a:pPr>
            <a:r>
              <a:rPr lang="en-US" sz="1400" dirty="0">
                <a:solidFill>
                  <a:srgbClr val="27323A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Noto Sans CJK TC" pitchFamily="34" charset="-120"/>
              </a:rPr>
              <a:t>• LCM：在 embedding / hidden representation 層級進行一致性對齊。</a:t>
            </a:r>
            <a:endParaRPr lang="en-US" sz="1400" dirty="0"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  <a:p>
            <a:pPr marL="0" indent="0">
              <a:buNone/>
            </a:pPr>
            <a:r>
              <a:rPr lang="en-US" sz="1400" dirty="0">
                <a:solidFill>
                  <a:srgbClr val="27323A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Noto Sans CJK TC" pitchFamily="34" charset="-120"/>
              </a:rPr>
              <a:t>• SDC+LCM：同時對齊 token distribution 與 latent representation。</a:t>
            </a:r>
            <a:endParaRPr lang="en-US" sz="1400" dirty="0"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6611112"/>
            <a:ext cx="12191695" cy="246888"/>
          </a:xfrm>
          <a:prstGeom prst="rect">
            <a:avLst/>
          </a:prstGeom>
          <a:solidFill>
            <a:srgbClr val="5B839B"/>
          </a:solidFill>
          <a:ln w="12700">
            <a:solidFill>
              <a:srgbClr val="5B839B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3" name="Text 1"/>
          <p:cNvSpPr/>
          <p:nvPr/>
        </p:nvSpPr>
        <p:spPr>
          <a:xfrm>
            <a:off x="11384280" y="6629400"/>
            <a:ext cx="5943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200" dirty="0">
                <a:solidFill>
                  <a:srgbClr val="FFFFFF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Noto Sans CJK TC" pitchFamily="34" charset="-120"/>
              </a:rPr>
              <a:t>7</a:t>
            </a:r>
            <a:endParaRPr lang="en-US" sz="1200" dirty="0"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4" name="Text 2"/>
          <p:cNvSpPr/>
          <p:nvPr/>
        </p:nvSpPr>
        <p:spPr>
          <a:xfrm>
            <a:off x="347472" y="274320"/>
            <a:ext cx="30175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b="1" dirty="0">
                <a:solidFill>
                  <a:srgbClr val="1B2E3A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Noto Sans CJK TC" pitchFamily="34" charset="-120"/>
              </a:rPr>
              <a:t>Part1: Introduction</a:t>
            </a:r>
            <a:endParaRPr lang="en-US" dirty="0"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5" name="Text 3"/>
          <p:cNvSpPr/>
          <p:nvPr/>
        </p:nvSpPr>
        <p:spPr>
          <a:xfrm>
            <a:off x="347472" y="457200"/>
            <a:ext cx="79552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rgbClr val="60707A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Noto Sans CJK TC" pitchFamily="34" charset="-120"/>
              </a:rPr>
              <a:t>Contributions</a:t>
            </a:r>
            <a:endParaRPr lang="en-US" sz="1600" dirty="0"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7" name="Shape 5"/>
          <p:cNvSpPr/>
          <p:nvPr/>
        </p:nvSpPr>
        <p:spPr>
          <a:xfrm>
            <a:off x="347472" y="749808"/>
            <a:ext cx="11475720" cy="0"/>
          </a:xfrm>
          <a:prstGeom prst="line">
            <a:avLst/>
          </a:prstGeom>
          <a:noFill/>
          <a:ln w="12700">
            <a:solidFill>
              <a:srgbClr val="C8D6DE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9" name="Text 7"/>
          <p:cNvSpPr/>
          <p:nvPr/>
        </p:nvSpPr>
        <p:spPr>
          <a:xfrm>
            <a:off x="1600200" y="1252728"/>
            <a:ext cx="38404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B2E3A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Noto Sans CJK TC" pitchFamily="34" charset="-120"/>
              </a:rPr>
              <a:t>Selective Distribution Consistency</a:t>
            </a:r>
            <a:endParaRPr lang="en-US" sz="1400" dirty="0"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10" name="Text 8"/>
          <p:cNvSpPr/>
          <p:nvPr/>
        </p:nvSpPr>
        <p:spPr>
          <a:xfrm>
            <a:off x="1600200" y="1527048"/>
            <a:ext cx="9784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200" dirty="0">
                <a:solidFill>
                  <a:srgbClr val="27323A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Noto Sans CJK TC" pitchFamily="34" charset="-120"/>
              </a:rPr>
              <a:t>將 consistency regularization 轉成適合 MTP draft model 的 KL loss。</a:t>
            </a:r>
            <a:endParaRPr lang="en-US" sz="1200" dirty="0"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12" name="Text 10"/>
          <p:cNvSpPr/>
          <p:nvPr/>
        </p:nvSpPr>
        <p:spPr>
          <a:xfrm>
            <a:off x="1600200" y="2487168"/>
            <a:ext cx="38404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B2E3A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Noto Sans CJK TC" pitchFamily="34" charset="-120"/>
              </a:rPr>
              <a:t>Confidence-aware distillation</a:t>
            </a:r>
            <a:endParaRPr lang="en-US" sz="1400" dirty="0"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13" name="Text 11"/>
          <p:cNvSpPr/>
          <p:nvPr/>
        </p:nvSpPr>
        <p:spPr>
          <a:xfrm>
            <a:off x="1600200" y="2761488"/>
            <a:ext cx="9784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200" dirty="0">
                <a:solidFill>
                  <a:srgbClr val="27323A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Noto Sans CJK TC" pitchFamily="34" charset="-120"/>
              </a:rPr>
              <a:t>只在 teacher confidence </a:t>
            </a:r>
            <a:r>
              <a:rPr lang="en-US" sz="1200" dirty="0" err="1">
                <a:solidFill>
                  <a:srgbClr val="27323A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Noto Sans CJK TC" pitchFamily="34" charset="-120"/>
              </a:rPr>
              <a:t>足夠的位置進行分佈蒸餾，避免噪聲</a:t>
            </a:r>
            <a:r>
              <a:rPr lang="en-US" sz="1200" dirty="0">
                <a:solidFill>
                  <a:srgbClr val="27323A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Noto Sans CJK TC" pitchFamily="34" charset="-120"/>
              </a:rPr>
              <a:t>。</a:t>
            </a:r>
            <a:endParaRPr lang="en-US" sz="1200" dirty="0"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15" name="Text 13"/>
          <p:cNvSpPr/>
          <p:nvPr/>
        </p:nvSpPr>
        <p:spPr>
          <a:xfrm>
            <a:off x="1600200" y="3721608"/>
            <a:ext cx="38404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SDC + LCM joint training</a:t>
            </a:r>
          </a:p>
        </p:txBody>
      </p:sp>
      <p:sp>
        <p:nvSpPr>
          <p:cNvPr id="16" name="Text 14"/>
          <p:cNvSpPr/>
          <p:nvPr/>
        </p:nvSpPr>
        <p:spPr>
          <a:xfrm>
            <a:off x="1600200" y="3995928"/>
            <a:ext cx="9784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200" dirty="0">
                <a:solidFill>
                  <a:srgbClr val="27323A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Noto Sans CJK TC" pitchFamily="34" charset="-120"/>
              </a:rPr>
              <a:t>同時約束 token-level distribution 與 latent representation，改善生成品質與接受率。</a:t>
            </a:r>
            <a:endParaRPr lang="en-US" sz="1200" dirty="0"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17" name="Text 4">
            <a:extLst>
              <a:ext uri="{FF2B5EF4-FFF2-40B4-BE49-F238E27FC236}">
                <a16:creationId xmlns:a16="http://schemas.microsoft.com/office/drawing/2014/main" id="{64E6999E-C590-4981-6881-A6D8D661F83B}"/>
              </a:ext>
            </a:extLst>
          </p:cNvPr>
          <p:cNvSpPr/>
          <p:nvPr/>
        </p:nvSpPr>
        <p:spPr>
          <a:xfrm>
            <a:off x="653396" y="1099656"/>
            <a:ext cx="720000" cy="720000"/>
          </a:xfrm>
          <a:prstGeom prst="rect">
            <a:avLst/>
          </a:prstGeom>
          <a:solidFill>
            <a:srgbClr val="5B839B"/>
          </a:solidFill>
          <a:ln>
            <a:solidFill>
              <a:srgbClr val="C8D6DE"/>
            </a:solidFill>
          </a:ln>
        </p:spPr>
        <p:txBody>
          <a:bodyPr wrap="square" lIns="635" tIns="635" rIns="635" bIns="635" rtlCol="0" anchor="ctr">
            <a:normAutofit/>
          </a:bodyPr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Noto Sans CJK TC" pitchFamily="34" charset="-120"/>
              </a:rPr>
              <a:t>01</a:t>
            </a:r>
            <a:endParaRPr lang="en-US" sz="1400" dirty="0"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18" name="Text 4">
            <a:extLst>
              <a:ext uri="{FF2B5EF4-FFF2-40B4-BE49-F238E27FC236}">
                <a16:creationId xmlns:a16="http://schemas.microsoft.com/office/drawing/2014/main" id="{13B93BB8-F6A8-1662-6AFA-87F1DD71AFB1}"/>
              </a:ext>
            </a:extLst>
          </p:cNvPr>
          <p:cNvSpPr/>
          <p:nvPr/>
        </p:nvSpPr>
        <p:spPr>
          <a:xfrm>
            <a:off x="653396" y="2401488"/>
            <a:ext cx="720000" cy="720000"/>
          </a:xfrm>
          <a:prstGeom prst="rect">
            <a:avLst/>
          </a:prstGeom>
          <a:solidFill>
            <a:srgbClr val="5B839B"/>
          </a:solidFill>
          <a:ln>
            <a:solidFill>
              <a:srgbClr val="C8D6DE"/>
            </a:solidFill>
          </a:ln>
        </p:spPr>
        <p:txBody>
          <a:bodyPr wrap="square" lIns="635" tIns="635" rIns="635" bIns="635" rtlCol="0" anchor="ctr">
            <a:normAutofit/>
          </a:bodyPr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Noto Sans CJK TC" pitchFamily="34" charset="-120"/>
              </a:rPr>
              <a:t>02</a:t>
            </a:r>
            <a:endParaRPr lang="en-US" sz="1400" dirty="0"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19" name="Text 4">
            <a:extLst>
              <a:ext uri="{FF2B5EF4-FFF2-40B4-BE49-F238E27FC236}">
                <a16:creationId xmlns:a16="http://schemas.microsoft.com/office/drawing/2014/main" id="{1059B001-AC70-22A1-C08C-0E5FF1CD6836}"/>
              </a:ext>
            </a:extLst>
          </p:cNvPr>
          <p:cNvSpPr/>
          <p:nvPr/>
        </p:nvSpPr>
        <p:spPr>
          <a:xfrm>
            <a:off x="664493" y="3635928"/>
            <a:ext cx="720000" cy="720000"/>
          </a:xfrm>
          <a:prstGeom prst="rect">
            <a:avLst/>
          </a:prstGeom>
          <a:solidFill>
            <a:srgbClr val="5B839B"/>
          </a:solidFill>
          <a:ln>
            <a:solidFill>
              <a:srgbClr val="C8D6DE"/>
            </a:solidFill>
          </a:ln>
        </p:spPr>
        <p:txBody>
          <a:bodyPr wrap="square" lIns="635" tIns="635" rIns="635" bIns="635" rtlCol="0" anchor="ctr">
            <a:normAutofit/>
          </a:bodyPr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Noto Sans CJK TC" pitchFamily="34" charset="-120"/>
              </a:rPr>
              <a:t>03</a:t>
            </a:r>
            <a:endParaRPr lang="en-US" sz="1400" dirty="0"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6611112"/>
            <a:ext cx="12191695" cy="246888"/>
          </a:xfrm>
          <a:prstGeom prst="rect">
            <a:avLst/>
          </a:prstGeom>
          <a:solidFill>
            <a:srgbClr val="5B839B"/>
          </a:solidFill>
          <a:ln w="12700">
            <a:solidFill>
              <a:srgbClr val="5B839B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3" name="Text 1"/>
          <p:cNvSpPr/>
          <p:nvPr/>
        </p:nvSpPr>
        <p:spPr>
          <a:xfrm>
            <a:off x="11558726" y="6629400"/>
            <a:ext cx="419914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200" dirty="0">
                <a:solidFill>
                  <a:srgbClr val="FFFFFF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8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0" y="2496312"/>
            <a:ext cx="12191695" cy="676656"/>
          </a:xfrm>
          <a:prstGeom prst="rect">
            <a:avLst/>
          </a:prstGeom>
          <a:solidFill>
            <a:srgbClr val="5B839B"/>
          </a:solidFill>
          <a:ln w="12700">
            <a:solidFill>
              <a:srgbClr val="5B839B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7" name="Text 5"/>
          <p:cNvSpPr/>
          <p:nvPr/>
        </p:nvSpPr>
        <p:spPr>
          <a:xfrm>
            <a:off x="457200" y="2660904"/>
            <a:ext cx="1127455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FFFFFF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Related works / MTP</a:t>
            </a:r>
            <a:endParaRPr lang="en-US" sz="2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6611112"/>
            <a:ext cx="12191695" cy="246888"/>
          </a:xfrm>
          <a:prstGeom prst="rect">
            <a:avLst/>
          </a:prstGeom>
          <a:solidFill>
            <a:srgbClr val="5B839B"/>
          </a:solidFill>
          <a:ln w="12700">
            <a:solidFill>
              <a:srgbClr val="5B839B"/>
            </a:solidFill>
            <a:prstDash val="solid"/>
          </a:ln>
        </p:spPr>
        <p:txBody>
          <a:bodyPr/>
          <a:lstStyle/>
          <a:p>
            <a:endParaRPr lang="zh-TW" altLang="en-US" dirty="0"/>
          </a:p>
        </p:txBody>
      </p:sp>
      <p:sp>
        <p:nvSpPr>
          <p:cNvPr id="3" name="Text 1"/>
          <p:cNvSpPr/>
          <p:nvPr/>
        </p:nvSpPr>
        <p:spPr>
          <a:xfrm>
            <a:off x="10830757" y="6629400"/>
            <a:ext cx="1147883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200" dirty="0">
                <a:solidFill>
                  <a:schemeClr val="bg1"/>
                </a:solidFill>
              </a:rPr>
              <a:t>9</a:t>
            </a:r>
          </a:p>
        </p:txBody>
      </p:sp>
      <p:sp>
        <p:nvSpPr>
          <p:cNvPr id="4" name="Text 2"/>
          <p:cNvSpPr/>
          <p:nvPr/>
        </p:nvSpPr>
        <p:spPr>
          <a:xfrm>
            <a:off x="347472" y="274320"/>
            <a:ext cx="30175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Part2: Related works / MTP</a:t>
            </a:r>
          </a:p>
        </p:txBody>
      </p:sp>
      <p:sp>
        <p:nvSpPr>
          <p:cNvPr id="5" name="Text 3"/>
          <p:cNvSpPr/>
          <p:nvPr/>
        </p:nvSpPr>
        <p:spPr>
          <a:xfrm>
            <a:off x="347472" y="457200"/>
            <a:ext cx="79552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chemeClr val="bg1">
                    <a:lumMod val="50000"/>
                  </a:schemeClr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Multi-Token Prediction architecture</a:t>
            </a:r>
          </a:p>
        </p:txBody>
      </p:sp>
      <p:sp>
        <p:nvSpPr>
          <p:cNvPr id="7" name="Shape 5"/>
          <p:cNvSpPr/>
          <p:nvPr/>
        </p:nvSpPr>
        <p:spPr>
          <a:xfrm>
            <a:off x="347472" y="749808"/>
            <a:ext cx="11475720" cy="0"/>
          </a:xfrm>
          <a:prstGeom prst="line">
            <a:avLst/>
          </a:prstGeom>
          <a:noFill/>
          <a:ln w="12700">
            <a:solidFill>
              <a:srgbClr val="C8D6DE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grpSp>
        <p:nvGrpSpPr>
          <p:cNvPr id="20" name="群組 19">
            <a:extLst>
              <a:ext uri="{FF2B5EF4-FFF2-40B4-BE49-F238E27FC236}">
                <a16:creationId xmlns:a16="http://schemas.microsoft.com/office/drawing/2014/main" id="{8C43E5C1-A5F7-E08B-6CC0-50D658AC909C}"/>
              </a:ext>
            </a:extLst>
          </p:cNvPr>
          <p:cNvGrpSpPr/>
          <p:nvPr/>
        </p:nvGrpSpPr>
        <p:grpSpPr>
          <a:xfrm>
            <a:off x="545128" y="6145832"/>
            <a:ext cx="3756533" cy="433276"/>
            <a:chOff x="47811" y="6225945"/>
            <a:chExt cx="3756533" cy="433276"/>
          </a:xfrm>
        </p:grpSpPr>
        <p:sp>
          <p:nvSpPr>
            <p:cNvPr id="21" name="文字方塊 20">
              <a:extLst>
                <a:ext uri="{FF2B5EF4-FFF2-40B4-BE49-F238E27FC236}">
                  <a16:creationId xmlns:a16="http://schemas.microsoft.com/office/drawing/2014/main" id="{227B8893-0082-DE7A-8D4D-E0778065AD40}"/>
                </a:ext>
              </a:extLst>
            </p:cNvPr>
            <p:cNvSpPr txBox="1"/>
            <p:nvPr/>
          </p:nvSpPr>
          <p:spPr>
            <a:xfrm>
              <a:off x="47811" y="6289889"/>
              <a:ext cx="1353730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zh-TW" dirty="0"/>
                <a:t>Input Token</a:t>
              </a:r>
              <a:endParaRPr lang="zh-TW" altLang="en-US" dirty="0"/>
            </a:p>
          </p:txBody>
        </p:sp>
        <p:grpSp>
          <p:nvGrpSpPr>
            <p:cNvPr id="22" name="群組 21">
              <a:extLst>
                <a:ext uri="{FF2B5EF4-FFF2-40B4-BE49-F238E27FC236}">
                  <a16:creationId xmlns:a16="http://schemas.microsoft.com/office/drawing/2014/main" id="{E670EA16-E1FC-48D3-ECAC-194DD122D4F9}"/>
                </a:ext>
              </a:extLst>
            </p:cNvPr>
            <p:cNvGrpSpPr/>
            <p:nvPr/>
          </p:nvGrpSpPr>
          <p:grpSpPr>
            <a:xfrm>
              <a:off x="1617869" y="6225945"/>
              <a:ext cx="2186475" cy="433276"/>
              <a:chOff x="1401542" y="6225945"/>
              <a:chExt cx="2186475" cy="433276"/>
            </a:xfrm>
          </p:grpSpPr>
          <p:sp>
            <p:nvSpPr>
              <p:cNvPr id="23" name="矩形 22">
                <a:extLst>
                  <a:ext uri="{FF2B5EF4-FFF2-40B4-BE49-F238E27FC236}">
                    <a16:creationId xmlns:a16="http://schemas.microsoft.com/office/drawing/2014/main" id="{C96421B2-B35B-6B6E-152C-F91A10ED7BE3}"/>
                  </a:ext>
                </a:extLst>
              </p:cNvPr>
              <p:cNvSpPr/>
              <p:nvPr/>
            </p:nvSpPr>
            <p:spPr>
              <a:xfrm>
                <a:off x="1401542" y="6289889"/>
                <a:ext cx="351683" cy="369332"/>
              </a:xfrm>
              <a:prstGeom prst="rect">
                <a:avLst/>
              </a:prstGeom>
              <a:solidFill>
                <a:schemeClr val="accent1">
                  <a:lumMod val="20000"/>
                  <a:lumOff val="80000"/>
                </a:schemeClr>
              </a:solidFill>
            </p:spPr>
            <p:style>
              <a:lnRef idx="2">
                <a:schemeClr val="accent3">
                  <a:shade val="15000"/>
                </a:schemeClr>
              </a:lnRef>
              <a:fillRef idx="1">
                <a:schemeClr val="accent3"/>
              </a:fillRef>
              <a:effectRef idx="0">
                <a:schemeClr val="accent3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altLang="zh-TW" dirty="0">
                    <a:solidFill>
                      <a:schemeClr val="tx1"/>
                    </a:solidFill>
                  </a:rPr>
                  <a:t>t</a:t>
                </a:r>
                <a:r>
                  <a:rPr lang="en-US" altLang="zh-TW" baseline="-25000" dirty="0">
                    <a:solidFill>
                      <a:schemeClr val="tx1"/>
                    </a:solidFill>
                  </a:rPr>
                  <a:t>0</a:t>
                </a:r>
              </a:p>
            </p:txBody>
          </p:sp>
          <p:sp>
            <p:nvSpPr>
              <p:cNvPr id="24" name="矩形 23">
                <a:extLst>
                  <a:ext uri="{FF2B5EF4-FFF2-40B4-BE49-F238E27FC236}">
                    <a16:creationId xmlns:a16="http://schemas.microsoft.com/office/drawing/2014/main" id="{7176D048-9897-9DED-DD93-E45DB68F274D}"/>
                  </a:ext>
                </a:extLst>
              </p:cNvPr>
              <p:cNvSpPr/>
              <p:nvPr/>
            </p:nvSpPr>
            <p:spPr>
              <a:xfrm>
                <a:off x="1894350" y="6289889"/>
                <a:ext cx="351683" cy="369332"/>
              </a:xfrm>
              <a:prstGeom prst="rect">
                <a:avLst/>
              </a:prstGeom>
              <a:solidFill>
                <a:schemeClr val="accent1">
                  <a:lumMod val="20000"/>
                  <a:lumOff val="80000"/>
                </a:schemeClr>
              </a:solidFill>
            </p:spPr>
            <p:style>
              <a:lnRef idx="2">
                <a:schemeClr val="accent3">
                  <a:shade val="15000"/>
                </a:schemeClr>
              </a:lnRef>
              <a:fillRef idx="1">
                <a:schemeClr val="accent3"/>
              </a:fillRef>
              <a:effectRef idx="0">
                <a:schemeClr val="accent3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altLang="zh-TW" dirty="0">
                    <a:solidFill>
                      <a:schemeClr val="tx1"/>
                    </a:solidFill>
                  </a:rPr>
                  <a:t>t</a:t>
                </a:r>
                <a:r>
                  <a:rPr lang="en-US" altLang="zh-TW" baseline="-25000" dirty="0">
                    <a:solidFill>
                      <a:schemeClr val="tx1"/>
                    </a:solidFill>
                  </a:rPr>
                  <a:t>1</a:t>
                </a:r>
              </a:p>
            </p:txBody>
          </p:sp>
          <p:sp>
            <p:nvSpPr>
              <p:cNvPr id="25" name="文字方塊 24">
                <a:extLst>
                  <a:ext uri="{FF2B5EF4-FFF2-40B4-BE49-F238E27FC236}">
                    <a16:creationId xmlns:a16="http://schemas.microsoft.com/office/drawing/2014/main" id="{895DB94C-8812-159A-4442-CA854BFAE433}"/>
                  </a:ext>
                </a:extLst>
              </p:cNvPr>
              <p:cNvSpPr txBox="1"/>
              <p:nvPr/>
            </p:nvSpPr>
            <p:spPr>
              <a:xfrm>
                <a:off x="2386495" y="6225945"/>
                <a:ext cx="568251" cy="369332"/>
              </a:xfrm>
              <a:prstGeom prst="rect">
                <a:avLst/>
              </a:prstGeom>
              <a:noFill/>
            </p:spPr>
            <p:txBody>
              <a:bodyPr wrap="square" rtlCol="0" anchor="ctr">
                <a:spAutoFit/>
              </a:bodyPr>
              <a:lstStyle/>
              <a:p>
                <a:pPr algn="ctr"/>
                <a:r>
                  <a:rPr lang="en-US" altLang="zh-TW" dirty="0"/>
                  <a:t>… …</a:t>
                </a:r>
                <a:endParaRPr lang="zh-TW" altLang="en-US" dirty="0"/>
              </a:p>
            </p:txBody>
          </p:sp>
          <p:sp>
            <p:nvSpPr>
              <p:cNvPr id="26" name="矩形 25">
                <a:extLst>
                  <a:ext uri="{FF2B5EF4-FFF2-40B4-BE49-F238E27FC236}">
                    <a16:creationId xmlns:a16="http://schemas.microsoft.com/office/drawing/2014/main" id="{760B9962-B18E-E242-7A80-9B4693ABDA73}"/>
                  </a:ext>
                </a:extLst>
              </p:cNvPr>
              <p:cNvSpPr/>
              <p:nvPr/>
            </p:nvSpPr>
            <p:spPr>
              <a:xfrm>
                <a:off x="3095209" y="6289889"/>
                <a:ext cx="492808" cy="369332"/>
              </a:xfrm>
              <a:prstGeom prst="rect">
                <a:avLst/>
              </a:prstGeom>
              <a:solidFill>
                <a:schemeClr val="accent1">
                  <a:lumMod val="20000"/>
                  <a:lumOff val="80000"/>
                </a:schemeClr>
              </a:solidFill>
            </p:spPr>
            <p:style>
              <a:lnRef idx="2">
                <a:schemeClr val="accent3">
                  <a:shade val="15000"/>
                </a:schemeClr>
              </a:lnRef>
              <a:fillRef idx="1">
                <a:schemeClr val="accent3"/>
              </a:fillRef>
              <a:effectRef idx="0">
                <a:schemeClr val="accent3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altLang="zh-TW" dirty="0">
                    <a:solidFill>
                      <a:schemeClr val="tx1"/>
                    </a:solidFill>
                  </a:rPr>
                  <a:t>t</a:t>
                </a:r>
                <a:r>
                  <a:rPr lang="en-US" altLang="zh-TW" baseline="-25000" dirty="0">
                    <a:solidFill>
                      <a:schemeClr val="tx1"/>
                    </a:solidFill>
                  </a:rPr>
                  <a:t>T-1</a:t>
                </a:r>
              </a:p>
            </p:txBody>
          </p:sp>
        </p:grpSp>
      </p:grpSp>
      <p:grpSp>
        <p:nvGrpSpPr>
          <p:cNvPr id="27" name="群組 26">
            <a:extLst>
              <a:ext uri="{FF2B5EF4-FFF2-40B4-BE49-F238E27FC236}">
                <a16:creationId xmlns:a16="http://schemas.microsoft.com/office/drawing/2014/main" id="{7CE40BDD-15E7-FF61-C403-04B199135A25}"/>
              </a:ext>
            </a:extLst>
          </p:cNvPr>
          <p:cNvGrpSpPr/>
          <p:nvPr/>
        </p:nvGrpSpPr>
        <p:grpSpPr>
          <a:xfrm>
            <a:off x="545128" y="3105810"/>
            <a:ext cx="3990547" cy="3070004"/>
            <a:chOff x="-479210" y="3292106"/>
            <a:chExt cx="3990547" cy="3070004"/>
          </a:xfrm>
        </p:grpSpPr>
        <p:sp>
          <p:nvSpPr>
            <p:cNvPr id="28" name="矩形: 圓角 27">
              <a:extLst>
                <a:ext uri="{FF2B5EF4-FFF2-40B4-BE49-F238E27FC236}">
                  <a16:creationId xmlns:a16="http://schemas.microsoft.com/office/drawing/2014/main" id="{E41BF910-18F3-0D67-ADDA-9381B1852D91}"/>
                </a:ext>
              </a:extLst>
            </p:cNvPr>
            <p:cNvSpPr/>
            <p:nvPr/>
          </p:nvSpPr>
          <p:spPr>
            <a:xfrm>
              <a:off x="331472" y="3680892"/>
              <a:ext cx="3179865" cy="2463211"/>
            </a:xfrm>
            <a:prstGeom prst="roundRect">
              <a:avLst/>
            </a:prstGeom>
            <a:ln>
              <a:prstDash val="dash"/>
            </a:ln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29" name="矩形: 圓角 28">
              <a:extLst>
                <a:ext uri="{FF2B5EF4-FFF2-40B4-BE49-F238E27FC236}">
                  <a16:creationId xmlns:a16="http://schemas.microsoft.com/office/drawing/2014/main" id="{D74D9E31-DB6B-9C8E-E6DD-DC81A5BBCEDD}"/>
                </a:ext>
              </a:extLst>
            </p:cNvPr>
            <p:cNvSpPr/>
            <p:nvPr/>
          </p:nvSpPr>
          <p:spPr>
            <a:xfrm>
              <a:off x="640734" y="5475895"/>
              <a:ext cx="2601124" cy="607553"/>
            </a:xfrm>
            <a:prstGeom prst="roundRect">
              <a:avLst/>
            </a:prstGeom>
          </p:spPr>
          <p:style>
            <a:lnRef idx="2">
              <a:schemeClr val="accent6">
                <a:shade val="15000"/>
              </a:schemeClr>
            </a:lnRef>
            <a:fillRef idx="1">
              <a:schemeClr val="accent6"/>
            </a:fillRef>
            <a:effectRef idx="0">
              <a:schemeClr val="accent6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TW" dirty="0">
                  <a:solidFill>
                    <a:schemeClr val="tx1"/>
                  </a:solidFill>
                </a:rPr>
                <a:t>Embedding Layer</a:t>
              </a:r>
              <a:endParaRPr lang="zh-TW" altLang="en-US" dirty="0">
                <a:solidFill>
                  <a:schemeClr val="tx1"/>
                </a:solidFill>
              </a:endParaRPr>
            </a:p>
          </p:txBody>
        </p:sp>
        <p:grpSp>
          <p:nvGrpSpPr>
            <p:cNvPr id="30" name="群組 29">
              <a:extLst>
                <a:ext uri="{FF2B5EF4-FFF2-40B4-BE49-F238E27FC236}">
                  <a16:creationId xmlns:a16="http://schemas.microsoft.com/office/drawing/2014/main" id="{3B0A5A25-2ED5-31F9-875E-28B7680FE294}"/>
                </a:ext>
              </a:extLst>
            </p:cNvPr>
            <p:cNvGrpSpPr/>
            <p:nvPr/>
          </p:nvGrpSpPr>
          <p:grpSpPr>
            <a:xfrm>
              <a:off x="640734" y="4591204"/>
              <a:ext cx="2601124" cy="665883"/>
              <a:chOff x="1626094" y="3075858"/>
              <a:chExt cx="2999172" cy="774092"/>
            </a:xfrm>
          </p:grpSpPr>
          <p:sp>
            <p:nvSpPr>
              <p:cNvPr id="36" name="矩形: 圓角 35">
                <a:extLst>
                  <a:ext uri="{FF2B5EF4-FFF2-40B4-BE49-F238E27FC236}">
                    <a16:creationId xmlns:a16="http://schemas.microsoft.com/office/drawing/2014/main" id="{8F6BDD36-EDEC-B53F-CD4D-AEA828D67157}"/>
                  </a:ext>
                </a:extLst>
              </p:cNvPr>
              <p:cNvSpPr/>
              <p:nvPr/>
            </p:nvSpPr>
            <p:spPr>
              <a:xfrm>
                <a:off x="1731146" y="3143667"/>
                <a:ext cx="2894120" cy="706283"/>
              </a:xfrm>
              <a:prstGeom prst="roundRect">
                <a:avLst/>
              </a:prstGeom>
            </p:spPr>
            <p:style>
              <a:lnRef idx="2">
                <a:schemeClr val="accent5">
                  <a:shade val="15000"/>
                </a:schemeClr>
              </a:lnRef>
              <a:fillRef idx="1">
                <a:schemeClr val="accent5"/>
              </a:fillRef>
              <a:effectRef idx="0">
                <a:schemeClr val="accent5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altLang="zh-TW" dirty="0">
                    <a:solidFill>
                      <a:schemeClr val="tx1"/>
                    </a:solidFill>
                  </a:rPr>
                  <a:t>Embedding Layer</a:t>
                </a:r>
                <a:endParaRPr lang="zh-TW" altLang="en-US" dirty="0">
                  <a:solidFill>
                    <a:schemeClr val="tx1"/>
                  </a:solidFill>
                </a:endParaRPr>
              </a:p>
            </p:txBody>
          </p: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37" name="矩形: 圓角 36">
                    <a:extLst>
                      <a:ext uri="{FF2B5EF4-FFF2-40B4-BE49-F238E27FC236}">
                        <a16:creationId xmlns:a16="http://schemas.microsoft.com/office/drawing/2014/main" id="{275D349D-365A-5D7D-0BA5-E56EEF2FAEBB}"/>
                      </a:ext>
                    </a:extLst>
                  </p:cNvPr>
                  <p:cNvSpPr/>
                  <p:nvPr/>
                </p:nvSpPr>
                <p:spPr>
                  <a:xfrm>
                    <a:off x="1626094" y="3075858"/>
                    <a:ext cx="2894120" cy="706283"/>
                  </a:xfrm>
                  <a:prstGeom prst="roundRect">
                    <a:avLst/>
                  </a:prstGeom>
                </p:spPr>
                <p:style>
                  <a:lnRef idx="2">
                    <a:schemeClr val="accent5">
                      <a:shade val="15000"/>
                    </a:schemeClr>
                  </a:lnRef>
                  <a:fillRef idx="1">
                    <a:schemeClr val="accent5"/>
                  </a:fillRef>
                  <a:effectRef idx="0">
                    <a:schemeClr val="accent5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r>
                      <a:rPr lang="en-US" altLang="zh-TW" dirty="0">
                        <a:solidFill>
                          <a:schemeClr val="tx1"/>
                        </a:solidFill>
                      </a:rPr>
                      <a:t>Transformer Block </a:t>
                    </a:r>
                    <a14:m>
                      <m:oMath xmlns:m="http://schemas.openxmlformats.org/officeDocument/2006/math">
                        <m:r>
                          <a:rPr lang="en-US" altLang="zh-TW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×</m:t>
                        </m:r>
                      </m:oMath>
                    </a14:m>
                    <a:r>
                      <a:rPr lang="zh-TW" altLang="en-US" b="0" dirty="0">
                        <a:solidFill>
                          <a:schemeClr val="tx1"/>
                        </a:solidFill>
                      </a:rPr>
                      <a:t> </a:t>
                    </a:r>
                    <a:r>
                      <a:rPr lang="en-US" altLang="zh-TW" b="0" dirty="0">
                        <a:solidFill>
                          <a:schemeClr val="tx1"/>
                        </a:solidFill>
                      </a:rPr>
                      <a:t>L</a:t>
                    </a:r>
                  </a:p>
                </p:txBody>
              </p:sp>
            </mc:Choice>
            <mc:Fallback xmlns="">
              <p:sp>
                <p:nvSpPr>
                  <p:cNvPr id="37" name="矩形: 圓角 36">
                    <a:extLst>
                      <a:ext uri="{FF2B5EF4-FFF2-40B4-BE49-F238E27FC236}">
                        <a16:creationId xmlns:a16="http://schemas.microsoft.com/office/drawing/2014/main" id="{275D349D-365A-5D7D-0BA5-E56EEF2FAEBB}"/>
                      </a:ext>
                    </a:extLst>
                  </p:cNvPr>
                  <p:cNvSpPr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1626094" y="3075858"/>
                    <a:ext cx="2894120" cy="706283"/>
                  </a:xfrm>
                  <a:prstGeom prst="roundRect">
                    <a:avLst/>
                  </a:prstGeom>
                  <a:blipFill>
                    <a:blip r:embed="rId3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zh-TW" alt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</p:grpSp>
        <p:sp>
          <p:nvSpPr>
            <p:cNvPr id="31" name="矩形: 圓角 30">
              <a:extLst>
                <a:ext uri="{FF2B5EF4-FFF2-40B4-BE49-F238E27FC236}">
                  <a16:creationId xmlns:a16="http://schemas.microsoft.com/office/drawing/2014/main" id="{B210C8D8-7F70-0C2B-EDA9-4E764EC5A105}"/>
                </a:ext>
              </a:extLst>
            </p:cNvPr>
            <p:cNvSpPr/>
            <p:nvPr/>
          </p:nvSpPr>
          <p:spPr>
            <a:xfrm>
              <a:off x="640734" y="3739715"/>
              <a:ext cx="2601124" cy="607553"/>
            </a:xfrm>
            <a:prstGeom prst="roundRect">
              <a:avLst/>
            </a:prstGeom>
          </p:spPr>
          <p:style>
            <a:lnRef idx="2">
              <a:schemeClr val="accent2">
                <a:shade val="15000"/>
              </a:schemeClr>
            </a:lnRef>
            <a:fillRef idx="1">
              <a:schemeClr val="accent2"/>
            </a:fillRef>
            <a:effectRef idx="0">
              <a:schemeClr val="accent2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TW" dirty="0">
                  <a:solidFill>
                    <a:schemeClr val="tx1"/>
                  </a:solidFill>
                </a:rPr>
                <a:t>hidden layer</a:t>
              </a:r>
              <a:endParaRPr lang="zh-TW" altLang="en-US" dirty="0">
                <a:solidFill>
                  <a:schemeClr val="tx1"/>
                </a:solidFill>
              </a:endParaRPr>
            </a:p>
          </p:txBody>
        </p:sp>
        <p:sp>
          <p:nvSpPr>
            <p:cNvPr id="32" name="箭號: 向上 31">
              <a:extLst>
                <a:ext uri="{FF2B5EF4-FFF2-40B4-BE49-F238E27FC236}">
                  <a16:creationId xmlns:a16="http://schemas.microsoft.com/office/drawing/2014/main" id="{4A57F663-63F4-A84D-A7C2-590874465FAE}"/>
                </a:ext>
              </a:extLst>
            </p:cNvPr>
            <p:cNvSpPr/>
            <p:nvPr/>
          </p:nvSpPr>
          <p:spPr>
            <a:xfrm>
              <a:off x="1814896" y="6163557"/>
              <a:ext cx="161688" cy="198553"/>
            </a:xfrm>
            <a:prstGeom prst="upArrow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33" name="箭號: 向上 32">
              <a:extLst>
                <a:ext uri="{FF2B5EF4-FFF2-40B4-BE49-F238E27FC236}">
                  <a16:creationId xmlns:a16="http://schemas.microsoft.com/office/drawing/2014/main" id="{F42EB6FD-5217-E696-917E-6E5575EE07BE}"/>
                </a:ext>
              </a:extLst>
            </p:cNvPr>
            <p:cNvSpPr/>
            <p:nvPr/>
          </p:nvSpPr>
          <p:spPr>
            <a:xfrm>
              <a:off x="1814896" y="5267214"/>
              <a:ext cx="161688" cy="198553"/>
            </a:xfrm>
            <a:prstGeom prst="upArrow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34" name="箭號: 向上 33">
              <a:extLst>
                <a:ext uri="{FF2B5EF4-FFF2-40B4-BE49-F238E27FC236}">
                  <a16:creationId xmlns:a16="http://schemas.microsoft.com/office/drawing/2014/main" id="{5B79B0C1-FFAB-FE39-AD40-7A5B3D48393B}"/>
                </a:ext>
              </a:extLst>
            </p:cNvPr>
            <p:cNvSpPr/>
            <p:nvPr/>
          </p:nvSpPr>
          <p:spPr>
            <a:xfrm>
              <a:off x="1814896" y="4373197"/>
              <a:ext cx="161688" cy="198553"/>
            </a:xfrm>
            <a:prstGeom prst="upArrow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35" name="文字方塊 34">
              <a:extLst>
                <a:ext uri="{FF2B5EF4-FFF2-40B4-BE49-F238E27FC236}">
                  <a16:creationId xmlns:a16="http://schemas.microsoft.com/office/drawing/2014/main" id="{417D5546-6CD9-5FB7-7727-02B79C679C56}"/>
                </a:ext>
              </a:extLst>
            </p:cNvPr>
            <p:cNvSpPr txBox="1"/>
            <p:nvPr/>
          </p:nvSpPr>
          <p:spPr>
            <a:xfrm>
              <a:off x="-479210" y="3292106"/>
              <a:ext cx="2510014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zh-TW" dirty="0"/>
                <a:t>Shared Trunk Network</a:t>
              </a:r>
              <a:endParaRPr lang="zh-TW" altLang="en-US" dirty="0"/>
            </a:p>
          </p:txBody>
        </p:sp>
      </p:grpSp>
      <p:grpSp>
        <p:nvGrpSpPr>
          <p:cNvPr id="38" name="群組 37">
            <a:extLst>
              <a:ext uri="{FF2B5EF4-FFF2-40B4-BE49-F238E27FC236}">
                <a16:creationId xmlns:a16="http://schemas.microsoft.com/office/drawing/2014/main" id="{564D8A92-4225-C515-6632-01A674C114EA}"/>
              </a:ext>
            </a:extLst>
          </p:cNvPr>
          <p:cNvGrpSpPr/>
          <p:nvPr/>
        </p:nvGrpSpPr>
        <p:grpSpPr>
          <a:xfrm>
            <a:off x="2823905" y="3053135"/>
            <a:ext cx="5910103" cy="474681"/>
            <a:chOff x="2654618" y="3043672"/>
            <a:chExt cx="5910103" cy="474681"/>
          </a:xfrm>
        </p:grpSpPr>
        <p:sp>
          <p:nvSpPr>
            <p:cNvPr id="39" name="箭號: 向上 38">
              <a:extLst>
                <a:ext uri="{FF2B5EF4-FFF2-40B4-BE49-F238E27FC236}">
                  <a16:creationId xmlns:a16="http://schemas.microsoft.com/office/drawing/2014/main" id="{FE33D9D5-C52F-037D-F0BE-6DE76EB553A9}"/>
                </a:ext>
              </a:extLst>
            </p:cNvPr>
            <p:cNvSpPr/>
            <p:nvPr/>
          </p:nvSpPr>
          <p:spPr>
            <a:xfrm>
              <a:off x="2654618" y="3086353"/>
              <a:ext cx="161688" cy="432000"/>
            </a:xfrm>
            <a:prstGeom prst="upArrow">
              <a:avLst/>
            </a:prstGeom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40" name="箭號: 上彎 39">
              <a:extLst>
                <a:ext uri="{FF2B5EF4-FFF2-40B4-BE49-F238E27FC236}">
                  <a16:creationId xmlns:a16="http://schemas.microsoft.com/office/drawing/2014/main" id="{891115AF-5B5A-0ED3-98FA-87B43103AD9D}"/>
                </a:ext>
              </a:extLst>
            </p:cNvPr>
            <p:cNvSpPr/>
            <p:nvPr/>
          </p:nvSpPr>
          <p:spPr>
            <a:xfrm>
              <a:off x="2711107" y="3043672"/>
              <a:ext cx="2917349" cy="304478"/>
            </a:xfrm>
            <a:prstGeom prst="bentUpArrow">
              <a:avLst/>
            </a:prstGeom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 dirty="0"/>
            </a:p>
          </p:txBody>
        </p:sp>
        <p:sp>
          <p:nvSpPr>
            <p:cNvPr id="41" name="箭號: 上彎 40">
              <a:extLst>
                <a:ext uri="{FF2B5EF4-FFF2-40B4-BE49-F238E27FC236}">
                  <a16:creationId xmlns:a16="http://schemas.microsoft.com/office/drawing/2014/main" id="{A975311E-7EE8-48E2-1978-BF3712F6BB10}"/>
                </a:ext>
              </a:extLst>
            </p:cNvPr>
            <p:cNvSpPr/>
            <p:nvPr/>
          </p:nvSpPr>
          <p:spPr>
            <a:xfrm>
              <a:off x="5544171" y="3043672"/>
              <a:ext cx="3020550" cy="304478"/>
            </a:xfrm>
            <a:prstGeom prst="bentUpArrow">
              <a:avLst/>
            </a:prstGeom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</p:grpSp>
      <p:grpSp>
        <p:nvGrpSpPr>
          <p:cNvPr id="59" name="群組 58">
            <a:extLst>
              <a:ext uri="{FF2B5EF4-FFF2-40B4-BE49-F238E27FC236}">
                <a16:creationId xmlns:a16="http://schemas.microsoft.com/office/drawing/2014/main" id="{154DEBAC-A7A2-9C52-6117-5D4F34984E50}"/>
              </a:ext>
            </a:extLst>
          </p:cNvPr>
          <p:cNvGrpSpPr/>
          <p:nvPr/>
        </p:nvGrpSpPr>
        <p:grpSpPr>
          <a:xfrm>
            <a:off x="1590919" y="1600954"/>
            <a:ext cx="8240542" cy="1440847"/>
            <a:chOff x="1403832" y="1568746"/>
            <a:chExt cx="8240542" cy="1440847"/>
          </a:xfrm>
        </p:grpSpPr>
        <p:grpSp>
          <p:nvGrpSpPr>
            <p:cNvPr id="43" name="群組 42">
              <a:extLst>
                <a:ext uri="{FF2B5EF4-FFF2-40B4-BE49-F238E27FC236}">
                  <a16:creationId xmlns:a16="http://schemas.microsoft.com/office/drawing/2014/main" id="{5244741F-B424-3715-CBEC-8E8C79D68552}"/>
                </a:ext>
              </a:extLst>
            </p:cNvPr>
            <p:cNvGrpSpPr/>
            <p:nvPr/>
          </p:nvGrpSpPr>
          <p:grpSpPr>
            <a:xfrm>
              <a:off x="1403832" y="1572359"/>
              <a:ext cx="2496659" cy="1437234"/>
              <a:chOff x="5015648" y="1510684"/>
              <a:chExt cx="2761191" cy="1590626"/>
            </a:xfrm>
          </p:grpSpPr>
          <p:sp>
            <p:nvSpPr>
              <p:cNvPr id="44" name="矩形: 圓角 43">
                <a:extLst>
                  <a:ext uri="{FF2B5EF4-FFF2-40B4-BE49-F238E27FC236}">
                    <a16:creationId xmlns:a16="http://schemas.microsoft.com/office/drawing/2014/main" id="{8A4821BB-4A0A-91F4-36A0-3609A20D1238}"/>
                  </a:ext>
                </a:extLst>
              </p:cNvPr>
              <p:cNvSpPr/>
              <p:nvPr/>
            </p:nvSpPr>
            <p:spPr>
              <a:xfrm>
                <a:off x="5157926" y="1889000"/>
                <a:ext cx="2618913" cy="1212310"/>
              </a:xfrm>
              <a:prstGeom prst="roundRect">
                <a:avLst/>
              </a:prstGeom>
              <a:ln>
                <a:prstDash val="dash"/>
              </a:ln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zh-TW" altLang="en-US"/>
              </a:p>
            </p:txBody>
          </p:sp>
          <p:sp>
            <p:nvSpPr>
              <p:cNvPr id="45" name="矩形: 圓角 44">
                <a:extLst>
                  <a:ext uri="{FF2B5EF4-FFF2-40B4-BE49-F238E27FC236}">
                    <a16:creationId xmlns:a16="http://schemas.microsoft.com/office/drawing/2014/main" id="{9174BA99-5FD4-2133-A867-E3AB089838E6}"/>
                  </a:ext>
                </a:extLst>
              </p:cNvPr>
              <p:cNvSpPr/>
              <p:nvPr/>
            </p:nvSpPr>
            <p:spPr>
              <a:xfrm>
                <a:off x="5402061" y="2135609"/>
                <a:ext cx="2130641" cy="719091"/>
              </a:xfrm>
              <a:prstGeom prst="roundRect">
                <a:avLst/>
              </a:prstGeom>
            </p:spPr>
            <p:style>
              <a:lnRef idx="2">
                <a:schemeClr val="accent5">
                  <a:shade val="15000"/>
                </a:schemeClr>
              </a:lnRef>
              <a:fillRef idx="1">
                <a:schemeClr val="accent5"/>
              </a:fillRef>
              <a:effectRef idx="0">
                <a:schemeClr val="accent5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altLang="zh-TW" dirty="0">
                    <a:solidFill>
                      <a:schemeClr val="tx1"/>
                    </a:solidFill>
                  </a:rPr>
                  <a:t>Transformer Block</a:t>
                </a:r>
                <a:endParaRPr lang="zh-TW" altLang="en-US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46" name="文字方塊 45">
                <a:extLst>
                  <a:ext uri="{FF2B5EF4-FFF2-40B4-BE49-F238E27FC236}">
                    <a16:creationId xmlns:a16="http://schemas.microsoft.com/office/drawing/2014/main" id="{8F87F7AF-5EC3-DC0C-F471-8DC2EBFA48AA}"/>
                  </a:ext>
                </a:extLst>
              </p:cNvPr>
              <p:cNvSpPr txBox="1"/>
              <p:nvPr/>
            </p:nvSpPr>
            <p:spPr>
              <a:xfrm>
                <a:off x="5015648" y="1510684"/>
                <a:ext cx="1473929" cy="40875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altLang="zh-TW" dirty="0"/>
                  <a:t>MTP Head 1</a:t>
                </a:r>
                <a:endParaRPr lang="zh-TW" altLang="en-US" dirty="0"/>
              </a:p>
            </p:txBody>
          </p:sp>
          <p:sp>
            <p:nvSpPr>
              <p:cNvPr id="47" name="箭號: 向上 46">
                <a:extLst>
                  <a:ext uri="{FF2B5EF4-FFF2-40B4-BE49-F238E27FC236}">
                    <a16:creationId xmlns:a16="http://schemas.microsoft.com/office/drawing/2014/main" id="{00A6C228-C15D-F068-01E1-D0BB335D1B86}"/>
                  </a:ext>
                </a:extLst>
              </p:cNvPr>
              <p:cNvSpPr/>
              <p:nvPr/>
            </p:nvSpPr>
            <p:spPr>
              <a:xfrm>
                <a:off x="6396361" y="1583173"/>
                <a:ext cx="186431" cy="230819"/>
              </a:xfrm>
              <a:prstGeom prst="upArrow">
                <a:avLst/>
              </a:prstGeom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TW" altLang="en-US"/>
              </a:p>
            </p:txBody>
          </p:sp>
        </p:grpSp>
        <p:grpSp>
          <p:nvGrpSpPr>
            <p:cNvPr id="48" name="群組 47">
              <a:extLst>
                <a:ext uri="{FF2B5EF4-FFF2-40B4-BE49-F238E27FC236}">
                  <a16:creationId xmlns:a16="http://schemas.microsoft.com/office/drawing/2014/main" id="{6241E75B-291D-DCB1-2B83-178284D97A37}"/>
                </a:ext>
              </a:extLst>
            </p:cNvPr>
            <p:cNvGrpSpPr/>
            <p:nvPr/>
          </p:nvGrpSpPr>
          <p:grpSpPr>
            <a:xfrm>
              <a:off x="4211450" y="1568746"/>
              <a:ext cx="2496659" cy="1437234"/>
              <a:chOff x="5015648" y="1510684"/>
              <a:chExt cx="2761191" cy="1590626"/>
            </a:xfrm>
          </p:grpSpPr>
          <p:sp>
            <p:nvSpPr>
              <p:cNvPr id="49" name="矩形: 圓角 48">
                <a:extLst>
                  <a:ext uri="{FF2B5EF4-FFF2-40B4-BE49-F238E27FC236}">
                    <a16:creationId xmlns:a16="http://schemas.microsoft.com/office/drawing/2014/main" id="{8A2C7EF4-2292-7DCE-1DEA-AC70C00E794E}"/>
                  </a:ext>
                </a:extLst>
              </p:cNvPr>
              <p:cNvSpPr/>
              <p:nvPr/>
            </p:nvSpPr>
            <p:spPr>
              <a:xfrm>
                <a:off x="5157926" y="1889000"/>
                <a:ext cx="2618913" cy="1212310"/>
              </a:xfrm>
              <a:prstGeom prst="roundRect">
                <a:avLst/>
              </a:prstGeom>
              <a:ln>
                <a:prstDash val="dash"/>
              </a:ln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zh-TW" altLang="en-US"/>
              </a:p>
            </p:txBody>
          </p:sp>
          <p:sp>
            <p:nvSpPr>
              <p:cNvPr id="50" name="矩形: 圓角 49">
                <a:extLst>
                  <a:ext uri="{FF2B5EF4-FFF2-40B4-BE49-F238E27FC236}">
                    <a16:creationId xmlns:a16="http://schemas.microsoft.com/office/drawing/2014/main" id="{FF13D42F-4D83-8FD7-5995-1ADA14F5CE91}"/>
                  </a:ext>
                </a:extLst>
              </p:cNvPr>
              <p:cNvSpPr/>
              <p:nvPr/>
            </p:nvSpPr>
            <p:spPr>
              <a:xfrm>
                <a:off x="5402061" y="2135609"/>
                <a:ext cx="2130641" cy="719091"/>
              </a:xfrm>
              <a:prstGeom prst="roundRect">
                <a:avLst/>
              </a:prstGeom>
            </p:spPr>
            <p:style>
              <a:lnRef idx="2">
                <a:schemeClr val="accent5">
                  <a:shade val="15000"/>
                </a:schemeClr>
              </a:lnRef>
              <a:fillRef idx="1">
                <a:schemeClr val="accent5"/>
              </a:fillRef>
              <a:effectRef idx="0">
                <a:schemeClr val="accent5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altLang="zh-TW" dirty="0">
                    <a:solidFill>
                      <a:schemeClr val="tx1"/>
                    </a:solidFill>
                  </a:rPr>
                  <a:t>Transformer Block</a:t>
                </a:r>
                <a:endParaRPr lang="zh-TW" altLang="en-US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51" name="文字方塊 50">
                <a:extLst>
                  <a:ext uri="{FF2B5EF4-FFF2-40B4-BE49-F238E27FC236}">
                    <a16:creationId xmlns:a16="http://schemas.microsoft.com/office/drawing/2014/main" id="{E84C5157-DE62-AD74-BC01-BEF2DD2C5F63}"/>
                  </a:ext>
                </a:extLst>
              </p:cNvPr>
              <p:cNvSpPr txBox="1"/>
              <p:nvPr/>
            </p:nvSpPr>
            <p:spPr>
              <a:xfrm>
                <a:off x="5015648" y="1510684"/>
                <a:ext cx="1473929" cy="40875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altLang="zh-TW" dirty="0"/>
                  <a:t>MTP Head 2</a:t>
                </a:r>
                <a:endParaRPr lang="zh-TW" altLang="en-US" dirty="0"/>
              </a:p>
            </p:txBody>
          </p:sp>
          <p:sp>
            <p:nvSpPr>
              <p:cNvPr id="52" name="箭號: 向上 51">
                <a:extLst>
                  <a:ext uri="{FF2B5EF4-FFF2-40B4-BE49-F238E27FC236}">
                    <a16:creationId xmlns:a16="http://schemas.microsoft.com/office/drawing/2014/main" id="{0B56BD44-B623-C225-B832-CC36664B6744}"/>
                  </a:ext>
                </a:extLst>
              </p:cNvPr>
              <p:cNvSpPr/>
              <p:nvPr/>
            </p:nvSpPr>
            <p:spPr>
              <a:xfrm>
                <a:off x="6396361" y="1583173"/>
                <a:ext cx="186431" cy="230819"/>
              </a:xfrm>
              <a:prstGeom prst="upArrow">
                <a:avLst/>
              </a:prstGeom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TW" altLang="en-US" dirty="0"/>
              </a:p>
            </p:txBody>
          </p:sp>
        </p:grpSp>
        <p:grpSp>
          <p:nvGrpSpPr>
            <p:cNvPr id="53" name="群組 52">
              <a:extLst>
                <a:ext uri="{FF2B5EF4-FFF2-40B4-BE49-F238E27FC236}">
                  <a16:creationId xmlns:a16="http://schemas.microsoft.com/office/drawing/2014/main" id="{081D907E-75C3-5C12-BA87-3D67F028F09B}"/>
                </a:ext>
              </a:extLst>
            </p:cNvPr>
            <p:cNvGrpSpPr/>
            <p:nvPr/>
          </p:nvGrpSpPr>
          <p:grpSpPr>
            <a:xfrm>
              <a:off x="7147715" y="1570626"/>
              <a:ext cx="2496659" cy="1437234"/>
              <a:chOff x="5015648" y="1510684"/>
              <a:chExt cx="2761191" cy="1590626"/>
            </a:xfrm>
          </p:grpSpPr>
          <p:sp>
            <p:nvSpPr>
              <p:cNvPr id="54" name="矩形: 圓角 53">
                <a:extLst>
                  <a:ext uri="{FF2B5EF4-FFF2-40B4-BE49-F238E27FC236}">
                    <a16:creationId xmlns:a16="http://schemas.microsoft.com/office/drawing/2014/main" id="{0D069134-A8DE-DB3B-C2E7-3AB5B2A94A50}"/>
                  </a:ext>
                </a:extLst>
              </p:cNvPr>
              <p:cNvSpPr/>
              <p:nvPr/>
            </p:nvSpPr>
            <p:spPr>
              <a:xfrm>
                <a:off x="5157926" y="1889000"/>
                <a:ext cx="2618913" cy="1212310"/>
              </a:xfrm>
              <a:prstGeom prst="roundRect">
                <a:avLst/>
              </a:prstGeom>
              <a:ln>
                <a:prstDash val="dash"/>
              </a:ln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zh-TW" altLang="en-US" dirty="0"/>
              </a:p>
            </p:txBody>
          </p:sp>
          <p:sp>
            <p:nvSpPr>
              <p:cNvPr id="55" name="矩形: 圓角 54">
                <a:extLst>
                  <a:ext uri="{FF2B5EF4-FFF2-40B4-BE49-F238E27FC236}">
                    <a16:creationId xmlns:a16="http://schemas.microsoft.com/office/drawing/2014/main" id="{C731E410-FD63-F22D-2378-4114B76B9FEE}"/>
                  </a:ext>
                </a:extLst>
              </p:cNvPr>
              <p:cNvSpPr/>
              <p:nvPr/>
            </p:nvSpPr>
            <p:spPr>
              <a:xfrm>
                <a:off x="5402061" y="2135609"/>
                <a:ext cx="2130641" cy="719091"/>
              </a:xfrm>
              <a:prstGeom prst="roundRect">
                <a:avLst/>
              </a:prstGeom>
            </p:spPr>
            <p:style>
              <a:lnRef idx="2">
                <a:schemeClr val="accent5">
                  <a:shade val="15000"/>
                </a:schemeClr>
              </a:lnRef>
              <a:fillRef idx="1">
                <a:schemeClr val="accent5"/>
              </a:fillRef>
              <a:effectRef idx="0">
                <a:schemeClr val="accent5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altLang="zh-TW" dirty="0">
                    <a:solidFill>
                      <a:schemeClr val="tx1"/>
                    </a:solidFill>
                  </a:rPr>
                  <a:t>Transformer Block</a:t>
                </a:r>
                <a:endParaRPr lang="zh-TW" altLang="en-US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56" name="文字方塊 55">
                <a:extLst>
                  <a:ext uri="{FF2B5EF4-FFF2-40B4-BE49-F238E27FC236}">
                    <a16:creationId xmlns:a16="http://schemas.microsoft.com/office/drawing/2014/main" id="{111C2AE9-5CF8-02CD-EB7A-C9262322F44E}"/>
                  </a:ext>
                </a:extLst>
              </p:cNvPr>
              <p:cNvSpPr txBox="1"/>
              <p:nvPr/>
            </p:nvSpPr>
            <p:spPr>
              <a:xfrm>
                <a:off x="5015648" y="1510684"/>
                <a:ext cx="1473929" cy="40875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altLang="zh-TW" dirty="0"/>
                  <a:t>MTP Head K</a:t>
                </a:r>
                <a:endParaRPr lang="zh-TW" altLang="en-US" dirty="0"/>
              </a:p>
            </p:txBody>
          </p:sp>
          <p:sp>
            <p:nvSpPr>
              <p:cNvPr id="57" name="箭號: 向上 56">
                <a:extLst>
                  <a:ext uri="{FF2B5EF4-FFF2-40B4-BE49-F238E27FC236}">
                    <a16:creationId xmlns:a16="http://schemas.microsoft.com/office/drawing/2014/main" id="{5B7C456D-0DFE-F0AD-0AF7-A7A126809611}"/>
                  </a:ext>
                </a:extLst>
              </p:cNvPr>
              <p:cNvSpPr/>
              <p:nvPr/>
            </p:nvSpPr>
            <p:spPr>
              <a:xfrm>
                <a:off x="6396361" y="1583173"/>
                <a:ext cx="186431" cy="230819"/>
              </a:xfrm>
              <a:prstGeom prst="upArrow">
                <a:avLst/>
              </a:prstGeom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TW" altLang="en-US"/>
              </a:p>
            </p:txBody>
          </p:sp>
        </p:grpSp>
        <p:sp>
          <p:nvSpPr>
            <p:cNvPr id="58" name="文字方塊 57">
              <a:extLst>
                <a:ext uri="{FF2B5EF4-FFF2-40B4-BE49-F238E27FC236}">
                  <a16:creationId xmlns:a16="http://schemas.microsoft.com/office/drawing/2014/main" id="{9D308BDC-6DD4-997C-1324-C3A74C916B13}"/>
                </a:ext>
              </a:extLst>
            </p:cNvPr>
            <p:cNvSpPr txBox="1"/>
            <p:nvPr/>
          </p:nvSpPr>
          <p:spPr>
            <a:xfrm>
              <a:off x="6708107" y="2284266"/>
              <a:ext cx="568251" cy="369332"/>
            </a:xfrm>
            <a:prstGeom prst="rect">
              <a:avLst/>
            </a:prstGeom>
            <a:noFill/>
          </p:spPr>
          <p:txBody>
            <a:bodyPr wrap="square" rtlCol="0" anchor="ctr">
              <a:spAutoFit/>
            </a:bodyPr>
            <a:lstStyle/>
            <a:p>
              <a:pPr algn="ctr"/>
              <a:r>
                <a:rPr lang="en-US" altLang="zh-TW" dirty="0"/>
                <a:t>… …</a:t>
              </a:r>
              <a:endParaRPr lang="zh-TW" altLang="en-US" dirty="0"/>
            </a:p>
          </p:txBody>
        </p:sp>
      </p:grpSp>
      <p:sp>
        <p:nvSpPr>
          <p:cNvPr id="60" name="矩形: 圓角 59">
            <a:extLst>
              <a:ext uri="{FF2B5EF4-FFF2-40B4-BE49-F238E27FC236}">
                <a16:creationId xmlns:a16="http://schemas.microsoft.com/office/drawing/2014/main" id="{8C0DF537-A743-4131-4AD6-11A576126F40}"/>
              </a:ext>
            </a:extLst>
          </p:cNvPr>
          <p:cNvSpPr/>
          <p:nvPr/>
        </p:nvSpPr>
        <p:spPr>
          <a:xfrm>
            <a:off x="1469116" y="1250305"/>
            <a:ext cx="8484145" cy="369763"/>
          </a:xfrm>
          <a:prstGeom prst="roundRect">
            <a:avLst/>
          </a:prstGeom>
        </p:spPr>
        <p:style>
          <a:lnRef idx="2">
            <a:schemeClr val="accent4">
              <a:shade val="15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TW" dirty="0">
                <a:solidFill>
                  <a:schemeClr val="tx1"/>
                </a:solidFill>
              </a:rPr>
              <a:t>Position-wise FFN</a:t>
            </a:r>
            <a:endParaRPr lang="zh-TW" altLang="en-US" dirty="0">
              <a:solidFill>
                <a:schemeClr val="tx1"/>
              </a:solidFill>
            </a:endParaRPr>
          </a:p>
        </p:txBody>
      </p:sp>
      <p:grpSp>
        <p:nvGrpSpPr>
          <p:cNvPr id="61" name="群組 60">
            <a:extLst>
              <a:ext uri="{FF2B5EF4-FFF2-40B4-BE49-F238E27FC236}">
                <a16:creationId xmlns:a16="http://schemas.microsoft.com/office/drawing/2014/main" id="{9813407C-8571-9B1F-03F6-0BE6058BFA7B}"/>
              </a:ext>
            </a:extLst>
          </p:cNvPr>
          <p:cNvGrpSpPr/>
          <p:nvPr/>
        </p:nvGrpSpPr>
        <p:grpSpPr>
          <a:xfrm>
            <a:off x="545128" y="724529"/>
            <a:ext cx="9596563" cy="468605"/>
            <a:chOff x="47811" y="1058033"/>
            <a:chExt cx="9596563" cy="468605"/>
          </a:xfrm>
        </p:grpSpPr>
        <p:sp>
          <p:nvSpPr>
            <p:cNvPr id="62" name="文字方塊 61">
              <a:extLst>
                <a:ext uri="{FF2B5EF4-FFF2-40B4-BE49-F238E27FC236}">
                  <a16:creationId xmlns:a16="http://schemas.microsoft.com/office/drawing/2014/main" id="{80B00B47-67B2-A662-D0C0-A702A8F0A8E9}"/>
                </a:ext>
              </a:extLst>
            </p:cNvPr>
            <p:cNvSpPr txBox="1"/>
            <p:nvPr/>
          </p:nvSpPr>
          <p:spPr>
            <a:xfrm>
              <a:off x="47811" y="1150374"/>
              <a:ext cx="1454702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zh-TW" dirty="0"/>
                <a:t>Output Token</a:t>
              </a:r>
              <a:endParaRPr lang="zh-TW" altLang="en-US" dirty="0"/>
            </a:p>
          </p:txBody>
        </p:sp>
        <p:grpSp>
          <p:nvGrpSpPr>
            <p:cNvPr id="63" name="群組 62">
              <a:extLst>
                <a:ext uri="{FF2B5EF4-FFF2-40B4-BE49-F238E27FC236}">
                  <a16:creationId xmlns:a16="http://schemas.microsoft.com/office/drawing/2014/main" id="{B6B3EE4D-6C91-5E6A-4138-88A336C479FB}"/>
                </a:ext>
              </a:extLst>
            </p:cNvPr>
            <p:cNvGrpSpPr/>
            <p:nvPr/>
          </p:nvGrpSpPr>
          <p:grpSpPr>
            <a:xfrm>
              <a:off x="1617869" y="1058033"/>
              <a:ext cx="8026505" cy="468605"/>
              <a:chOff x="1617869" y="1058033"/>
              <a:chExt cx="8026505" cy="468605"/>
            </a:xfrm>
          </p:grpSpPr>
          <p:grpSp>
            <p:nvGrpSpPr>
              <p:cNvPr id="64" name="群組 63">
                <a:extLst>
                  <a:ext uri="{FF2B5EF4-FFF2-40B4-BE49-F238E27FC236}">
                    <a16:creationId xmlns:a16="http://schemas.microsoft.com/office/drawing/2014/main" id="{C181C5A4-CB6A-9EC5-43E9-856E8423990A}"/>
                  </a:ext>
                </a:extLst>
              </p:cNvPr>
              <p:cNvGrpSpPr/>
              <p:nvPr/>
            </p:nvGrpSpPr>
            <p:grpSpPr>
              <a:xfrm>
                <a:off x="1617869" y="1093362"/>
                <a:ext cx="2186475" cy="433276"/>
                <a:chOff x="1401542" y="6225945"/>
                <a:chExt cx="2186475" cy="433276"/>
              </a:xfrm>
            </p:grpSpPr>
            <p:sp>
              <p:nvSpPr>
                <p:cNvPr id="75" name="矩形 74">
                  <a:extLst>
                    <a:ext uri="{FF2B5EF4-FFF2-40B4-BE49-F238E27FC236}">
                      <a16:creationId xmlns:a16="http://schemas.microsoft.com/office/drawing/2014/main" id="{E8F273A4-6537-81E7-5188-C807DF210F7F}"/>
                    </a:ext>
                  </a:extLst>
                </p:cNvPr>
                <p:cNvSpPr/>
                <p:nvPr/>
              </p:nvSpPr>
              <p:spPr>
                <a:xfrm>
                  <a:off x="1401542" y="6289889"/>
                  <a:ext cx="351683" cy="369332"/>
                </a:xfrm>
                <a:prstGeom prst="rect">
                  <a:avLst/>
                </a:prstGeom>
                <a:solidFill>
                  <a:schemeClr val="accent1">
                    <a:lumMod val="20000"/>
                    <a:lumOff val="80000"/>
                  </a:schemeClr>
                </a:solidFill>
              </p:spPr>
              <p:style>
                <a:lnRef idx="2">
                  <a:schemeClr val="accent3">
                    <a:shade val="15000"/>
                  </a:schemeClr>
                </a:lnRef>
                <a:fillRef idx="1">
                  <a:schemeClr val="accent3"/>
                </a:fillRef>
                <a:effectRef idx="0">
                  <a:schemeClr val="accent3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en-US" altLang="zh-TW" dirty="0">
                      <a:solidFill>
                        <a:schemeClr val="tx1"/>
                      </a:solidFill>
                    </a:rPr>
                    <a:t>t</a:t>
                  </a:r>
                  <a:r>
                    <a:rPr lang="en-US" altLang="zh-TW" baseline="-25000" dirty="0">
                      <a:solidFill>
                        <a:schemeClr val="tx1"/>
                      </a:solidFill>
                    </a:rPr>
                    <a:t>1</a:t>
                  </a:r>
                </a:p>
              </p:txBody>
            </p:sp>
            <p:sp>
              <p:nvSpPr>
                <p:cNvPr id="76" name="矩形 75">
                  <a:extLst>
                    <a:ext uri="{FF2B5EF4-FFF2-40B4-BE49-F238E27FC236}">
                      <a16:creationId xmlns:a16="http://schemas.microsoft.com/office/drawing/2014/main" id="{76C4E416-E83B-ACB7-08F7-3FF2B5F219C3}"/>
                    </a:ext>
                  </a:extLst>
                </p:cNvPr>
                <p:cNvSpPr/>
                <p:nvPr/>
              </p:nvSpPr>
              <p:spPr>
                <a:xfrm>
                  <a:off x="1894350" y="6289889"/>
                  <a:ext cx="351683" cy="369332"/>
                </a:xfrm>
                <a:prstGeom prst="rect">
                  <a:avLst/>
                </a:prstGeom>
                <a:solidFill>
                  <a:schemeClr val="accent1">
                    <a:lumMod val="20000"/>
                    <a:lumOff val="80000"/>
                  </a:schemeClr>
                </a:solidFill>
              </p:spPr>
              <p:style>
                <a:lnRef idx="2">
                  <a:schemeClr val="accent3">
                    <a:shade val="15000"/>
                  </a:schemeClr>
                </a:lnRef>
                <a:fillRef idx="1">
                  <a:schemeClr val="accent3"/>
                </a:fillRef>
                <a:effectRef idx="0">
                  <a:schemeClr val="accent3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en-US" altLang="zh-TW" dirty="0">
                      <a:solidFill>
                        <a:schemeClr val="tx1"/>
                      </a:solidFill>
                    </a:rPr>
                    <a:t>t</a:t>
                  </a:r>
                  <a:r>
                    <a:rPr lang="en-US" altLang="zh-TW" baseline="-25000" dirty="0">
                      <a:solidFill>
                        <a:schemeClr val="tx1"/>
                      </a:solidFill>
                    </a:rPr>
                    <a:t>2</a:t>
                  </a:r>
                </a:p>
              </p:txBody>
            </p:sp>
            <p:sp>
              <p:nvSpPr>
                <p:cNvPr id="77" name="文字方塊 76">
                  <a:extLst>
                    <a:ext uri="{FF2B5EF4-FFF2-40B4-BE49-F238E27FC236}">
                      <a16:creationId xmlns:a16="http://schemas.microsoft.com/office/drawing/2014/main" id="{8C17652F-787E-D956-FF4D-C50E025B0F89}"/>
                    </a:ext>
                  </a:extLst>
                </p:cNvPr>
                <p:cNvSpPr txBox="1"/>
                <p:nvPr/>
              </p:nvSpPr>
              <p:spPr>
                <a:xfrm>
                  <a:off x="2386495" y="6225945"/>
                  <a:ext cx="568251" cy="369332"/>
                </a:xfrm>
                <a:prstGeom prst="rect">
                  <a:avLst/>
                </a:prstGeom>
                <a:noFill/>
              </p:spPr>
              <p:txBody>
                <a:bodyPr wrap="square" rtlCol="0" anchor="ctr">
                  <a:spAutoFit/>
                </a:bodyPr>
                <a:lstStyle/>
                <a:p>
                  <a:pPr algn="ctr"/>
                  <a:r>
                    <a:rPr lang="en-US" altLang="zh-TW" dirty="0"/>
                    <a:t>… …</a:t>
                  </a:r>
                  <a:endParaRPr lang="zh-TW" altLang="en-US" dirty="0"/>
                </a:p>
              </p:txBody>
            </p:sp>
            <p:sp>
              <p:nvSpPr>
                <p:cNvPr id="78" name="矩形 77">
                  <a:extLst>
                    <a:ext uri="{FF2B5EF4-FFF2-40B4-BE49-F238E27FC236}">
                      <a16:creationId xmlns:a16="http://schemas.microsoft.com/office/drawing/2014/main" id="{E666BF87-860F-B499-8974-80C8AA9ABD7A}"/>
                    </a:ext>
                  </a:extLst>
                </p:cNvPr>
                <p:cNvSpPr/>
                <p:nvPr/>
              </p:nvSpPr>
              <p:spPr>
                <a:xfrm>
                  <a:off x="3095209" y="6289889"/>
                  <a:ext cx="492808" cy="369332"/>
                </a:xfrm>
                <a:prstGeom prst="rect">
                  <a:avLst/>
                </a:prstGeom>
                <a:solidFill>
                  <a:schemeClr val="accent1">
                    <a:lumMod val="20000"/>
                    <a:lumOff val="80000"/>
                  </a:schemeClr>
                </a:solidFill>
              </p:spPr>
              <p:style>
                <a:lnRef idx="2">
                  <a:schemeClr val="accent3">
                    <a:shade val="15000"/>
                  </a:schemeClr>
                </a:lnRef>
                <a:fillRef idx="1">
                  <a:schemeClr val="accent3"/>
                </a:fillRef>
                <a:effectRef idx="0">
                  <a:schemeClr val="accent3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en-US" altLang="zh-TW" dirty="0" err="1">
                      <a:solidFill>
                        <a:schemeClr val="tx1"/>
                      </a:solidFill>
                    </a:rPr>
                    <a:t>t</a:t>
                  </a:r>
                  <a:r>
                    <a:rPr lang="en-US" altLang="zh-TW" baseline="-25000" dirty="0" err="1">
                      <a:solidFill>
                        <a:schemeClr val="tx1"/>
                      </a:solidFill>
                    </a:rPr>
                    <a:t>T</a:t>
                  </a:r>
                  <a:endParaRPr lang="en-US" altLang="zh-TW" baseline="-25000" dirty="0">
                    <a:solidFill>
                      <a:schemeClr val="tx1"/>
                    </a:solidFill>
                  </a:endParaRPr>
                </a:p>
              </p:txBody>
            </p:sp>
          </p:grpSp>
          <p:grpSp>
            <p:nvGrpSpPr>
              <p:cNvPr id="65" name="群組 64">
                <a:extLst>
                  <a:ext uri="{FF2B5EF4-FFF2-40B4-BE49-F238E27FC236}">
                    <a16:creationId xmlns:a16="http://schemas.microsoft.com/office/drawing/2014/main" id="{7A161CCD-65AC-6D02-7A44-212DC4727313}"/>
                  </a:ext>
                </a:extLst>
              </p:cNvPr>
              <p:cNvGrpSpPr/>
              <p:nvPr/>
            </p:nvGrpSpPr>
            <p:grpSpPr>
              <a:xfrm>
                <a:off x="4430864" y="1058033"/>
                <a:ext cx="2186475" cy="433276"/>
                <a:chOff x="1401542" y="6225945"/>
                <a:chExt cx="2186475" cy="433276"/>
              </a:xfrm>
            </p:grpSpPr>
            <p:sp>
              <p:nvSpPr>
                <p:cNvPr id="71" name="矩形 70">
                  <a:extLst>
                    <a:ext uri="{FF2B5EF4-FFF2-40B4-BE49-F238E27FC236}">
                      <a16:creationId xmlns:a16="http://schemas.microsoft.com/office/drawing/2014/main" id="{821DA31A-D807-06D4-CD03-E007385A9956}"/>
                    </a:ext>
                  </a:extLst>
                </p:cNvPr>
                <p:cNvSpPr/>
                <p:nvPr/>
              </p:nvSpPr>
              <p:spPr>
                <a:xfrm>
                  <a:off x="1401542" y="6289889"/>
                  <a:ext cx="351683" cy="369332"/>
                </a:xfrm>
                <a:prstGeom prst="rect">
                  <a:avLst/>
                </a:prstGeom>
                <a:solidFill>
                  <a:schemeClr val="accent1">
                    <a:lumMod val="20000"/>
                    <a:lumOff val="80000"/>
                  </a:schemeClr>
                </a:solidFill>
              </p:spPr>
              <p:style>
                <a:lnRef idx="2">
                  <a:schemeClr val="accent3">
                    <a:shade val="15000"/>
                  </a:schemeClr>
                </a:lnRef>
                <a:fillRef idx="1">
                  <a:schemeClr val="accent3"/>
                </a:fillRef>
                <a:effectRef idx="0">
                  <a:schemeClr val="accent3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en-US" altLang="zh-TW" dirty="0">
                      <a:solidFill>
                        <a:schemeClr val="tx1"/>
                      </a:solidFill>
                    </a:rPr>
                    <a:t>t</a:t>
                  </a:r>
                  <a:r>
                    <a:rPr lang="en-US" altLang="zh-TW" baseline="-25000" dirty="0">
                      <a:solidFill>
                        <a:schemeClr val="tx1"/>
                      </a:solidFill>
                    </a:rPr>
                    <a:t>2</a:t>
                  </a:r>
                </a:p>
              </p:txBody>
            </p:sp>
            <p:sp>
              <p:nvSpPr>
                <p:cNvPr id="72" name="矩形 71">
                  <a:extLst>
                    <a:ext uri="{FF2B5EF4-FFF2-40B4-BE49-F238E27FC236}">
                      <a16:creationId xmlns:a16="http://schemas.microsoft.com/office/drawing/2014/main" id="{76C4EBC5-5944-DFAB-571C-9FEC73F05412}"/>
                    </a:ext>
                  </a:extLst>
                </p:cNvPr>
                <p:cNvSpPr/>
                <p:nvPr/>
              </p:nvSpPr>
              <p:spPr>
                <a:xfrm>
                  <a:off x="1894350" y="6289889"/>
                  <a:ext cx="351683" cy="369332"/>
                </a:xfrm>
                <a:prstGeom prst="rect">
                  <a:avLst/>
                </a:prstGeom>
                <a:solidFill>
                  <a:schemeClr val="accent1">
                    <a:lumMod val="20000"/>
                    <a:lumOff val="80000"/>
                  </a:schemeClr>
                </a:solidFill>
              </p:spPr>
              <p:style>
                <a:lnRef idx="2">
                  <a:schemeClr val="accent3">
                    <a:shade val="15000"/>
                  </a:schemeClr>
                </a:lnRef>
                <a:fillRef idx="1">
                  <a:schemeClr val="accent3"/>
                </a:fillRef>
                <a:effectRef idx="0">
                  <a:schemeClr val="accent3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en-US" altLang="zh-TW" dirty="0">
                      <a:solidFill>
                        <a:schemeClr val="tx1"/>
                      </a:solidFill>
                    </a:rPr>
                    <a:t>t</a:t>
                  </a:r>
                  <a:r>
                    <a:rPr lang="en-US" altLang="zh-TW" baseline="-25000" dirty="0">
                      <a:solidFill>
                        <a:schemeClr val="tx1"/>
                      </a:solidFill>
                    </a:rPr>
                    <a:t>3</a:t>
                  </a:r>
                </a:p>
              </p:txBody>
            </p:sp>
            <p:sp>
              <p:nvSpPr>
                <p:cNvPr id="73" name="文字方塊 72">
                  <a:extLst>
                    <a:ext uri="{FF2B5EF4-FFF2-40B4-BE49-F238E27FC236}">
                      <a16:creationId xmlns:a16="http://schemas.microsoft.com/office/drawing/2014/main" id="{E72ADD5D-AE16-F8D1-AD61-EE83955BFA79}"/>
                    </a:ext>
                  </a:extLst>
                </p:cNvPr>
                <p:cNvSpPr txBox="1"/>
                <p:nvPr/>
              </p:nvSpPr>
              <p:spPr>
                <a:xfrm>
                  <a:off x="2386495" y="6225945"/>
                  <a:ext cx="568251" cy="369332"/>
                </a:xfrm>
                <a:prstGeom prst="rect">
                  <a:avLst/>
                </a:prstGeom>
                <a:noFill/>
              </p:spPr>
              <p:txBody>
                <a:bodyPr wrap="square" rtlCol="0" anchor="ctr">
                  <a:spAutoFit/>
                </a:bodyPr>
                <a:lstStyle/>
                <a:p>
                  <a:pPr algn="ctr"/>
                  <a:r>
                    <a:rPr lang="en-US" altLang="zh-TW" dirty="0"/>
                    <a:t>… …</a:t>
                  </a:r>
                  <a:endParaRPr lang="zh-TW" altLang="en-US" dirty="0"/>
                </a:p>
              </p:txBody>
            </p:sp>
            <p:sp>
              <p:nvSpPr>
                <p:cNvPr id="74" name="矩形 73">
                  <a:extLst>
                    <a:ext uri="{FF2B5EF4-FFF2-40B4-BE49-F238E27FC236}">
                      <a16:creationId xmlns:a16="http://schemas.microsoft.com/office/drawing/2014/main" id="{38BEDFF7-EAD9-883B-905D-8FBF0241A43C}"/>
                    </a:ext>
                  </a:extLst>
                </p:cNvPr>
                <p:cNvSpPr/>
                <p:nvPr/>
              </p:nvSpPr>
              <p:spPr>
                <a:xfrm>
                  <a:off x="3095209" y="6289889"/>
                  <a:ext cx="492808" cy="369332"/>
                </a:xfrm>
                <a:prstGeom prst="rect">
                  <a:avLst/>
                </a:prstGeom>
                <a:solidFill>
                  <a:schemeClr val="accent1">
                    <a:lumMod val="20000"/>
                    <a:lumOff val="80000"/>
                  </a:schemeClr>
                </a:solidFill>
              </p:spPr>
              <p:style>
                <a:lnRef idx="2">
                  <a:schemeClr val="accent3">
                    <a:shade val="15000"/>
                  </a:schemeClr>
                </a:lnRef>
                <a:fillRef idx="1">
                  <a:schemeClr val="accent3"/>
                </a:fillRef>
                <a:effectRef idx="0">
                  <a:schemeClr val="accent3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en-US" altLang="zh-TW" dirty="0">
                      <a:solidFill>
                        <a:schemeClr val="tx1"/>
                      </a:solidFill>
                    </a:rPr>
                    <a:t>t</a:t>
                  </a:r>
                  <a:r>
                    <a:rPr lang="en-US" altLang="zh-TW" baseline="-25000" dirty="0">
                      <a:solidFill>
                        <a:schemeClr val="tx1"/>
                      </a:solidFill>
                    </a:rPr>
                    <a:t>T+1</a:t>
                  </a:r>
                </a:p>
              </p:txBody>
            </p:sp>
          </p:grpSp>
          <p:grpSp>
            <p:nvGrpSpPr>
              <p:cNvPr id="66" name="群組 65">
                <a:extLst>
                  <a:ext uri="{FF2B5EF4-FFF2-40B4-BE49-F238E27FC236}">
                    <a16:creationId xmlns:a16="http://schemas.microsoft.com/office/drawing/2014/main" id="{BE47FB69-2BE5-B288-1C2C-8B48A7505BB2}"/>
                  </a:ext>
                </a:extLst>
              </p:cNvPr>
              <p:cNvGrpSpPr/>
              <p:nvPr/>
            </p:nvGrpSpPr>
            <p:grpSpPr>
              <a:xfrm>
                <a:off x="7302913" y="1058033"/>
                <a:ext cx="2341461" cy="433276"/>
                <a:chOff x="1401542" y="6225945"/>
                <a:chExt cx="2341461" cy="433276"/>
              </a:xfrm>
            </p:grpSpPr>
            <p:sp>
              <p:nvSpPr>
                <p:cNvPr id="67" name="矩形 66">
                  <a:extLst>
                    <a:ext uri="{FF2B5EF4-FFF2-40B4-BE49-F238E27FC236}">
                      <a16:creationId xmlns:a16="http://schemas.microsoft.com/office/drawing/2014/main" id="{695BF23E-44AF-CC59-C489-F61BBB9006E0}"/>
                    </a:ext>
                  </a:extLst>
                </p:cNvPr>
                <p:cNvSpPr/>
                <p:nvPr/>
              </p:nvSpPr>
              <p:spPr>
                <a:xfrm>
                  <a:off x="1401542" y="6289889"/>
                  <a:ext cx="351683" cy="369332"/>
                </a:xfrm>
                <a:prstGeom prst="rect">
                  <a:avLst/>
                </a:prstGeom>
                <a:solidFill>
                  <a:schemeClr val="accent1">
                    <a:lumMod val="20000"/>
                    <a:lumOff val="80000"/>
                  </a:schemeClr>
                </a:solidFill>
              </p:spPr>
              <p:style>
                <a:lnRef idx="2">
                  <a:schemeClr val="accent3">
                    <a:shade val="15000"/>
                  </a:schemeClr>
                </a:lnRef>
                <a:fillRef idx="1">
                  <a:schemeClr val="accent3"/>
                </a:fillRef>
                <a:effectRef idx="0">
                  <a:schemeClr val="accent3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en-US" altLang="zh-TW" dirty="0" err="1">
                      <a:solidFill>
                        <a:schemeClr val="tx1"/>
                      </a:solidFill>
                    </a:rPr>
                    <a:t>t</a:t>
                  </a:r>
                  <a:r>
                    <a:rPr lang="en-US" altLang="zh-TW" baseline="-25000" dirty="0" err="1">
                      <a:solidFill>
                        <a:schemeClr val="tx1"/>
                      </a:solidFill>
                    </a:rPr>
                    <a:t>k</a:t>
                  </a:r>
                  <a:endParaRPr lang="en-US" altLang="zh-TW" baseline="-25000" dirty="0">
                    <a:solidFill>
                      <a:schemeClr val="tx1"/>
                    </a:solidFill>
                  </a:endParaRPr>
                </a:p>
              </p:txBody>
            </p:sp>
            <p:sp>
              <p:nvSpPr>
                <p:cNvPr id="68" name="矩形 67">
                  <a:extLst>
                    <a:ext uri="{FF2B5EF4-FFF2-40B4-BE49-F238E27FC236}">
                      <a16:creationId xmlns:a16="http://schemas.microsoft.com/office/drawing/2014/main" id="{41C92049-8F0C-C791-4179-23987A0F3803}"/>
                    </a:ext>
                  </a:extLst>
                </p:cNvPr>
                <p:cNvSpPr/>
                <p:nvPr/>
              </p:nvSpPr>
              <p:spPr>
                <a:xfrm>
                  <a:off x="1894350" y="6289889"/>
                  <a:ext cx="544449" cy="369332"/>
                </a:xfrm>
                <a:prstGeom prst="rect">
                  <a:avLst/>
                </a:prstGeom>
                <a:solidFill>
                  <a:schemeClr val="accent1">
                    <a:lumMod val="20000"/>
                    <a:lumOff val="80000"/>
                  </a:schemeClr>
                </a:solidFill>
              </p:spPr>
              <p:style>
                <a:lnRef idx="2">
                  <a:schemeClr val="accent3">
                    <a:shade val="15000"/>
                  </a:schemeClr>
                </a:lnRef>
                <a:fillRef idx="1">
                  <a:schemeClr val="accent3"/>
                </a:fillRef>
                <a:effectRef idx="0">
                  <a:schemeClr val="accent3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en-US" altLang="zh-TW" dirty="0">
                      <a:solidFill>
                        <a:schemeClr val="tx1"/>
                      </a:solidFill>
                    </a:rPr>
                    <a:t>T</a:t>
                  </a:r>
                  <a:r>
                    <a:rPr lang="en-US" altLang="zh-TW" baseline="-25000" dirty="0">
                      <a:solidFill>
                        <a:schemeClr val="tx1"/>
                      </a:solidFill>
                    </a:rPr>
                    <a:t>k+1</a:t>
                  </a:r>
                </a:p>
              </p:txBody>
            </p:sp>
            <p:sp>
              <p:nvSpPr>
                <p:cNvPr id="69" name="文字方塊 68">
                  <a:extLst>
                    <a:ext uri="{FF2B5EF4-FFF2-40B4-BE49-F238E27FC236}">
                      <a16:creationId xmlns:a16="http://schemas.microsoft.com/office/drawing/2014/main" id="{E149DFC9-CC0D-3F49-D530-727EF1849846}"/>
                    </a:ext>
                  </a:extLst>
                </p:cNvPr>
                <p:cNvSpPr txBox="1"/>
                <p:nvPr/>
              </p:nvSpPr>
              <p:spPr>
                <a:xfrm>
                  <a:off x="2386495" y="6225945"/>
                  <a:ext cx="568251" cy="369332"/>
                </a:xfrm>
                <a:prstGeom prst="rect">
                  <a:avLst/>
                </a:prstGeom>
                <a:noFill/>
              </p:spPr>
              <p:txBody>
                <a:bodyPr wrap="square" rtlCol="0" anchor="ctr">
                  <a:spAutoFit/>
                </a:bodyPr>
                <a:lstStyle/>
                <a:p>
                  <a:pPr algn="ctr"/>
                  <a:r>
                    <a:rPr lang="en-US" altLang="zh-TW" dirty="0"/>
                    <a:t>… …</a:t>
                  </a:r>
                  <a:endParaRPr lang="zh-TW" altLang="en-US" dirty="0"/>
                </a:p>
              </p:txBody>
            </p:sp>
            <p:sp>
              <p:nvSpPr>
                <p:cNvPr id="70" name="矩形 69">
                  <a:extLst>
                    <a:ext uri="{FF2B5EF4-FFF2-40B4-BE49-F238E27FC236}">
                      <a16:creationId xmlns:a16="http://schemas.microsoft.com/office/drawing/2014/main" id="{A883EED4-E6F5-FEA3-FE36-334FFB71CB6A}"/>
                    </a:ext>
                  </a:extLst>
                </p:cNvPr>
                <p:cNvSpPr/>
                <p:nvPr/>
              </p:nvSpPr>
              <p:spPr>
                <a:xfrm>
                  <a:off x="3095209" y="6289889"/>
                  <a:ext cx="647794" cy="369332"/>
                </a:xfrm>
                <a:prstGeom prst="rect">
                  <a:avLst/>
                </a:prstGeom>
                <a:solidFill>
                  <a:schemeClr val="accent1">
                    <a:lumMod val="20000"/>
                    <a:lumOff val="80000"/>
                  </a:schemeClr>
                </a:solidFill>
              </p:spPr>
              <p:style>
                <a:lnRef idx="2">
                  <a:schemeClr val="accent3">
                    <a:shade val="15000"/>
                  </a:schemeClr>
                </a:lnRef>
                <a:fillRef idx="1">
                  <a:schemeClr val="accent3"/>
                </a:fillRef>
                <a:effectRef idx="0">
                  <a:schemeClr val="accent3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en-US" altLang="zh-TW" dirty="0">
                      <a:solidFill>
                        <a:schemeClr val="tx1"/>
                      </a:solidFill>
                    </a:rPr>
                    <a:t>t</a:t>
                  </a:r>
                  <a:r>
                    <a:rPr lang="en-US" altLang="zh-TW" baseline="-25000" dirty="0">
                      <a:solidFill>
                        <a:schemeClr val="tx1"/>
                      </a:solidFill>
                    </a:rPr>
                    <a:t>T+k-1</a:t>
                  </a:r>
                </a:p>
              </p:txBody>
            </p:sp>
          </p:grpSp>
        </p:grpSp>
      </p:grpSp>
      <p:sp>
        <p:nvSpPr>
          <p:cNvPr id="79" name="文字方塊 78">
            <a:extLst>
              <a:ext uri="{FF2B5EF4-FFF2-40B4-BE49-F238E27FC236}">
                <a16:creationId xmlns:a16="http://schemas.microsoft.com/office/drawing/2014/main" id="{87394BAF-B8A1-8AE8-D4D5-A084CED03D0E}"/>
              </a:ext>
            </a:extLst>
          </p:cNvPr>
          <p:cNvSpPr txBox="1"/>
          <p:nvPr/>
        </p:nvSpPr>
        <p:spPr>
          <a:xfrm>
            <a:off x="4844937" y="4583036"/>
            <a:ext cx="6478835" cy="95410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Wingdings" panose="05000000000000000000" pitchFamily="2" charset="2"/>
              <a:buChar char="l"/>
            </a:pPr>
            <a:r>
              <a:rPr lang="en-US" altLang="zh-TW" sz="14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Head 1 </a:t>
            </a:r>
            <a:r>
              <a:rPr lang="zh-TW" altLang="en-US" sz="14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對應標準 </a:t>
            </a:r>
            <a:r>
              <a:rPr lang="en-US" altLang="zh-TW" sz="14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next-token prediction (target model)</a:t>
            </a:r>
            <a:r>
              <a:rPr lang="zh-TW" altLang="en-US" sz="14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。</a:t>
            </a:r>
          </a:p>
          <a:p>
            <a:pPr marL="285750" indent="-285750">
              <a:buFont typeface="Wingdings" panose="05000000000000000000" pitchFamily="2" charset="2"/>
              <a:buChar char="l"/>
            </a:pPr>
            <a:r>
              <a:rPr lang="en-US" altLang="zh-TW" sz="14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Head 2~K </a:t>
            </a:r>
            <a:r>
              <a:rPr lang="zh-TW" altLang="en-US" sz="14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對應 </a:t>
            </a:r>
            <a:r>
              <a:rPr lang="en-US" altLang="zh-TW" sz="14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draft model</a:t>
            </a:r>
            <a:r>
              <a:rPr lang="zh-TW" altLang="en-US" sz="14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。</a:t>
            </a:r>
            <a:endParaRPr lang="en-US" altLang="zh-TW" sz="1400" dirty="0"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  <a:p>
            <a:pPr marL="285750" indent="-285750">
              <a:buFont typeface="Wingdings" panose="05000000000000000000" pitchFamily="2" charset="2"/>
              <a:buChar char="l"/>
            </a:pPr>
            <a:r>
              <a:rPr lang="zh-TW" altLang="en-US" sz="14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模型架構重點：計算成本主要集中在 </a:t>
            </a:r>
            <a:r>
              <a:rPr lang="en-US" altLang="zh-TW" sz="14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shared trunk</a:t>
            </a:r>
            <a:r>
              <a:rPr lang="zh-TW" altLang="en-US" sz="14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；多個 </a:t>
            </a:r>
            <a:r>
              <a:rPr lang="en-US" altLang="zh-TW" sz="14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heads </a:t>
            </a:r>
            <a:r>
              <a:rPr lang="zh-TW" altLang="en-US" sz="14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的額外成本相對較小，因此可用於 </a:t>
            </a:r>
            <a:r>
              <a:rPr lang="en-US" altLang="zh-TW" sz="14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draft token prediction</a:t>
            </a:r>
            <a:r>
              <a:rPr lang="zh-TW" altLang="en-US" sz="14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。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6611112"/>
            <a:ext cx="12191695" cy="246888"/>
          </a:xfrm>
          <a:prstGeom prst="rect">
            <a:avLst/>
          </a:prstGeom>
          <a:solidFill>
            <a:srgbClr val="5B839B"/>
          </a:solidFill>
          <a:ln w="12700">
            <a:solidFill>
              <a:srgbClr val="5B839B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3" name="Text 1"/>
          <p:cNvSpPr/>
          <p:nvPr/>
        </p:nvSpPr>
        <p:spPr>
          <a:xfrm>
            <a:off x="11475720" y="6629400"/>
            <a:ext cx="50292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200" dirty="0">
                <a:solidFill>
                  <a:srgbClr val="FFFFFF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Noto Sans CJK TC" pitchFamily="34" charset="-120"/>
              </a:rPr>
              <a:t>10</a:t>
            </a:r>
            <a:endParaRPr lang="en-US" sz="1200" dirty="0"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4" name="Text 2"/>
          <p:cNvSpPr/>
          <p:nvPr/>
        </p:nvSpPr>
        <p:spPr>
          <a:xfrm>
            <a:off x="347472" y="274320"/>
            <a:ext cx="30175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b="1" dirty="0">
                <a:solidFill>
                  <a:srgbClr val="1B2E3A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Noto Sans CJK TC" pitchFamily="34" charset="-120"/>
              </a:rPr>
              <a:t>Part2: Related works / MTP</a:t>
            </a:r>
            <a:endParaRPr lang="en-US" dirty="0"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5" name="Text 3"/>
          <p:cNvSpPr/>
          <p:nvPr/>
        </p:nvSpPr>
        <p:spPr>
          <a:xfrm>
            <a:off x="347472" y="457200"/>
            <a:ext cx="79552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rgbClr val="60707A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Noto Sans CJK TC" pitchFamily="34" charset="-120"/>
              </a:rPr>
              <a:t>Baseline training</a:t>
            </a:r>
            <a:endParaRPr lang="en-US" sz="1600" dirty="0"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7" name="Shape 5"/>
          <p:cNvSpPr/>
          <p:nvPr/>
        </p:nvSpPr>
        <p:spPr>
          <a:xfrm>
            <a:off x="347472" y="749808"/>
            <a:ext cx="11475720" cy="0"/>
          </a:xfrm>
          <a:prstGeom prst="line">
            <a:avLst/>
          </a:prstGeom>
          <a:noFill/>
          <a:ln w="12700">
            <a:solidFill>
              <a:srgbClr val="C8D6DE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8" name="Text 6"/>
          <p:cNvSpPr/>
          <p:nvPr/>
        </p:nvSpPr>
        <p:spPr>
          <a:xfrm>
            <a:off x="685800" y="868680"/>
            <a:ext cx="10789920" cy="329184"/>
          </a:xfrm>
          <a:prstGeom prst="rect">
            <a:avLst/>
          </a:prstGeom>
          <a:solidFill>
            <a:srgbClr val="FFFFFF"/>
          </a:solidFill>
          <a:ln>
            <a:solidFill>
              <a:srgbClr val="C8D6DE"/>
            </a:solidFill>
          </a:ln>
        </p:spPr>
        <p:txBody>
          <a:bodyPr wrap="square" lIns="1143" tIns="1143" rIns="1143" bIns="1143" rtlCol="0" anchor="ctr">
            <a:normAutofit/>
          </a:bodyPr>
          <a:lstStyle/>
          <a:p>
            <a:pPr marL="0" indent="0">
              <a:buNone/>
            </a:pPr>
            <a:r>
              <a:rPr lang="en-US" sz="1400" dirty="0">
                <a:solidFill>
                  <a:srgbClr val="27323A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Noto Sans CJK TC" pitchFamily="34" charset="-120"/>
              </a:rPr>
              <a:t>未加入 consistency 時，每個 head 只根據自己的 target offset 計算 CE loss。</a:t>
            </a:r>
            <a:endParaRPr lang="en-US" sz="1400" dirty="0"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15" name="文字方塊 14">
            <a:extLst>
              <a:ext uri="{FF2B5EF4-FFF2-40B4-BE49-F238E27FC236}">
                <a16:creationId xmlns:a16="http://schemas.microsoft.com/office/drawing/2014/main" id="{AE19BF25-9735-8D18-1732-C1D72C93C50A}"/>
              </a:ext>
            </a:extLst>
          </p:cNvPr>
          <p:cNvSpPr txBox="1"/>
          <p:nvPr/>
        </p:nvSpPr>
        <p:spPr>
          <a:xfrm>
            <a:off x="685800" y="5653884"/>
            <a:ext cx="9756559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zh-TW" altLang="en-US" sz="14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優點：架構簡單，與標準 </a:t>
            </a:r>
            <a:r>
              <a:rPr lang="en-US" altLang="zh-TW" sz="14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LM </a:t>
            </a:r>
            <a:r>
              <a:rPr lang="zh-TW" altLang="en-US" sz="14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訓練流程相容。</a:t>
            </a:r>
            <a:endParaRPr lang="en-US" altLang="zh-TW" sz="1400" dirty="0"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zh-TW" altLang="en-US" sz="14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限制：</a:t>
            </a:r>
            <a:r>
              <a:rPr lang="en-US" altLang="zh-TW" sz="14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Head 2~K </a:t>
            </a:r>
            <a:r>
              <a:rPr lang="zh-TW" altLang="en-US" sz="14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的 </a:t>
            </a:r>
            <a:r>
              <a:rPr lang="en-US" altLang="zh-TW" sz="14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distribution </a:t>
            </a:r>
            <a:r>
              <a:rPr lang="zh-TW" altLang="en-US" sz="14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可能與可靠 </a:t>
            </a:r>
            <a:r>
              <a:rPr lang="en-US" altLang="zh-TW" sz="14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teacher / Head 1 </a:t>
            </a:r>
            <a:r>
              <a:rPr lang="zh-TW" altLang="en-US" sz="14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不一致。</a:t>
            </a:r>
          </a:p>
        </p:txBody>
      </p:sp>
      <p:grpSp>
        <p:nvGrpSpPr>
          <p:cNvPr id="16" name="群組 15">
            <a:extLst>
              <a:ext uri="{FF2B5EF4-FFF2-40B4-BE49-F238E27FC236}">
                <a16:creationId xmlns:a16="http://schemas.microsoft.com/office/drawing/2014/main" id="{40DB2690-6F5C-99B3-EA4D-A28717A4F9C9}"/>
              </a:ext>
            </a:extLst>
          </p:cNvPr>
          <p:cNvGrpSpPr/>
          <p:nvPr/>
        </p:nvGrpSpPr>
        <p:grpSpPr>
          <a:xfrm>
            <a:off x="793461" y="2624041"/>
            <a:ext cx="3756816" cy="2330611"/>
            <a:chOff x="997647" y="2064747"/>
            <a:chExt cx="3756816" cy="2330611"/>
          </a:xfrm>
        </p:grpSpPr>
        <p:sp>
          <p:nvSpPr>
            <p:cNvPr id="17" name="矩形: 圓角 16">
              <a:extLst>
                <a:ext uri="{FF2B5EF4-FFF2-40B4-BE49-F238E27FC236}">
                  <a16:creationId xmlns:a16="http://schemas.microsoft.com/office/drawing/2014/main" id="{D27D74E4-D606-FD57-3680-5D8C248CF416}"/>
                </a:ext>
              </a:extLst>
            </p:cNvPr>
            <p:cNvSpPr/>
            <p:nvPr/>
          </p:nvSpPr>
          <p:spPr>
            <a:xfrm>
              <a:off x="997647" y="3738410"/>
              <a:ext cx="3756816" cy="656948"/>
            </a:xfrm>
            <a:prstGeom prst="roundRect">
              <a:avLst/>
            </a:prstGeom>
          </p:spPr>
          <p:style>
            <a:lnRef idx="2">
              <a:schemeClr val="accent6">
                <a:shade val="15000"/>
              </a:schemeClr>
            </a:lnRef>
            <a:fillRef idx="1">
              <a:schemeClr val="accent6"/>
            </a:fillRef>
            <a:effectRef idx="0">
              <a:schemeClr val="accent6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TW" dirty="0">
                  <a:solidFill>
                    <a:schemeClr val="tx1"/>
                  </a:solidFill>
                </a:rPr>
                <a:t>Shared</a:t>
              </a:r>
              <a:endParaRPr lang="zh-TW" altLang="en-US" dirty="0">
                <a:solidFill>
                  <a:schemeClr val="tx1"/>
                </a:solidFill>
              </a:endParaRPr>
            </a:p>
          </p:txBody>
        </p:sp>
        <p:grpSp>
          <p:nvGrpSpPr>
            <p:cNvPr id="18" name="群組 17">
              <a:extLst>
                <a:ext uri="{FF2B5EF4-FFF2-40B4-BE49-F238E27FC236}">
                  <a16:creationId xmlns:a16="http://schemas.microsoft.com/office/drawing/2014/main" id="{6B13D94C-EAAF-98FB-26BC-A3FF955B202B}"/>
                </a:ext>
              </a:extLst>
            </p:cNvPr>
            <p:cNvGrpSpPr/>
            <p:nvPr/>
          </p:nvGrpSpPr>
          <p:grpSpPr>
            <a:xfrm>
              <a:off x="997647" y="2064747"/>
              <a:ext cx="3756816" cy="1577318"/>
              <a:chOff x="997647" y="2064747"/>
              <a:chExt cx="3756816" cy="1577318"/>
            </a:xfrm>
          </p:grpSpPr>
          <p:grpSp>
            <p:nvGrpSpPr>
              <p:cNvPr id="19" name="群組 18">
                <a:extLst>
                  <a:ext uri="{FF2B5EF4-FFF2-40B4-BE49-F238E27FC236}">
                    <a16:creationId xmlns:a16="http://schemas.microsoft.com/office/drawing/2014/main" id="{42F8B22D-63E6-B10E-00F2-3B91626D0D72}"/>
                  </a:ext>
                </a:extLst>
              </p:cNvPr>
              <p:cNvGrpSpPr/>
              <p:nvPr/>
            </p:nvGrpSpPr>
            <p:grpSpPr>
              <a:xfrm>
                <a:off x="997647" y="2064747"/>
                <a:ext cx="3756816" cy="1577318"/>
                <a:chOff x="1189606" y="2432455"/>
                <a:chExt cx="3756816" cy="1577318"/>
              </a:xfrm>
            </p:grpSpPr>
            <p:grpSp>
              <p:nvGrpSpPr>
                <p:cNvPr id="21" name="群組 20">
                  <a:extLst>
                    <a:ext uri="{FF2B5EF4-FFF2-40B4-BE49-F238E27FC236}">
                      <a16:creationId xmlns:a16="http://schemas.microsoft.com/office/drawing/2014/main" id="{E7DDFE72-7E31-FF34-9BD6-3AB52D31DDAE}"/>
                    </a:ext>
                  </a:extLst>
                </p:cNvPr>
                <p:cNvGrpSpPr/>
                <p:nvPr/>
              </p:nvGrpSpPr>
              <p:grpSpPr>
                <a:xfrm>
                  <a:off x="1189606" y="2432455"/>
                  <a:ext cx="3756816" cy="996039"/>
                  <a:chOff x="1189606" y="2646026"/>
                  <a:chExt cx="3756816" cy="996039"/>
                </a:xfrm>
              </p:grpSpPr>
              <p:sp>
                <p:nvSpPr>
                  <p:cNvPr id="28" name="矩形: 圓角 27">
                    <a:extLst>
                      <a:ext uri="{FF2B5EF4-FFF2-40B4-BE49-F238E27FC236}">
                        <a16:creationId xmlns:a16="http://schemas.microsoft.com/office/drawing/2014/main" id="{29183A70-3519-4022-A8AB-6905C95AEF9B}"/>
                      </a:ext>
                    </a:extLst>
                  </p:cNvPr>
                  <p:cNvSpPr/>
                  <p:nvPr/>
                </p:nvSpPr>
                <p:spPr>
                  <a:xfrm>
                    <a:off x="1189606" y="2654423"/>
                    <a:ext cx="1020934" cy="601586"/>
                  </a:xfrm>
                  <a:prstGeom prst="roundRect">
                    <a:avLst/>
                  </a:prstGeom>
                </p:spPr>
                <p:style>
                  <a:lnRef idx="2">
                    <a:schemeClr val="accent5">
                      <a:shade val="15000"/>
                    </a:schemeClr>
                  </a:lnRef>
                  <a:fillRef idx="1">
                    <a:schemeClr val="accent5"/>
                  </a:fillRef>
                  <a:effectRef idx="0">
                    <a:schemeClr val="accent5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r>
                      <a:rPr lang="en-US" altLang="zh-TW" dirty="0">
                        <a:solidFill>
                          <a:schemeClr val="tx1"/>
                        </a:solidFill>
                      </a:rPr>
                      <a:t>Head 1</a:t>
                    </a:r>
                    <a:endParaRPr lang="zh-TW" altLang="en-US" dirty="0">
                      <a:solidFill>
                        <a:schemeClr val="tx1"/>
                      </a:solidFill>
                    </a:endParaRPr>
                  </a:p>
                </p:txBody>
              </p:sp>
              <p:sp>
                <p:nvSpPr>
                  <p:cNvPr id="29" name="矩形: 圓角 28">
                    <a:extLst>
                      <a:ext uri="{FF2B5EF4-FFF2-40B4-BE49-F238E27FC236}">
                        <a16:creationId xmlns:a16="http://schemas.microsoft.com/office/drawing/2014/main" id="{1FE55618-178A-B171-B85C-739224691B24}"/>
                      </a:ext>
                    </a:extLst>
                  </p:cNvPr>
                  <p:cNvSpPr/>
                  <p:nvPr/>
                </p:nvSpPr>
                <p:spPr>
                  <a:xfrm>
                    <a:off x="2336303" y="2648089"/>
                    <a:ext cx="1020934" cy="601586"/>
                  </a:xfrm>
                  <a:prstGeom prst="roundRect">
                    <a:avLst/>
                  </a:prstGeom>
                </p:spPr>
                <p:style>
                  <a:lnRef idx="2">
                    <a:schemeClr val="accent5">
                      <a:shade val="15000"/>
                    </a:schemeClr>
                  </a:lnRef>
                  <a:fillRef idx="1">
                    <a:schemeClr val="accent5"/>
                  </a:fillRef>
                  <a:effectRef idx="0">
                    <a:schemeClr val="accent5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r>
                      <a:rPr lang="en-US" altLang="zh-TW" dirty="0">
                        <a:solidFill>
                          <a:schemeClr val="tx1"/>
                        </a:solidFill>
                      </a:rPr>
                      <a:t>Head 2</a:t>
                    </a:r>
                    <a:endParaRPr lang="zh-TW" altLang="en-US" dirty="0">
                      <a:solidFill>
                        <a:schemeClr val="tx1"/>
                      </a:solidFill>
                    </a:endParaRPr>
                  </a:p>
                </p:txBody>
              </p:sp>
              <p:sp>
                <p:nvSpPr>
                  <p:cNvPr id="30" name="文字方塊 29">
                    <a:extLst>
                      <a:ext uri="{FF2B5EF4-FFF2-40B4-BE49-F238E27FC236}">
                        <a16:creationId xmlns:a16="http://schemas.microsoft.com/office/drawing/2014/main" id="{94B20C0F-DFF8-EF56-2642-5DA45DB64922}"/>
                      </a:ext>
                    </a:extLst>
                  </p:cNvPr>
                  <p:cNvSpPr txBox="1"/>
                  <p:nvPr/>
                </p:nvSpPr>
                <p:spPr>
                  <a:xfrm>
                    <a:off x="3357237" y="2698844"/>
                    <a:ext cx="568251" cy="369332"/>
                  </a:xfrm>
                  <a:prstGeom prst="rect">
                    <a:avLst/>
                  </a:prstGeom>
                  <a:noFill/>
                </p:spPr>
                <p:txBody>
                  <a:bodyPr wrap="square" rtlCol="0" anchor="ctr">
                    <a:spAutoFit/>
                  </a:bodyPr>
                  <a:lstStyle/>
                  <a:p>
                    <a:pPr algn="ctr"/>
                    <a:r>
                      <a:rPr lang="en-US" altLang="zh-TW" dirty="0"/>
                      <a:t>… …</a:t>
                    </a:r>
                    <a:endParaRPr lang="zh-TW" altLang="en-US" dirty="0"/>
                  </a:p>
                </p:txBody>
              </p:sp>
              <p:sp>
                <p:nvSpPr>
                  <p:cNvPr id="31" name="矩形: 圓角 30">
                    <a:extLst>
                      <a:ext uri="{FF2B5EF4-FFF2-40B4-BE49-F238E27FC236}">
                        <a16:creationId xmlns:a16="http://schemas.microsoft.com/office/drawing/2014/main" id="{86AE9CAA-01C5-29CC-3C23-A645C6715C86}"/>
                      </a:ext>
                    </a:extLst>
                  </p:cNvPr>
                  <p:cNvSpPr/>
                  <p:nvPr/>
                </p:nvSpPr>
                <p:spPr>
                  <a:xfrm>
                    <a:off x="3925488" y="2646026"/>
                    <a:ext cx="1020934" cy="601586"/>
                  </a:xfrm>
                  <a:prstGeom prst="roundRect">
                    <a:avLst/>
                  </a:prstGeom>
                </p:spPr>
                <p:style>
                  <a:lnRef idx="2">
                    <a:schemeClr val="accent5">
                      <a:shade val="15000"/>
                    </a:schemeClr>
                  </a:lnRef>
                  <a:fillRef idx="1">
                    <a:schemeClr val="accent5"/>
                  </a:fillRef>
                  <a:effectRef idx="0">
                    <a:schemeClr val="accent5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r>
                      <a:rPr lang="en-US" altLang="zh-TW" dirty="0">
                        <a:solidFill>
                          <a:schemeClr val="tx1"/>
                        </a:solidFill>
                      </a:rPr>
                      <a:t>Head K</a:t>
                    </a:r>
                    <a:endParaRPr lang="zh-TW" altLang="en-US" dirty="0">
                      <a:solidFill>
                        <a:schemeClr val="tx1"/>
                      </a:solidFill>
                    </a:endParaRPr>
                  </a:p>
                </p:txBody>
              </p:sp>
              <p:sp>
                <p:nvSpPr>
                  <p:cNvPr id="32" name="箭號: 上彎 31">
                    <a:extLst>
                      <a:ext uri="{FF2B5EF4-FFF2-40B4-BE49-F238E27FC236}">
                        <a16:creationId xmlns:a16="http://schemas.microsoft.com/office/drawing/2014/main" id="{00F0454B-B828-A058-B546-413F73374959}"/>
                      </a:ext>
                    </a:extLst>
                  </p:cNvPr>
                  <p:cNvSpPr/>
                  <p:nvPr/>
                </p:nvSpPr>
                <p:spPr>
                  <a:xfrm>
                    <a:off x="2210540" y="3256009"/>
                    <a:ext cx="602206" cy="386056"/>
                  </a:xfrm>
                  <a:prstGeom prst="bentUpArrow">
                    <a:avLst/>
                  </a:prstGeom>
                  <a:ln>
                    <a:noFill/>
                  </a:ln>
                </p:spPr>
                <p:style>
                  <a:lnRef idx="2">
                    <a:schemeClr val="accent2">
                      <a:shade val="15000"/>
                    </a:schemeClr>
                  </a:lnRef>
                  <a:fillRef idx="1">
                    <a:schemeClr val="accent2"/>
                  </a:fillRef>
                  <a:effectRef idx="0">
                    <a:schemeClr val="accent2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zh-TW" altLang="en-US"/>
                  </a:p>
                </p:txBody>
              </p:sp>
              <p:sp>
                <p:nvSpPr>
                  <p:cNvPr id="33" name="箭號: 上彎 32">
                    <a:extLst>
                      <a:ext uri="{FF2B5EF4-FFF2-40B4-BE49-F238E27FC236}">
                        <a16:creationId xmlns:a16="http://schemas.microsoft.com/office/drawing/2014/main" id="{B87B3718-F907-12D5-20F8-827941911018}"/>
                      </a:ext>
                    </a:extLst>
                  </p:cNvPr>
                  <p:cNvSpPr/>
                  <p:nvPr/>
                </p:nvSpPr>
                <p:spPr>
                  <a:xfrm>
                    <a:off x="2548322" y="3256009"/>
                    <a:ext cx="1871282" cy="386056"/>
                  </a:xfrm>
                  <a:prstGeom prst="bentUpArrow">
                    <a:avLst/>
                  </a:prstGeom>
                  <a:ln>
                    <a:noFill/>
                  </a:ln>
                </p:spPr>
                <p:style>
                  <a:lnRef idx="2">
                    <a:schemeClr val="accent2">
                      <a:shade val="15000"/>
                    </a:schemeClr>
                  </a:lnRef>
                  <a:fillRef idx="1">
                    <a:schemeClr val="accent2"/>
                  </a:fillRef>
                  <a:effectRef idx="0">
                    <a:schemeClr val="accent2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zh-TW" altLang="en-US" dirty="0"/>
                  </a:p>
                </p:txBody>
              </p:sp>
              <p:sp>
                <p:nvSpPr>
                  <p:cNvPr id="34" name="箭號: 上彎 33">
                    <a:extLst>
                      <a:ext uri="{FF2B5EF4-FFF2-40B4-BE49-F238E27FC236}">
                        <a16:creationId xmlns:a16="http://schemas.microsoft.com/office/drawing/2014/main" id="{BFE6D144-ECAE-AA6B-EC85-2A5739AC2A77}"/>
                      </a:ext>
                    </a:extLst>
                  </p:cNvPr>
                  <p:cNvSpPr/>
                  <p:nvPr/>
                </p:nvSpPr>
                <p:spPr>
                  <a:xfrm flipH="1">
                    <a:off x="1454462" y="3256009"/>
                    <a:ext cx="862088" cy="386056"/>
                  </a:xfrm>
                  <a:prstGeom prst="bentUpArrow">
                    <a:avLst/>
                  </a:prstGeom>
                  <a:ln>
                    <a:noFill/>
                  </a:ln>
                </p:spPr>
                <p:style>
                  <a:lnRef idx="2">
                    <a:schemeClr val="accent2">
                      <a:shade val="15000"/>
                    </a:schemeClr>
                  </a:lnRef>
                  <a:fillRef idx="1">
                    <a:schemeClr val="accent2"/>
                  </a:fillRef>
                  <a:effectRef idx="0">
                    <a:schemeClr val="accent2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zh-TW" altLang="en-US"/>
                  </a:p>
                </p:txBody>
              </p:sp>
            </p:grpSp>
            <p:grpSp>
              <p:nvGrpSpPr>
                <p:cNvPr id="22" name="群組 21">
                  <a:extLst>
                    <a:ext uri="{FF2B5EF4-FFF2-40B4-BE49-F238E27FC236}">
                      <a16:creationId xmlns:a16="http://schemas.microsoft.com/office/drawing/2014/main" id="{8F400DC1-865C-75AF-057D-35EC25A91648}"/>
                    </a:ext>
                  </a:extLst>
                </p:cNvPr>
                <p:cNvGrpSpPr/>
                <p:nvPr/>
              </p:nvGrpSpPr>
              <p:grpSpPr>
                <a:xfrm>
                  <a:off x="1733345" y="3068176"/>
                  <a:ext cx="2902647" cy="941597"/>
                  <a:chOff x="1653159" y="2701033"/>
                  <a:chExt cx="2902647" cy="941597"/>
                </a:xfrm>
              </p:grpSpPr>
              <p:sp>
                <p:nvSpPr>
                  <p:cNvPr id="23" name="矩形 22">
                    <a:extLst>
                      <a:ext uri="{FF2B5EF4-FFF2-40B4-BE49-F238E27FC236}">
                        <a16:creationId xmlns:a16="http://schemas.microsoft.com/office/drawing/2014/main" id="{FBDC415E-631D-B932-8A74-0454B3707534}"/>
                      </a:ext>
                    </a:extLst>
                  </p:cNvPr>
                  <p:cNvSpPr/>
                  <p:nvPr/>
                </p:nvSpPr>
                <p:spPr>
                  <a:xfrm>
                    <a:off x="1653159" y="2701033"/>
                    <a:ext cx="125767" cy="656948"/>
                  </a:xfrm>
                  <a:prstGeom prst="rect">
                    <a:avLst/>
                  </a:prstGeom>
                  <a:ln>
                    <a:noFill/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zh-TW" altLang="en-US"/>
                  </a:p>
                </p:txBody>
              </p:sp>
              <p:sp>
                <p:nvSpPr>
                  <p:cNvPr id="24" name="矩形 23">
                    <a:extLst>
                      <a:ext uri="{FF2B5EF4-FFF2-40B4-BE49-F238E27FC236}">
                        <a16:creationId xmlns:a16="http://schemas.microsoft.com/office/drawing/2014/main" id="{6574E9D8-B709-B1DF-31F3-77708BD1CE07}"/>
                      </a:ext>
                    </a:extLst>
                  </p:cNvPr>
                  <p:cNvSpPr/>
                  <p:nvPr/>
                </p:nvSpPr>
                <p:spPr>
                  <a:xfrm>
                    <a:off x="2849206" y="2701033"/>
                    <a:ext cx="125767" cy="656948"/>
                  </a:xfrm>
                  <a:prstGeom prst="rect">
                    <a:avLst/>
                  </a:prstGeom>
                  <a:ln>
                    <a:noFill/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zh-TW" altLang="en-US"/>
                  </a:p>
                </p:txBody>
              </p:sp>
              <p:sp>
                <p:nvSpPr>
                  <p:cNvPr id="25" name="矩形 24">
                    <a:extLst>
                      <a:ext uri="{FF2B5EF4-FFF2-40B4-BE49-F238E27FC236}">
                        <a16:creationId xmlns:a16="http://schemas.microsoft.com/office/drawing/2014/main" id="{29CF474B-6B19-9354-7133-DA5658FBE7A1}"/>
                      </a:ext>
                    </a:extLst>
                  </p:cNvPr>
                  <p:cNvSpPr/>
                  <p:nvPr/>
                </p:nvSpPr>
                <p:spPr>
                  <a:xfrm>
                    <a:off x="4430039" y="2701033"/>
                    <a:ext cx="125767" cy="656948"/>
                  </a:xfrm>
                  <a:prstGeom prst="rect">
                    <a:avLst/>
                  </a:prstGeom>
                  <a:ln>
                    <a:noFill/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zh-TW" altLang="en-US"/>
                  </a:p>
                </p:txBody>
              </p:sp>
              <p:sp>
                <p:nvSpPr>
                  <p:cNvPr id="26" name="矩形 25">
                    <a:extLst>
                      <a:ext uri="{FF2B5EF4-FFF2-40B4-BE49-F238E27FC236}">
                        <a16:creationId xmlns:a16="http://schemas.microsoft.com/office/drawing/2014/main" id="{D19A49E2-CA27-4793-6BA2-DC2D6DA95613}"/>
                      </a:ext>
                    </a:extLst>
                  </p:cNvPr>
                  <p:cNvSpPr/>
                  <p:nvPr/>
                </p:nvSpPr>
                <p:spPr>
                  <a:xfrm rot="5400000">
                    <a:off x="2972039" y="1899981"/>
                    <a:ext cx="144000" cy="2772000"/>
                  </a:xfrm>
                  <a:prstGeom prst="rect">
                    <a:avLst/>
                  </a:prstGeom>
                  <a:ln>
                    <a:noFill/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zh-TW" altLang="en-US" dirty="0"/>
                  </a:p>
                </p:txBody>
              </p:sp>
              <p:sp>
                <p:nvSpPr>
                  <p:cNvPr id="27" name="箭號: 向下 26">
                    <a:extLst>
                      <a:ext uri="{FF2B5EF4-FFF2-40B4-BE49-F238E27FC236}">
                        <a16:creationId xmlns:a16="http://schemas.microsoft.com/office/drawing/2014/main" id="{E9EAC942-2DFC-AFF9-4A25-B4CBDCF1788D}"/>
                      </a:ext>
                    </a:extLst>
                  </p:cNvPr>
                  <p:cNvSpPr/>
                  <p:nvPr/>
                </p:nvSpPr>
                <p:spPr>
                  <a:xfrm>
                    <a:off x="2431366" y="3227138"/>
                    <a:ext cx="190347" cy="415492"/>
                  </a:xfrm>
                  <a:prstGeom prst="downArrow">
                    <a:avLst/>
                  </a:prstGeom>
                  <a:ln>
                    <a:noFill/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zh-TW" altLang="en-US" dirty="0"/>
                  </a:p>
                </p:txBody>
              </p:sp>
            </p:grpSp>
          </p:grpSp>
          <p:sp>
            <p:nvSpPr>
              <p:cNvPr id="20" name="矩形 19">
                <a:extLst>
                  <a:ext uri="{FF2B5EF4-FFF2-40B4-BE49-F238E27FC236}">
                    <a16:creationId xmlns:a16="http://schemas.microsoft.com/office/drawing/2014/main" id="{FC0BF961-DFEF-2814-05B8-C7C8959E8718}"/>
                  </a:ext>
                </a:extLst>
              </p:cNvPr>
              <p:cNvSpPr/>
              <p:nvPr/>
            </p:nvSpPr>
            <p:spPr>
              <a:xfrm>
                <a:off x="2124589" y="3008203"/>
                <a:ext cx="125767" cy="612000"/>
              </a:xfrm>
              <a:prstGeom prst="rect">
                <a:avLst/>
              </a:prstGeom>
              <a:ln>
                <a:noFill/>
              </a:ln>
            </p:spPr>
            <p:style>
              <a:lnRef idx="2">
                <a:schemeClr val="accent2">
                  <a:shade val="15000"/>
                </a:schemeClr>
              </a:lnRef>
              <a:fillRef idx="1">
                <a:schemeClr val="accent2"/>
              </a:fillRef>
              <a:effectRef idx="0">
                <a:schemeClr val="accent2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TW" altLang="en-US"/>
              </a:p>
            </p:txBody>
          </p:sp>
        </p:grpSp>
      </p:grpSp>
      <p:grpSp>
        <p:nvGrpSpPr>
          <p:cNvPr id="35" name="群組 34">
            <a:extLst>
              <a:ext uri="{FF2B5EF4-FFF2-40B4-BE49-F238E27FC236}">
                <a16:creationId xmlns:a16="http://schemas.microsoft.com/office/drawing/2014/main" id="{81D46F92-4F3B-1499-18FA-813A0E81E5C7}"/>
              </a:ext>
            </a:extLst>
          </p:cNvPr>
          <p:cNvGrpSpPr/>
          <p:nvPr/>
        </p:nvGrpSpPr>
        <p:grpSpPr>
          <a:xfrm>
            <a:off x="661764" y="1524859"/>
            <a:ext cx="3964602" cy="1067017"/>
            <a:chOff x="661764" y="1524859"/>
            <a:chExt cx="3964602" cy="1067017"/>
          </a:xfrm>
        </p:grpSpPr>
        <p:sp>
          <p:nvSpPr>
            <p:cNvPr id="36" name="矩形: 圓角 35">
              <a:extLst>
                <a:ext uri="{FF2B5EF4-FFF2-40B4-BE49-F238E27FC236}">
                  <a16:creationId xmlns:a16="http://schemas.microsoft.com/office/drawing/2014/main" id="{A0526EC1-9C16-8C5E-8FD0-1E0E6D0CDD58}"/>
                </a:ext>
              </a:extLst>
            </p:cNvPr>
            <p:cNvSpPr/>
            <p:nvPr/>
          </p:nvSpPr>
          <p:spPr>
            <a:xfrm>
              <a:off x="661764" y="1526922"/>
              <a:ext cx="1143293" cy="601586"/>
            </a:xfrm>
            <a:prstGeom prst="roundRect">
              <a:avLst/>
            </a:prstGeom>
          </p:spPr>
          <p:style>
            <a:lnRef idx="2">
              <a:schemeClr val="accent4">
                <a:shade val="15000"/>
              </a:schemeClr>
            </a:lnRef>
            <a:fillRef idx="1">
              <a:schemeClr val="accent4"/>
            </a:fillRef>
            <a:effectRef idx="0">
              <a:schemeClr val="accent4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TW" dirty="0">
                  <a:solidFill>
                    <a:schemeClr val="tx1"/>
                  </a:solidFill>
                </a:rPr>
                <a:t>CE</a:t>
              </a:r>
              <a:r>
                <a:rPr lang="zh-TW" altLang="en-US" dirty="0">
                  <a:solidFill>
                    <a:schemeClr val="tx1"/>
                  </a:solidFill>
                </a:rPr>
                <a:t> </a:t>
              </a:r>
              <a:r>
                <a:rPr lang="en-US" altLang="zh-TW" dirty="0">
                  <a:solidFill>
                    <a:schemeClr val="tx1"/>
                  </a:solidFill>
                </a:rPr>
                <a:t>Loss 1</a:t>
              </a:r>
              <a:endParaRPr lang="zh-TW" altLang="en-US" dirty="0">
                <a:solidFill>
                  <a:schemeClr val="tx1"/>
                </a:solidFill>
              </a:endParaRPr>
            </a:p>
          </p:txBody>
        </p:sp>
        <p:sp>
          <p:nvSpPr>
            <p:cNvPr id="37" name="矩形: 圓角 36">
              <a:extLst>
                <a:ext uri="{FF2B5EF4-FFF2-40B4-BE49-F238E27FC236}">
                  <a16:creationId xmlns:a16="http://schemas.microsoft.com/office/drawing/2014/main" id="{F12C196F-E3A5-BDC8-3792-6C92081AD5D3}"/>
                </a:ext>
              </a:extLst>
            </p:cNvPr>
            <p:cNvSpPr/>
            <p:nvPr/>
          </p:nvSpPr>
          <p:spPr>
            <a:xfrm>
              <a:off x="1895754" y="1524859"/>
              <a:ext cx="1143292" cy="601586"/>
            </a:xfrm>
            <a:prstGeom prst="roundRect">
              <a:avLst/>
            </a:prstGeom>
          </p:spPr>
          <p:style>
            <a:lnRef idx="2">
              <a:schemeClr val="accent4">
                <a:shade val="15000"/>
              </a:schemeClr>
            </a:lnRef>
            <a:fillRef idx="1">
              <a:schemeClr val="accent4"/>
            </a:fillRef>
            <a:effectRef idx="0">
              <a:schemeClr val="accent4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TW" dirty="0">
                  <a:solidFill>
                    <a:schemeClr val="tx1"/>
                  </a:solidFill>
                </a:rPr>
                <a:t>CE</a:t>
              </a:r>
              <a:r>
                <a:rPr lang="zh-TW" altLang="en-US" dirty="0">
                  <a:solidFill>
                    <a:schemeClr val="tx1"/>
                  </a:solidFill>
                </a:rPr>
                <a:t> </a:t>
              </a:r>
              <a:r>
                <a:rPr lang="en-US" altLang="zh-TW" dirty="0">
                  <a:solidFill>
                    <a:schemeClr val="tx1"/>
                  </a:solidFill>
                </a:rPr>
                <a:t>Loss 2</a:t>
              </a:r>
              <a:endParaRPr lang="zh-TW" altLang="en-US" dirty="0">
                <a:solidFill>
                  <a:schemeClr val="tx1"/>
                </a:solidFill>
              </a:endParaRPr>
            </a:p>
          </p:txBody>
        </p:sp>
        <p:sp>
          <p:nvSpPr>
            <p:cNvPr id="38" name="文字方塊 37">
              <a:extLst>
                <a:ext uri="{FF2B5EF4-FFF2-40B4-BE49-F238E27FC236}">
                  <a16:creationId xmlns:a16="http://schemas.microsoft.com/office/drawing/2014/main" id="{0E854134-7155-B096-7AA0-D25A817CC56B}"/>
                </a:ext>
              </a:extLst>
            </p:cNvPr>
            <p:cNvSpPr txBox="1"/>
            <p:nvPr/>
          </p:nvSpPr>
          <p:spPr>
            <a:xfrm>
              <a:off x="2983065" y="1577676"/>
              <a:ext cx="568251" cy="369332"/>
            </a:xfrm>
            <a:prstGeom prst="rect">
              <a:avLst/>
            </a:prstGeom>
            <a:noFill/>
          </p:spPr>
          <p:txBody>
            <a:bodyPr wrap="square" rtlCol="0" anchor="ctr">
              <a:spAutoFit/>
            </a:bodyPr>
            <a:lstStyle/>
            <a:p>
              <a:pPr algn="ctr"/>
              <a:r>
                <a:rPr lang="en-US" altLang="zh-TW" dirty="0"/>
                <a:t>… …</a:t>
              </a:r>
              <a:endParaRPr lang="zh-TW" altLang="en-US" dirty="0"/>
            </a:p>
          </p:txBody>
        </p:sp>
        <p:sp>
          <p:nvSpPr>
            <p:cNvPr id="39" name="矩形: 圓角 38">
              <a:extLst>
                <a:ext uri="{FF2B5EF4-FFF2-40B4-BE49-F238E27FC236}">
                  <a16:creationId xmlns:a16="http://schemas.microsoft.com/office/drawing/2014/main" id="{AC3EFFC5-65D8-3C57-ED7A-5FF9168A1D63}"/>
                </a:ext>
              </a:extLst>
            </p:cNvPr>
            <p:cNvSpPr/>
            <p:nvPr/>
          </p:nvSpPr>
          <p:spPr>
            <a:xfrm>
              <a:off x="3512991" y="1524859"/>
              <a:ext cx="1113375" cy="601586"/>
            </a:xfrm>
            <a:prstGeom prst="roundRect">
              <a:avLst/>
            </a:prstGeom>
          </p:spPr>
          <p:style>
            <a:lnRef idx="2">
              <a:schemeClr val="accent4">
                <a:shade val="15000"/>
              </a:schemeClr>
            </a:lnRef>
            <a:fillRef idx="1">
              <a:schemeClr val="accent4"/>
            </a:fillRef>
            <a:effectRef idx="0">
              <a:schemeClr val="accent4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TW" dirty="0">
                  <a:solidFill>
                    <a:schemeClr val="tx1"/>
                  </a:solidFill>
                </a:rPr>
                <a:t>CE</a:t>
              </a:r>
              <a:r>
                <a:rPr lang="zh-TW" altLang="en-US" dirty="0">
                  <a:solidFill>
                    <a:schemeClr val="tx1"/>
                  </a:solidFill>
                </a:rPr>
                <a:t> </a:t>
              </a:r>
              <a:r>
                <a:rPr lang="en-US" altLang="zh-TW" dirty="0">
                  <a:solidFill>
                    <a:schemeClr val="tx1"/>
                  </a:solidFill>
                </a:rPr>
                <a:t>Loss K</a:t>
              </a:r>
              <a:endParaRPr lang="zh-TW" altLang="en-US" dirty="0">
                <a:solidFill>
                  <a:schemeClr val="tx1"/>
                </a:solidFill>
              </a:endParaRPr>
            </a:p>
          </p:txBody>
        </p:sp>
        <p:grpSp>
          <p:nvGrpSpPr>
            <p:cNvPr id="40" name="群組 39">
              <a:extLst>
                <a:ext uri="{FF2B5EF4-FFF2-40B4-BE49-F238E27FC236}">
                  <a16:creationId xmlns:a16="http://schemas.microsoft.com/office/drawing/2014/main" id="{94A4BE25-2A6D-3EA1-D733-CFA2C87C3627}"/>
                </a:ext>
              </a:extLst>
            </p:cNvPr>
            <p:cNvGrpSpPr/>
            <p:nvPr/>
          </p:nvGrpSpPr>
          <p:grpSpPr>
            <a:xfrm>
              <a:off x="1064954" y="2205820"/>
              <a:ext cx="408075" cy="386056"/>
              <a:chOff x="1064954" y="2205820"/>
              <a:chExt cx="408075" cy="386056"/>
            </a:xfrm>
          </p:grpSpPr>
          <p:sp>
            <p:nvSpPr>
              <p:cNvPr id="47" name="箭號: 向上 46">
                <a:extLst>
                  <a:ext uri="{FF2B5EF4-FFF2-40B4-BE49-F238E27FC236}">
                    <a16:creationId xmlns:a16="http://schemas.microsoft.com/office/drawing/2014/main" id="{AAD734F2-50CD-932A-C900-AB3767DF9A6A}"/>
                  </a:ext>
                </a:extLst>
              </p:cNvPr>
              <p:cNvSpPr/>
              <p:nvPr/>
            </p:nvSpPr>
            <p:spPr>
              <a:xfrm>
                <a:off x="1064954" y="2205820"/>
                <a:ext cx="144000" cy="386056"/>
              </a:xfrm>
              <a:prstGeom prst="upArrow">
                <a:avLst/>
              </a:prstGeom>
              <a:ln>
                <a:noFill/>
              </a:ln>
            </p:spPr>
            <p:style>
              <a:lnRef idx="2">
                <a:schemeClr val="accent2">
                  <a:shade val="15000"/>
                </a:schemeClr>
              </a:lnRef>
              <a:fillRef idx="1">
                <a:schemeClr val="accent2"/>
              </a:fillRef>
              <a:effectRef idx="0">
                <a:schemeClr val="accent2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TW" altLang="en-US"/>
              </a:p>
            </p:txBody>
          </p:sp>
          <p:sp>
            <p:nvSpPr>
              <p:cNvPr id="48" name="箭號: 向上 47">
                <a:extLst>
                  <a:ext uri="{FF2B5EF4-FFF2-40B4-BE49-F238E27FC236}">
                    <a16:creationId xmlns:a16="http://schemas.microsoft.com/office/drawing/2014/main" id="{F747AFEB-DE94-2A0A-A81D-34B98E131BC9}"/>
                  </a:ext>
                </a:extLst>
              </p:cNvPr>
              <p:cNvSpPr/>
              <p:nvPr/>
            </p:nvSpPr>
            <p:spPr>
              <a:xfrm flipV="1">
                <a:off x="1329029" y="2205820"/>
                <a:ext cx="144000" cy="386056"/>
              </a:xfrm>
              <a:prstGeom prst="upArrow">
                <a:avLst/>
              </a:prstGeom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TW" altLang="en-US"/>
              </a:p>
            </p:txBody>
          </p:sp>
        </p:grpSp>
        <p:grpSp>
          <p:nvGrpSpPr>
            <p:cNvPr id="41" name="群組 40">
              <a:extLst>
                <a:ext uri="{FF2B5EF4-FFF2-40B4-BE49-F238E27FC236}">
                  <a16:creationId xmlns:a16="http://schemas.microsoft.com/office/drawing/2014/main" id="{152FE89E-8FF2-54A0-48A0-0FBD97C262FD}"/>
                </a:ext>
              </a:extLst>
            </p:cNvPr>
            <p:cNvGrpSpPr/>
            <p:nvPr/>
          </p:nvGrpSpPr>
          <p:grpSpPr>
            <a:xfrm>
              <a:off x="2250939" y="2205820"/>
              <a:ext cx="408075" cy="386056"/>
              <a:chOff x="1064954" y="2205820"/>
              <a:chExt cx="408075" cy="386056"/>
            </a:xfrm>
          </p:grpSpPr>
          <p:sp>
            <p:nvSpPr>
              <p:cNvPr id="45" name="箭號: 向上 44">
                <a:extLst>
                  <a:ext uri="{FF2B5EF4-FFF2-40B4-BE49-F238E27FC236}">
                    <a16:creationId xmlns:a16="http://schemas.microsoft.com/office/drawing/2014/main" id="{365C9BCA-84BB-7387-895A-663483E95F67}"/>
                  </a:ext>
                </a:extLst>
              </p:cNvPr>
              <p:cNvSpPr/>
              <p:nvPr/>
            </p:nvSpPr>
            <p:spPr>
              <a:xfrm>
                <a:off x="1064954" y="2205820"/>
                <a:ext cx="144000" cy="386056"/>
              </a:xfrm>
              <a:prstGeom prst="upArrow">
                <a:avLst/>
              </a:prstGeom>
              <a:ln>
                <a:noFill/>
              </a:ln>
            </p:spPr>
            <p:style>
              <a:lnRef idx="2">
                <a:schemeClr val="accent2">
                  <a:shade val="15000"/>
                </a:schemeClr>
              </a:lnRef>
              <a:fillRef idx="1">
                <a:schemeClr val="accent2"/>
              </a:fillRef>
              <a:effectRef idx="0">
                <a:schemeClr val="accent2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TW" altLang="en-US"/>
              </a:p>
            </p:txBody>
          </p:sp>
          <p:sp>
            <p:nvSpPr>
              <p:cNvPr id="46" name="箭號: 向上 45">
                <a:extLst>
                  <a:ext uri="{FF2B5EF4-FFF2-40B4-BE49-F238E27FC236}">
                    <a16:creationId xmlns:a16="http://schemas.microsoft.com/office/drawing/2014/main" id="{D2302F61-FB3F-8275-B456-22B4F251388A}"/>
                  </a:ext>
                </a:extLst>
              </p:cNvPr>
              <p:cNvSpPr/>
              <p:nvPr/>
            </p:nvSpPr>
            <p:spPr>
              <a:xfrm flipV="1">
                <a:off x="1329029" y="2205820"/>
                <a:ext cx="144000" cy="386056"/>
              </a:xfrm>
              <a:prstGeom prst="upArrow">
                <a:avLst/>
              </a:prstGeom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TW" altLang="en-US"/>
              </a:p>
            </p:txBody>
          </p:sp>
        </p:grpSp>
        <p:grpSp>
          <p:nvGrpSpPr>
            <p:cNvPr id="42" name="群組 41">
              <a:extLst>
                <a:ext uri="{FF2B5EF4-FFF2-40B4-BE49-F238E27FC236}">
                  <a16:creationId xmlns:a16="http://schemas.microsoft.com/office/drawing/2014/main" id="{396292E6-83EB-EFB5-CD4A-719FFFF412BA}"/>
                </a:ext>
              </a:extLst>
            </p:cNvPr>
            <p:cNvGrpSpPr/>
            <p:nvPr/>
          </p:nvGrpSpPr>
          <p:grpSpPr>
            <a:xfrm>
              <a:off x="3910042" y="2182215"/>
              <a:ext cx="408075" cy="386056"/>
              <a:chOff x="1064954" y="2205820"/>
              <a:chExt cx="408075" cy="386056"/>
            </a:xfrm>
          </p:grpSpPr>
          <p:sp>
            <p:nvSpPr>
              <p:cNvPr id="43" name="箭號: 向上 42">
                <a:extLst>
                  <a:ext uri="{FF2B5EF4-FFF2-40B4-BE49-F238E27FC236}">
                    <a16:creationId xmlns:a16="http://schemas.microsoft.com/office/drawing/2014/main" id="{1A3DA002-23AC-6BB0-6FC7-E49205907C6C}"/>
                  </a:ext>
                </a:extLst>
              </p:cNvPr>
              <p:cNvSpPr/>
              <p:nvPr/>
            </p:nvSpPr>
            <p:spPr>
              <a:xfrm>
                <a:off x="1064954" y="2205820"/>
                <a:ext cx="144000" cy="386056"/>
              </a:xfrm>
              <a:prstGeom prst="upArrow">
                <a:avLst/>
              </a:prstGeom>
              <a:ln>
                <a:noFill/>
              </a:ln>
            </p:spPr>
            <p:style>
              <a:lnRef idx="2">
                <a:schemeClr val="accent2">
                  <a:shade val="15000"/>
                </a:schemeClr>
              </a:lnRef>
              <a:fillRef idx="1">
                <a:schemeClr val="accent2"/>
              </a:fillRef>
              <a:effectRef idx="0">
                <a:schemeClr val="accent2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TW" altLang="en-US"/>
              </a:p>
            </p:txBody>
          </p:sp>
          <p:sp>
            <p:nvSpPr>
              <p:cNvPr id="44" name="箭號: 向上 43">
                <a:extLst>
                  <a:ext uri="{FF2B5EF4-FFF2-40B4-BE49-F238E27FC236}">
                    <a16:creationId xmlns:a16="http://schemas.microsoft.com/office/drawing/2014/main" id="{7D574673-444E-0A6F-C43C-DD4AD1A0BD8A}"/>
                  </a:ext>
                </a:extLst>
              </p:cNvPr>
              <p:cNvSpPr/>
              <p:nvPr/>
            </p:nvSpPr>
            <p:spPr>
              <a:xfrm flipV="1">
                <a:off x="1329029" y="2205820"/>
                <a:ext cx="144000" cy="386056"/>
              </a:xfrm>
              <a:prstGeom prst="upArrow">
                <a:avLst/>
              </a:prstGeom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TW" altLang="en-US"/>
              </a:p>
            </p:txBody>
          </p:sp>
        </p:grpSp>
      </p:grpSp>
      <p:grpSp>
        <p:nvGrpSpPr>
          <p:cNvPr id="49" name="群組 48">
            <a:extLst>
              <a:ext uri="{FF2B5EF4-FFF2-40B4-BE49-F238E27FC236}">
                <a16:creationId xmlns:a16="http://schemas.microsoft.com/office/drawing/2014/main" id="{FF75840B-9137-D44E-83C2-3C00295E77D3}"/>
              </a:ext>
            </a:extLst>
          </p:cNvPr>
          <p:cNvGrpSpPr/>
          <p:nvPr/>
        </p:nvGrpSpPr>
        <p:grpSpPr>
          <a:xfrm>
            <a:off x="4729325" y="1162178"/>
            <a:ext cx="2441359" cy="1200329"/>
            <a:chOff x="4831952" y="1346844"/>
            <a:chExt cx="2441359" cy="1200329"/>
          </a:xfrm>
        </p:grpSpPr>
        <p:sp>
          <p:nvSpPr>
            <p:cNvPr id="50" name="文字方塊 49">
              <a:extLst>
                <a:ext uri="{FF2B5EF4-FFF2-40B4-BE49-F238E27FC236}">
                  <a16:creationId xmlns:a16="http://schemas.microsoft.com/office/drawing/2014/main" id="{62761AEA-8BCB-04B5-7E8A-4F782574E681}"/>
                </a:ext>
              </a:extLst>
            </p:cNvPr>
            <p:cNvSpPr txBox="1"/>
            <p:nvPr/>
          </p:nvSpPr>
          <p:spPr>
            <a:xfrm>
              <a:off x="4831952" y="1346844"/>
              <a:ext cx="2441359" cy="120032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285750" indent="-285750">
                <a:lnSpc>
                  <a:spcPct val="300000"/>
                </a:lnSpc>
                <a:buFont typeface="Arial" panose="020B0604020202020204" pitchFamily="34" charset="0"/>
                <a:buChar char="•"/>
              </a:pPr>
              <a:r>
                <a:rPr lang="en-US" altLang="zh-TW" dirty="0"/>
                <a:t>Forward</a:t>
              </a:r>
            </a:p>
            <a:p>
              <a:pPr marL="285750" indent="-285750">
                <a:buFont typeface="Arial" panose="020B0604020202020204" pitchFamily="34" charset="0"/>
                <a:buChar char="•"/>
              </a:pPr>
              <a:r>
                <a:rPr lang="en-US" altLang="zh-TW" dirty="0"/>
                <a:t>Backward</a:t>
              </a:r>
            </a:p>
          </p:txBody>
        </p:sp>
        <p:sp>
          <p:nvSpPr>
            <p:cNvPr id="51" name="箭號: 向上 50">
              <a:extLst>
                <a:ext uri="{FF2B5EF4-FFF2-40B4-BE49-F238E27FC236}">
                  <a16:creationId xmlns:a16="http://schemas.microsoft.com/office/drawing/2014/main" id="{5E987716-527A-F54D-3068-06826A6AA132}"/>
                </a:ext>
              </a:extLst>
            </p:cNvPr>
            <p:cNvSpPr/>
            <p:nvPr/>
          </p:nvSpPr>
          <p:spPr>
            <a:xfrm>
              <a:off x="4879090" y="1688203"/>
              <a:ext cx="215809" cy="386056"/>
            </a:xfrm>
            <a:prstGeom prst="upArrow">
              <a:avLst/>
            </a:prstGeom>
            <a:ln>
              <a:noFill/>
            </a:ln>
          </p:spPr>
          <p:style>
            <a:lnRef idx="2">
              <a:schemeClr val="accent2">
                <a:shade val="15000"/>
              </a:schemeClr>
            </a:lnRef>
            <a:fillRef idx="1">
              <a:schemeClr val="accent2"/>
            </a:fillRef>
            <a:effectRef idx="0">
              <a:schemeClr val="accent2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52" name="箭號: 向上 51">
              <a:extLst>
                <a:ext uri="{FF2B5EF4-FFF2-40B4-BE49-F238E27FC236}">
                  <a16:creationId xmlns:a16="http://schemas.microsoft.com/office/drawing/2014/main" id="{66196920-872C-09B7-95B9-8F7EB1F49E0A}"/>
                </a:ext>
              </a:extLst>
            </p:cNvPr>
            <p:cNvSpPr/>
            <p:nvPr/>
          </p:nvSpPr>
          <p:spPr>
            <a:xfrm>
              <a:off x="4880218" y="2131127"/>
              <a:ext cx="215809" cy="386056"/>
            </a:xfrm>
            <a:prstGeom prst="upArrow">
              <a:avLst/>
            </a:prstGeom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</p:grpSp>
      <p:sp>
        <p:nvSpPr>
          <p:cNvPr id="53" name="矩形: 圓角 52">
            <a:extLst>
              <a:ext uri="{FF2B5EF4-FFF2-40B4-BE49-F238E27FC236}">
                <a16:creationId xmlns:a16="http://schemas.microsoft.com/office/drawing/2014/main" id="{96971C90-30E2-127C-CFAA-9C3051E9D81C}"/>
              </a:ext>
            </a:extLst>
          </p:cNvPr>
          <p:cNvSpPr/>
          <p:nvPr/>
        </p:nvSpPr>
        <p:spPr>
          <a:xfrm>
            <a:off x="6137598" y="1503537"/>
            <a:ext cx="4279037" cy="2991957"/>
          </a:xfrm>
          <a:prstGeom prst="roundRect">
            <a:avLst/>
          </a:prstGeom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r>
              <a:rPr lang="en-US" altLang="zh-TW" dirty="0"/>
              <a:t>z = </a:t>
            </a:r>
            <a:r>
              <a:rPr lang="en-US" altLang="zh-TW" dirty="0" err="1"/>
              <a:t>model.shared</a:t>
            </a:r>
            <a:r>
              <a:rPr lang="en-US" altLang="zh-TW" dirty="0"/>
              <a:t>(x)</a:t>
            </a:r>
          </a:p>
          <a:p>
            <a:r>
              <a:rPr lang="en-US" altLang="zh-TW" dirty="0"/>
              <a:t>d = </a:t>
            </a:r>
            <a:r>
              <a:rPr lang="en-US" altLang="zh-TW" dirty="0" err="1"/>
              <a:t>z.detach</a:t>
            </a:r>
            <a:r>
              <a:rPr lang="en-US" altLang="zh-TW" dirty="0"/>
              <a:t>()</a:t>
            </a:r>
          </a:p>
          <a:p>
            <a:r>
              <a:rPr lang="en-US" altLang="zh-TW" dirty="0" err="1"/>
              <a:t>d.requires_grad</a:t>
            </a:r>
            <a:r>
              <a:rPr lang="en-US" altLang="zh-TW" dirty="0"/>
              <a:t> = True</a:t>
            </a:r>
          </a:p>
          <a:p>
            <a:endParaRPr lang="en-US" altLang="zh-TW" dirty="0"/>
          </a:p>
          <a:p>
            <a:r>
              <a:rPr lang="en-US" altLang="zh-TW" dirty="0"/>
              <a:t>for </a:t>
            </a:r>
            <a:r>
              <a:rPr lang="en-US" altLang="zh-TW" dirty="0" err="1"/>
              <a:t>i</a:t>
            </a:r>
            <a:r>
              <a:rPr lang="en-US" altLang="zh-TW" dirty="0"/>
              <a:t> in range(n):</a:t>
            </a:r>
          </a:p>
          <a:p>
            <a:r>
              <a:rPr lang="en-US" altLang="zh-TW" dirty="0"/>
              <a:t>    p = </a:t>
            </a:r>
            <a:r>
              <a:rPr lang="en-US" altLang="zh-TW" dirty="0" err="1"/>
              <a:t>model.head</a:t>
            </a:r>
            <a:r>
              <a:rPr lang="en-US" altLang="zh-TW" dirty="0"/>
              <a:t>[</a:t>
            </a:r>
            <a:r>
              <a:rPr lang="en-US" altLang="zh-TW" dirty="0" err="1"/>
              <a:t>i</a:t>
            </a:r>
            <a:r>
              <a:rPr lang="en-US" altLang="zh-TW" dirty="0"/>
              <a:t>](d)</a:t>
            </a:r>
          </a:p>
          <a:p>
            <a:r>
              <a:rPr lang="en-US" altLang="zh-TW" dirty="0"/>
              <a:t>    loss(p, y[</a:t>
            </a:r>
            <a:r>
              <a:rPr lang="en-US" altLang="zh-TW" dirty="0" err="1"/>
              <a:t>i</a:t>
            </a:r>
            <a:r>
              <a:rPr lang="en-US" altLang="zh-TW" dirty="0"/>
              <a:t>]).backward()</a:t>
            </a:r>
          </a:p>
          <a:p>
            <a:r>
              <a:rPr lang="en-US" altLang="zh-TW" dirty="0"/>
              <a:t> </a:t>
            </a:r>
          </a:p>
          <a:p>
            <a:r>
              <a:rPr lang="en-US" altLang="zh-TW" dirty="0" err="1"/>
              <a:t>z.backward</a:t>
            </a:r>
            <a:r>
              <a:rPr lang="en-US" altLang="zh-TW" dirty="0"/>
              <a:t>(gradient=</a:t>
            </a:r>
            <a:r>
              <a:rPr lang="en-US" altLang="zh-TW" dirty="0" err="1"/>
              <a:t>d.grad</a:t>
            </a:r>
            <a:r>
              <a:rPr lang="en-US" altLang="zh-TW" dirty="0"/>
              <a:t>)</a:t>
            </a:r>
            <a:endParaRPr lang="zh-TW" altLang="en-US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6611112"/>
            <a:ext cx="12191695" cy="246888"/>
          </a:xfrm>
          <a:prstGeom prst="rect">
            <a:avLst/>
          </a:prstGeom>
          <a:solidFill>
            <a:srgbClr val="5B839B"/>
          </a:solidFill>
          <a:ln w="12700">
            <a:solidFill>
              <a:srgbClr val="5B839B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3" name="Text 1"/>
          <p:cNvSpPr/>
          <p:nvPr/>
        </p:nvSpPr>
        <p:spPr>
          <a:xfrm>
            <a:off x="11540971" y="6629400"/>
            <a:ext cx="437669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200" dirty="0">
                <a:solidFill>
                  <a:srgbClr val="FFFFFF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Noto Sans CJK TC" pitchFamily="34" charset="-120"/>
              </a:rPr>
              <a:t>11</a:t>
            </a:r>
            <a:endParaRPr lang="en-US" sz="1200" dirty="0"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4" name="Text 2"/>
          <p:cNvSpPr/>
          <p:nvPr/>
        </p:nvSpPr>
        <p:spPr>
          <a:xfrm>
            <a:off x="347472" y="274320"/>
            <a:ext cx="30175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b="1" dirty="0">
                <a:solidFill>
                  <a:srgbClr val="1B2E3A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Noto Sans CJK TC" pitchFamily="34" charset="-120"/>
              </a:rPr>
              <a:t>Part2: Related works / MTP</a:t>
            </a:r>
            <a:endParaRPr lang="en-US" dirty="0"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5" name="Text 3"/>
          <p:cNvSpPr/>
          <p:nvPr/>
        </p:nvSpPr>
        <p:spPr>
          <a:xfrm>
            <a:off x="347472" y="457200"/>
            <a:ext cx="79552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rgbClr val="60707A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Noto Sans CJK TC" pitchFamily="34" charset="-120"/>
              </a:rPr>
              <a:t>Self-speculative decoding</a:t>
            </a:r>
            <a:endParaRPr lang="en-US" sz="1600" dirty="0"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7" name="Shape 5"/>
          <p:cNvSpPr/>
          <p:nvPr/>
        </p:nvSpPr>
        <p:spPr>
          <a:xfrm>
            <a:off x="347472" y="749808"/>
            <a:ext cx="11475720" cy="0"/>
          </a:xfrm>
          <a:prstGeom prst="line">
            <a:avLst/>
          </a:prstGeom>
          <a:noFill/>
          <a:ln w="12700">
            <a:solidFill>
              <a:srgbClr val="C8D6DE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grpSp>
        <p:nvGrpSpPr>
          <p:cNvPr id="130" name="群組 129">
            <a:extLst>
              <a:ext uri="{FF2B5EF4-FFF2-40B4-BE49-F238E27FC236}">
                <a16:creationId xmlns:a16="http://schemas.microsoft.com/office/drawing/2014/main" id="{55235AD4-D98D-E730-EE6E-FC8FFB3EE63C}"/>
              </a:ext>
            </a:extLst>
          </p:cNvPr>
          <p:cNvGrpSpPr/>
          <p:nvPr/>
        </p:nvGrpSpPr>
        <p:grpSpPr>
          <a:xfrm>
            <a:off x="347471" y="735984"/>
            <a:ext cx="3445903" cy="3836938"/>
            <a:chOff x="638400" y="1449914"/>
            <a:chExt cx="3445903" cy="3836938"/>
          </a:xfrm>
        </p:grpSpPr>
        <p:sp>
          <p:nvSpPr>
            <p:cNvPr id="54" name="文字方塊 53">
              <a:extLst>
                <a:ext uri="{FF2B5EF4-FFF2-40B4-BE49-F238E27FC236}">
                  <a16:creationId xmlns:a16="http://schemas.microsoft.com/office/drawing/2014/main" id="{177A29CD-4CEC-4B12-03F9-72DC250DD8FC}"/>
                </a:ext>
              </a:extLst>
            </p:cNvPr>
            <p:cNvSpPr txBox="1"/>
            <p:nvPr/>
          </p:nvSpPr>
          <p:spPr>
            <a:xfrm>
              <a:off x="638400" y="1449914"/>
              <a:ext cx="1760307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zh-TW" dirty="0"/>
                <a:t>Propose + verify</a:t>
              </a:r>
              <a:endParaRPr lang="zh-TW" altLang="en-US" dirty="0"/>
            </a:p>
          </p:txBody>
        </p:sp>
        <p:grpSp>
          <p:nvGrpSpPr>
            <p:cNvPr id="128" name="群組 127">
              <a:extLst>
                <a:ext uri="{FF2B5EF4-FFF2-40B4-BE49-F238E27FC236}">
                  <a16:creationId xmlns:a16="http://schemas.microsoft.com/office/drawing/2014/main" id="{45AFBFB4-BD64-23E4-ECB3-21025FE319AE}"/>
                </a:ext>
              </a:extLst>
            </p:cNvPr>
            <p:cNvGrpSpPr/>
            <p:nvPr/>
          </p:nvGrpSpPr>
          <p:grpSpPr>
            <a:xfrm>
              <a:off x="638402" y="2094095"/>
              <a:ext cx="3445901" cy="3192757"/>
              <a:chOff x="-7395" y="3688950"/>
              <a:chExt cx="3445901" cy="3192757"/>
            </a:xfrm>
          </p:grpSpPr>
          <p:grpSp>
            <p:nvGrpSpPr>
              <p:cNvPr id="126" name="群組 125">
                <a:extLst>
                  <a:ext uri="{FF2B5EF4-FFF2-40B4-BE49-F238E27FC236}">
                    <a16:creationId xmlns:a16="http://schemas.microsoft.com/office/drawing/2014/main" id="{E2DD556E-62E3-3613-F08E-7D5A86345D76}"/>
                  </a:ext>
                </a:extLst>
              </p:cNvPr>
              <p:cNvGrpSpPr/>
              <p:nvPr/>
            </p:nvGrpSpPr>
            <p:grpSpPr>
              <a:xfrm>
                <a:off x="1508908" y="4875034"/>
                <a:ext cx="1704512" cy="1239539"/>
                <a:chOff x="1965168" y="3162640"/>
                <a:chExt cx="1704512" cy="1239539"/>
              </a:xfrm>
            </p:grpSpPr>
            <p:sp>
              <p:nvSpPr>
                <p:cNvPr id="31" name="矩形: 圓角 30">
                  <a:extLst>
                    <a:ext uri="{FF2B5EF4-FFF2-40B4-BE49-F238E27FC236}">
                      <a16:creationId xmlns:a16="http://schemas.microsoft.com/office/drawing/2014/main" id="{30F475C6-2F91-7CC4-89FA-BA1A5B18F40D}"/>
                    </a:ext>
                  </a:extLst>
                </p:cNvPr>
                <p:cNvSpPr/>
                <p:nvPr/>
              </p:nvSpPr>
              <p:spPr>
                <a:xfrm>
                  <a:off x="1965168" y="3443361"/>
                  <a:ext cx="1704512" cy="692458"/>
                </a:xfrm>
                <a:prstGeom prst="roundRect">
                  <a:avLst/>
                </a:prstGeom>
              </p:spPr>
              <p:style>
                <a:lnRef idx="2">
                  <a:schemeClr val="accent5">
                    <a:shade val="15000"/>
                  </a:schemeClr>
                </a:lnRef>
                <a:fillRef idx="1">
                  <a:schemeClr val="accent5"/>
                </a:fillRef>
                <a:effectRef idx="0">
                  <a:schemeClr val="accent5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en-US" altLang="zh-TW" dirty="0">
                      <a:solidFill>
                        <a:schemeClr val="tx1"/>
                      </a:solidFill>
                    </a:rPr>
                    <a:t>Model(K = 3)</a:t>
                  </a:r>
                  <a:endParaRPr lang="zh-TW" altLang="en-US" dirty="0">
                    <a:solidFill>
                      <a:schemeClr val="tx1"/>
                    </a:solidFill>
                  </a:endParaRPr>
                </a:p>
              </p:txBody>
            </p:sp>
            <p:sp>
              <p:nvSpPr>
                <p:cNvPr id="32" name="箭號: 向上 31">
                  <a:extLst>
                    <a:ext uri="{FF2B5EF4-FFF2-40B4-BE49-F238E27FC236}">
                      <a16:creationId xmlns:a16="http://schemas.microsoft.com/office/drawing/2014/main" id="{A47C2927-F8E9-6C4A-3691-B66B842DAF3E}"/>
                    </a:ext>
                  </a:extLst>
                </p:cNvPr>
                <p:cNvSpPr/>
                <p:nvPr/>
              </p:nvSpPr>
              <p:spPr>
                <a:xfrm>
                  <a:off x="2748807" y="4150179"/>
                  <a:ext cx="140462" cy="252000"/>
                </a:xfrm>
                <a:prstGeom prst="upArrow">
                  <a:avLst/>
                </a:prstGeom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zh-TW" altLang="en-US" dirty="0"/>
                </a:p>
              </p:txBody>
            </p:sp>
            <p:sp>
              <p:nvSpPr>
                <p:cNvPr id="44" name="箭號: 向上 43">
                  <a:extLst>
                    <a:ext uri="{FF2B5EF4-FFF2-40B4-BE49-F238E27FC236}">
                      <a16:creationId xmlns:a16="http://schemas.microsoft.com/office/drawing/2014/main" id="{25164CCB-05F5-A1B0-DF7A-A82561D6B8CF}"/>
                    </a:ext>
                  </a:extLst>
                </p:cNvPr>
                <p:cNvSpPr/>
                <p:nvPr/>
              </p:nvSpPr>
              <p:spPr>
                <a:xfrm>
                  <a:off x="2747193" y="3162640"/>
                  <a:ext cx="140462" cy="252000"/>
                </a:xfrm>
                <a:prstGeom prst="upArrow">
                  <a:avLst/>
                </a:prstGeom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zh-TW" altLang="en-US" dirty="0"/>
                </a:p>
              </p:txBody>
            </p:sp>
          </p:grpSp>
          <p:grpSp>
            <p:nvGrpSpPr>
              <p:cNvPr id="124" name="群組 123">
                <a:extLst>
                  <a:ext uri="{FF2B5EF4-FFF2-40B4-BE49-F238E27FC236}">
                    <a16:creationId xmlns:a16="http://schemas.microsoft.com/office/drawing/2014/main" id="{DAC5D0FF-E03D-1CD0-3190-A7EB9BFE6738}"/>
                  </a:ext>
                </a:extLst>
              </p:cNvPr>
              <p:cNvGrpSpPr/>
              <p:nvPr/>
            </p:nvGrpSpPr>
            <p:grpSpPr>
              <a:xfrm>
                <a:off x="-7395" y="3688950"/>
                <a:ext cx="3154904" cy="1154932"/>
                <a:chOff x="429928" y="1981136"/>
                <a:chExt cx="3154904" cy="1154932"/>
              </a:xfrm>
            </p:grpSpPr>
            <p:grpSp>
              <p:nvGrpSpPr>
                <p:cNvPr id="33" name="群組 32">
                  <a:extLst>
                    <a:ext uri="{FF2B5EF4-FFF2-40B4-BE49-F238E27FC236}">
                      <a16:creationId xmlns:a16="http://schemas.microsoft.com/office/drawing/2014/main" id="{8C3991DE-C2A6-113A-485F-F600734E50EB}"/>
                    </a:ext>
                  </a:extLst>
                </p:cNvPr>
                <p:cNvGrpSpPr/>
                <p:nvPr/>
              </p:nvGrpSpPr>
              <p:grpSpPr>
                <a:xfrm>
                  <a:off x="429928" y="2766371"/>
                  <a:ext cx="3154904" cy="369697"/>
                  <a:chOff x="-26810" y="4587425"/>
                  <a:chExt cx="3154904" cy="369697"/>
                </a:xfrm>
              </p:grpSpPr>
              <p:grpSp>
                <p:nvGrpSpPr>
                  <p:cNvPr id="34" name="群組 33">
                    <a:extLst>
                      <a:ext uri="{FF2B5EF4-FFF2-40B4-BE49-F238E27FC236}">
                        <a16:creationId xmlns:a16="http://schemas.microsoft.com/office/drawing/2014/main" id="{449312BB-9678-61CE-4BD9-8A242C3A0625}"/>
                      </a:ext>
                    </a:extLst>
                  </p:cNvPr>
                  <p:cNvGrpSpPr/>
                  <p:nvPr/>
                </p:nvGrpSpPr>
                <p:grpSpPr>
                  <a:xfrm>
                    <a:off x="-26810" y="4587425"/>
                    <a:ext cx="3154904" cy="369697"/>
                    <a:chOff x="0" y="4588587"/>
                    <a:chExt cx="3114546" cy="369697"/>
                  </a:xfrm>
                </p:grpSpPr>
                <p:grpSp>
                  <p:nvGrpSpPr>
                    <p:cNvPr id="36" name="群組 35">
                      <a:extLst>
                        <a:ext uri="{FF2B5EF4-FFF2-40B4-BE49-F238E27FC236}">
                          <a16:creationId xmlns:a16="http://schemas.microsoft.com/office/drawing/2014/main" id="{421859A5-0646-43F6-16EB-EEA18B89D9FF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0" y="4588587"/>
                      <a:ext cx="2313340" cy="369332"/>
                      <a:chOff x="47811" y="6289889"/>
                      <a:chExt cx="2140823" cy="369332"/>
                    </a:xfrm>
                  </p:grpSpPr>
                  <p:sp>
                    <p:nvSpPr>
                      <p:cNvPr id="42" name="文字方塊 41">
                        <a:extLst>
                          <a:ext uri="{FF2B5EF4-FFF2-40B4-BE49-F238E27FC236}">
                            <a16:creationId xmlns:a16="http://schemas.microsoft.com/office/drawing/2014/main" id="{AD2FC6D9-5DEF-D5B9-C7C9-29ED37B472E9}"/>
                          </a:ext>
                        </a:extLst>
                      </p:cNvPr>
                      <p:cNvSpPr txBox="1"/>
                      <p:nvPr/>
                    </p:nvSpPr>
                    <p:spPr>
                      <a:xfrm>
                        <a:off x="47811" y="6289889"/>
                        <a:ext cx="1320067" cy="369332"/>
                      </a:xfrm>
                      <a:prstGeom prst="rect">
                        <a:avLst/>
                      </a:prstGeom>
                      <a:noFill/>
                    </p:spPr>
                    <p:txBody>
                      <a:bodyPr wrap="square" rtlCol="0">
                        <a:spAutoFit/>
                      </a:bodyPr>
                      <a:lstStyle/>
                      <a:p>
                        <a:r>
                          <a:rPr lang="en-US" altLang="zh-TW" dirty="0"/>
                          <a:t>Head 1:</a:t>
                        </a:r>
                        <a:endParaRPr lang="zh-TW" altLang="en-US" dirty="0"/>
                      </a:p>
                    </p:txBody>
                  </p:sp>
                  <p:sp>
                    <p:nvSpPr>
                      <p:cNvPr id="43" name="矩形 42">
                        <a:extLst>
                          <a:ext uri="{FF2B5EF4-FFF2-40B4-BE49-F238E27FC236}">
                            <a16:creationId xmlns:a16="http://schemas.microsoft.com/office/drawing/2014/main" id="{6AB74D8B-7DF9-1C65-52B0-123AD7F5D62B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1859743" y="6294555"/>
                        <a:ext cx="328891" cy="360000"/>
                      </a:xfrm>
                      <a:prstGeom prst="rect">
                        <a:avLst/>
                      </a:prstGeom>
                      <a:solidFill>
                        <a:schemeClr val="accent1">
                          <a:lumMod val="20000"/>
                          <a:lumOff val="80000"/>
                        </a:schemeClr>
                      </a:solidFill>
                    </p:spPr>
                    <p:style>
                      <a:lnRef idx="2">
                        <a:schemeClr val="accent3">
                          <a:shade val="15000"/>
                        </a:schemeClr>
                      </a:lnRef>
                      <a:fillRef idx="1">
                        <a:schemeClr val="accent3"/>
                      </a:fillRef>
                      <a:effectRef idx="0">
                        <a:schemeClr val="accent3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r>
                          <a:rPr lang="en-US" altLang="zh-TW" sz="1600" dirty="0">
                            <a:solidFill>
                              <a:schemeClr val="tx1"/>
                            </a:solidFill>
                          </a:rPr>
                          <a:t>t</a:t>
                        </a:r>
                        <a:r>
                          <a:rPr lang="en-US" altLang="zh-TW" sz="1600" baseline="-25000" dirty="0">
                            <a:solidFill>
                              <a:schemeClr val="tx1"/>
                            </a:solidFill>
                          </a:rPr>
                          <a:t>2</a:t>
                        </a:r>
                        <a:endParaRPr lang="en-US" altLang="zh-TW" sz="1600" dirty="0">
                          <a:solidFill>
                            <a:schemeClr val="tx1"/>
                          </a:solidFill>
                        </a:endParaRPr>
                      </a:p>
                    </p:txBody>
                  </p:sp>
                </p:grpSp>
                <p:sp>
                  <p:nvSpPr>
                    <p:cNvPr id="37" name="矩形 36">
                      <a:extLst>
                        <a:ext uri="{FF2B5EF4-FFF2-40B4-BE49-F238E27FC236}">
                          <a16:creationId xmlns:a16="http://schemas.microsoft.com/office/drawing/2014/main" id="{392265FF-4B14-12EE-1A6B-FEA5FCC8B8BB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2358548" y="4593253"/>
                      <a:ext cx="355395" cy="360000"/>
                    </a:xfrm>
                    <a:prstGeom prst="rect">
                      <a:avLst/>
                    </a:prstGeom>
                    <a:solidFill>
                      <a:schemeClr val="accent1">
                        <a:lumMod val="20000"/>
                        <a:lumOff val="80000"/>
                      </a:schemeClr>
                    </a:solidFill>
                  </p:spPr>
                  <p:style>
                    <a:lnRef idx="2">
                      <a:schemeClr val="accent3">
                        <a:shade val="15000"/>
                      </a:schemeClr>
                    </a:lnRef>
                    <a:fillRef idx="1">
                      <a:schemeClr val="accent3"/>
                    </a:fillRef>
                    <a:effectRef idx="0">
                      <a:schemeClr val="accent3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r>
                        <a:rPr lang="en-US" altLang="zh-TW" sz="1600" dirty="0">
                          <a:solidFill>
                            <a:schemeClr val="tx1"/>
                          </a:solidFill>
                        </a:rPr>
                        <a:t>t</a:t>
                      </a:r>
                      <a:r>
                        <a:rPr lang="en-US" altLang="zh-TW" sz="1600" baseline="-25000" dirty="0">
                          <a:solidFill>
                            <a:schemeClr val="tx1"/>
                          </a:solidFill>
                        </a:rPr>
                        <a:t>3</a:t>
                      </a:r>
                      <a:endParaRPr lang="en-US" altLang="zh-TW" sz="1600" dirty="0">
                        <a:solidFill>
                          <a:schemeClr val="tx1"/>
                        </a:solidFill>
                      </a:endParaRPr>
                    </a:p>
                  </p:txBody>
                </p:sp>
                <p:sp>
                  <p:nvSpPr>
                    <p:cNvPr id="38" name="矩形 37">
                      <a:extLst>
                        <a:ext uri="{FF2B5EF4-FFF2-40B4-BE49-F238E27FC236}">
                          <a16:creationId xmlns:a16="http://schemas.microsoft.com/office/drawing/2014/main" id="{1FD60A51-EC2C-468B-B7C9-B1EBC1098A1F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2759151" y="4598284"/>
                      <a:ext cx="355395" cy="360000"/>
                    </a:xfrm>
                    <a:prstGeom prst="rect">
                      <a:avLst/>
                    </a:prstGeom>
                    <a:solidFill>
                      <a:schemeClr val="accent1">
                        <a:lumMod val="20000"/>
                        <a:lumOff val="80000"/>
                      </a:schemeClr>
                    </a:solidFill>
                  </p:spPr>
                  <p:style>
                    <a:lnRef idx="2">
                      <a:schemeClr val="accent3">
                        <a:shade val="15000"/>
                      </a:schemeClr>
                    </a:lnRef>
                    <a:fillRef idx="1">
                      <a:schemeClr val="accent3"/>
                    </a:fillRef>
                    <a:effectRef idx="0">
                      <a:schemeClr val="accent3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r>
                        <a:rPr lang="en-US" altLang="zh-TW" sz="1600" dirty="0">
                          <a:solidFill>
                            <a:schemeClr val="tx1"/>
                          </a:solidFill>
                        </a:rPr>
                        <a:t>t</a:t>
                      </a:r>
                      <a:r>
                        <a:rPr lang="en-US" altLang="zh-TW" sz="1600" baseline="-25000" dirty="0">
                          <a:solidFill>
                            <a:schemeClr val="tx1"/>
                          </a:solidFill>
                        </a:rPr>
                        <a:t>4</a:t>
                      </a:r>
                      <a:endParaRPr lang="en-US" altLang="zh-TW" sz="1600" dirty="0">
                        <a:solidFill>
                          <a:schemeClr val="tx1"/>
                        </a:solidFill>
                      </a:endParaRPr>
                    </a:p>
                  </p:txBody>
                </p:sp>
              </p:grpSp>
              <p:sp>
                <p:nvSpPr>
                  <p:cNvPr id="35" name="矩形 34">
                    <a:extLst>
                      <a:ext uri="{FF2B5EF4-FFF2-40B4-BE49-F238E27FC236}">
                        <a16:creationId xmlns:a16="http://schemas.microsoft.com/office/drawing/2014/main" id="{7483DDF4-93DB-DEB7-B824-BC822568892D}"/>
                      </a:ext>
                    </a:extLst>
                  </p:cNvPr>
                  <p:cNvSpPr/>
                  <p:nvPr/>
                </p:nvSpPr>
                <p:spPr>
                  <a:xfrm>
                    <a:off x="1547086" y="4596757"/>
                    <a:ext cx="360000" cy="360000"/>
                  </a:xfrm>
                  <a:prstGeom prst="rect">
                    <a:avLst/>
                  </a:prstGeom>
                  <a:solidFill>
                    <a:schemeClr val="accent1">
                      <a:lumMod val="20000"/>
                      <a:lumOff val="80000"/>
                    </a:schemeClr>
                  </a:solidFill>
                </p:spPr>
                <p:style>
                  <a:lnRef idx="2">
                    <a:schemeClr val="accent3">
                      <a:shade val="15000"/>
                    </a:schemeClr>
                  </a:lnRef>
                  <a:fillRef idx="1">
                    <a:schemeClr val="accent3"/>
                  </a:fillRef>
                  <a:effectRef idx="0">
                    <a:schemeClr val="accent3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r>
                      <a:rPr lang="en-US" altLang="zh-TW" sz="1600" dirty="0">
                        <a:solidFill>
                          <a:schemeClr val="tx1"/>
                        </a:solidFill>
                      </a:rPr>
                      <a:t>t</a:t>
                    </a:r>
                    <a:r>
                      <a:rPr lang="en-US" altLang="zh-TW" sz="1600" baseline="-25000" dirty="0">
                        <a:solidFill>
                          <a:schemeClr val="tx1"/>
                        </a:solidFill>
                      </a:rPr>
                      <a:t>1</a:t>
                    </a:r>
                    <a:endParaRPr lang="en-US" altLang="zh-TW" sz="1600" dirty="0">
                      <a:solidFill>
                        <a:schemeClr val="tx1"/>
                      </a:solidFill>
                    </a:endParaRPr>
                  </a:p>
                </p:txBody>
              </p:sp>
            </p:grpSp>
            <p:grpSp>
              <p:nvGrpSpPr>
                <p:cNvPr id="102" name="群組 101">
                  <a:extLst>
                    <a:ext uri="{FF2B5EF4-FFF2-40B4-BE49-F238E27FC236}">
                      <a16:creationId xmlns:a16="http://schemas.microsoft.com/office/drawing/2014/main" id="{EE72A749-92AC-F07A-5759-F3E0842165E9}"/>
                    </a:ext>
                  </a:extLst>
                </p:cNvPr>
                <p:cNvGrpSpPr/>
                <p:nvPr/>
              </p:nvGrpSpPr>
              <p:grpSpPr>
                <a:xfrm>
                  <a:off x="429928" y="2375168"/>
                  <a:ext cx="3154904" cy="372397"/>
                  <a:chOff x="-26810" y="4587425"/>
                  <a:chExt cx="3154904" cy="372397"/>
                </a:xfrm>
              </p:grpSpPr>
              <p:grpSp>
                <p:nvGrpSpPr>
                  <p:cNvPr id="103" name="群組 102">
                    <a:extLst>
                      <a:ext uri="{FF2B5EF4-FFF2-40B4-BE49-F238E27FC236}">
                        <a16:creationId xmlns:a16="http://schemas.microsoft.com/office/drawing/2014/main" id="{B09A45D8-69E9-FC80-8232-49617E224682}"/>
                      </a:ext>
                    </a:extLst>
                  </p:cNvPr>
                  <p:cNvGrpSpPr/>
                  <p:nvPr/>
                </p:nvGrpSpPr>
                <p:grpSpPr>
                  <a:xfrm>
                    <a:off x="-26810" y="4587425"/>
                    <a:ext cx="3154904" cy="372397"/>
                    <a:chOff x="0" y="4588587"/>
                    <a:chExt cx="3114546" cy="372397"/>
                  </a:xfrm>
                </p:grpSpPr>
                <p:grpSp>
                  <p:nvGrpSpPr>
                    <p:cNvPr id="105" name="群組 104">
                      <a:extLst>
                        <a:ext uri="{FF2B5EF4-FFF2-40B4-BE49-F238E27FC236}">
                          <a16:creationId xmlns:a16="http://schemas.microsoft.com/office/drawing/2014/main" id="{4F929EA8-0213-71CF-790B-087BD3B24C21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0" y="4588587"/>
                      <a:ext cx="2313340" cy="369332"/>
                      <a:chOff x="47811" y="6289889"/>
                      <a:chExt cx="2140823" cy="369332"/>
                    </a:xfrm>
                  </p:grpSpPr>
                  <p:sp>
                    <p:nvSpPr>
                      <p:cNvPr id="111" name="文字方塊 110">
                        <a:extLst>
                          <a:ext uri="{FF2B5EF4-FFF2-40B4-BE49-F238E27FC236}">
                            <a16:creationId xmlns:a16="http://schemas.microsoft.com/office/drawing/2014/main" id="{3A3D5D9A-C6E2-E744-6E90-A69D1C72657F}"/>
                          </a:ext>
                        </a:extLst>
                      </p:cNvPr>
                      <p:cNvSpPr txBox="1"/>
                      <p:nvPr/>
                    </p:nvSpPr>
                    <p:spPr>
                      <a:xfrm>
                        <a:off x="47811" y="6289889"/>
                        <a:ext cx="1320067" cy="369332"/>
                      </a:xfrm>
                      <a:prstGeom prst="rect">
                        <a:avLst/>
                      </a:prstGeom>
                      <a:noFill/>
                    </p:spPr>
                    <p:txBody>
                      <a:bodyPr wrap="square" rtlCol="0">
                        <a:spAutoFit/>
                      </a:bodyPr>
                      <a:lstStyle/>
                      <a:p>
                        <a:r>
                          <a:rPr lang="en-US" altLang="zh-TW" dirty="0"/>
                          <a:t>Head 2:</a:t>
                        </a:r>
                        <a:endParaRPr lang="zh-TW" altLang="en-US" dirty="0"/>
                      </a:p>
                    </p:txBody>
                  </p:sp>
                  <p:sp>
                    <p:nvSpPr>
                      <p:cNvPr id="112" name="矩形 111">
                        <a:extLst>
                          <a:ext uri="{FF2B5EF4-FFF2-40B4-BE49-F238E27FC236}">
                            <a16:creationId xmlns:a16="http://schemas.microsoft.com/office/drawing/2014/main" id="{EE2CB262-458B-FA93-2CF8-C754B969D3A0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1859743" y="6294555"/>
                        <a:ext cx="328891" cy="360000"/>
                      </a:xfrm>
                      <a:prstGeom prst="rect">
                        <a:avLst/>
                      </a:prstGeom>
                      <a:solidFill>
                        <a:schemeClr val="accent1">
                          <a:lumMod val="20000"/>
                          <a:lumOff val="80000"/>
                        </a:schemeClr>
                      </a:solidFill>
                    </p:spPr>
                    <p:style>
                      <a:lnRef idx="2">
                        <a:schemeClr val="accent3">
                          <a:shade val="15000"/>
                        </a:schemeClr>
                      </a:lnRef>
                      <a:fillRef idx="1">
                        <a:schemeClr val="accent3"/>
                      </a:fillRef>
                      <a:effectRef idx="0">
                        <a:schemeClr val="accent3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r>
                          <a:rPr lang="en-US" altLang="zh-TW" sz="1600" dirty="0">
                            <a:solidFill>
                              <a:schemeClr val="tx1"/>
                            </a:solidFill>
                          </a:rPr>
                          <a:t>t</a:t>
                        </a:r>
                        <a:r>
                          <a:rPr lang="en-US" altLang="zh-TW" sz="1600" baseline="-25000" dirty="0">
                            <a:solidFill>
                              <a:schemeClr val="tx1"/>
                            </a:solidFill>
                          </a:rPr>
                          <a:t>3</a:t>
                        </a:r>
                        <a:endParaRPr lang="en-US" altLang="zh-TW" sz="1600" dirty="0">
                          <a:solidFill>
                            <a:schemeClr val="tx1"/>
                          </a:solidFill>
                        </a:endParaRPr>
                      </a:p>
                    </p:txBody>
                  </p:sp>
                </p:grpSp>
                <p:sp>
                  <p:nvSpPr>
                    <p:cNvPr id="106" name="矩形 105">
                      <a:extLst>
                        <a:ext uri="{FF2B5EF4-FFF2-40B4-BE49-F238E27FC236}">
                          <a16:creationId xmlns:a16="http://schemas.microsoft.com/office/drawing/2014/main" id="{2CBF5E42-A230-FA88-2534-1245ECB44DB2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2358548" y="4593253"/>
                      <a:ext cx="355395" cy="360000"/>
                    </a:xfrm>
                    <a:prstGeom prst="rect">
                      <a:avLst/>
                    </a:prstGeom>
                    <a:solidFill>
                      <a:schemeClr val="accent1">
                        <a:lumMod val="20000"/>
                        <a:lumOff val="80000"/>
                      </a:schemeClr>
                    </a:solidFill>
                  </p:spPr>
                  <p:style>
                    <a:lnRef idx="2">
                      <a:schemeClr val="accent3">
                        <a:shade val="15000"/>
                      </a:schemeClr>
                    </a:lnRef>
                    <a:fillRef idx="1">
                      <a:schemeClr val="accent3"/>
                    </a:fillRef>
                    <a:effectRef idx="0">
                      <a:schemeClr val="accent3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r>
                        <a:rPr lang="en-US" altLang="zh-TW" sz="1600" dirty="0">
                          <a:solidFill>
                            <a:schemeClr val="tx1"/>
                          </a:solidFill>
                        </a:rPr>
                        <a:t>t</a:t>
                      </a:r>
                      <a:r>
                        <a:rPr lang="en-US" altLang="zh-TW" sz="1600" baseline="-25000" dirty="0">
                          <a:solidFill>
                            <a:schemeClr val="tx1"/>
                          </a:solidFill>
                        </a:rPr>
                        <a:t>4</a:t>
                      </a:r>
                      <a:endParaRPr lang="en-US" altLang="zh-TW" sz="1600" dirty="0">
                        <a:solidFill>
                          <a:schemeClr val="tx1"/>
                        </a:solidFill>
                      </a:endParaRPr>
                    </a:p>
                  </p:txBody>
                </p:sp>
                <p:sp>
                  <p:nvSpPr>
                    <p:cNvPr id="107" name="矩形 106">
                      <a:extLst>
                        <a:ext uri="{FF2B5EF4-FFF2-40B4-BE49-F238E27FC236}">
                          <a16:creationId xmlns:a16="http://schemas.microsoft.com/office/drawing/2014/main" id="{E6960E9A-89FA-8E04-06C7-BCF78BD7B59A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2759151" y="4600984"/>
                      <a:ext cx="355395" cy="360000"/>
                    </a:xfrm>
                    <a:prstGeom prst="rect">
                      <a:avLst/>
                    </a:prstGeom>
                    <a:solidFill>
                      <a:schemeClr val="accent1">
                        <a:lumMod val="20000"/>
                        <a:lumOff val="80000"/>
                      </a:schemeClr>
                    </a:solidFill>
                  </p:spPr>
                  <p:style>
                    <a:lnRef idx="2">
                      <a:schemeClr val="accent3">
                        <a:shade val="15000"/>
                      </a:schemeClr>
                    </a:lnRef>
                    <a:fillRef idx="1">
                      <a:schemeClr val="accent3"/>
                    </a:fillRef>
                    <a:effectRef idx="0">
                      <a:schemeClr val="accent3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r>
                        <a:rPr lang="en-US" altLang="zh-TW" sz="1600" dirty="0">
                          <a:solidFill>
                            <a:schemeClr val="tx1"/>
                          </a:solidFill>
                        </a:rPr>
                        <a:t>t</a:t>
                      </a:r>
                      <a:r>
                        <a:rPr lang="en-US" altLang="zh-TW" sz="1600" baseline="-25000" dirty="0">
                          <a:solidFill>
                            <a:schemeClr val="tx1"/>
                          </a:solidFill>
                        </a:rPr>
                        <a:t>5</a:t>
                      </a:r>
                      <a:endParaRPr lang="en-US" altLang="zh-TW" sz="1600" dirty="0">
                        <a:solidFill>
                          <a:schemeClr val="tx1"/>
                        </a:solidFill>
                      </a:endParaRPr>
                    </a:p>
                  </p:txBody>
                </p:sp>
              </p:grpSp>
              <p:sp>
                <p:nvSpPr>
                  <p:cNvPr id="104" name="矩形 103">
                    <a:extLst>
                      <a:ext uri="{FF2B5EF4-FFF2-40B4-BE49-F238E27FC236}">
                        <a16:creationId xmlns:a16="http://schemas.microsoft.com/office/drawing/2014/main" id="{25DB0C71-966F-36B3-89A4-BE3EF1B60641}"/>
                      </a:ext>
                    </a:extLst>
                  </p:cNvPr>
                  <p:cNvSpPr/>
                  <p:nvPr/>
                </p:nvSpPr>
                <p:spPr>
                  <a:xfrm>
                    <a:off x="1547086" y="4596757"/>
                    <a:ext cx="360000" cy="360000"/>
                  </a:xfrm>
                  <a:prstGeom prst="rect">
                    <a:avLst/>
                  </a:prstGeom>
                  <a:solidFill>
                    <a:schemeClr val="accent1">
                      <a:lumMod val="20000"/>
                      <a:lumOff val="80000"/>
                    </a:schemeClr>
                  </a:solidFill>
                </p:spPr>
                <p:style>
                  <a:lnRef idx="2">
                    <a:schemeClr val="accent3">
                      <a:shade val="15000"/>
                    </a:schemeClr>
                  </a:lnRef>
                  <a:fillRef idx="1">
                    <a:schemeClr val="accent3"/>
                  </a:fillRef>
                  <a:effectRef idx="0">
                    <a:schemeClr val="accent3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r>
                      <a:rPr lang="en-US" altLang="zh-TW" sz="1600" dirty="0">
                        <a:solidFill>
                          <a:schemeClr val="tx1"/>
                        </a:solidFill>
                      </a:rPr>
                      <a:t>t</a:t>
                    </a:r>
                    <a:r>
                      <a:rPr lang="en-US" altLang="zh-TW" sz="1600" baseline="-25000" dirty="0">
                        <a:solidFill>
                          <a:schemeClr val="tx1"/>
                        </a:solidFill>
                      </a:rPr>
                      <a:t>2</a:t>
                    </a:r>
                    <a:endParaRPr lang="en-US" altLang="zh-TW" sz="1600" dirty="0">
                      <a:solidFill>
                        <a:schemeClr val="tx1"/>
                      </a:solidFill>
                    </a:endParaRPr>
                  </a:p>
                </p:txBody>
              </p:sp>
            </p:grpSp>
            <p:grpSp>
              <p:nvGrpSpPr>
                <p:cNvPr id="113" name="群組 112">
                  <a:extLst>
                    <a:ext uri="{FF2B5EF4-FFF2-40B4-BE49-F238E27FC236}">
                      <a16:creationId xmlns:a16="http://schemas.microsoft.com/office/drawing/2014/main" id="{C8C04B85-2193-E600-924B-B341DA35205A}"/>
                    </a:ext>
                  </a:extLst>
                </p:cNvPr>
                <p:cNvGrpSpPr/>
                <p:nvPr/>
              </p:nvGrpSpPr>
              <p:grpSpPr>
                <a:xfrm>
                  <a:off x="429928" y="1981136"/>
                  <a:ext cx="3154904" cy="371081"/>
                  <a:chOff x="-26810" y="4587425"/>
                  <a:chExt cx="3154904" cy="371081"/>
                </a:xfrm>
              </p:grpSpPr>
              <p:grpSp>
                <p:nvGrpSpPr>
                  <p:cNvPr id="114" name="群組 113">
                    <a:extLst>
                      <a:ext uri="{FF2B5EF4-FFF2-40B4-BE49-F238E27FC236}">
                        <a16:creationId xmlns:a16="http://schemas.microsoft.com/office/drawing/2014/main" id="{A23A0048-3769-E5B2-7B0E-1BDA2EEF4319}"/>
                      </a:ext>
                    </a:extLst>
                  </p:cNvPr>
                  <p:cNvGrpSpPr/>
                  <p:nvPr/>
                </p:nvGrpSpPr>
                <p:grpSpPr>
                  <a:xfrm>
                    <a:off x="-26810" y="4587425"/>
                    <a:ext cx="3154904" cy="371081"/>
                    <a:chOff x="0" y="4588587"/>
                    <a:chExt cx="3114546" cy="371081"/>
                  </a:xfrm>
                </p:grpSpPr>
                <p:grpSp>
                  <p:nvGrpSpPr>
                    <p:cNvPr id="116" name="群組 115">
                      <a:extLst>
                        <a:ext uri="{FF2B5EF4-FFF2-40B4-BE49-F238E27FC236}">
                          <a16:creationId xmlns:a16="http://schemas.microsoft.com/office/drawing/2014/main" id="{8D41EEB3-564C-3325-ED78-93645D079AB6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0" y="4588587"/>
                      <a:ext cx="2313340" cy="369332"/>
                      <a:chOff x="47811" y="6289889"/>
                      <a:chExt cx="2140823" cy="369332"/>
                    </a:xfrm>
                  </p:grpSpPr>
                  <p:sp>
                    <p:nvSpPr>
                      <p:cNvPr id="122" name="文字方塊 121">
                        <a:extLst>
                          <a:ext uri="{FF2B5EF4-FFF2-40B4-BE49-F238E27FC236}">
                            <a16:creationId xmlns:a16="http://schemas.microsoft.com/office/drawing/2014/main" id="{C684E76D-EFE0-277F-2C2C-53652DD0A1EC}"/>
                          </a:ext>
                        </a:extLst>
                      </p:cNvPr>
                      <p:cNvSpPr txBox="1"/>
                      <p:nvPr/>
                    </p:nvSpPr>
                    <p:spPr>
                      <a:xfrm>
                        <a:off x="47811" y="6289889"/>
                        <a:ext cx="1320067" cy="369332"/>
                      </a:xfrm>
                      <a:prstGeom prst="rect">
                        <a:avLst/>
                      </a:prstGeom>
                      <a:noFill/>
                    </p:spPr>
                    <p:txBody>
                      <a:bodyPr wrap="square" rtlCol="0">
                        <a:spAutoFit/>
                      </a:bodyPr>
                      <a:lstStyle/>
                      <a:p>
                        <a:r>
                          <a:rPr lang="en-US" altLang="zh-TW" dirty="0"/>
                          <a:t>Head 3:</a:t>
                        </a:r>
                        <a:endParaRPr lang="zh-TW" altLang="en-US" dirty="0"/>
                      </a:p>
                    </p:txBody>
                  </p:sp>
                  <p:sp>
                    <p:nvSpPr>
                      <p:cNvPr id="123" name="矩形 122">
                        <a:extLst>
                          <a:ext uri="{FF2B5EF4-FFF2-40B4-BE49-F238E27FC236}">
                            <a16:creationId xmlns:a16="http://schemas.microsoft.com/office/drawing/2014/main" id="{E9FFBB6D-B599-46BE-5894-39B88EB760D6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1859743" y="6294555"/>
                        <a:ext cx="328891" cy="360000"/>
                      </a:xfrm>
                      <a:prstGeom prst="rect">
                        <a:avLst/>
                      </a:prstGeom>
                      <a:solidFill>
                        <a:schemeClr val="accent1">
                          <a:lumMod val="20000"/>
                          <a:lumOff val="80000"/>
                        </a:schemeClr>
                      </a:solidFill>
                    </p:spPr>
                    <p:style>
                      <a:lnRef idx="2">
                        <a:schemeClr val="accent3">
                          <a:shade val="15000"/>
                        </a:schemeClr>
                      </a:lnRef>
                      <a:fillRef idx="1">
                        <a:schemeClr val="accent3"/>
                      </a:fillRef>
                      <a:effectRef idx="0">
                        <a:schemeClr val="accent3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r>
                          <a:rPr lang="en-US" altLang="zh-TW" sz="1600" dirty="0">
                            <a:solidFill>
                              <a:schemeClr val="tx1"/>
                            </a:solidFill>
                          </a:rPr>
                          <a:t>t</a:t>
                        </a:r>
                        <a:r>
                          <a:rPr lang="en-US" altLang="zh-TW" sz="1600" baseline="-25000" dirty="0">
                            <a:solidFill>
                              <a:schemeClr val="tx1"/>
                            </a:solidFill>
                          </a:rPr>
                          <a:t>4</a:t>
                        </a:r>
                        <a:endParaRPr lang="en-US" altLang="zh-TW" sz="1600" dirty="0">
                          <a:solidFill>
                            <a:schemeClr val="tx1"/>
                          </a:solidFill>
                        </a:endParaRPr>
                      </a:p>
                    </p:txBody>
                  </p:sp>
                </p:grpSp>
                <p:sp>
                  <p:nvSpPr>
                    <p:cNvPr id="117" name="矩形 116">
                      <a:extLst>
                        <a:ext uri="{FF2B5EF4-FFF2-40B4-BE49-F238E27FC236}">
                          <a16:creationId xmlns:a16="http://schemas.microsoft.com/office/drawing/2014/main" id="{741095D4-1135-3F7B-A456-0A4F48B469AD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2358548" y="4593253"/>
                      <a:ext cx="355395" cy="360000"/>
                    </a:xfrm>
                    <a:prstGeom prst="rect">
                      <a:avLst/>
                    </a:prstGeom>
                    <a:solidFill>
                      <a:schemeClr val="accent1">
                        <a:lumMod val="20000"/>
                        <a:lumOff val="80000"/>
                      </a:schemeClr>
                    </a:solidFill>
                  </p:spPr>
                  <p:style>
                    <a:lnRef idx="2">
                      <a:schemeClr val="accent3">
                        <a:shade val="15000"/>
                      </a:schemeClr>
                    </a:lnRef>
                    <a:fillRef idx="1">
                      <a:schemeClr val="accent3"/>
                    </a:fillRef>
                    <a:effectRef idx="0">
                      <a:schemeClr val="accent3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r>
                        <a:rPr lang="en-US" altLang="zh-TW" sz="1600" dirty="0">
                          <a:solidFill>
                            <a:schemeClr val="tx1"/>
                          </a:solidFill>
                        </a:rPr>
                        <a:t>t</a:t>
                      </a:r>
                      <a:r>
                        <a:rPr lang="en-US" altLang="zh-TW" sz="1600" baseline="-25000" dirty="0">
                          <a:solidFill>
                            <a:schemeClr val="tx1"/>
                          </a:solidFill>
                        </a:rPr>
                        <a:t>5</a:t>
                      </a:r>
                      <a:endParaRPr lang="en-US" altLang="zh-TW" sz="1600" dirty="0">
                        <a:solidFill>
                          <a:schemeClr val="tx1"/>
                        </a:solidFill>
                      </a:endParaRPr>
                    </a:p>
                  </p:txBody>
                </p:sp>
                <p:sp>
                  <p:nvSpPr>
                    <p:cNvPr id="118" name="矩形 117">
                      <a:extLst>
                        <a:ext uri="{FF2B5EF4-FFF2-40B4-BE49-F238E27FC236}">
                          <a16:creationId xmlns:a16="http://schemas.microsoft.com/office/drawing/2014/main" id="{6F7AF0BC-365C-42DA-9DC8-D4A8B86B7376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2759151" y="4599668"/>
                      <a:ext cx="355395" cy="360000"/>
                    </a:xfrm>
                    <a:prstGeom prst="rect">
                      <a:avLst/>
                    </a:prstGeom>
                    <a:solidFill>
                      <a:schemeClr val="accent1">
                        <a:lumMod val="20000"/>
                        <a:lumOff val="80000"/>
                      </a:schemeClr>
                    </a:solidFill>
                  </p:spPr>
                  <p:style>
                    <a:lnRef idx="2">
                      <a:schemeClr val="accent3">
                        <a:shade val="15000"/>
                      </a:schemeClr>
                    </a:lnRef>
                    <a:fillRef idx="1">
                      <a:schemeClr val="accent3"/>
                    </a:fillRef>
                    <a:effectRef idx="0">
                      <a:schemeClr val="accent3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r>
                        <a:rPr lang="en-US" altLang="zh-TW" sz="1600" dirty="0">
                          <a:solidFill>
                            <a:schemeClr val="tx1"/>
                          </a:solidFill>
                        </a:rPr>
                        <a:t>t</a:t>
                      </a:r>
                      <a:r>
                        <a:rPr lang="en-US" altLang="zh-TW" sz="1600" baseline="-25000" dirty="0">
                          <a:solidFill>
                            <a:schemeClr val="tx1"/>
                          </a:solidFill>
                        </a:rPr>
                        <a:t>6</a:t>
                      </a:r>
                      <a:endParaRPr lang="en-US" altLang="zh-TW" sz="1600" dirty="0">
                        <a:solidFill>
                          <a:schemeClr val="tx1"/>
                        </a:solidFill>
                      </a:endParaRPr>
                    </a:p>
                  </p:txBody>
                </p:sp>
              </p:grpSp>
              <p:sp>
                <p:nvSpPr>
                  <p:cNvPr id="115" name="矩形 114">
                    <a:extLst>
                      <a:ext uri="{FF2B5EF4-FFF2-40B4-BE49-F238E27FC236}">
                        <a16:creationId xmlns:a16="http://schemas.microsoft.com/office/drawing/2014/main" id="{090BDF83-60F3-C3E7-E8BA-CDE9DB89CA0C}"/>
                      </a:ext>
                    </a:extLst>
                  </p:cNvPr>
                  <p:cNvSpPr/>
                  <p:nvPr/>
                </p:nvSpPr>
                <p:spPr>
                  <a:xfrm>
                    <a:off x="1547086" y="4596757"/>
                    <a:ext cx="360000" cy="360000"/>
                  </a:xfrm>
                  <a:prstGeom prst="rect">
                    <a:avLst/>
                  </a:prstGeom>
                  <a:solidFill>
                    <a:schemeClr val="accent1">
                      <a:lumMod val="20000"/>
                      <a:lumOff val="80000"/>
                    </a:schemeClr>
                  </a:solidFill>
                </p:spPr>
                <p:style>
                  <a:lnRef idx="2">
                    <a:schemeClr val="accent3">
                      <a:shade val="15000"/>
                    </a:schemeClr>
                  </a:lnRef>
                  <a:fillRef idx="1">
                    <a:schemeClr val="accent3"/>
                  </a:fillRef>
                  <a:effectRef idx="0">
                    <a:schemeClr val="accent3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r>
                      <a:rPr lang="en-US" altLang="zh-TW" sz="1600" dirty="0">
                        <a:solidFill>
                          <a:schemeClr val="tx1"/>
                        </a:solidFill>
                      </a:rPr>
                      <a:t>t</a:t>
                    </a:r>
                    <a:r>
                      <a:rPr lang="en-US" altLang="zh-TW" sz="1600" baseline="-25000" dirty="0">
                        <a:solidFill>
                          <a:schemeClr val="tx1"/>
                        </a:solidFill>
                      </a:rPr>
                      <a:t>3</a:t>
                    </a:r>
                    <a:endParaRPr lang="en-US" altLang="zh-TW" sz="1600" dirty="0">
                      <a:solidFill>
                        <a:schemeClr val="tx1"/>
                      </a:solidFill>
                    </a:endParaRPr>
                  </a:p>
                </p:txBody>
              </p:sp>
            </p:grpSp>
          </p:grpSp>
          <p:grpSp>
            <p:nvGrpSpPr>
              <p:cNvPr id="127" name="群組 126">
                <a:extLst>
                  <a:ext uri="{FF2B5EF4-FFF2-40B4-BE49-F238E27FC236}">
                    <a16:creationId xmlns:a16="http://schemas.microsoft.com/office/drawing/2014/main" id="{943A7811-246A-4093-8B02-CDD8EA930239}"/>
                  </a:ext>
                </a:extLst>
              </p:cNvPr>
              <p:cNvGrpSpPr/>
              <p:nvPr/>
            </p:nvGrpSpPr>
            <p:grpSpPr>
              <a:xfrm>
                <a:off x="0" y="6160086"/>
                <a:ext cx="3438506" cy="721621"/>
                <a:chOff x="429928" y="4430900"/>
                <a:chExt cx="3438506" cy="721621"/>
              </a:xfrm>
            </p:grpSpPr>
            <p:grpSp>
              <p:nvGrpSpPr>
                <p:cNvPr id="23" name="群組 22">
                  <a:extLst>
                    <a:ext uri="{FF2B5EF4-FFF2-40B4-BE49-F238E27FC236}">
                      <a16:creationId xmlns:a16="http://schemas.microsoft.com/office/drawing/2014/main" id="{F091865A-D936-CFDE-4247-F6302D659E3E}"/>
                    </a:ext>
                  </a:extLst>
                </p:cNvPr>
                <p:cNvGrpSpPr/>
                <p:nvPr/>
              </p:nvGrpSpPr>
              <p:grpSpPr>
                <a:xfrm>
                  <a:off x="429928" y="4430900"/>
                  <a:ext cx="3115944" cy="369332"/>
                  <a:chOff x="0" y="6423020"/>
                  <a:chExt cx="3115944" cy="369332"/>
                </a:xfrm>
              </p:grpSpPr>
              <p:grpSp>
                <p:nvGrpSpPr>
                  <p:cNvPr id="24" name="群組 23">
                    <a:extLst>
                      <a:ext uri="{FF2B5EF4-FFF2-40B4-BE49-F238E27FC236}">
                        <a16:creationId xmlns:a16="http://schemas.microsoft.com/office/drawing/2014/main" id="{8B8880A8-C4EC-721A-8ED1-5E287D03F11E}"/>
                      </a:ext>
                    </a:extLst>
                  </p:cNvPr>
                  <p:cNvGrpSpPr/>
                  <p:nvPr/>
                </p:nvGrpSpPr>
                <p:grpSpPr>
                  <a:xfrm>
                    <a:off x="0" y="6423020"/>
                    <a:ext cx="2326384" cy="369332"/>
                    <a:chOff x="47811" y="6289889"/>
                    <a:chExt cx="2326384" cy="369332"/>
                  </a:xfrm>
                </p:grpSpPr>
                <p:sp>
                  <p:nvSpPr>
                    <p:cNvPr id="27" name="文字方塊 26">
                      <a:extLst>
                        <a:ext uri="{FF2B5EF4-FFF2-40B4-BE49-F238E27FC236}">
                          <a16:creationId xmlns:a16="http://schemas.microsoft.com/office/drawing/2014/main" id="{7DE4276A-FE3C-3815-846D-F486BABFB2D6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47811" y="6289889"/>
                      <a:ext cx="1353730" cy="369332"/>
                    </a:xfrm>
                    <a:prstGeom prst="rect">
                      <a:avLst/>
                    </a:prstGeom>
                    <a:noFill/>
                  </p:spPr>
                  <p:txBody>
                    <a:bodyPr wrap="square" rtlCol="0">
                      <a:spAutoFit/>
                    </a:bodyPr>
                    <a:lstStyle/>
                    <a:p>
                      <a:r>
                        <a:rPr lang="en-US" altLang="zh-TW" dirty="0"/>
                        <a:t>Input Token:</a:t>
                      </a:r>
                      <a:endParaRPr lang="zh-TW" altLang="en-US" dirty="0"/>
                    </a:p>
                  </p:txBody>
                </p:sp>
                <p:grpSp>
                  <p:nvGrpSpPr>
                    <p:cNvPr id="28" name="群組 27">
                      <a:extLst>
                        <a:ext uri="{FF2B5EF4-FFF2-40B4-BE49-F238E27FC236}">
                          <a16:creationId xmlns:a16="http://schemas.microsoft.com/office/drawing/2014/main" id="{413F2123-8092-C8ED-4FAE-C1B78924A13F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1617868" y="6289889"/>
                      <a:ext cx="756327" cy="360000"/>
                      <a:chOff x="1401541" y="6289889"/>
                      <a:chExt cx="756327" cy="360000"/>
                    </a:xfrm>
                  </p:grpSpPr>
                  <p:sp>
                    <p:nvSpPr>
                      <p:cNvPr id="29" name="矩形 28">
                        <a:extLst>
                          <a:ext uri="{FF2B5EF4-FFF2-40B4-BE49-F238E27FC236}">
                            <a16:creationId xmlns:a16="http://schemas.microsoft.com/office/drawing/2014/main" id="{3EF0C0F6-75A1-702E-6111-117832BCDB04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1401541" y="6289889"/>
                        <a:ext cx="360000" cy="360000"/>
                      </a:xfrm>
                      <a:prstGeom prst="rect">
                        <a:avLst/>
                      </a:prstGeom>
                      <a:solidFill>
                        <a:schemeClr val="accent1">
                          <a:lumMod val="20000"/>
                          <a:lumOff val="80000"/>
                        </a:schemeClr>
                      </a:solidFill>
                    </p:spPr>
                    <p:style>
                      <a:lnRef idx="2">
                        <a:schemeClr val="accent3">
                          <a:shade val="15000"/>
                        </a:schemeClr>
                      </a:lnRef>
                      <a:fillRef idx="1">
                        <a:schemeClr val="accent3"/>
                      </a:fillRef>
                      <a:effectRef idx="0">
                        <a:schemeClr val="accent3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r>
                          <a:rPr lang="en-US" altLang="zh-TW" sz="1600" dirty="0">
                            <a:solidFill>
                              <a:schemeClr val="tx1"/>
                            </a:solidFill>
                          </a:rPr>
                          <a:t>t</a:t>
                        </a:r>
                        <a:r>
                          <a:rPr lang="en-US" altLang="zh-TW" sz="1600" baseline="-25000" dirty="0">
                            <a:solidFill>
                              <a:schemeClr val="tx1"/>
                            </a:solidFill>
                          </a:rPr>
                          <a:t>0</a:t>
                        </a:r>
                      </a:p>
                    </p:txBody>
                  </p:sp>
                  <p:sp>
                    <p:nvSpPr>
                      <p:cNvPr id="30" name="矩形 29">
                        <a:extLst>
                          <a:ext uri="{FF2B5EF4-FFF2-40B4-BE49-F238E27FC236}">
                            <a16:creationId xmlns:a16="http://schemas.microsoft.com/office/drawing/2014/main" id="{D695467B-DFFA-1058-203C-C951359004C2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1797868" y="6289889"/>
                        <a:ext cx="360000" cy="360000"/>
                      </a:xfrm>
                      <a:prstGeom prst="rect">
                        <a:avLst/>
                      </a:prstGeom>
                      <a:solidFill>
                        <a:schemeClr val="accent1">
                          <a:lumMod val="20000"/>
                          <a:lumOff val="80000"/>
                        </a:schemeClr>
                      </a:solidFill>
                    </p:spPr>
                    <p:style>
                      <a:lnRef idx="2">
                        <a:schemeClr val="accent3">
                          <a:shade val="15000"/>
                        </a:schemeClr>
                      </a:lnRef>
                      <a:fillRef idx="1">
                        <a:schemeClr val="accent3"/>
                      </a:fillRef>
                      <a:effectRef idx="0">
                        <a:schemeClr val="accent3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r>
                          <a:rPr lang="en-US" altLang="zh-TW" sz="1600" dirty="0">
                            <a:solidFill>
                              <a:schemeClr val="tx1"/>
                            </a:solidFill>
                          </a:rPr>
                          <a:t>t</a:t>
                        </a:r>
                        <a:r>
                          <a:rPr lang="en-US" altLang="zh-TW" sz="1600" baseline="-25000" dirty="0">
                            <a:solidFill>
                              <a:schemeClr val="tx1"/>
                            </a:solidFill>
                          </a:rPr>
                          <a:t>1</a:t>
                        </a:r>
                      </a:p>
                    </p:txBody>
                  </p:sp>
                </p:grpSp>
              </p:grpSp>
              <p:sp>
                <p:nvSpPr>
                  <p:cNvPr id="25" name="矩形 24">
                    <a:extLst>
                      <a:ext uri="{FF2B5EF4-FFF2-40B4-BE49-F238E27FC236}">
                        <a16:creationId xmlns:a16="http://schemas.microsoft.com/office/drawing/2014/main" id="{3A465585-1335-59AF-58E1-40D319897F45}"/>
                      </a:ext>
                    </a:extLst>
                  </p:cNvPr>
                  <p:cNvSpPr/>
                  <p:nvPr/>
                </p:nvSpPr>
                <p:spPr>
                  <a:xfrm>
                    <a:off x="2361164" y="6423020"/>
                    <a:ext cx="360000" cy="360000"/>
                  </a:xfrm>
                  <a:prstGeom prst="rect">
                    <a:avLst/>
                  </a:prstGeom>
                  <a:solidFill>
                    <a:schemeClr val="accent1">
                      <a:lumMod val="20000"/>
                      <a:lumOff val="80000"/>
                    </a:schemeClr>
                  </a:solidFill>
                </p:spPr>
                <p:style>
                  <a:lnRef idx="2">
                    <a:schemeClr val="accent3">
                      <a:shade val="15000"/>
                    </a:schemeClr>
                  </a:lnRef>
                  <a:fillRef idx="1">
                    <a:schemeClr val="accent3"/>
                  </a:fillRef>
                  <a:effectRef idx="0">
                    <a:schemeClr val="accent3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r>
                      <a:rPr lang="en-US" altLang="zh-TW" sz="1600" dirty="0">
                        <a:solidFill>
                          <a:schemeClr val="tx1"/>
                        </a:solidFill>
                      </a:rPr>
                      <a:t>t</a:t>
                    </a:r>
                    <a:r>
                      <a:rPr lang="en-US" altLang="zh-TW" sz="1600" baseline="-25000" dirty="0">
                        <a:solidFill>
                          <a:schemeClr val="tx1"/>
                        </a:solidFill>
                      </a:rPr>
                      <a:t>2</a:t>
                    </a:r>
                  </a:p>
                </p:txBody>
              </p:sp>
              <p:sp>
                <p:nvSpPr>
                  <p:cNvPr id="26" name="矩形 25">
                    <a:extLst>
                      <a:ext uri="{FF2B5EF4-FFF2-40B4-BE49-F238E27FC236}">
                        <a16:creationId xmlns:a16="http://schemas.microsoft.com/office/drawing/2014/main" id="{1CBE36FA-501B-4E78-12DD-07FF898F0380}"/>
                      </a:ext>
                    </a:extLst>
                  </p:cNvPr>
                  <p:cNvSpPr/>
                  <p:nvPr/>
                </p:nvSpPr>
                <p:spPr>
                  <a:xfrm>
                    <a:off x="2755944" y="6423020"/>
                    <a:ext cx="360000" cy="360000"/>
                  </a:xfrm>
                  <a:prstGeom prst="rect">
                    <a:avLst/>
                  </a:prstGeom>
                  <a:solidFill>
                    <a:schemeClr val="accent1">
                      <a:lumMod val="20000"/>
                      <a:lumOff val="80000"/>
                    </a:schemeClr>
                  </a:solidFill>
                </p:spPr>
                <p:style>
                  <a:lnRef idx="2">
                    <a:schemeClr val="accent3">
                      <a:shade val="15000"/>
                    </a:schemeClr>
                  </a:lnRef>
                  <a:fillRef idx="1">
                    <a:schemeClr val="accent3"/>
                  </a:fillRef>
                  <a:effectRef idx="0">
                    <a:schemeClr val="accent3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r>
                      <a:rPr lang="en-US" altLang="zh-TW" sz="1600" dirty="0">
                        <a:solidFill>
                          <a:schemeClr val="tx1"/>
                        </a:solidFill>
                      </a:rPr>
                      <a:t>t</a:t>
                    </a:r>
                    <a:r>
                      <a:rPr lang="en-US" altLang="zh-TW" sz="1600" baseline="-25000" dirty="0">
                        <a:solidFill>
                          <a:schemeClr val="tx1"/>
                        </a:solidFill>
                      </a:rPr>
                      <a:t>3</a:t>
                    </a:r>
                  </a:p>
                </p:txBody>
              </p:sp>
            </p:grpSp>
            <mc:AlternateContent xmlns:mc="http://schemas.openxmlformats.org/markup-compatibility/2006" xmlns:a14="http://schemas.microsoft.com/office/drawing/2010/main">
              <mc:Choice Requires="a14">
                <p:sp>
                  <p:nvSpPr>
                    <p:cNvPr id="125" name="文字方塊 124">
                      <a:extLst>
                        <a:ext uri="{FF2B5EF4-FFF2-40B4-BE49-F238E27FC236}">
                          <a16:creationId xmlns:a16="http://schemas.microsoft.com/office/drawing/2014/main" id="{385C0702-1971-FE9B-AF9C-480558AFDD41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429928" y="4809863"/>
                      <a:ext cx="3438506" cy="342658"/>
                    </a:xfrm>
                    <a:prstGeom prst="rect">
                      <a:avLst/>
                    </a:prstGeom>
                    <a:noFill/>
                  </p:spPr>
                  <p:txBody>
                    <a:bodyPr wrap="square" rtlCol="0">
                      <a:spAutoFit/>
                    </a:bodyPr>
                    <a:lstStyle/>
                    <a:p>
                      <a:r>
                        <a:rPr lang="zh-TW" altLang="en-US" sz="1600" kern="100" dirty="0"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假設</a:t>
                      </a:r>
                      <a:r>
                        <a:rPr lang="en-US" altLang="zh-TW" sz="1600" kern="100" dirty="0"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t</a:t>
                      </a:r>
                      <a:r>
                        <a:rPr lang="en-US" altLang="zh-TW" sz="1600" kern="100" baseline="-25000" dirty="0"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2</a:t>
                      </a:r>
                      <a:r>
                        <a:rPr lang="en-US" altLang="zh-TW" sz="1600" kern="100" dirty="0"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,t</a:t>
                      </a:r>
                      <a:r>
                        <a:rPr lang="en-US" altLang="zh-TW" sz="1600" kern="100" baseline="-25000" dirty="0"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3</a:t>
                      </a:r>
                      <a:r>
                        <a:rPr lang="zh-TW" altLang="en-US" sz="1600" kern="100" dirty="0"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是</a:t>
                      </a:r>
                      <a:r>
                        <a:rPr lang="en-US" altLang="zh-TW" sz="1600" kern="100" dirty="0"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draft token</a:t>
                      </a:r>
                      <a:r>
                        <a:rPr lang="zh-TW" altLang="en-US" sz="1600" kern="100" dirty="0"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標記為</a:t>
                      </a:r>
                      <a14:m>
                        <m:oMath xmlns:m="http://schemas.openxmlformats.org/officeDocument/2006/math">
                          <m:sSubSup>
                            <m:sSubSupPr>
                              <m:ctrlPr>
                                <a:rPr lang="en-US" altLang="zh-TW" sz="1600" b="0" i="1" kern="100" smtClean="0">
                                  <a:latin typeface="Cambria Math" panose="02040503050406030204" pitchFamily="18" charset="0"/>
                                  <a:ea typeface="微軟正黑體" panose="020B0604030504040204" pitchFamily="34" charset="-120"/>
                                </a:rPr>
                              </m:ctrlPr>
                            </m:sSubSupPr>
                            <m:e>
                              <m:r>
                                <a:rPr lang="en-US" altLang="zh-TW" sz="1600" b="0" i="1" kern="100" smtClean="0">
                                  <a:latin typeface="Cambria Math" panose="02040503050406030204" pitchFamily="18" charset="0"/>
                                  <a:ea typeface="微軟正黑體" panose="020B0604030504040204" pitchFamily="34" charset="-120"/>
                                </a:rPr>
                                <m:t>𝑡</m:t>
                              </m:r>
                            </m:e>
                            <m:sub>
                              <m:r>
                                <a:rPr lang="en-US" altLang="zh-TW" sz="1600" b="0" i="1" kern="100" smtClean="0">
                                  <a:latin typeface="Cambria Math" panose="02040503050406030204" pitchFamily="18" charset="0"/>
                                  <a:ea typeface="微軟正黑體" panose="020B0604030504040204" pitchFamily="34" charset="-120"/>
                                </a:rPr>
                                <m:t>2</m:t>
                              </m:r>
                            </m:sub>
                            <m:sup>
                              <m:r>
                                <a:rPr lang="en-US" altLang="zh-TW" sz="1600" b="0" i="1" kern="100" smtClean="0">
                                  <a:latin typeface="Cambria Math" panose="02040503050406030204" pitchFamily="18" charset="0"/>
                                  <a:ea typeface="微軟正黑體" panose="020B0604030504040204" pitchFamily="34" charset="-120"/>
                                </a:rPr>
                                <m:t>1</m:t>
                              </m:r>
                            </m:sup>
                          </m:sSubSup>
                          <m:r>
                            <a:rPr lang="en-US" altLang="zh-TW" sz="1600" b="0" i="1" kern="100" smtClean="0">
                              <a:latin typeface="Cambria Math" panose="02040503050406030204" pitchFamily="18" charset="0"/>
                              <a:ea typeface="微軟正黑體" panose="020B0604030504040204" pitchFamily="34" charset="-120"/>
                            </a:rPr>
                            <m:t>,</m:t>
                          </m:r>
                          <m:sSubSup>
                            <m:sSubSupPr>
                              <m:ctrlPr>
                                <a:rPr lang="en-US" altLang="zh-TW" sz="1600" i="1" kern="100">
                                  <a:latin typeface="Cambria Math" panose="02040503050406030204" pitchFamily="18" charset="0"/>
                                  <a:ea typeface="微軟正黑體" panose="020B0604030504040204" pitchFamily="34" charset="-120"/>
                                </a:rPr>
                              </m:ctrlPr>
                            </m:sSubSupPr>
                            <m:e>
                              <m:r>
                                <a:rPr lang="en-US" altLang="zh-TW" sz="1600" i="1" kern="100">
                                  <a:latin typeface="Cambria Math" panose="02040503050406030204" pitchFamily="18" charset="0"/>
                                  <a:ea typeface="微軟正黑體" panose="020B0604030504040204" pitchFamily="34" charset="-120"/>
                                </a:rPr>
                                <m:t>𝑡</m:t>
                              </m:r>
                            </m:e>
                            <m:sub>
                              <m:r>
                                <a:rPr lang="en-US" altLang="zh-TW" sz="1600" b="0" i="1" kern="100" smtClean="0">
                                  <a:latin typeface="Cambria Math" panose="02040503050406030204" pitchFamily="18" charset="0"/>
                                  <a:ea typeface="微軟正黑體" panose="020B0604030504040204" pitchFamily="34" charset="-120"/>
                                </a:rPr>
                                <m:t>3</m:t>
                              </m:r>
                            </m:sub>
                            <m:sup>
                              <m:r>
                                <a:rPr lang="en-US" altLang="zh-TW" sz="1600" i="1" kern="100">
                                  <a:latin typeface="Cambria Math" panose="02040503050406030204" pitchFamily="18" charset="0"/>
                                  <a:ea typeface="微軟正黑體" panose="020B0604030504040204" pitchFamily="34" charset="-120"/>
                                </a:rPr>
                                <m:t>1</m:t>
                              </m:r>
                            </m:sup>
                          </m:sSubSup>
                        </m:oMath>
                      </a14:m>
                      <a:endParaRPr lang="zh-TW" altLang="en-US" sz="1600" kern="100" dirty="0">
                        <a:latin typeface="微軟正黑體" panose="020B0604030504040204" pitchFamily="34" charset="-120"/>
                        <a:ea typeface="微軟正黑體" panose="020B0604030504040204" pitchFamily="34" charset="-120"/>
                      </a:endParaRPr>
                    </a:p>
                  </p:txBody>
                </p:sp>
              </mc:Choice>
              <mc:Fallback xmlns="">
                <p:sp>
                  <p:nvSpPr>
                    <p:cNvPr id="125" name="文字方塊 124">
                      <a:extLst>
                        <a:ext uri="{FF2B5EF4-FFF2-40B4-BE49-F238E27FC236}">
                          <a16:creationId xmlns:a16="http://schemas.microsoft.com/office/drawing/2014/main" id="{385C0702-1971-FE9B-AF9C-480558AFDD41}"/>
                        </a:ext>
                      </a:extLst>
                    </p:cNvPr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429928" y="4809863"/>
                      <a:ext cx="3438506" cy="342658"/>
                    </a:xfrm>
                    <a:prstGeom prst="rect">
                      <a:avLst/>
                    </a:prstGeom>
                    <a:blipFill>
                      <a:blip r:embed="rId3"/>
                      <a:stretch>
                        <a:fillRect l="-887" t="-5357" b="-21429"/>
                      </a:stretch>
                    </a:blipFill>
                  </p:spPr>
                  <p:txBody>
                    <a:bodyPr/>
                    <a:lstStyle/>
                    <a:p>
                      <a:r>
                        <a:rPr lang="zh-TW" altLang="en-US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</p:grpSp>
        </p:grpSp>
      </p:grpSp>
      <mc:AlternateContent xmlns:mc="http://schemas.openxmlformats.org/markup-compatibility/2006" xmlns:a14="http://schemas.microsoft.com/office/drawing/2010/main">
        <mc:Choice Requires="a14">
          <p:sp>
            <p:nvSpPr>
              <p:cNvPr id="131" name="文字方塊 130">
                <a:extLst>
                  <a:ext uri="{FF2B5EF4-FFF2-40B4-BE49-F238E27FC236}">
                    <a16:creationId xmlns:a16="http://schemas.microsoft.com/office/drawing/2014/main" id="{6B0AACB7-BA3F-C16D-2915-B3E178A70998}"/>
                  </a:ext>
                </a:extLst>
              </p:cNvPr>
              <p:cNvSpPr txBox="1"/>
              <p:nvPr/>
            </p:nvSpPr>
            <p:spPr>
              <a:xfrm>
                <a:off x="347470" y="1068084"/>
                <a:ext cx="4349680" cy="343171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altLang="zh-TW" sz="1600" dirty="0"/>
                  <a:t>Head 1(target model)</a:t>
                </a:r>
                <a:r>
                  <a:rPr lang="zh-TW" altLang="en-US" sz="1600" dirty="0"/>
                  <a:t>中的</a:t>
                </a:r>
                <a:r>
                  <a:rPr lang="en-US" altLang="zh-TW" sz="1600" kern="100" dirty="0">
                    <a:latin typeface="微軟正黑體" panose="020B0604030504040204" pitchFamily="34" charset="-120"/>
                    <a:ea typeface="微軟正黑體" panose="020B0604030504040204" pitchFamily="34" charset="-120"/>
                  </a:rPr>
                  <a:t>t</a:t>
                </a:r>
                <a:r>
                  <a:rPr lang="en-US" altLang="zh-TW" sz="1600" kern="100" baseline="-25000" dirty="0">
                    <a:latin typeface="微軟正黑體" panose="020B0604030504040204" pitchFamily="34" charset="-120"/>
                    <a:ea typeface="微軟正黑體" panose="020B0604030504040204" pitchFamily="34" charset="-120"/>
                  </a:rPr>
                  <a:t>2</a:t>
                </a:r>
                <a:r>
                  <a:rPr lang="en-US" altLang="zh-TW" sz="1600" kern="100" dirty="0">
                    <a:latin typeface="微軟正黑體" panose="020B0604030504040204" pitchFamily="34" charset="-120"/>
                    <a:ea typeface="微軟正黑體" panose="020B0604030504040204" pitchFamily="34" charset="-120"/>
                  </a:rPr>
                  <a:t>,t</a:t>
                </a:r>
                <a:r>
                  <a:rPr lang="en-US" altLang="zh-TW" sz="1600" kern="100" baseline="-25000" dirty="0">
                    <a:latin typeface="微軟正黑體" panose="020B0604030504040204" pitchFamily="34" charset="-120"/>
                    <a:ea typeface="微軟正黑體" panose="020B0604030504040204" pitchFamily="34" charset="-120"/>
                  </a:rPr>
                  <a:t>3</a:t>
                </a:r>
                <a:r>
                  <a:rPr lang="zh-TW" altLang="en-US" sz="1600" kern="100" dirty="0">
                    <a:latin typeface="微軟正黑體" panose="020B0604030504040204" pitchFamily="34" charset="-120"/>
                    <a:ea typeface="微軟正黑體" panose="020B0604030504040204" pitchFamily="34" charset="-120"/>
                  </a:rPr>
                  <a:t>標記為</a:t>
                </a:r>
                <a14:m>
                  <m:oMath xmlns:m="http://schemas.openxmlformats.org/officeDocument/2006/math">
                    <m:sSubSup>
                      <m:sSubSupPr>
                        <m:ctrlPr>
                          <a:rPr lang="en-US" altLang="zh-TW" sz="1600" i="1" kern="100">
                            <a:latin typeface="Cambria Math" panose="02040503050406030204" pitchFamily="18" charset="0"/>
                            <a:ea typeface="微軟正黑體" panose="020B0604030504040204" pitchFamily="34" charset="-120"/>
                          </a:rPr>
                        </m:ctrlPr>
                      </m:sSubSupPr>
                      <m:e>
                        <m:r>
                          <a:rPr lang="en-US" altLang="zh-TW" sz="1600" i="1" kern="100">
                            <a:latin typeface="Cambria Math" panose="02040503050406030204" pitchFamily="18" charset="0"/>
                            <a:ea typeface="微軟正黑體" panose="020B0604030504040204" pitchFamily="34" charset="-120"/>
                          </a:rPr>
                          <m:t>𝑡</m:t>
                        </m:r>
                      </m:e>
                      <m:sub>
                        <m:r>
                          <a:rPr lang="en-US" altLang="zh-TW" sz="1600" i="1" kern="100">
                            <a:latin typeface="Cambria Math" panose="02040503050406030204" pitchFamily="18" charset="0"/>
                            <a:ea typeface="微軟正黑體" panose="020B0604030504040204" pitchFamily="34" charset="-120"/>
                          </a:rPr>
                          <m:t>2</m:t>
                        </m:r>
                      </m:sub>
                      <m:sup>
                        <m:r>
                          <a:rPr lang="en-US" altLang="zh-TW" sz="1600" b="0" i="1" kern="100" smtClean="0">
                            <a:latin typeface="Cambria Math" panose="02040503050406030204" pitchFamily="18" charset="0"/>
                            <a:ea typeface="微軟正黑體" panose="020B0604030504040204" pitchFamily="34" charset="-120"/>
                          </a:rPr>
                          <m:t>2</m:t>
                        </m:r>
                      </m:sup>
                    </m:sSubSup>
                    <m:r>
                      <a:rPr lang="en-US" altLang="zh-TW" sz="1600" i="1" kern="100">
                        <a:latin typeface="Cambria Math" panose="02040503050406030204" pitchFamily="18" charset="0"/>
                        <a:ea typeface="微軟正黑體" panose="020B0604030504040204" pitchFamily="34" charset="-120"/>
                      </a:rPr>
                      <m:t>,</m:t>
                    </m:r>
                    <m:sSubSup>
                      <m:sSubSupPr>
                        <m:ctrlPr>
                          <a:rPr lang="en-US" altLang="zh-TW" sz="1600" i="1" kern="100">
                            <a:latin typeface="Cambria Math" panose="02040503050406030204" pitchFamily="18" charset="0"/>
                            <a:ea typeface="微軟正黑體" panose="020B0604030504040204" pitchFamily="34" charset="-120"/>
                          </a:rPr>
                        </m:ctrlPr>
                      </m:sSubSupPr>
                      <m:e>
                        <m:r>
                          <a:rPr lang="en-US" altLang="zh-TW" sz="1600" i="1" kern="100">
                            <a:latin typeface="Cambria Math" panose="02040503050406030204" pitchFamily="18" charset="0"/>
                            <a:ea typeface="微軟正黑體" panose="020B0604030504040204" pitchFamily="34" charset="-120"/>
                          </a:rPr>
                          <m:t>𝑡</m:t>
                        </m:r>
                      </m:e>
                      <m:sub>
                        <m:r>
                          <a:rPr lang="en-US" altLang="zh-TW" sz="1600" i="1" kern="100">
                            <a:latin typeface="Cambria Math" panose="02040503050406030204" pitchFamily="18" charset="0"/>
                            <a:ea typeface="微軟正黑體" panose="020B0604030504040204" pitchFamily="34" charset="-120"/>
                          </a:rPr>
                          <m:t>3</m:t>
                        </m:r>
                      </m:sub>
                      <m:sup>
                        <m:r>
                          <a:rPr lang="en-US" altLang="zh-TW" sz="1600" b="0" i="1" kern="100" smtClean="0">
                            <a:latin typeface="Cambria Math" panose="02040503050406030204" pitchFamily="18" charset="0"/>
                            <a:ea typeface="微軟正黑體" panose="020B0604030504040204" pitchFamily="34" charset="-120"/>
                          </a:rPr>
                          <m:t>2</m:t>
                        </m:r>
                      </m:sup>
                    </m:sSubSup>
                  </m:oMath>
                </a14:m>
                <a:endParaRPr lang="zh-TW" altLang="en-US" sz="1600" dirty="0"/>
              </a:p>
            </p:txBody>
          </p:sp>
        </mc:Choice>
        <mc:Fallback xmlns="">
          <p:sp>
            <p:nvSpPr>
              <p:cNvPr id="131" name="文字方塊 130">
                <a:extLst>
                  <a:ext uri="{FF2B5EF4-FFF2-40B4-BE49-F238E27FC236}">
                    <a16:creationId xmlns:a16="http://schemas.microsoft.com/office/drawing/2014/main" id="{6B0AACB7-BA3F-C16D-2915-B3E178A7099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47470" y="1068084"/>
                <a:ext cx="4349680" cy="343171"/>
              </a:xfrm>
              <a:prstGeom prst="rect">
                <a:avLst/>
              </a:prstGeom>
              <a:blipFill>
                <a:blip r:embed="rId4"/>
                <a:stretch>
                  <a:fillRect l="-700" t="-7018" b="-21053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32" name="文字方塊 131">
                <a:extLst>
                  <a:ext uri="{FF2B5EF4-FFF2-40B4-BE49-F238E27FC236}">
                    <a16:creationId xmlns:a16="http://schemas.microsoft.com/office/drawing/2014/main" id="{FCC253EC-28A5-936E-0BBD-8B1B49D0DD44}"/>
                  </a:ext>
                </a:extLst>
              </p:cNvPr>
              <p:cNvSpPr txBox="1"/>
              <p:nvPr/>
            </p:nvSpPr>
            <p:spPr>
              <a:xfrm>
                <a:off x="4789941" y="1017798"/>
                <a:ext cx="2103186" cy="373051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altLang="zh-TW" dirty="0"/>
                  <a:t>Situation 1: </a:t>
                </a:r>
                <a14:m>
                  <m:oMath xmlns:m="http://schemas.openxmlformats.org/officeDocument/2006/math">
                    <m:sSubSup>
                      <m:sSubSupPr>
                        <m:ctrlPr>
                          <a:rPr lang="en-US" altLang="zh-TW" i="1" kern="100">
                            <a:latin typeface="Cambria Math" panose="02040503050406030204" pitchFamily="18" charset="0"/>
                            <a:ea typeface="微軟正黑體" panose="020B0604030504040204" pitchFamily="34" charset="-120"/>
                          </a:rPr>
                        </m:ctrlPr>
                      </m:sSubSupPr>
                      <m:e>
                        <m:r>
                          <a:rPr lang="en-US" altLang="zh-TW" i="1" kern="100">
                            <a:latin typeface="Cambria Math" panose="02040503050406030204" pitchFamily="18" charset="0"/>
                            <a:ea typeface="微軟正黑體" panose="020B0604030504040204" pitchFamily="34" charset="-120"/>
                          </a:rPr>
                          <m:t>𝑡</m:t>
                        </m:r>
                      </m:e>
                      <m:sub>
                        <m:r>
                          <a:rPr lang="en-US" altLang="zh-TW" i="1" kern="100">
                            <a:latin typeface="Cambria Math" panose="02040503050406030204" pitchFamily="18" charset="0"/>
                            <a:ea typeface="微軟正黑體" panose="020B0604030504040204" pitchFamily="34" charset="-120"/>
                          </a:rPr>
                          <m:t>2</m:t>
                        </m:r>
                      </m:sub>
                      <m:sup>
                        <m:r>
                          <a:rPr lang="en-US" altLang="zh-TW" i="1" kern="100">
                            <a:latin typeface="Cambria Math" panose="02040503050406030204" pitchFamily="18" charset="0"/>
                            <a:ea typeface="微軟正黑體" panose="020B0604030504040204" pitchFamily="34" charset="-120"/>
                          </a:rPr>
                          <m:t>1</m:t>
                        </m:r>
                      </m:sup>
                    </m:sSubSup>
                    <m:r>
                      <a:rPr lang="en-US" altLang="zh-TW" b="0" i="1" kern="100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≠</m:t>
                    </m:r>
                    <m:sSubSup>
                      <m:sSubSupPr>
                        <m:ctrlPr>
                          <a:rPr lang="en-US" altLang="zh-TW" i="1" kern="100">
                            <a:latin typeface="Cambria Math" panose="02040503050406030204" pitchFamily="18" charset="0"/>
                            <a:ea typeface="微軟正黑體" panose="020B0604030504040204" pitchFamily="34" charset="-120"/>
                          </a:rPr>
                        </m:ctrlPr>
                      </m:sSubSupPr>
                      <m:e>
                        <m:r>
                          <a:rPr lang="en-US" altLang="zh-TW" i="1" kern="100">
                            <a:latin typeface="Cambria Math" panose="02040503050406030204" pitchFamily="18" charset="0"/>
                            <a:ea typeface="微軟正黑體" panose="020B0604030504040204" pitchFamily="34" charset="-120"/>
                          </a:rPr>
                          <m:t>𝑡</m:t>
                        </m:r>
                      </m:e>
                      <m:sub>
                        <m:r>
                          <a:rPr lang="en-US" altLang="zh-TW" i="1" kern="100">
                            <a:latin typeface="Cambria Math" panose="02040503050406030204" pitchFamily="18" charset="0"/>
                            <a:ea typeface="微軟正黑體" panose="020B0604030504040204" pitchFamily="34" charset="-120"/>
                          </a:rPr>
                          <m:t>2</m:t>
                        </m:r>
                      </m:sub>
                      <m:sup>
                        <m:r>
                          <a:rPr lang="en-US" altLang="zh-TW" i="1" kern="100">
                            <a:latin typeface="Cambria Math" panose="02040503050406030204" pitchFamily="18" charset="0"/>
                            <a:ea typeface="微軟正黑體" panose="020B0604030504040204" pitchFamily="34" charset="-120"/>
                          </a:rPr>
                          <m:t>2</m:t>
                        </m:r>
                      </m:sup>
                    </m:sSubSup>
                  </m:oMath>
                </a14:m>
                <a:endParaRPr lang="zh-TW" altLang="en-US" dirty="0"/>
              </a:p>
            </p:txBody>
          </p:sp>
        </mc:Choice>
        <mc:Fallback xmlns="">
          <p:sp>
            <p:nvSpPr>
              <p:cNvPr id="132" name="文字方塊 131">
                <a:extLst>
                  <a:ext uri="{FF2B5EF4-FFF2-40B4-BE49-F238E27FC236}">
                    <a16:creationId xmlns:a16="http://schemas.microsoft.com/office/drawing/2014/main" id="{FCC253EC-28A5-936E-0BBD-8B1B49D0DD4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789941" y="1017798"/>
                <a:ext cx="2103186" cy="373051"/>
              </a:xfrm>
              <a:prstGeom prst="rect">
                <a:avLst/>
              </a:prstGeom>
              <a:blipFill>
                <a:blip r:embed="rId5"/>
                <a:stretch>
                  <a:fillRect l="-2609" t="-8197" b="-26230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151" name="群組 150">
            <a:extLst>
              <a:ext uri="{FF2B5EF4-FFF2-40B4-BE49-F238E27FC236}">
                <a16:creationId xmlns:a16="http://schemas.microsoft.com/office/drawing/2014/main" id="{72E0CD2C-D3DA-BC80-3CC5-9971C5B14CFE}"/>
              </a:ext>
            </a:extLst>
          </p:cNvPr>
          <p:cNvGrpSpPr/>
          <p:nvPr/>
        </p:nvGrpSpPr>
        <p:grpSpPr>
          <a:xfrm>
            <a:off x="4697150" y="1389497"/>
            <a:ext cx="3159588" cy="931070"/>
            <a:chOff x="4697150" y="1314973"/>
            <a:chExt cx="3159588" cy="931070"/>
          </a:xfrm>
        </p:grpSpPr>
        <p:grpSp>
          <p:nvGrpSpPr>
            <p:cNvPr id="148" name="群組 147">
              <a:extLst>
                <a:ext uri="{FF2B5EF4-FFF2-40B4-BE49-F238E27FC236}">
                  <a16:creationId xmlns:a16="http://schemas.microsoft.com/office/drawing/2014/main" id="{5E4F7EDF-1783-014F-C61D-DAF819AAE13C}"/>
                </a:ext>
              </a:extLst>
            </p:cNvPr>
            <p:cNvGrpSpPr/>
            <p:nvPr/>
          </p:nvGrpSpPr>
          <p:grpSpPr>
            <a:xfrm>
              <a:off x="4789941" y="1416502"/>
              <a:ext cx="2981741" cy="722361"/>
              <a:chOff x="4789941" y="1380165"/>
              <a:chExt cx="2981741" cy="722361"/>
            </a:xfrm>
          </p:grpSpPr>
          <p:sp>
            <p:nvSpPr>
              <p:cNvPr id="133" name="文字方塊 132">
                <a:extLst>
                  <a:ext uri="{FF2B5EF4-FFF2-40B4-BE49-F238E27FC236}">
                    <a16:creationId xmlns:a16="http://schemas.microsoft.com/office/drawing/2014/main" id="{7DEAC80E-F23F-A581-4CCE-FECD8CD12461}"/>
                  </a:ext>
                </a:extLst>
              </p:cNvPr>
              <p:cNvSpPr txBox="1"/>
              <p:nvPr/>
            </p:nvSpPr>
            <p:spPr>
              <a:xfrm>
                <a:off x="4789941" y="1380165"/>
                <a:ext cx="2809344" cy="33855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zh-TW" altLang="en-US" sz="1600" dirty="0"/>
                  <a:t>退化為</a:t>
                </a:r>
                <a:r>
                  <a:rPr lang="en-US" altLang="zh-TW" sz="1600" dirty="0"/>
                  <a:t>NTP,</a:t>
                </a:r>
                <a:r>
                  <a:rPr lang="zh-TW" altLang="en-US" sz="1600" dirty="0"/>
                  <a:t> 不產生</a:t>
                </a:r>
                <a:r>
                  <a:rPr lang="en-US" altLang="zh-TW" sz="1600" dirty="0"/>
                  <a:t>draft token</a:t>
                </a:r>
              </a:p>
            </p:txBody>
          </p:sp>
          <p:grpSp>
            <p:nvGrpSpPr>
              <p:cNvPr id="135" name="群組 134">
                <a:extLst>
                  <a:ext uri="{FF2B5EF4-FFF2-40B4-BE49-F238E27FC236}">
                    <a16:creationId xmlns:a16="http://schemas.microsoft.com/office/drawing/2014/main" id="{CD6436F7-E541-774A-836A-30BC05F974D5}"/>
                  </a:ext>
                </a:extLst>
              </p:cNvPr>
              <p:cNvGrpSpPr/>
              <p:nvPr/>
            </p:nvGrpSpPr>
            <p:grpSpPr>
              <a:xfrm>
                <a:off x="4789941" y="1733194"/>
                <a:ext cx="2981741" cy="369332"/>
                <a:chOff x="-26810" y="4587425"/>
                <a:chExt cx="2981741" cy="369332"/>
              </a:xfrm>
            </p:grpSpPr>
            <p:grpSp>
              <p:nvGrpSpPr>
                <p:cNvPr id="136" name="群組 135">
                  <a:extLst>
                    <a:ext uri="{FF2B5EF4-FFF2-40B4-BE49-F238E27FC236}">
                      <a16:creationId xmlns:a16="http://schemas.microsoft.com/office/drawing/2014/main" id="{E40A1751-158F-CBFC-B6AC-136CDCCF0E21}"/>
                    </a:ext>
                  </a:extLst>
                </p:cNvPr>
                <p:cNvGrpSpPr/>
                <p:nvPr/>
              </p:nvGrpSpPr>
              <p:grpSpPr>
                <a:xfrm>
                  <a:off x="-26810" y="4587425"/>
                  <a:ext cx="2981741" cy="369332"/>
                  <a:chOff x="0" y="4588587"/>
                  <a:chExt cx="2943598" cy="369332"/>
                </a:xfrm>
              </p:grpSpPr>
              <p:grpSp>
                <p:nvGrpSpPr>
                  <p:cNvPr id="138" name="群組 137">
                    <a:extLst>
                      <a:ext uri="{FF2B5EF4-FFF2-40B4-BE49-F238E27FC236}">
                        <a16:creationId xmlns:a16="http://schemas.microsoft.com/office/drawing/2014/main" id="{3DFABEE1-9654-8D98-BFD8-51033973B269}"/>
                      </a:ext>
                    </a:extLst>
                  </p:cNvPr>
                  <p:cNvGrpSpPr/>
                  <p:nvPr/>
                </p:nvGrpSpPr>
                <p:grpSpPr>
                  <a:xfrm>
                    <a:off x="0" y="4588587"/>
                    <a:ext cx="2508383" cy="369332"/>
                    <a:chOff x="47811" y="6289889"/>
                    <a:chExt cx="2321320" cy="369332"/>
                  </a:xfrm>
                </p:grpSpPr>
                <p:sp>
                  <p:nvSpPr>
                    <p:cNvPr id="144" name="文字方塊 143">
                      <a:extLst>
                        <a:ext uri="{FF2B5EF4-FFF2-40B4-BE49-F238E27FC236}">
                          <a16:creationId xmlns:a16="http://schemas.microsoft.com/office/drawing/2014/main" id="{3583C8F6-EC60-6E4F-C843-6503759107C3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47811" y="6289889"/>
                      <a:ext cx="1570058" cy="369332"/>
                    </a:xfrm>
                    <a:prstGeom prst="rect">
                      <a:avLst/>
                    </a:prstGeom>
                    <a:noFill/>
                  </p:spPr>
                  <p:txBody>
                    <a:bodyPr wrap="square" rtlCol="0">
                      <a:spAutoFit/>
                    </a:bodyPr>
                    <a:lstStyle/>
                    <a:p>
                      <a:r>
                        <a:rPr lang="en-US" altLang="zh-TW" dirty="0"/>
                        <a:t>Output Token:</a:t>
                      </a:r>
                      <a:endParaRPr lang="zh-TW" altLang="en-US" dirty="0"/>
                    </a:p>
                  </p:txBody>
                </p:sp>
                <p:sp>
                  <p:nvSpPr>
                    <p:cNvPr id="145" name="矩形 144">
                      <a:extLst>
                        <a:ext uri="{FF2B5EF4-FFF2-40B4-BE49-F238E27FC236}">
                          <a16:creationId xmlns:a16="http://schemas.microsoft.com/office/drawing/2014/main" id="{0E912042-3D50-1774-7C15-84FF35C0679E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2040240" y="6289889"/>
                      <a:ext cx="328891" cy="360000"/>
                    </a:xfrm>
                    <a:prstGeom prst="rect">
                      <a:avLst/>
                    </a:prstGeom>
                    <a:solidFill>
                      <a:schemeClr val="accent1">
                        <a:lumMod val="20000"/>
                        <a:lumOff val="80000"/>
                      </a:schemeClr>
                    </a:solidFill>
                  </p:spPr>
                  <p:style>
                    <a:lnRef idx="2">
                      <a:schemeClr val="accent3">
                        <a:shade val="15000"/>
                      </a:schemeClr>
                    </a:lnRef>
                    <a:fillRef idx="1">
                      <a:schemeClr val="accent3"/>
                    </a:fillRef>
                    <a:effectRef idx="0">
                      <a:schemeClr val="accent3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r>
                        <a:rPr lang="en-US" altLang="zh-TW" sz="1600" dirty="0">
                          <a:solidFill>
                            <a:schemeClr val="tx1"/>
                          </a:solidFill>
                        </a:rPr>
                        <a:t>t</a:t>
                      </a:r>
                      <a:r>
                        <a:rPr lang="en-US" altLang="zh-TW" sz="1600" baseline="-25000" dirty="0">
                          <a:solidFill>
                            <a:schemeClr val="tx1"/>
                          </a:solidFill>
                        </a:rPr>
                        <a:t>1</a:t>
                      </a:r>
                      <a:endParaRPr lang="en-US" altLang="zh-TW" sz="1600" dirty="0">
                        <a:solidFill>
                          <a:schemeClr val="tx1"/>
                        </a:solidFill>
                      </a:endParaRPr>
                    </a:p>
                  </p:txBody>
                </p:sp>
              </p:grpSp>
              <p:sp>
                <p:nvSpPr>
                  <p:cNvPr id="139" name="矩形 138">
                    <a:extLst>
                      <a:ext uri="{FF2B5EF4-FFF2-40B4-BE49-F238E27FC236}">
                        <a16:creationId xmlns:a16="http://schemas.microsoft.com/office/drawing/2014/main" id="{09D3366B-D64B-21D5-3BC5-7095C56BC7FC}"/>
                      </a:ext>
                    </a:extLst>
                  </p:cNvPr>
                  <p:cNvSpPr/>
                  <p:nvPr/>
                </p:nvSpPr>
                <p:spPr>
                  <a:xfrm>
                    <a:off x="2588203" y="4588587"/>
                    <a:ext cx="355395" cy="360000"/>
                  </a:xfrm>
                  <a:prstGeom prst="rect">
                    <a:avLst/>
                  </a:prstGeom>
                  <a:solidFill>
                    <a:schemeClr val="accent1">
                      <a:lumMod val="20000"/>
                      <a:lumOff val="80000"/>
                    </a:schemeClr>
                  </a:solidFill>
                </p:spPr>
                <p:style>
                  <a:lnRef idx="2">
                    <a:schemeClr val="accent3">
                      <a:shade val="15000"/>
                    </a:schemeClr>
                  </a:lnRef>
                  <a:fillRef idx="1">
                    <a:schemeClr val="accent3"/>
                  </a:fillRef>
                  <a:effectRef idx="0">
                    <a:schemeClr val="accent3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r>
                      <a:rPr lang="en-US" altLang="zh-TW" sz="1600" dirty="0">
                        <a:solidFill>
                          <a:schemeClr val="tx1"/>
                        </a:solidFill>
                      </a:rPr>
                      <a:t>t</a:t>
                    </a:r>
                    <a:r>
                      <a:rPr lang="en-US" altLang="zh-TW" sz="1600" baseline="-25000" dirty="0">
                        <a:solidFill>
                          <a:schemeClr val="tx1"/>
                        </a:solidFill>
                      </a:rPr>
                      <a:t>2</a:t>
                    </a:r>
                    <a:endParaRPr lang="en-US" altLang="zh-TW" sz="1600" dirty="0">
                      <a:solidFill>
                        <a:schemeClr val="tx1"/>
                      </a:solidFill>
                    </a:endParaRPr>
                  </a:p>
                </p:txBody>
              </p:sp>
            </p:grpSp>
            <p:sp>
              <p:nvSpPr>
                <p:cNvPr id="137" name="矩形 136">
                  <a:extLst>
                    <a:ext uri="{FF2B5EF4-FFF2-40B4-BE49-F238E27FC236}">
                      <a16:creationId xmlns:a16="http://schemas.microsoft.com/office/drawing/2014/main" id="{A74506E8-9FF7-0F6F-20E5-914604363BCD}"/>
                    </a:ext>
                  </a:extLst>
                </p:cNvPr>
                <p:cNvSpPr/>
                <p:nvPr/>
              </p:nvSpPr>
              <p:spPr>
                <a:xfrm>
                  <a:off x="1716376" y="4587425"/>
                  <a:ext cx="360000" cy="360000"/>
                </a:xfrm>
                <a:prstGeom prst="rect">
                  <a:avLst/>
                </a:prstGeom>
                <a:solidFill>
                  <a:schemeClr val="accent1">
                    <a:lumMod val="20000"/>
                    <a:lumOff val="80000"/>
                  </a:schemeClr>
                </a:solidFill>
              </p:spPr>
              <p:style>
                <a:lnRef idx="2">
                  <a:schemeClr val="accent3">
                    <a:shade val="15000"/>
                  </a:schemeClr>
                </a:lnRef>
                <a:fillRef idx="1">
                  <a:schemeClr val="accent3"/>
                </a:fillRef>
                <a:effectRef idx="0">
                  <a:schemeClr val="accent3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en-US" altLang="zh-TW" sz="1600" dirty="0">
                      <a:solidFill>
                        <a:schemeClr val="tx1"/>
                      </a:solidFill>
                    </a:rPr>
                    <a:t>t</a:t>
                  </a:r>
                  <a:r>
                    <a:rPr lang="en-US" altLang="zh-TW" sz="1600" baseline="-25000" dirty="0">
                      <a:solidFill>
                        <a:schemeClr val="tx1"/>
                      </a:solidFill>
                    </a:rPr>
                    <a:t>0</a:t>
                  </a:r>
                  <a:endParaRPr lang="en-US" altLang="zh-TW" sz="1600" dirty="0">
                    <a:solidFill>
                      <a:schemeClr val="tx1"/>
                    </a:solidFill>
                  </a:endParaRPr>
                </a:p>
              </p:txBody>
            </p:sp>
          </p:grpSp>
        </p:grpSp>
        <p:sp>
          <p:nvSpPr>
            <p:cNvPr id="150" name="矩形 149">
              <a:extLst>
                <a:ext uri="{FF2B5EF4-FFF2-40B4-BE49-F238E27FC236}">
                  <a16:creationId xmlns:a16="http://schemas.microsoft.com/office/drawing/2014/main" id="{5EA6EC23-E362-D235-207A-05BB8151488B}"/>
                </a:ext>
              </a:extLst>
            </p:cNvPr>
            <p:cNvSpPr/>
            <p:nvPr/>
          </p:nvSpPr>
          <p:spPr>
            <a:xfrm>
              <a:off x="4697150" y="1314973"/>
              <a:ext cx="3159588" cy="931070"/>
            </a:xfrm>
            <a:prstGeom prst="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</p:grpSp>
      <mc:AlternateContent xmlns:mc="http://schemas.openxmlformats.org/markup-compatibility/2006" xmlns:a14="http://schemas.microsoft.com/office/drawing/2010/main">
        <mc:Choice Requires="a14">
          <p:sp>
            <p:nvSpPr>
              <p:cNvPr id="152" name="文字方塊 151">
                <a:extLst>
                  <a:ext uri="{FF2B5EF4-FFF2-40B4-BE49-F238E27FC236}">
                    <a16:creationId xmlns:a16="http://schemas.microsoft.com/office/drawing/2014/main" id="{AE18457B-DDB1-7470-F9D5-6DA719577024}"/>
                  </a:ext>
                </a:extLst>
              </p:cNvPr>
              <p:cNvSpPr txBox="1"/>
              <p:nvPr/>
            </p:nvSpPr>
            <p:spPr>
              <a:xfrm>
                <a:off x="4789941" y="2522565"/>
                <a:ext cx="2809344" cy="374461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altLang="zh-TW" dirty="0"/>
                  <a:t>Situation 2: </a:t>
                </a:r>
                <a14:m>
                  <m:oMath xmlns:m="http://schemas.openxmlformats.org/officeDocument/2006/math">
                    <m:sSubSup>
                      <m:sSubSupPr>
                        <m:ctrlPr>
                          <a:rPr lang="en-US" altLang="zh-TW" i="1" kern="100">
                            <a:latin typeface="Cambria Math" panose="02040503050406030204" pitchFamily="18" charset="0"/>
                            <a:ea typeface="微軟正黑體" panose="020B0604030504040204" pitchFamily="34" charset="-120"/>
                          </a:rPr>
                        </m:ctrlPr>
                      </m:sSubSupPr>
                      <m:e>
                        <m:r>
                          <a:rPr lang="en-US" altLang="zh-TW" i="1" kern="100">
                            <a:latin typeface="Cambria Math" panose="02040503050406030204" pitchFamily="18" charset="0"/>
                            <a:ea typeface="微軟正黑體" panose="020B0604030504040204" pitchFamily="34" charset="-120"/>
                          </a:rPr>
                          <m:t>𝑡</m:t>
                        </m:r>
                      </m:e>
                      <m:sub>
                        <m:r>
                          <a:rPr lang="en-US" altLang="zh-TW" i="1" kern="100">
                            <a:latin typeface="Cambria Math" panose="02040503050406030204" pitchFamily="18" charset="0"/>
                            <a:ea typeface="微軟正黑體" panose="020B0604030504040204" pitchFamily="34" charset="-120"/>
                          </a:rPr>
                          <m:t>2</m:t>
                        </m:r>
                      </m:sub>
                      <m:sup>
                        <m:r>
                          <a:rPr lang="en-US" altLang="zh-TW" i="1" kern="100">
                            <a:latin typeface="Cambria Math" panose="02040503050406030204" pitchFamily="18" charset="0"/>
                            <a:ea typeface="微軟正黑體" panose="020B0604030504040204" pitchFamily="34" charset="-120"/>
                          </a:rPr>
                          <m:t>1</m:t>
                        </m:r>
                      </m:sup>
                    </m:sSubSup>
                    <m:r>
                      <a:rPr lang="en-US" altLang="zh-TW" b="0" i="1" kern="100" smtClean="0">
                        <a:latin typeface="Cambria Math" panose="02040503050406030204" pitchFamily="18" charset="0"/>
                        <a:ea typeface="微軟正黑體" panose="020B0604030504040204" pitchFamily="34" charset="-120"/>
                      </a:rPr>
                      <m:t>=</m:t>
                    </m:r>
                    <m:sSubSup>
                      <m:sSubSupPr>
                        <m:ctrlPr>
                          <a:rPr lang="en-US" altLang="zh-TW" i="1" kern="100">
                            <a:latin typeface="Cambria Math" panose="02040503050406030204" pitchFamily="18" charset="0"/>
                            <a:ea typeface="微軟正黑體" panose="020B0604030504040204" pitchFamily="34" charset="-120"/>
                          </a:rPr>
                        </m:ctrlPr>
                      </m:sSubSupPr>
                      <m:e>
                        <m:r>
                          <a:rPr lang="en-US" altLang="zh-TW" i="1" kern="100">
                            <a:latin typeface="Cambria Math" panose="02040503050406030204" pitchFamily="18" charset="0"/>
                            <a:ea typeface="微軟正黑體" panose="020B0604030504040204" pitchFamily="34" charset="-120"/>
                          </a:rPr>
                          <m:t>𝑡</m:t>
                        </m:r>
                      </m:e>
                      <m:sub>
                        <m:r>
                          <a:rPr lang="en-US" altLang="zh-TW" i="1" kern="100">
                            <a:latin typeface="Cambria Math" panose="02040503050406030204" pitchFamily="18" charset="0"/>
                            <a:ea typeface="微軟正黑體" panose="020B0604030504040204" pitchFamily="34" charset="-120"/>
                          </a:rPr>
                          <m:t>2</m:t>
                        </m:r>
                      </m:sub>
                      <m:sup>
                        <m:r>
                          <a:rPr lang="en-US" altLang="zh-TW" i="1" kern="100">
                            <a:latin typeface="Cambria Math" panose="02040503050406030204" pitchFamily="18" charset="0"/>
                            <a:ea typeface="微軟正黑體" panose="020B0604030504040204" pitchFamily="34" charset="-120"/>
                          </a:rPr>
                          <m:t>2</m:t>
                        </m:r>
                      </m:sup>
                    </m:sSubSup>
                    <m:r>
                      <a:rPr lang="en-US" altLang="zh-TW" b="0" i="1" kern="100" smtClean="0">
                        <a:latin typeface="Cambria Math" panose="02040503050406030204" pitchFamily="18" charset="0"/>
                        <a:ea typeface="微軟正黑體" panose="020B0604030504040204" pitchFamily="34" charset="-120"/>
                      </a:rPr>
                      <m:t>,</m:t>
                    </m:r>
                    <m:sSubSup>
                      <m:sSubSupPr>
                        <m:ctrlPr>
                          <a:rPr lang="en-US" altLang="zh-TW" i="1" kern="100">
                            <a:latin typeface="Cambria Math" panose="02040503050406030204" pitchFamily="18" charset="0"/>
                            <a:ea typeface="微軟正黑體" panose="020B0604030504040204" pitchFamily="34" charset="-120"/>
                          </a:rPr>
                        </m:ctrlPr>
                      </m:sSubSupPr>
                      <m:e>
                        <m:r>
                          <a:rPr lang="en-US" altLang="zh-TW" i="1" kern="100">
                            <a:latin typeface="Cambria Math" panose="02040503050406030204" pitchFamily="18" charset="0"/>
                            <a:ea typeface="微軟正黑體" panose="020B0604030504040204" pitchFamily="34" charset="-120"/>
                          </a:rPr>
                          <m:t>𝑡</m:t>
                        </m:r>
                      </m:e>
                      <m:sub>
                        <m:r>
                          <a:rPr lang="en-US" altLang="zh-TW" b="0" i="1" kern="100" smtClean="0">
                            <a:latin typeface="Cambria Math" panose="02040503050406030204" pitchFamily="18" charset="0"/>
                            <a:ea typeface="微軟正黑體" panose="020B0604030504040204" pitchFamily="34" charset="-120"/>
                          </a:rPr>
                          <m:t>3</m:t>
                        </m:r>
                      </m:sub>
                      <m:sup>
                        <m:r>
                          <a:rPr lang="en-US" altLang="zh-TW" i="1" kern="100">
                            <a:latin typeface="Cambria Math" panose="02040503050406030204" pitchFamily="18" charset="0"/>
                            <a:ea typeface="微軟正黑體" panose="020B0604030504040204" pitchFamily="34" charset="-120"/>
                          </a:rPr>
                          <m:t>1</m:t>
                        </m:r>
                      </m:sup>
                    </m:sSubSup>
                    <m:r>
                      <a:rPr lang="en-US" altLang="zh-TW" i="1" kern="10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≠</m:t>
                    </m:r>
                    <m:sSubSup>
                      <m:sSubSupPr>
                        <m:ctrlPr>
                          <a:rPr lang="en-US" altLang="zh-TW" i="1" kern="100">
                            <a:latin typeface="Cambria Math" panose="02040503050406030204" pitchFamily="18" charset="0"/>
                            <a:ea typeface="微軟正黑體" panose="020B0604030504040204" pitchFamily="34" charset="-120"/>
                          </a:rPr>
                        </m:ctrlPr>
                      </m:sSubSupPr>
                      <m:e>
                        <m:r>
                          <a:rPr lang="en-US" altLang="zh-TW" i="1" kern="100">
                            <a:latin typeface="Cambria Math" panose="02040503050406030204" pitchFamily="18" charset="0"/>
                            <a:ea typeface="微軟正黑體" panose="020B0604030504040204" pitchFamily="34" charset="-120"/>
                          </a:rPr>
                          <m:t>𝑡</m:t>
                        </m:r>
                      </m:e>
                      <m:sub>
                        <m:r>
                          <a:rPr lang="en-US" altLang="zh-TW" b="0" i="1" kern="100" smtClean="0">
                            <a:latin typeface="Cambria Math" panose="02040503050406030204" pitchFamily="18" charset="0"/>
                            <a:ea typeface="微軟正黑體" panose="020B0604030504040204" pitchFamily="34" charset="-120"/>
                          </a:rPr>
                          <m:t>3</m:t>
                        </m:r>
                      </m:sub>
                      <m:sup>
                        <m:r>
                          <a:rPr lang="en-US" altLang="zh-TW" i="1" kern="100">
                            <a:latin typeface="Cambria Math" panose="02040503050406030204" pitchFamily="18" charset="0"/>
                            <a:ea typeface="微軟正黑體" panose="020B0604030504040204" pitchFamily="34" charset="-120"/>
                          </a:rPr>
                          <m:t>2</m:t>
                        </m:r>
                      </m:sup>
                    </m:sSubSup>
                  </m:oMath>
                </a14:m>
                <a:endParaRPr lang="zh-TW" altLang="en-US" dirty="0"/>
              </a:p>
            </p:txBody>
          </p:sp>
        </mc:Choice>
        <mc:Fallback xmlns="">
          <p:sp>
            <p:nvSpPr>
              <p:cNvPr id="152" name="文字方塊 151">
                <a:extLst>
                  <a:ext uri="{FF2B5EF4-FFF2-40B4-BE49-F238E27FC236}">
                    <a16:creationId xmlns:a16="http://schemas.microsoft.com/office/drawing/2014/main" id="{AE18457B-DDB1-7470-F9D5-6DA71957702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789941" y="2522565"/>
                <a:ext cx="2809344" cy="374461"/>
              </a:xfrm>
              <a:prstGeom prst="rect">
                <a:avLst/>
              </a:prstGeom>
              <a:blipFill>
                <a:blip r:embed="rId6"/>
                <a:stretch>
                  <a:fillRect l="-1952" t="-8197" b="-26230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153" name="群組 152">
            <a:extLst>
              <a:ext uri="{FF2B5EF4-FFF2-40B4-BE49-F238E27FC236}">
                <a16:creationId xmlns:a16="http://schemas.microsoft.com/office/drawing/2014/main" id="{27085AB5-C701-4FEA-3A2C-5AA86AF9E23C}"/>
              </a:ext>
            </a:extLst>
          </p:cNvPr>
          <p:cNvGrpSpPr/>
          <p:nvPr/>
        </p:nvGrpSpPr>
        <p:grpSpPr>
          <a:xfrm>
            <a:off x="4697149" y="2894264"/>
            <a:ext cx="4473483" cy="931070"/>
            <a:chOff x="4697149" y="1314973"/>
            <a:chExt cx="4473483" cy="931070"/>
          </a:xfrm>
        </p:grpSpPr>
        <p:grpSp>
          <p:nvGrpSpPr>
            <p:cNvPr id="157" name="群組 156">
              <a:extLst>
                <a:ext uri="{FF2B5EF4-FFF2-40B4-BE49-F238E27FC236}">
                  <a16:creationId xmlns:a16="http://schemas.microsoft.com/office/drawing/2014/main" id="{950334AD-50C2-07AE-1AC6-5CF44D2EC4AB}"/>
                </a:ext>
              </a:extLst>
            </p:cNvPr>
            <p:cNvGrpSpPr/>
            <p:nvPr/>
          </p:nvGrpSpPr>
          <p:grpSpPr>
            <a:xfrm>
              <a:off x="4789941" y="1769531"/>
              <a:ext cx="2981741" cy="369332"/>
              <a:chOff x="-26810" y="4587425"/>
              <a:chExt cx="2981741" cy="369332"/>
            </a:xfrm>
          </p:grpSpPr>
          <p:grpSp>
            <p:nvGrpSpPr>
              <p:cNvPr id="158" name="群組 157">
                <a:extLst>
                  <a:ext uri="{FF2B5EF4-FFF2-40B4-BE49-F238E27FC236}">
                    <a16:creationId xmlns:a16="http://schemas.microsoft.com/office/drawing/2014/main" id="{0B8BFC17-5D7F-059D-5A0A-35BA1F9EA458}"/>
                  </a:ext>
                </a:extLst>
              </p:cNvPr>
              <p:cNvGrpSpPr/>
              <p:nvPr/>
            </p:nvGrpSpPr>
            <p:grpSpPr>
              <a:xfrm>
                <a:off x="-26810" y="4587425"/>
                <a:ext cx="2981741" cy="369332"/>
                <a:chOff x="0" y="4588587"/>
                <a:chExt cx="2943598" cy="369332"/>
              </a:xfrm>
            </p:grpSpPr>
            <p:grpSp>
              <p:nvGrpSpPr>
                <p:cNvPr id="160" name="群組 159">
                  <a:extLst>
                    <a:ext uri="{FF2B5EF4-FFF2-40B4-BE49-F238E27FC236}">
                      <a16:creationId xmlns:a16="http://schemas.microsoft.com/office/drawing/2014/main" id="{28117064-38FD-0187-787E-2BEDE4F19600}"/>
                    </a:ext>
                  </a:extLst>
                </p:cNvPr>
                <p:cNvGrpSpPr/>
                <p:nvPr/>
              </p:nvGrpSpPr>
              <p:grpSpPr>
                <a:xfrm>
                  <a:off x="0" y="4588587"/>
                  <a:ext cx="2508383" cy="369332"/>
                  <a:chOff x="47811" y="6289889"/>
                  <a:chExt cx="2321320" cy="369332"/>
                </a:xfrm>
              </p:grpSpPr>
              <p:sp>
                <p:nvSpPr>
                  <p:cNvPr id="162" name="文字方塊 161">
                    <a:extLst>
                      <a:ext uri="{FF2B5EF4-FFF2-40B4-BE49-F238E27FC236}">
                        <a16:creationId xmlns:a16="http://schemas.microsoft.com/office/drawing/2014/main" id="{768ADF05-95A1-6420-1FDE-F20372943DFE}"/>
                      </a:ext>
                    </a:extLst>
                  </p:cNvPr>
                  <p:cNvSpPr txBox="1"/>
                  <p:nvPr/>
                </p:nvSpPr>
                <p:spPr>
                  <a:xfrm>
                    <a:off x="47811" y="6289889"/>
                    <a:ext cx="1570058" cy="369332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r>
                      <a:rPr lang="en-US" altLang="zh-TW" dirty="0"/>
                      <a:t>Output Token:</a:t>
                    </a:r>
                    <a:endParaRPr lang="zh-TW" altLang="en-US" dirty="0"/>
                  </a:p>
                </p:txBody>
              </p:sp>
              <p:sp>
                <p:nvSpPr>
                  <p:cNvPr id="163" name="矩形 162">
                    <a:extLst>
                      <a:ext uri="{FF2B5EF4-FFF2-40B4-BE49-F238E27FC236}">
                        <a16:creationId xmlns:a16="http://schemas.microsoft.com/office/drawing/2014/main" id="{746CF886-084A-B3DF-79FB-98369E689913}"/>
                      </a:ext>
                    </a:extLst>
                  </p:cNvPr>
                  <p:cNvSpPr/>
                  <p:nvPr/>
                </p:nvSpPr>
                <p:spPr>
                  <a:xfrm>
                    <a:off x="2040240" y="6289889"/>
                    <a:ext cx="328891" cy="360000"/>
                  </a:xfrm>
                  <a:prstGeom prst="rect">
                    <a:avLst/>
                  </a:prstGeom>
                  <a:solidFill>
                    <a:schemeClr val="accent1">
                      <a:lumMod val="20000"/>
                      <a:lumOff val="80000"/>
                    </a:schemeClr>
                  </a:solidFill>
                </p:spPr>
                <p:style>
                  <a:lnRef idx="2">
                    <a:schemeClr val="accent3">
                      <a:shade val="15000"/>
                    </a:schemeClr>
                  </a:lnRef>
                  <a:fillRef idx="1">
                    <a:schemeClr val="accent3"/>
                  </a:fillRef>
                  <a:effectRef idx="0">
                    <a:schemeClr val="accent3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r>
                      <a:rPr lang="en-US" altLang="zh-TW" sz="1600" dirty="0">
                        <a:solidFill>
                          <a:schemeClr val="tx1"/>
                        </a:solidFill>
                      </a:rPr>
                      <a:t>t</a:t>
                    </a:r>
                    <a:r>
                      <a:rPr lang="en-US" altLang="zh-TW" sz="1600" baseline="-25000" dirty="0">
                        <a:solidFill>
                          <a:schemeClr val="tx1"/>
                        </a:solidFill>
                      </a:rPr>
                      <a:t>1</a:t>
                    </a:r>
                    <a:endParaRPr lang="en-US" altLang="zh-TW" sz="1600" dirty="0">
                      <a:solidFill>
                        <a:schemeClr val="tx1"/>
                      </a:solidFill>
                    </a:endParaRPr>
                  </a:p>
                </p:txBody>
              </p:sp>
            </p:grpSp>
            <p:sp>
              <p:nvSpPr>
                <p:cNvPr id="161" name="矩形 160">
                  <a:extLst>
                    <a:ext uri="{FF2B5EF4-FFF2-40B4-BE49-F238E27FC236}">
                      <a16:creationId xmlns:a16="http://schemas.microsoft.com/office/drawing/2014/main" id="{C1E086F3-33B6-723A-B960-6313689B3EA9}"/>
                    </a:ext>
                  </a:extLst>
                </p:cNvPr>
                <p:cNvSpPr/>
                <p:nvPr/>
              </p:nvSpPr>
              <p:spPr>
                <a:xfrm>
                  <a:off x="2588203" y="4588587"/>
                  <a:ext cx="355395" cy="360000"/>
                </a:xfrm>
                <a:prstGeom prst="rect">
                  <a:avLst/>
                </a:prstGeom>
                <a:solidFill>
                  <a:schemeClr val="accent1">
                    <a:lumMod val="20000"/>
                    <a:lumOff val="80000"/>
                  </a:schemeClr>
                </a:solidFill>
              </p:spPr>
              <p:style>
                <a:lnRef idx="2">
                  <a:schemeClr val="accent3">
                    <a:shade val="15000"/>
                  </a:schemeClr>
                </a:lnRef>
                <a:fillRef idx="1">
                  <a:schemeClr val="accent3"/>
                </a:fillRef>
                <a:effectRef idx="0">
                  <a:schemeClr val="accent3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en-US" altLang="zh-TW" sz="1600" dirty="0">
                      <a:solidFill>
                        <a:schemeClr val="tx1"/>
                      </a:solidFill>
                    </a:rPr>
                    <a:t>t</a:t>
                  </a:r>
                  <a:r>
                    <a:rPr lang="en-US" altLang="zh-TW" sz="1600" baseline="-25000" dirty="0">
                      <a:solidFill>
                        <a:schemeClr val="tx1"/>
                      </a:solidFill>
                    </a:rPr>
                    <a:t>2</a:t>
                  </a:r>
                  <a:endParaRPr lang="en-US" altLang="zh-TW" sz="1600" dirty="0">
                    <a:solidFill>
                      <a:schemeClr val="tx1"/>
                    </a:solidFill>
                  </a:endParaRPr>
                </a:p>
              </p:txBody>
            </p:sp>
          </p:grpSp>
          <p:sp>
            <p:nvSpPr>
              <p:cNvPr id="159" name="矩形 158">
                <a:extLst>
                  <a:ext uri="{FF2B5EF4-FFF2-40B4-BE49-F238E27FC236}">
                    <a16:creationId xmlns:a16="http://schemas.microsoft.com/office/drawing/2014/main" id="{15939C40-270D-8A36-D90A-FDFCC8B89DA1}"/>
                  </a:ext>
                </a:extLst>
              </p:cNvPr>
              <p:cNvSpPr/>
              <p:nvPr/>
            </p:nvSpPr>
            <p:spPr>
              <a:xfrm>
                <a:off x="1716376" y="4587425"/>
                <a:ext cx="360000" cy="360000"/>
              </a:xfrm>
              <a:prstGeom prst="rect">
                <a:avLst/>
              </a:prstGeom>
              <a:solidFill>
                <a:schemeClr val="accent1">
                  <a:lumMod val="20000"/>
                  <a:lumOff val="80000"/>
                </a:schemeClr>
              </a:solidFill>
            </p:spPr>
            <p:style>
              <a:lnRef idx="2">
                <a:schemeClr val="accent3">
                  <a:shade val="15000"/>
                </a:schemeClr>
              </a:lnRef>
              <a:fillRef idx="1">
                <a:schemeClr val="accent3"/>
              </a:fillRef>
              <a:effectRef idx="0">
                <a:schemeClr val="accent3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altLang="zh-TW" sz="1600" dirty="0">
                    <a:solidFill>
                      <a:schemeClr val="tx1"/>
                    </a:solidFill>
                  </a:rPr>
                  <a:t>t</a:t>
                </a:r>
                <a:r>
                  <a:rPr lang="en-US" altLang="zh-TW" sz="1600" baseline="-25000" dirty="0">
                    <a:solidFill>
                      <a:schemeClr val="tx1"/>
                    </a:solidFill>
                  </a:rPr>
                  <a:t>0</a:t>
                </a:r>
                <a:endParaRPr lang="en-US" altLang="zh-TW" sz="1600" dirty="0">
                  <a:solidFill>
                    <a:schemeClr val="tx1"/>
                  </a:solidFill>
                </a:endParaRPr>
              </a:p>
            </p:txBody>
          </p:sp>
        </p:grpSp>
        <p:sp>
          <p:nvSpPr>
            <p:cNvPr id="155" name="矩形 154">
              <a:extLst>
                <a:ext uri="{FF2B5EF4-FFF2-40B4-BE49-F238E27FC236}">
                  <a16:creationId xmlns:a16="http://schemas.microsoft.com/office/drawing/2014/main" id="{E0B520FB-D582-8ACA-216A-3BC21ECC1233}"/>
                </a:ext>
              </a:extLst>
            </p:cNvPr>
            <p:cNvSpPr/>
            <p:nvPr/>
          </p:nvSpPr>
          <p:spPr>
            <a:xfrm>
              <a:off x="4697149" y="1314973"/>
              <a:ext cx="4473483" cy="931070"/>
            </a:xfrm>
            <a:prstGeom prst="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</p:grpSp>
      <p:sp>
        <p:nvSpPr>
          <p:cNvPr id="164" name="矩形 163">
            <a:extLst>
              <a:ext uri="{FF2B5EF4-FFF2-40B4-BE49-F238E27FC236}">
                <a16:creationId xmlns:a16="http://schemas.microsoft.com/office/drawing/2014/main" id="{01B2DCD5-1AFC-E980-A2EB-E2AA16CC1EAD}"/>
              </a:ext>
            </a:extLst>
          </p:cNvPr>
          <p:cNvSpPr/>
          <p:nvPr/>
        </p:nvSpPr>
        <p:spPr>
          <a:xfrm>
            <a:off x="7837698" y="3348822"/>
            <a:ext cx="360000" cy="360000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</p:spPr>
        <p:style>
          <a:lnRef idx="2">
            <a:schemeClr val="accent3">
              <a:shade val="15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TW" sz="1600" dirty="0">
                <a:solidFill>
                  <a:schemeClr val="tx1"/>
                </a:solidFill>
              </a:rPr>
              <a:t>t</a:t>
            </a:r>
            <a:r>
              <a:rPr lang="en-US" altLang="zh-TW" sz="1600" baseline="-25000" dirty="0">
                <a:solidFill>
                  <a:schemeClr val="tx1"/>
                </a:solidFill>
              </a:rPr>
              <a:t>3</a:t>
            </a:r>
            <a:endParaRPr lang="en-US" altLang="zh-TW" sz="1600" dirty="0">
              <a:solidFill>
                <a:schemeClr val="tx1"/>
              </a:solidFill>
            </a:endParaRPr>
          </a:p>
        </p:txBody>
      </p:sp>
      <p:sp>
        <p:nvSpPr>
          <p:cNvPr id="167" name="矩形 166">
            <a:extLst>
              <a:ext uri="{FF2B5EF4-FFF2-40B4-BE49-F238E27FC236}">
                <a16:creationId xmlns:a16="http://schemas.microsoft.com/office/drawing/2014/main" id="{776A4160-3F7C-11CC-00BC-8B7FB4ED0B39}"/>
              </a:ext>
            </a:extLst>
          </p:cNvPr>
          <p:cNvSpPr/>
          <p:nvPr/>
        </p:nvSpPr>
        <p:spPr>
          <a:xfrm>
            <a:off x="8247555" y="3348822"/>
            <a:ext cx="360000" cy="360000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</p:spPr>
        <p:style>
          <a:lnRef idx="2">
            <a:schemeClr val="accent3">
              <a:shade val="15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TW" sz="1600" dirty="0">
                <a:solidFill>
                  <a:schemeClr val="tx1"/>
                </a:solidFill>
              </a:rPr>
              <a:t>t</a:t>
            </a:r>
            <a:r>
              <a:rPr lang="en-US" altLang="zh-TW" sz="1600" baseline="-25000" dirty="0">
                <a:solidFill>
                  <a:schemeClr val="tx1"/>
                </a:solidFill>
              </a:rPr>
              <a:t>4</a:t>
            </a:r>
            <a:endParaRPr lang="en-US" altLang="zh-TW" sz="1600" dirty="0">
              <a:solidFill>
                <a:schemeClr val="tx1"/>
              </a:solidFill>
            </a:endParaRPr>
          </a:p>
        </p:txBody>
      </p:sp>
      <p:sp>
        <p:nvSpPr>
          <p:cNvPr id="168" name="矩形 167">
            <a:extLst>
              <a:ext uri="{FF2B5EF4-FFF2-40B4-BE49-F238E27FC236}">
                <a16:creationId xmlns:a16="http://schemas.microsoft.com/office/drawing/2014/main" id="{078440B0-249B-2B29-F8F6-FFB53F2C3CC3}"/>
              </a:ext>
            </a:extLst>
          </p:cNvPr>
          <p:cNvSpPr/>
          <p:nvPr/>
        </p:nvSpPr>
        <p:spPr>
          <a:xfrm>
            <a:off x="8677298" y="3359799"/>
            <a:ext cx="360000" cy="360000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</p:spPr>
        <p:style>
          <a:lnRef idx="2">
            <a:schemeClr val="accent3">
              <a:shade val="15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TW" sz="1600" dirty="0">
                <a:solidFill>
                  <a:schemeClr val="tx1"/>
                </a:solidFill>
              </a:rPr>
              <a:t>t</a:t>
            </a:r>
            <a:r>
              <a:rPr lang="en-US" altLang="zh-TW" sz="1600" baseline="-25000" dirty="0">
                <a:solidFill>
                  <a:schemeClr val="tx1"/>
                </a:solidFill>
              </a:rPr>
              <a:t>5</a:t>
            </a:r>
            <a:endParaRPr lang="en-US" altLang="zh-TW" sz="1600" dirty="0">
              <a:solidFill>
                <a:schemeClr val="tx1"/>
              </a:solidFill>
            </a:endParaRPr>
          </a:p>
        </p:txBody>
      </p:sp>
      <p:sp>
        <p:nvSpPr>
          <p:cNvPr id="169" name="文字方塊 168">
            <a:extLst>
              <a:ext uri="{FF2B5EF4-FFF2-40B4-BE49-F238E27FC236}">
                <a16:creationId xmlns:a16="http://schemas.microsoft.com/office/drawing/2014/main" id="{E34F2B1E-B9D4-E9A3-CBB6-D2C8E60FA9AD}"/>
              </a:ext>
            </a:extLst>
          </p:cNvPr>
          <p:cNvSpPr txBox="1"/>
          <p:nvPr/>
        </p:nvSpPr>
        <p:spPr>
          <a:xfrm>
            <a:off x="4789940" y="2960255"/>
            <a:ext cx="171856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TW" dirty="0"/>
              <a:t>Draft Token:</a:t>
            </a:r>
            <a:endParaRPr lang="zh-TW" altLang="en-US" dirty="0"/>
          </a:p>
        </p:txBody>
      </p:sp>
      <p:sp>
        <p:nvSpPr>
          <p:cNvPr id="170" name="矩形 169">
            <a:extLst>
              <a:ext uri="{FF2B5EF4-FFF2-40B4-BE49-F238E27FC236}">
                <a16:creationId xmlns:a16="http://schemas.microsoft.com/office/drawing/2014/main" id="{CB202A74-2F4A-0EFC-C863-435FA89B000E}"/>
              </a:ext>
            </a:extLst>
          </p:cNvPr>
          <p:cNvSpPr/>
          <p:nvPr/>
        </p:nvSpPr>
        <p:spPr>
          <a:xfrm>
            <a:off x="6533127" y="2942924"/>
            <a:ext cx="360000" cy="360000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</p:spPr>
        <p:style>
          <a:lnRef idx="2">
            <a:schemeClr val="accent3">
              <a:shade val="15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TW" sz="1600" dirty="0">
                <a:solidFill>
                  <a:schemeClr val="tx1"/>
                </a:solidFill>
              </a:rPr>
              <a:t>t</a:t>
            </a:r>
            <a:r>
              <a:rPr lang="en-US" altLang="zh-TW" sz="1600" baseline="-25000" dirty="0">
                <a:solidFill>
                  <a:schemeClr val="tx1"/>
                </a:solidFill>
              </a:rPr>
              <a:t>4</a:t>
            </a:r>
            <a:endParaRPr lang="en-US" altLang="zh-TW" sz="1600" dirty="0">
              <a:solidFill>
                <a:schemeClr val="tx1"/>
              </a:solidFill>
            </a:endParaRPr>
          </a:p>
        </p:txBody>
      </p:sp>
      <p:sp>
        <p:nvSpPr>
          <p:cNvPr id="171" name="矩形 170">
            <a:extLst>
              <a:ext uri="{FF2B5EF4-FFF2-40B4-BE49-F238E27FC236}">
                <a16:creationId xmlns:a16="http://schemas.microsoft.com/office/drawing/2014/main" id="{A9096159-681D-ABFC-4695-DB6141BE4FA0}"/>
              </a:ext>
            </a:extLst>
          </p:cNvPr>
          <p:cNvSpPr/>
          <p:nvPr/>
        </p:nvSpPr>
        <p:spPr>
          <a:xfrm>
            <a:off x="6970828" y="2941982"/>
            <a:ext cx="360000" cy="360000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</p:spPr>
        <p:style>
          <a:lnRef idx="2">
            <a:schemeClr val="accent3">
              <a:shade val="15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TW" sz="1600" dirty="0">
                <a:solidFill>
                  <a:schemeClr val="tx1"/>
                </a:solidFill>
              </a:rPr>
              <a:t>t</a:t>
            </a:r>
            <a:r>
              <a:rPr lang="en-US" altLang="zh-TW" sz="1600" baseline="-25000" dirty="0">
                <a:solidFill>
                  <a:schemeClr val="tx1"/>
                </a:solidFill>
              </a:rPr>
              <a:t>5</a:t>
            </a:r>
            <a:endParaRPr lang="en-US" altLang="zh-TW" sz="1600" dirty="0">
              <a:solidFill>
                <a:schemeClr val="tx1"/>
              </a:solidFill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72" name="文字方塊 171">
                <a:extLst>
                  <a:ext uri="{FF2B5EF4-FFF2-40B4-BE49-F238E27FC236}">
                    <a16:creationId xmlns:a16="http://schemas.microsoft.com/office/drawing/2014/main" id="{92A11309-E159-4364-3917-8410030A16D9}"/>
                  </a:ext>
                </a:extLst>
              </p:cNvPr>
              <p:cNvSpPr txBox="1"/>
              <p:nvPr/>
            </p:nvSpPr>
            <p:spPr>
              <a:xfrm>
                <a:off x="4789941" y="4027332"/>
                <a:ext cx="2809344" cy="374461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altLang="zh-TW" dirty="0"/>
                  <a:t>Situation 3: </a:t>
                </a:r>
                <a14:m>
                  <m:oMath xmlns:m="http://schemas.openxmlformats.org/officeDocument/2006/math">
                    <m:sSubSup>
                      <m:sSubSupPr>
                        <m:ctrlPr>
                          <a:rPr lang="en-US" altLang="zh-TW" i="1" kern="100">
                            <a:latin typeface="Cambria Math" panose="02040503050406030204" pitchFamily="18" charset="0"/>
                            <a:ea typeface="微軟正黑體" panose="020B0604030504040204" pitchFamily="34" charset="-120"/>
                          </a:rPr>
                        </m:ctrlPr>
                      </m:sSubSupPr>
                      <m:e>
                        <m:r>
                          <a:rPr lang="en-US" altLang="zh-TW" i="1" kern="100">
                            <a:latin typeface="Cambria Math" panose="02040503050406030204" pitchFamily="18" charset="0"/>
                            <a:ea typeface="微軟正黑體" panose="020B0604030504040204" pitchFamily="34" charset="-120"/>
                          </a:rPr>
                          <m:t>𝑡</m:t>
                        </m:r>
                      </m:e>
                      <m:sub>
                        <m:r>
                          <a:rPr lang="en-US" altLang="zh-TW" i="1" kern="100">
                            <a:latin typeface="Cambria Math" panose="02040503050406030204" pitchFamily="18" charset="0"/>
                            <a:ea typeface="微軟正黑體" panose="020B0604030504040204" pitchFamily="34" charset="-120"/>
                          </a:rPr>
                          <m:t>2</m:t>
                        </m:r>
                      </m:sub>
                      <m:sup>
                        <m:r>
                          <a:rPr lang="en-US" altLang="zh-TW" i="1" kern="100">
                            <a:latin typeface="Cambria Math" panose="02040503050406030204" pitchFamily="18" charset="0"/>
                            <a:ea typeface="微軟正黑體" panose="020B0604030504040204" pitchFamily="34" charset="-120"/>
                          </a:rPr>
                          <m:t>1</m:t>
                        </m:r>
                      </m:sup>
                    </m:sSubSup>
                    <m:r>
                      <a:rPr lang="en-US" altLang="zh-TW" b="0" i="1" kern="100" smtClean="0">
                        <a:latin typeface="Cambria Math" panose="02040503050406030204" pitchFamily="18" charset="0"/>
                        <a:ea typeface="微軟正黑體" panose="020B0604030504040204" pitchFamily="34" charset="-120"/>
                      </a:rPr>
                      <m:t>=</m:t>
                    </m:r>
                    <m:sSubSup>
                      <m:sSubSupPr>
                        <m:ctrlPr>
                          <a:rPr lang="en-US" altLang="zh-TW" i="1" kern="100">
                            <a:latin typeface="Cambria Math" panose="02040503050406030204" pitchFamily="18" charset="0"/>
                            <a:ea typeface="微軟正黑體" panose="020B0604030504040204" pitchFamily="34" charset="-120"/>
                          </a:rPr>
                        </m:ctrlPr>
                      </m:sSubSupPr>
                      <m:e>
                        <m:r>
                          <a:rPr lang="en-US" altLang="zh-TW" i="1" kern="100">
                            <a:latin typeface="Cambria Math" panose="02040503050406030204" pitchFamily="18" charset="0"/>
                            <a:ea typeface="微軟正黑體" panose="020B0604030504040204" pitchFamily="34" charset="-120"/>
                          </a:rPr>
                          <m:t>𝑡</m:t>
                        </m:r>
                      </m:e>
                      <m:sub>
                        <m:r>
                          <a:rPr lang="en-US" altLang="zh-TW" i="1" kern="100">
                            <a:latin typeface="Cambria Math" panose="02040503050406030204" pitchFamily="18" charset="0"/>
                            <a:ea typeface="微軟正黑體" panose="020B0604030504040204" pitchFamily="34" charset="-120"/>
                          </a:rPr>
                          <m:t>2</m:t>
                        </m:r>
                      </m:sub>
                      <m:sup>
                        <m:r>
                          <a:rPr lang="en-US" altLang="zh-TW" i="1" kern="100">
                            <a:latin typeface="Cambria Math" panose="02040503050406030204" pitchFamily="18" charset="0"/>
                            <a:ea typeface="微軟正黑體" panose="020B0604030504040204" pitchFamily="34" charset="-120"/>
                          </a:rPr>
                          <m:t>2</m:t>
                        </m:r>
                      </m:sup>
                    </m:sSubSup>
                    <m:r>
                      <a:rPr lang="en-US" altLang="zh-TW" b="0" i="1" kern="100" smtClean="0">
                        <a:latin typeface="Cambria Math" panose="02040503050406030204" pitchFamily="18" charset="0"/>
                        <a:ea typeface="微軟正黑體" panose="020B0604030504040204" pitchFamily="34" charset="-120"/>
                      </a:rPr>
                      <m:t>,</m:t>
                    </m:r>
                    <m:sSubSup>
                      <m:sSubSupPr>
                        <m:ctrlPr>
                          <a:rPr lang="en-US" altLang="zh-TW" i="1" kern="100">
                            <a:latin typeface="Cambria Math" panose="02040503050406030204" pitchFamily="18" charset="0"/>
                            <a:ea typeface="微軟正黑體" panose="020B0604030504040204" pitchFamily="34" charset="-120"/>
                          </a:rPr>
                        </m:ctrlPr>
                      </m:sSubSupPr>
                      <m:e>
                        <m:r>
                          <a:rPr lang="en-US" altLang="zh-TW" i="1" kern="100">
                            <a:latin typeface="Cambria Math" panose="02040503050406030204" pitchFamily="18" charset="0"/>
                            <a:ea typeface="微軟正黑體" panose="020B0604030504040204" pitchFamily="34" charset="-120"/>
                          </a:rPr>
                          <m:t>𝑡</m:t>
                        </m:r>
                      </m:e>
                      <m:sub>
                        <m:r>
                          <a:rPr lang="en-US" altLang="zh-TW" b="0" i="1" kern="100" smtClean="0">
                            <a:latin typeface="Cambria Math" panose="02040503050406030204" pitchFamily="18" charset="0"/>
                            <a:ea typeface="微軟正黑體" panose="020B0604030504040204" pitchFamily="34" charset="-120"/>
                          </a:rPr>
                          <m:t>3</m:t>
                        </m:r>
                      </m:sub>
                      <m:sup>
                        <m:r>
                          <a:rPr lang="en-US" altLang="zh-TW" i="1" kern="100">
                            <a:latin typeface="Cambria Math" panose="02040503050406030204" pitchFamily="18" charset="0"/>
                            <a:ea typeface="微軟正黑體" panose="020B0604030504040204" pitchFamily="34" charset="-120"/>
                          </a:rPr>
                          <m:t>1</m:t>
                        </m:r>
                      </m:sup>
                    </m:sSubSup>
                    <m:r>
                      <a:rPr lang="en-US" altLang="zh-TW" i="1" kern="100">
                        <a:latin typeface="Cambria Math" panose="02040503050406030204" pitchFamily="18" charset="0"/>
                        <a:ea typeface="微軟正黑體" panose="020B0604030504040204" pitchFamily="34" charset="-120"/>
                      </a:rPr>
                      <m:t>=</m:t>
                    </m:r>
                    <m:sSubSup>
                      <m:sSubSupPr>
                        <m:ctrlPr>
                          <a:rPr lang="en-US" altLang="zh-TW" i="1" kern="100">
                            <a:latin typeface="Cambria Math" panose="02040503050406030204" pitchFamily="18" charset="0"/>
                            <a:ea typeface="微軟正黑體" panose="020B0604030504040204" pitchFamily="34" charset="-120"/>
                          </a:rPr>
                        </m:ctrlPr>
                      </m:sSubSupPr>
                      <m:e>
                        <m:r>
                          <a:rPr lang="en-US" altLang="zh-TW" i="1" kern="100">
                            <a:latin typeface="Cambria Math" panose="02040503050406030204" pitchFamily="18" charset="0"/>
                            <a:ea typeface="微軟正黑體" panose="020B0604030504040204" pitchFamily="34" charset="-120"/>
                          </a:rPr>
                          <m:t>𝑡</m:t>
                        </m:r>
                      </m:e>
                      <m:sub>
                        <m:r>
                          <a:rPr lang="en-US" altLang="zh-TW" b="0" i="1" kern="100" smtClean="0">
                            <a:latin typeface="Cambria Math" panose="02040503050406030204" pitchFamily="18" charset="0"/>
                            <a:ea typeface="微軟正黑體" panose="020B0604030504040204" pitchFamily="34" charset="-120"/>
                          </a:rPr>
                          <m:t>3</m:t>
                        </m:r>
                      </m:sub>
                      <m:sup>
                        <m:r>
                          <a:rPr lang="en-US" altLang="zh-TW" i="1" kern="100">
                            <a:latin typeface="Cambria Math" panose="02040503050406030204" pitchFamily="18" charset="0"/>
                            <a:ea typeface="微軟正黑體" panose="020B0604030504040204" pitchFamily="34" charset="-120"/>
                          </a:rPr>
                          <m:t>2</m:t>
                        </m:r>
                      </m:sup>
                    </m:sSubSup>
                  </m:oMath>
                </a14:m>
                <a:endParaRPr lang="zh-TW" altLang="en-US" dirty="0"/>
              </a:p>
            </p:txBody>
          </p:sp>
        </mc:Choice>
        <mc:Fallback xmlns="">
          <p:sp>
            <p:nvSpPr>
              <p:cNvPr id="172" name="文字方塊 171">
                <a:extLst>
                  <a:ext uri="{FF2B5EF4-FFF2-40B4-BE49-F238E27FC236}">
                    <a16:creationId xmlns:a16="http://schemas.microsoft.com/office/drawing/2014/main" id="{92A11309-E159-4364-3917-8410030A16D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789941" y="4027332"/>
                <a:ext cx="2809344" cy="374461"/>
              </a:xfrm>
              <a:prstGeom prst="rect">
                <a:avLst/>
              </a:prstGeom>
              <a:blipFill>
                <a:blip r:embed="rId7"/>
                <a:stretch>
                  <a:fillRect l="-1952" t="-8197" b="-26230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173" name="群組 172">
            <a:extLst>
              <a:ext uri="{FF2B5EF4-FFF2-40B4-BE49-F238E27FC236}">
                <a16:creationId xmlns:a16="http://schemas.microsoft.com/office/drawing/2014/main" id="{0BD48BAA-F5E8-5CE2-665F-9E9B34566158}"/>
              </a:ext>
            </a:extLst>
          </p:cNvPr>
          <p:cNvGrpSpPr/>
          <p:nvPr/>
        </p:nvGrpSpPr>
        <p:grpSpPr>
          <a:xfrm>
            <a:off x="4697149" y="4399031"/>
            <a:ext cx="4846346" cy="931070"/>
            <a:chOff x="4697149" y="1314973"/>
            <a:chExt cx="4846346" cy="931070"/>
          </a:xfrm>
        </p:grpSpPr>
        <p:grpSp>
          <p:nvGrpSpPr>
            <p:cNvPr id="174" name="群組 173">
              <a:extLst>
                <a:ext uri="{FF2B5EF4-FFF2-40B4-BE49-F238E27FC236}">
                  <a16:creationId xmlns:a16="http://schemas.microsoft.com/office/drawing/2014/main" id="{5BFC9401-E1DE-E1A3-7AF9-A49B4EBED953}"/>
                </a:ext>
              </a:extLst>
            </p:cNvPr>
            <p:cNvGrpSpPr/>
            <p:nvPr/>
          </p:nvGrpSpPr>
          <p:grpSpPr>
            <a:xfrm>
              <a:off x="4789941" y="1769531"/>
              <a:ext cx="2981741" cy="369332"/>
              <a:chOff x="-26810" y="4587425"/>
              <a:chExt cx="2981741" cy="369332"/>
            </a:xfrm>
          </p:grpSpPr>
          <p:grpSp>
            <p:nvGrpSpPr>
              <p:cNvPr id="176" name="群組 175">
                <a:extLst>
                  <a:ext uri="{FF2B5EF4-FFF2-40B4-BE49-F238E27FC236}">
                    <a16:creationId xmlns:a16="http://schemas.microsoft.com/office/drawing/2014/main" id="{4E7B7F6A-CA8D-CD4E-9AE5-8C5B60E36D75}"/>
                  </a:ext>
                </a:extLst>
              </p:cNvPr>
              <p:cNvGrpSpPr/>
              <p:nvPr/>
            </p:nvGrpSpPr>
            <p:grpSpPr>
              <a:xfrm>
                <a:off x="-26810" y="4587425"/>
                <a:ext cx="2981741" cy="369332"/>
                <a:chOff x="0" y="4588587"/>
                <a:chExt cx="2943598" cy="369332"/>
              </a:xfrm>
            </p:grpSpPr>
            <p:grpSp>
              <p:nvGrpSpPr>
                <p:cNvPr id="178" name="群組 177">
                  <a:extLst>
                    <a:ext uri="{FF2B5EF4-FFF2-40B4-BE49-F238E27FC236}">
                      <a16:creationId xmlns:a16="http://schemas.microsoft.com/office/drawing/2014/main" id="{699AB3CC-C397-CD5F-FD1A-9A8BC79004F6}"/>
                    </a:ext>
                  </a:extLst>
                </p:cNvPr>
                <p:cNvGrpSpPr/>
                <p:nvPr/>
              </p:nvGrpSpPr>
              <p:grpSpPr>
                <a:xfrm>
                  <a:off x="0" y="4588587"/>
                  <a:ext cx="2508383" cy="369332"/>
                  <a:chOff x="47811" y="6289889"/>
                  <a:chExt cx="2321320" cy="369332"/>
                </a:xfrm>
              </p:grpSpPr>
              <p:sp>
                <p:nvSpPr>
                  <p:cNvPr id="180" name="文字方塊 179">
                    <a:extLst>
                      <a:ext uri="{FF2B5EF4-FFF2-40B4-BE49-F238E27FC236}">
                        <a16:creationId xmlns:a16="http://schemas.microsoft.com/office/drawing/2014/main" id="{05E448AC-D180-9F07-D4D8-65A6C088C6BB}"/>
                      </a:ext>
                    </a:extLst>
                  </p:cNvPr>
                  <p:cNvSpPr txBox="1"/>
                  <p:nvPr/>
                </p:nvSpPr>
                <p:spPr>
                  <a:xfrm>
                    <a:off x="47811" y="6289889"/>
                    <a:ext cx="1570058" cy="369332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r>
                      <a:rPr lang="en-US" altLang="zh-TW" dirty="0"/>
                      <a:t>Output Token:</a:t>
                    </a:r>
                    <a:endParaRPr lang="zh-TW" altLang="en-US" dirty="0"/>
                  </a:p>
                </p:txBody>
              </p:sp>
              <p:sp>
                <p:nvSpPr>
                  <p:cNvPr id="181" name="矩形 180">
                    <a:extLst>
                      <a:ext uri="{FF2B5EF4-FFF2-40B4-BE49-F238E27FC236}">
                        <a16:creationId xmlns:a16="http://schemas.microsoft.com/office/drawing/2014/main" id="{D8F5D5B4-0879-7CB8-9FE4-567F89DF0209}"/>
                      </a:ext>
                    </a:extLst>
                  </p:cNvPr>
                  <p:cNvSpPr/>
                  <p:nvPr/>
                </p:nvSpPr>
                <p:spPr>
                  <a:xfrm>
                    <a:off x="2040240" y="6289889"/>
                    <a:ext cx="328891" cy="360000"/>
                  </a:xfrm>
                  <a:prstGeom prst="rect">
                    <a:avLst/>
                  </a:prstGeom>
                  <a:solidFill>
                    <a:schemeClr val="accent1">
                      <a:lumMod val="20000"/>
                      <a:lumOff val="80000"/>
                    </a:schemeClr>
                  </a:solidFill>
                </p:spPr>
                <p:style>
                  <a:lnRef idx="2">
                    <a:schemeClr val="accent3">
                      <a:shade val="15000"/>
                    </a:schemeClr>
                  </a:lnRef>
                  <a:fillRef idx="1">
                    <a:schemeClr val="accent3"/>
                  </a:fillRef>
                  <a:effectRef idx="0">
                    <a:schemeClr val="accent3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r>
                      <a:rPr lang="en-US" altLang="zh-TW" sz="1600" dirty="0">
                        <a:solidFill>
                          <a:schemeClr val="tx1"/>
                        </a:solidFill>
                      </a:rPr>
                      <a:t>t</a:t>
                    </a:r>
                    <a:r>
                      <a:rPr lang="en-US" altLang="zh-TW" sz="1600" baseline="-25000" dirty="0">
                        <a:solidFill>
                          <a:schemeClr val="tx1"/>
                        </a:solidFill>
                      </a:rPr>
                      <a:t>1</a:t>
                    </a:r>
                    <a:endParaRPr lang="en-US" altLang="zh-TW" sz="1600" dirty="0">
                      <a:solidFill>
                        <a:schemeClr val="tx1"/>
                      </a:solidFill>
                    </a:endParaRPr>
                  </a:p>
                </p:txBody>
              </p:sp>
            </p:grpSp>
            <p:sp>
              <p:nvSpPr>
                <p:cNvPr id="179" name="矩形 178">
                  <a:extLst>
                    <a:ext uri="{FF2B5EF4-FFF2-40B4-BE49-F238E27FC236}">
                      <a16:creationId xmlns:a16="http://schemas.microsoft.com/office/drawing/2014/main" id="{AABE3452-C34B-A616-52CA-E67190AF31F8}"/>
                    </a:ext>
                  </a:extLst>
                </p:cNvPr>
                <p:cNvSpPr/>
                <p:nvPr/>
              </p:nvSpPr>
              <p:spPr>
                <a:xfrm>
                  <a:off x="2588203" y="4588587"/>
                  <a:ext cx="355395" cy="360000"/>
                </a:xfrm>
                <a:prstGeom prst="rect">
                  <a:avLst/>
                </a:prstGeom>
                <a:solidFill>
                  <a:schemeClr val="accent1">
                    <a:lumMod val="20000"/>
                    <a:lumOff val="80000"/>
                  </a:schemeClr>
                </a:solidFill>
              </p:spPr>
              <p:style>
                <a:lnRef idx="2">
                  <a:schemeClr val="accent3">
                    <a:shade val="15000"/>
                  </a:schemeClr>
                </a:lnRef>
                <a:fillRef idx="1">
                  <a:schemeClr val="accent3"/>
                </a:fillRef>
                <a:effectRef idx="0">
                  <a:schemeClr val="accent3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en-US" altLang="zh-TW" sz="1600" dirty="0">
                      <a:solidFill>
                        <a:schemeClr val="tx1"/>
                      </a:solidFill>
                    </a:rPr>
                    <a:t>t</a:t>
                  </a:r>
                  <a:r>
                    <a:rPr lang="en-US" altLang="zh-TW" sz="1600" baseline="-25000" dirty="0">
                      <a:solidFill>
                        <a:schemeClr val="tx1"/>
                      </a:solidFill>
                    </a:rPr>
                    <a:t>2</a:t>
                  </a:r>
                  <a:endParaRPr lang="en-US" altLang="zh-TW" sz="1600" dirty="0">
                    <a:solidFill>
                      <a:schemeClr val="tx1"/>
                    </a:solidFill>
                  </a:endParaRPr>
                </a:p>
              </p:txBody>
            </p:sp>
          </p:grpSp>
          <p:sp>
            <p:nvSpPr>
              <p:cNvPr id="177" name="矩形 176">
                <a:extLst>
                  <a:ext uri="{FF2B5EF4-FFF2-40B4-BE49-F238E27FC236}">
                    <a16:creationId xmlns:a16="http://schemas.microsoft.com/office/drawing/2014/main" id="{EA8C8741-4DD5-B54E-CA59-E72F5D71CC10}"/>
                  </a:ext>
                </a:extLst>
              </p:cNvPr>
              <p:cNvSpPr/>
              <p:nvPr/>
            </p:nvSpPr>
            <p:spPr>
              <a:xfrm>
                <a:off x="1716376" y="4587425"/>
                <a:ext cx="360000" cy="360000"/>
              </a:xfrm>
              <a:prstGeom prst="rect">
                <a:avLst/>
              </a:prstGeom>
              <a:solidFill>
                <a:schemeClr val="accent1">
                  <a:lumMod val="20000"/>
                  <a:lumOff val="80000"/>
                </a:schemeClr>
              </a:solidFill>
            </p:spPr>
            <p:style>
              <a:lnRef idx="2">
                <a:schemeClr val="accent3">
                  <a:shade val="15000"/>
                </a:schemeClr>
              </a:lnRef>
              <a:fillRef idx="1">
                <a:schemeClr val="accent3"/>
              </a:fillRef>
              <a:effectRef idx="0">
                <a:schemeClr val="accent3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altLang="zh-TW" sz="1600" dirty="0">
                    <a:solidFill>
                      <a:schemeClr val="tx1"/>
                    </a:solidFill>
                  </a:rPr>
                  <a:t>t</a:t>
                </a:r>
                <a:r>
                  <a:rPr lang="en-US" altLang="zh-TW" sz="1600" baseline="-25000" dirty="0">
                    <a:solidFill>
                      <a:schemeClr val="tx1"/>
                    </a:solidFill>
                  </a:rPr>
                  <a:t>0</a:t>
                </a:r>
                <a:endParaRPr lang="en-US" altLang="zh-TW" sz="1600" dirty="0">
                  <a:solidFill>
                    <a:schemeClr val="tx1"/>
                  </a:solidFill>
                </a:endParaRPr>
              </a:p>
            </p:txBody>
          </p:sp>
        </p:grpSp>
        <p:sp>
          <p:nvSpPr>
            <p:cNvPr id="175" name="矩形 174">
              <a:extLst>
                <a:ext uri="{FF2B5EF4-FFF2-40B4-BE49-F238E27FC236}">
                  <a16:creationId xmlns:a16="http://schemas.microsoft.com/office/drawing/2014/main" id="{F86BF1F7-AF9A-D73A-DD83-45C85EDAAE76}"/>
                </a:ext>
              </a:extLst>
            </p:cNvPr>
            <p:cNvSpPr/>
            <p:nvPr/>
          </p:nvSpPr>
          <p:spPr>
            <a:xfrm>
              <a:off x="4697149" y="1314973"/>
              <a:ext cx="4846346" cy="931070"/>
            </a:xfrm>
            <a:prstGeom prst="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 dirty="0"/>
            </a:p>
          </p:txBody>
        </p:sp>
      </p:grpSp>
      <p:sp>
        <p:nvSpPr>
          <p:cNvPr id="182" name="文字方塊 181">
            <a:extLst>
              <a:ext uri="{FF2B5EF4-FFF2-40B4-BE49-F238E27FC236}">
                <a16:creationId xmlns:a16="http://schemas.microsoft.com/office/drawing/2014/main" id="{AC762827-4A79-9F32-9B5A-F3CA3773C9CA}"/>
              </a:ext>
            </a:extLst>
          </p:cNvPr>
          <p:cNvSpPr txBox="1"/>
          <p:nvPr/>
        </p:nvSpPr>
        <p:spPr>
          <a:xfrm>
            <a:off x="4789940" y="4473937"/>
            <a:ext cx="171856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TW" dirty="0"/>
              <a:t>Draft Token:</a:t>
            </a:r>
            <a:endParaRPr lang="zh-TW" altLang="en-US" dirty="0"/>
          </a:p>
        </p:txBody>
      </p:sp>
      <p:sp>
        <p:nvSpPr>
          <p:cNvPr id="183" name="矩形 182">
            <a:extLst>
              <a:ext uri="{FF2B5EF4-FFF2-40B4-BE49-F238E27FC236}">
                <a16:creationId xmlns:a16="http://schemas.microsoft.com/office/drawing/2014/main" id="{5241A560-1F0A-FA50-BC66-4030C9E96FCE}"/>
              </a:ext>
            </a:extLst>
          </p:cNvPr>
          <p:cNvSpPr/>
          <p:nvPr/>
        </p:nvSpPr>
        <p:spPr>
          <a:xfrm>
            <a:off x="6533127" y="4456606"/>
            <a:ext cx="360000" cy="360000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</p:spPr>
        <p:style>
          <a:lnRef idx="2">
            <a:schemeClr val="accent3">
              <a:shade val="15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TW" sz="1600" dirty="0">
                <a:solidFill>
                  <a:schemeClr val="tx1"/>
                </a:solidFill>
              </a:rPr>
              <a:t>t</a:t>
            </a:r>
            <a:r>
              <a:rPr lang="en-US" altLang="zh-TW" sz="1600" baseline="-25000" dirty="0">
                <a:solidFill>
                  <a:schemeClr val="tx1"/>
                </a:solidFill>
              </a:rPr>
              <a:t>5</a:t>
            </a:r>
            <a:endParaRPr lang="en-US" altLang="zh-TW" sz="1600" dirty="0">
              <a:solidFill>
                <a:schemeClr val="tx1"/>
              </a:solidFill>
            </a:endParaRPr>
          </a:p>
        </p:txBody>
      </p:sp>
      <p:sp>
        <p:nvSpPr>
          <p:cNvPr id="184" name="矩形 183">
            <a:extLst>
              <a:ext uri="{FF2B5EF4-FFF2-40B4-BE49-F238E27FC236}">
                <a16:creationId xmlns:a16="http://schemas.microsoft.com/office/drawing/2014/main" id="{1B99ABC5-7800-11CE-30BA-6296A68C245F}"/>
              </a:ext>
            </a:extLst>
          </p:cNvPr>
          <p:cNvSpPr/>
          <p:nvPr/>
        </p:nvSpPr>
        <p:spPr>
          <a:xfrm>
            <a:off x="6970828" y="4455664"/>
            <a:ext cx="360000" cy="360000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</p:spPr>
        <p:style>
          <a:lnRef idx="2">
            <a:schemeClr val="accent3">
              <a:shade val="15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TW" sz="1600" dirty="0">
                <a:solidFill>
                  <a:schemeClr val="tx1"/>
                </a:solidFill>
              </a:rPr>
              <a:t>t</a:t>
            </a:r>
            <a:r>
              <a:rPr lang="en-US" altLang="zh-TW" sz="1600" baseline="-25000" dirty="0">
                <a:solidFill>
                  <a:schemeClr val="tx1"/>
                </a:solidFill>
              </a:rPr>
              <a:t>6</a:t>
            </a:r>
            <a:endParaRPr lang="en-US" altLang="zh-TW" sz="1600" dirty="0">
              <a:solidFill>
                <a:schemeClr val="tx1"/>
              </a:solidFill>
            </a:endParaRPr>
          </a:p>
        </p:txBody>
      </p:sp>
      <p:sp>
        <p:nvSpPr>
          <p:cNvPr id="186" name="矩形 185">
            <a:extLst>
              <a:ext uri="{FF2B5EF4-FFF2-40B4-BE49-F238E27FC236}">
                <a16:creationId xmlns:a16="http://schemas.microsoft.com/office/drawing/2014/main" id="{24230B5A-CA34-A6FA-70A7-BF6CC8DED78B}"/>
              </a:ext>
            </a:extLst>
          </p:cNvPr>
          <p:cNvSpPr/>
          <p:nvPr/>
        </p:nvSpPr>
        <p:spPr>
          <a:xfrm>
            <a:off x="7829618" y="4849732"/>
            <a:ext cx="360000" cy="360000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</p:spPr>
        <p:style>
          <a:lnRef idx="2">
            <a:schemeClr val="accent3">
              <a:shade val="15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TW" sz="1600" dirty="0">
                <a:solidFill>
                  <a:schemeClr val="tx1"/>
                </a:solidFill>
              </a:rPr>
              <a:t>t</a:t>
            </a:r>
            <a:r>
              <a:rPr lang="en-US" altLang="zh-TW" sz="1600" baseline="-25000" dirty="0">
                <a:solidFill>
                  <a:schemeClr val="tx1"/>
                </a:solidFill>
              </a:rPr>
              <a:t>3</a:t>
            </a:r>
            <a:endParaRPr lang="en-US" altLang="zh-TW" sz="1600" dirty="0">
              <a:solidFill>
                <a:schemeClr val="tx1"/>
              </a:solidFill>
            </a:endParaRPr>
          </a:p>
        </p:txBody>
      </p:sp>
      <p:sp>
        <p:nvSpPr>
          <p:cNvPr id="187" name="矩形 186">
            <a:extLst>
              <a:ext uri="{FF2B5EF4-FFF2-40B4-BE49-F238E27FC236}">
                <a16:creationId xmlns:a16="http://schemas.microsoft.com/office/drawing/2014/main" id="{5F6269B3-0365-8A3D-F762-69977915AF2E}"/>
              </a:ext>
            </a:extLst>
          </p:cNvPr>
          <p:cNvSpPr/>
          <p:nvPr/>
        </p:nvSpPr>
        <p:spPr>
          <a:xfrm>
            <a:off x="8247555" y="4859514"/>
            <a:ext cx="360000" cy="360000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</p:spPr>
        <p:style>
          <a:lnRef idx="2">
            <a:schemeClr val="accent3">
              <a:shade val="15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TW" sz="1600" dirty="0">
                <a:solidFill>
                  <a:schemeClr val="tx1"/>
                </a:solidFill>
              </a:rPr>
              <a:t>t</a:t>
            </a:r>
            <a:r>
              <a:rPr lang="en-US" altLang="zh-TW" sz="1600" baseline="-25000" dirty="0">
                <a:solidFill>
                  <a:schemeClr val="tx1"/>
                </a:solidFill>
              </a:rPr>
              <a:t>4</a:t>
            </a:r>
            <a:endParaRPr lang="en-US" altLang="zh-TW" sz="1600" dirty="0">
              <a:solidFill>
                <a:schemeClr val="tx1"/>
              </a:solidFill>
            </a:endParaRPr>
          </a:p>
        </p:txBody>
      </p:sp>
      <p:sp>
        <p:nvSpPr>
          <p:cNvPr id="188" name="矩形 187">
            <a:extLst>
              <a:ext uri="{FF2B5EF4-FFF2-40B4-BE49-F238E27FC236}">
                <a16:creationId xmlns:a16="http://schemas.microsoft.com/office/drawing/2014/main" id="{FF75B4CD-99A8-42EA-8995-2258459E233B}"/>
              </a:ext>
            </a:extLst>
          </p:cNvPr>
          <p:cNvSpPr/>
          <p:nvPr/>
        </p:nvSpPr>
        <p:spPr>
          <a:xfrm>
            <a:off x="8677298" y="4852735"/>
            <a:ext cx="360000" cy="360000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</p:spPr>
        <p:style>
          <a:lnRef idx="2">
            <a:schemeClr val="accent3">
              <a:shade val="15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TW" sz="1600" dirty="0">
                <a:solidFill>
                  <a:schemeClr val="tx1"/>
                </a:solidFill>
              </a:rPr>
              <a:t>t</a:t>
            </a:r>
            <a:r>
              <a:rPr lang="en-US" altLang="zh-TW" sz="1600" baseline="-25000" dirty="0">
                <a:solidFill>
                  <a:schemeClr val="tx1"/>
                </a:solidFill>
              </a:rPr>
              <a:t>5</a:t>
            </a:r>
            <a:endParaRPr lang="en-US" altLang="zh-TW" sz="1600" dirty="0">
              <a:solidFill>
                <a:schemeClr val="tx1"/>
              </a:solidFill>
            </a:endParaRPr>
          </a:p>
        </p:txBody>
      </p:sp>
      <p:sp>
        <p:nvSpPr>
          <p:cNvPr id="189" name="矩形 188">
            <a:extLst>
              <a:ext uri="{FF2B5EF4-FFF2-40B4-BE49-F238E27FC236}">
                <a16:creationId xmlns:a16="http://schemas.microsoft.com/office/drawing/2014/main" id="{D4126BE5-AB14-BA54-5364-FCED3F9B5708}"/>
              </a:ext>
            </a:extLst>
          </p:cNvPr>
          <p:cNvSpPr/>
          <p:nvPr/>
        </p:nvSpPr>
        <p:spPr>
          <a:xfrm>
            <a:off x="9100874" y="4852735"/>
            <a:ext cx="360000" cy="360000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</p:spPr>
        <p:style>
          <a:lnRef idx="2">
            <a:schemeClr val="accent3">
              <a:shade val="15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TW" sz="1600" dirty="0">
                <a:solidFill>
                  <a:schemeClr val="tx1"/>
                </a:solidFill>
              </a:rPr>
              <a:t>t</a:t>
            </a:r>
            <a:r>
              <a:rPr lang="en-US" altLang="zh-TW" sz="1600" baseline="-25000" dirty="0">
                <a:solidFill>
                  <a:schemeClr val="tx1"/>
                </a:solidFill>
              </a:rPr>
              <a:t>6</a:t>
            </a:r>
            <a:endParaRPr lang="en-US" altLang="zh-TW" sz="1600" dirty="0">
              <a:solidFill>
                <a:schemeClr val="tx1"/>
              </a:solidFill>
            </a:endParaRPr>
          </a:p>
        </p:txBody>
      </p:sp>
      <p:sp>
        <p:nvSpPr>
          <p:cNvPr id="190" name="箭號: 向上 189">
            <a:extLst>
              <a:ext uri="{FF2B5EF4-FFF2-40B4-BE49-F238E27FC236}">
                <a16:creationId xmlns:a16="http://schemas.microsoft.com/office/drawing/2014/main" id="{9208418C-53A9-CE94-606D-48A6A7423B68}"/>
              </a:ext>
            </a:extLst>
          </p:cNvPr>
          <p:cNvSpPr/>
          <p:nvPr/>
        </p:nvSpPr>
        <p:spPr>
          <a:xfrm rot="5400000">
            <a:off x="4075928" y="2708912"/>
            <a:ext cx="140462" cy="252000"/>
          </a:xfrm>
          <a:prstGeom prst="up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6611112"/>
            <a:ext cx="12191695" cy="246888"/>
          </a:xfrm>
          <a:prstGeom prst="rect">
            <a:avLst/>
          </a:prstGeom>
          <a:solidFill>
            <a:srgbClr val="5B839B"/>
          </a:solidFill>
          <a:ln w="12700">
            <a:solidFill>
              <a:srgbClr val="5B839B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3" name="Text 1"/>
          <p:cNvSpPr/>
          <p:nvPr/>
        </p:nvSpPr>
        <p:spPr>
          <a:xfrm>
            <a:off x="11594237" y="6629400"/>
            <a:ext cx="384403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200" dirty="0">
                <a:solidFill>
                  <a:srgbClr val="FFFFFF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13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0" y="2496312"/>
            <a:ext cx="12191695" cy="676656"/>
          </a:xfrm>
          <a:prstGeom prst="rect">
            <a:avLst/>
          </a:prstGeom>
          <a:solidFill>
            <a:srgbClr val="5B839B"/>
          </a:solidFill>
          <a:ln w="12700">
            <a:solidFill>
              <a:srgbClr val="5B839B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7" name="Text 5"/>
          <p:cNvSpPr/>
          <p:nvPr/>
        </p:nvSpPr>
        <p:spPr>
          <a:xfrm>
            <a:off x="457200" y="2660904"/>
            <a:ext cx="1127455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FFFFFF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Proposed method</a:t>
            </a:r>
            <a:endParaRPr lang="en-US" sz="2000" dirty="0"/>
          </a:p>
        </p:txBody>
      </p:sp>
      <p:sp>
        <p:nvSpPr>
          <p:cNvPr id="9" name="Text 7"/>
          <p:cNvSpPr/>
          <p:nvPr/>
        </p:nvSpPr>
        <p:spPr>
          <a:xfrm>
            <a:off x="5623560" y="4361688"/>
            <a:ext cx="914400" cy="1188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540" dirty="0">
                <a:solidFill>
                  <a:srgbClr val="FFFFFF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THREE</a:t>
            </a:r>
            <a:endParaRPr lang="en-US" sz="54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6611112"/>
            <a:ext cx="12191695" cy="246888"/>
          </a:xfrm>
          <a:prstGeom prst="rect">
            <a:avLst/>
          </a:prstGeom>
          <a:solidFill>
            <a:srgbClr val="5B839B"/>
          </a:solidFill>
          <a:ln w="12700">
            <a:solidFill>
              <a:srgbClr val="5B839B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3" name="Text 1"/>
          <p:cNvSpPr/>
          <p:nvPr/>
        </p:nvSpPr>
        <p:spPr>
          <a:xfrm>
            <a:off x="11647503" y="6629400"/>
            <a:ext cx="331137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200" dirty="0">
                <a:solidFill>
                  <a:schemeClr val="bg1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14</a:t>
            </a:r>
          </a:p>
        </p:txBody>
      </p:sp>
      <p:sp>
        <p:nvSpPr>
          <p:cNvPr id="4" name="Text 2"/>
          <p:cNvSpPr/>
          <p:nvPr/>
        </p:nvSpPr>
        <p:spPr>
          <a:xfrm>
            <a:off x="347472" y="274320"/>
            <a:ext cx="30175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b="1" dirty="0">
                <a:solidFill>
                  <a:srgbClr val="1B2E3A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Noto Sans CJK TC" pitchFamily="34" charset="-120"/>
              </a:rPr>
              <a:t>Part3: Proposed method</a:t>
            </a:r>
            <a:endParaRPr lang="en-US" dirty="0"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5" name="Text 3"/>
          <p:cNvSpPr/>
          <p:nvPr/>
        </p:nvSpPr>
        <p:spPr>
          <a:xfrm>
            <a:off x="347472" y="457200"/>
            <a:ext cx="79552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rgbClr val="60707A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Noto Sans CJK TC" pitchFamily="34" charset="-120"/>
              </a:rPr>
              <a:t>Method overview</a:t>
            </a:r>
            <a:endParaRPr lang="en-US" sz="1600" dirty="0"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7" name="Shape 5"/>
          <p:cNvSpPr/>
          <p:nvPr/>
        </p:nvSpPr>
        <p:spPr>
          <a:xfrm>
            <a:off x="347472" y="749808"/>
            <a:ext cx="11475720" cy="0"/>
          </a:xfrm>
          <a:prstGeom prst="line">
            <a:avLst/>
          </a:prstGeom>
          <a:noFill/>
          <a:ln w="12700">
            <a:solidFill>
              <a:srgbClr val="C8D6DE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8" name="Text 6"/>
          <p:cNvSpPr/>
          <p:nvPr/>
        </p:nvSpPr>
        <p:spPr>
          <a:xfrm>
            <a:off x="502920" y="914400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zh-TW" altLang="en-US" sz="1400" b="1" dirty="0">
                <a:solidFill>
                  <a:srgbClr val="27323A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Noto Sans CJK TC" pitchFamily="34" charset="-120"/>
              </a:rPr>
              <a:t>本研究將 </a:t>
            </a:r>
            <a:r>
              <a:rPr lang="en-US" altLang="zh-TW" sz="1400" b="1" dirty="0">
                <a:solidFill>
                  <a:srgbClr val="27323A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Noto Sans CJK TC" pitchFamily="34" charset="-120"/>
              </a:rPr>
              <a:t>MTP CE loss </a:t>
            </a:r>
            <a:r>
              <a:rPr lang="zh-TW" altLang="en-US" sz="1400" b="1" dirty="0">
                <a:solidFill>
                  <a:srgbClr val="27323A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Noto Sans CJK TC" pitchFamily="34" charset="-120"/>
              </a:rPr>
              <a:t>與 </a:t>
            </a:r>
            <a:r>
              <a:rPr lang="en-US" altLang="zh-TW" sz="1400" b="1" dirty="0">
                <a:solidFill>
                  <a:srgbClr val="27323A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Noto Sans CJK TC" pitchFamily="34" charset="-120"/>
              </a:rPr>
              <a:t>SDC / LCM consistency loss </a:t>
            </a:r>
            <a:r>
              <a:rPr lang="zh-TW" altLang="en-US" sz="1400" b="1" dirty="0">
                <a:solidFill>
                  <a:srgbClr val="27323A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Noto Sans CJK TC" pitchFamily="34" charset="-120"/>
              </a:rPr>
              <a:t>結合，對齊 </a:t>
            </a:r>
            <a:r>
              <a:rPr lang="en-US" altLang="zh-TW" sz="1400" b="1" dirty="0">
                <a:solidFill>
                  <a:srgbClr val="27323A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Noto Sans CJK TC" pitchFamily="34" charset="-120"/>
              </a:rPr>
              <a:t>teacher</a:t>
            </a:r>
            <a:r>
              <a:rPr lang="zh-TW" altLang="en-US" sz="1400" b="1" dirty="0">
                <a:solidFill>
                  <a:srgbClr val="27323A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Noto Sans CJK TC" pitchFamily="34" charset="-120"/>
              </a:rPr>
              <a:t>和</a:t>
            </a:r>
            <a:r>
              <a:rPr lang="en-US" altLang="zh-TW" sz="1400" b="1" dirty="0">
                <a:solidFill>
                  <a:srgbClr val="27323A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Noto Sans CJK TC" pitchFamily="34" charset="-120"/>
              </a:rPr>
              <a:t>student </a:t>
            </a:r>
            <a:r>
              <a:rPr lang="zh-TW" altLang="en-US" sz="1400" b="1" dirty="0">
                <a:solidFill>
                  <a:srgbClr val="27323A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Noto Sans CJK TC" pitchFamily="34" charset="-120"/>
              </a:rPr>
              <a:t>在</a:t>
            </a:r>
            <a:r>
              <a:rPr lang="en-US" altLang="zh-TW" sz="1400" b="1" dirty="0">
                <a:solidFill>
                  <a:srgbClr val="27323A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Noto Sans CJK TC" pitchFamily="34" charset="-120"/>
              </a:rPr>
              <a:t>probability</a:t>
            </a:r>
            <a:r>
              <a:rPr lang="zh-TW" altLang="en-US" sz="1400" b="1" dirty="0">
                <a:solidFill>
                  <a:srgbClr val="27323A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Noto Sans CJK TC" pitchFamily="34" charset="-120"/>
              </a:rPr>
              <a:t>與</a:t>
            </a:r>
            <a:r>
              <a:rPr lang="en-US" altLang="zh-TW" sz="1400" b="1" dirty="0">
                <a:solidFill>
                  <a:srgbClr val="27323A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Noto Sans CJK TC" pitchFamily="34" charset="-120"/>
              </a:rPr>
              <a:t>latent</a:t>
            </a:r>
            <a:r>
              <a:rPr lang="zh-TW" altLang="en-US" sz="1400" b="1" dirty="0">
                <a:solidFill>
                  <a:srgbClr val="27323A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Noto Sans CJK TC" pitchFamily="34" charset="-120"/>
              </a:rPr>
              <a:t>的分佈。</a:t>
            </a:r>
          </a:p>
        </p:txBody>
      </p:sp>
      <p:grpSp>
        <p:nvGrpSpPr>
          <p:cNvPr id="95" name="群組 94">
            <a:extLst>
              <a:ext uri="{FF2B5EF4-FFF2-40B4-BE49-F238E27FC236}">
                <a16:creationId xmlns:a16="http://schemas.microsoft.com/office/drawing/2014/main" id="{EFBF1C37-A13F-CCFA-FB1D-9B4CB39C0295}"/>
              </a:ext>
            </a:extLst>
          </p:cNvPr>
          <p:cNvGrpSpPr/>
          <p:nvPr/>
        </p:nvGrpSpPr>
        <p:grpSpPr>
          <a:xfrm>
            <a:off x="8352521" y="1309035"/>
            <a:ext cx="3126666" cy="2784737"/>
            <a:chOff x="8243996" y="1035356"/>
            <a:chExt cx="3126666" cy="2784737"/>
          </a:xfrm>
        </p:grpSpPr>
        <p:grpSp>
          <p:nvGrpSpPr>
            <p:cNvPr id="89" name="群組 88">
              <a:extLst>
                <a:ext uri="{FF2B5EF4-FFF2-40B4-BE49-F238E27FC236}">
                  <a16:creationId xmlns:a16="http://schemas.microsoft.com/office/drawing/2014/main" id="{83F67626-1028-82D3-DF1A-98B18E7A8B81}"/>
                </a:ext>
              </a:extLst>
            </p:cNvPr>
            <p:cNvGrpSpPr/>
            <p:nvPr/>
          </p:nvGrpSpPr>
          <p:grpSpPr>
            <a:xfrm>
              <a:off x="8243996" y="1035356"/>
              <a:ext cx="3126666" cy="2784737"/>
              <a:chOff x="4831952" y="1346844"/>
              <a:chExt cx="3126666" cy="1855026"/>
            </a:xfrm>
          </p:grpSpPr>
          <p:sp>
            <p:nvSpPr>
              <p:cNvPr id="90" name="文字方塊 89">
                <a:extLst>
                  <a:ext uri="{FF2B5EF4-FFF2-40B4-BE49-F238E27FC236}">
                    <a16:creationId xmlns:a16="http://schemas.microsoft.com/office/drawing/2014/main" id="{09E908E3-1D13-CCE5-B26E-9EAC8F1B16CE}"/>
                  </a:ext>
                </a:extLst>
              </p:cNvPr>
              <p:cNvSpPr txBox="1"/>
              <p:nvPr/>
            </p:nvSpPr>
            <p:spPr>
              <a:xfrm>
                <a:off x="4831952" y="1346844"/>
                <a:ext cx="3126666" cy="1855026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marL="285750" indent="-285750">
                  <a:lnSpc>
                    <a:spcPct val="200000"/>
                  </a:lnSpc>
                  <a:buFont typeface="Arial" panose="020B0604020202020204" pitchFamily="34" charset="0"/>
                  <a:buChar char="•"/>
                </a:pPr>
                <a:r>
                  <a:rPr lang="en-US" altLang="zh-TW" dirty="0"/>
                  <a:t>Forward</a:t>
                </a:r>
              </a:p>
              <a:p>
                <a:pPr marL="285750" indent="-285750">
                  <a:lnSpc>
                    <a:spcPct val="200000"/>
                  </a:lnSpc>
                  <a:buFont typeface="Arial" panose="020B0604020202020204" pitchFamily="34" charset="0"/>
                  <a:buChar char="•"/>
                </a:pPr>
                <a:r>
                  <a:rPr lang="en-US" altLang="zh-TW" dirty="0"/>
                  <a:t>Backward</a:t>
                </a:r>
              </a:p>
              <a:p>
                <a:pPr marL="285750" indent="-285750">
                  <a:lnSpc>
                    <a:spcPct val="200000"/>
                  </a:lnSpc>
                  <a:buFont typeface="Arial" panose="020B0604020202020204" pitchFamily="34" charset="0"/>
                  <a:buChar char="•"/>
                </a:pPr>
                <a:r>
                  <a:rPr lang="en-US" altLang="zh-TW" dirty="0"/>
                  <a:t>Teacher probability/latent</a:t>
                </a:r>
              </a:p>
              <a:p>
                <a:pPr marL="285750" indent="-285750">
                  <a:lnSpc>
                    <a:spcPct val="200000"/>
                  </a:lnSpc>
                  <a:buFont typeface="Arial" panose="020B0604020202020204" pitchFamily="34" charset="0"/>
                  <a:buChar char="•"/>
                </a:pPr>
                <a:r>
                  <a:rPr lang="en-US" altLang="zh-TW" dirty="0"/>
                  <a:t>Student latent</a:t>
                </a:r>
              </a:p>
              <a:p>
                <a:pPr marL="285750" indent="-285750">
                  <a:lnSpc>
                    <a:spcPct val="200000"/>
                  </a:lnSpc>
                  <a:buFont typeface="Arial" panose="020B0604020202020204" pitchFamily="34" charset="0"/>
                  <a:buChar char="•"/>
                </a:pPr>
                <a:r>
                  <a:rPr lang="en-US" altLang="zh-TW" dirty="0"/>
                  <a:t>Student probability</a:t>
                </a:r>
              </a:p>
            </p:txBody>
          </p:sp>
          <p:sp>
            <p:nvSpPr>
              <p:cNvPr id="91" name="箭號: 向上 90">
                <a:extLst>
                  <a:ext uri="{FF2B5EF4-FFF2-40B4-BE49-F238E27FC236}">
                    <a16:creationId xmlns:a16="http://schemas.microsoft.com/office/drawing/2014/main" id="{0E7DF15C-A878-8DCD-20B3-0CDDE46BEB50}"/>
                  </a:ext>
                </a:extLst>
              </p:cNvPr>
              <p:cNvSpPr/>
              <p:nvPr/>
            </p:nvSpPr>
            <p:spPr>
              <a:xfrm>
                <a:off x="4861741" y="1446963"/>
                <a:ext cx="215809" cy="287773"/>
              </a:xfrm>
              <a:prstGeom prst="upArrow">
                <a:avLst/>
              </a:prstGeom>
              <a:ln>
                <a:noFill/>
              </a:ln>
            </p:spPr>
            <p:style>
              <a:lnRef idx="2">
                <a:schemeClr val="accent2">
                  <a:shade val="15000"/>
                </a:schemeClr>
              </a:lnRef>
              <a:fillRef idx="1">
                <a:schemeClr val="accent2"/>
              </a:fillRef>
              <a:effectRef idx="0">
                <a:schemeClr val="accent2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TW" altLang="en-US"/>
              </a:p>
            </p:txBody>
          </p:sp>
          <p:sp>
            <p:nvSpPr>
              <p:cNvPr id="92" name="箭號: 向上 91">
                <a:extLst>
                  <a:ext uri="{FF2B5EF4-FFF2-40B4-BE49-F238E27FC236}">
                    <a16:creationId xmlns:a16="http://schemas.microsoft.com/office/drawing/2014/main" id="{D441CD76-5FFA-ED85-2854-45FEE900627D}"/>
                  </a:ext>
                </a:extLst>
              </p:cNvPr>
              <p:cNvSpPr/>
              <p:nvPr/>
            </p:nvSpPr>
            <p:spPr>
              <a:xfrm>
                <a:off x="4861741" y="1796970"/>
                <a:ext cx="215809" cy="287773"/>
              </a:xfrm>
              <a:prstGeom prst="upArrow">
                <a:avLst/>
              </a:prstGeom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TW" altLang="en-US"/>
              </a:p>
            </p:txBody>
          </p:sp>
        </p:grpSp>
        <p:sp>
          <p:nvSpPr>
            <p:cNvPr id="93" name="箭號: 向上 92">
              <a:extLst>
                <a:ext uri="{FF2B5EF4-FFF2-40B4-BE49-F238E27FC236}">
                  <a16:creationId xmlns:a16="http://schemas.microsoft.com/office/drawing/2014/main" id="{68946771-1B59-254F-7268-F3412CD269ED}"/>
                </a:ext>
              </a:extLst>
            </p:cNvPr>
            <p:cNvSpPr/>
            <p:nvPr/>
          </p:nvSpPr>
          <p:spPr>
            <a:xfrm>
              <a:off x="8273785" y="2243078"/>
              <a:ext cx="215809" cy="432000"/>
            </a:xfrm>
            <a:prstGeom prst="upArrow">
              <a:avLst/>
            </a:prstGeom>
            <a:solidFill>
              <a:srgbClr val="FF0000"/>
            </a:solidFill>
            <a:ln>
              <a:noFill/>
            </a:ln>
          </p:spPr>
          <p:style>
            <a:lnRef idx="2">
              <a:schemeClr val="accent2">
                <a:shade val="15000"/>
              </a:schemeClr>
            </a:lnRef>
            <a:fillRef idx="1">
              <a:schemeClr val="accent2"/>
            </a:fillRef>
            <a:effectRef idx="0">
              <a:schemeClr val="accent2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>
                <a:solidFill>
                  <a:srgbClr val="FF0000"/>
                </a:solidFill>
              </a:endParaRPr>
            </a:p>
          </p:txBody>
        </p:sp>
        <p:sp>
          <p:nvSpPr>
            <p:cNvPr id="94" name="箭號: 向上 93">
              <a:extLst>
                <a:ext uri="{FF2B5EF4-FFF2-40B4-BE49-F238E27FC236}">
                  <a16:creationId xmlns:a16="http://schemas.microsoft.com/office/drawing/2014/main" id="{F6382B9D-6D9C-749E-FD09-90EDEEBCA0B3}"/>
                </a:ext>
              </a:extLst>
            </p:cNvPr>
            <p:cNvSpPr/>
            <p:nvPr/>
          </p:nvSpPr>
          <p:spPr>
            <a:xfrm>
              <a:off x="8273784" y="2779166"/>
              <a:ext cx="215809" cy="432000"/>
            </a:xfrm>
            <a:prstGeom prst="upArrow">
              <a:avLst/>
            </a:prstGeom>
            <a:solidFill>
              <a:srgbClr val="00B050"/>
            </a:solidFill>
            <a:ln>
              <a:noFill/>
            </a:ln>
          </p:spPr>
          <p:style>
            <a:lnRef idx="2">
              <a:schemeClr val="accent2">
                <a:shade val="15000"/>
              </a:schemeClr>
            </a:lnRef>
            <a:fillRef idx="1">
              <a:schemeClr val="accent2"/>
            </a:fillRef>
            <a:effectRef idx="0">
              <a:schemeClr val="accent2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 dirty="0">
                <a:solidFill>
                  <a:srgbClr val="FF0000"/>
                </a:solidFill>
              </a:endParaRPr>
            </a:p>
          </p:txBody>
        </p:sp>
      </p:grpSp>
      <p:grpSp>
        <p:nvGrpSpPr>
          <p:cNvPr id="116" name="群組 115">
            <a:extLst>
              <a:ext uri="{FF2B5EF4-FFF2-40B4-BE49-F238E27FC236}">
                <a16:creationId xmlns:a16="http://schemas.microsoft.com/office/drawing/2014/main" id="{67EB2C07-3BA4-C182-895D-FD30535B6E3A}"/>
              </a:ext>
            </a:extLst>
          </p:cNvPr>
          <p:cNvGrpSpPr/>
          <p:nvPr/>
        </p:nvGrpSpPr>
        <p:grpSpPr>
          <a:xfrm>
            <a:off x="57720" y="1477631"/>
            <a:ext cx="7955280" cy="4405659"/>
            <a:chOff x="605936" y="1379985"/>
            <a:chExt cx="10121382" cy="4405659"/>
          </a:xfrm>
        </p:grpSpPr>
        <p:sp>
          <p:nvSpPr>
            <p:cNvPr id="49" name="矩形 48">
              <a:extLst>
                <a:ext uri="{FF2B5EF4-FFF2-40B4-BE49-F238E27FC236}">
                  <a16:creationId xmlns:a16="http://schemas.microsoft.com/office/drawing/2014/main" id="{C2EA02CA-EB09-2C99-2201-E3FFD06557FD}"/>
                </a:ext>
              </a:extLst>
            </p:cNvPr>
            <p:cNvSpPr/>
            <p:nvPr/>
          </p:nvSpPr>
          <p:spPr>
            <a:xfrm>
              <a:off x="1319365" y="3120056"/>
              <a:ext cx="9036000" cy="72000"/>
            </a:xfrm>
            <a:prstGeom prst="rect">
              <a:avLst/>
            </a:prstGeom>
            <a:solidFill>
              <a:srgbClr val="FF0000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 dirty="0"/>
            </a:p>
          </p:txBody>
        </p:sp>
        <p:grpSp>
          <p:nvGrpSpPr>
            <p:cNvPr id="52" name="群組 51">
              <a:extLst>
                <a:ext uri="{FF2B5EF4-FFF2-40B4-BE49-F238E27FC236}">
                  <a16:creationId xmlns:a16="http://schemas.microsoft.com/office/drawing/2014/main" id="{5C560143-43BD-25D1-BF11-1E2F814DACC7}"/>
                </a:ext>
              </a:extLst>
            </p:cNvPr>
            <p:cNvGrpSpPr/>
            <p:nvPr/>
          </p:nvGrpSpPr>
          <p:grpSpPr>
            <a:xfrm>
              <a:off x="3318716" y="2926550"/>
              <a:ext cx="613876" cy="468000"/>
              <a:chOff x="2136461" y="3605615"/>
              <a:chExt cx="613876" cy="468000"/>
            </a:xfrm>
          </p:grpSpPr>
          <p:sp>
            <p:nvSpPr>
              <p:cNvPr id="58" name="箭號: 向上 57">
                <a:extLst>
                  <a:ext uri="{FF2B5EF4-FFF2-40B4-BE49-F238E27FC236}">
                    <a16:creationId xmlns:a16="http://schemas.microsoft.com/office/drawing/2014/main" id="{0DF1B0BF-00A4-1BE7-4DE5-1CD5E9041D84}"/>
                  </a:ext>
                </a:extLst>
              </p:cNvPr>
              <p:cNvSpPr/>
              <p:nvPr/>
            </p:nvSpPr>
            <p:spPr>
              <a:xfrm>
                <a:off x="2136461" y="3605615"/>
                <a:ext cx="144000" cy="468000"/>
              </a:xfrm>
              <a:prstGeom prst="upArrow">
                <a:avLst/>
              </a:prstGeom>
              <a:solidFill>
                <a:srgbClr val="00B050"/>
              </a:solidFill>
              <a:ln>
                <a:noFill/>
              </a:ln>
            </p:spPr>
            <p:style>
              <a:lnRef idx="2">
                <a:schemeClr val="accent2">
                  <a:shade val="15000"/>
                </a:schemeClr>
              </a:lnRef>
              <a:fillRef idx="1">
                <a:schemeClr val="accent2"/>
              </a:fillRef>
              <a:effectRef idx="0">
                <a:schemeClr val="accent2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TW" altLang="en-US"/>
              </a:p>
            </p:txBody>
          </p:sp>
          <p:sp>
            <p:nvSpPr>
              <p:cNvPr id="59" name="箭號: 向上 58">
                <a:extLst>
                  <a:ext uri="{FF2B5EF4-FFF2-40B4-BE49-F238E27FC236}">
                    <a16:creationId xmlns:a16="http://schemas.microsoft.com/office/drawing/2014/main" id="{37806454-B0E1-0280-153B-4EEF97C1B52B}"/>
                  </a:ext>
                </a:extLst>
              </p:cNvPr>
              <p:cNvSpPr/>
              <p:nvPr/>
            </p:nvSpPr>
            <p:spPr>
              <a:xfrm>
                <a:off x="2606337" y="3605615"/>
                <a:ext cx="144000" cy="234000"/>
              </a:xfrm>
              <a:prstGeom prst="upArrow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TW" altLang="en-US"/>
              </a:p>
            </p:txBody>
          </p:sp>
        </p:grpSp>
        <p:sp>
          <p:nvSpPr>
            <p:cNvPr id="54" name="箭號: 向上 53">
              <a:extLst>
                <a:ext uri="{FF2B5EF4-FFF2-40B4-BE49-F238E27FC236}">
                  <a16:creationId xmlns:a16="http://schemas.microsoft.com/office/drawing/2014/main" id="{4ECE44A2-F576-642A-D508-BCFC5D378506}"/>
                </a:ext>
              </a:extLst>
            </p:cNvPr>
            <p:cNvSpPr/>
            <p:nvPr/>
          </p:nvSpPr>
          <p:spPr>
            <a:xfrm>
              <a:off x="2313345" y="2926550"/>
              <a:ext cx="144000" cy="468000"/>
            </a:xfrm>
            <a:prstGeom prst="upArrow">
              <a:avLst/>
            </a:prstGeom>
            <a:ln>
              <a:noFill/>
            </a:ln>
          </p:spPr>
          <p:style>
            <a:lnRef idx="2">
              <a:schemeClr val="accent2">
                <a:shade val="15000"/>
              </a:schemeClr>
            </a:lnRef>
            <a:fillRef idx="1">
              <a:schemeClr val="accent2"/>
            </a:fillRef>
            <a:effectRef idx="0">
              <a:schemeClr val="accent2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  <p:grpSp>
          <p:nvGrpSpPr>
            <p:cNvPr id="110" name="群組 109">
              <a:extLst>
                <a:ext uri="{FF2B5EF4-FFF2-40B4-BE49-F238E27FC236}">
                  <a16:creationId xmlns:a16="http://schemas.microsoft.com/office/drawing/2014/main" id="{C813AC02-ACD5-FFC3-2CCF-3A9AC0DFE30C}"/>
                </a:ext>
              </a:extLst>
            </p:cNvPr>
            <p:cNvGrpSpPr/>
            <p:nvPr/>
          </p:nvGrpSpPr>
          <p:grpSpPr>
            <a:xfrm>
              <a:off x="4678555" y="2901221"/>
              <a:ext cx="613876" cy="468000"/>
              <a:chOff x="2136461" y="3605615"/>
              <a:chExt cx="613876" cy="468000"/>
            </a:xfrm>
          </p:grpSpPr>
          <p:sp>
            <p:nvSpPr>
              <p:cNvPr id="111" name="箭號: 向上 110">
                <a:extLst>
                  <a:ext uri="{FF2B5EF4-FFF2-40B4-BE49-F238E27FC236}">
                    <a16:creationId xmlns:a16="http://schemas.microsoft.com/office/drawing/2014/main" id="{3280E5E7-5BC1-6316-730C-36D862D40886}"/>
                  </a:ext>
                </a:extLst>
              </p:cNvPr>
              <p:cNvSpPr/>
              <p:nvPr/>
            </p:nvSpPr>
            <p:spPr>
              <a:xfrm>
                <a:off x="2136461" y="3605615"/>
                <a:ext cx="144000" cy="468000"/>
              </a:xfrm>
              <a:prstGeom prst="upArrow">
                <a:avLst/>
              </a:prstGeom>
              <a:solidFill>
                <a:srgbClr val="7030A0"/>
              </a:solidFill>
              <a:ln>
                <a:noFill/>
              </a:ln>
            </p:spPr>
            <p:style>
              <a:lnRef idx="2">
                <a:schemeClr val="accent2">
                  <a:shade val="15000"/>
                </a:schemeClr>
              </a:lnRef>
              <a:fillRef idx="1">
                <a:schemeClr val="accent2"/>
              </a:fillRef>
              <a:effectRef idx="0">
                <a:schemeClr val="accent2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TW" altLang="en-US"/>
              </a:p>
            </p:txBody>
          </p:sp>
          <p:sp>
            <p:nvSpPr>
              <p:cNvPr id="112" name="箭號: 向上 111">
                <a:extLst>
                  <a:ext uri="{FF2B5EF4-FFF2-40B4-BE49-F238E27FC236}">
                    <a16:creationId xmlns:a16="http://schemas.microsoft.com/office/drawing/2014/main" id="{14D3EECD-A5C9-DC82-7923-423578128BA0}"/>
                  </a:ext>
                </a:extLst>
              </p:cNvPr>
              <p:cNvSpPr/>
              <p:nvPr/>
            </p:nvSpPr>
            <p:spPr>
              <a:xfrm>
                <a:off x="2606337" y="3605615"/>
                <a:ext cx="144000" cy="234000"/>
              </a:xfrm>
              <a:prstGeom prst="upArrow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TW" altLang="en-US"/>
              </a:p>
            </p:txBody>
          </p:sp>
        </p:grpSp>
        <p:grpSp>
          <p:nvGrpSpPr>
            <p:cNvPr id="115" name="群組 114">
              <a:extLst>
                <a:ext uri="{FF2B5EF4-FFF2-40B4-BE49-F238E27FC236}">
                  <a16:creationId xmlns:a16="http://schemas.microsoft.com/office/drawing/2014/main" id="{9295AB36-2AFC-8E00-1355-368A780276D0}"/>
                </a:ext>
              </a:extLst>
            </p:cNvPr>
            <p:cNvGrpSpPr/>
            <p:nvPr/>
          </p:nvGrpSpPr>
          <p:grpSpPr>
            <a:xfrm>
              <a:off x="605936" y="1379985"/>
              <a:ext cx="10121382" cy="4405659"/>
              <a:chOff x="605936" y="1379985"/>
              <a:chExt cx="10121382" cy="4405659"/>
            </a:xfrm>
          </p:grpSpPr>
          <p:sp>
            <p:nvSpPr>
              <p:cNvPr id="64" name="矩形: 圓角 63">
                <a:extLst>
                  <a:ext uri="{FF2B5EF4-FFF2-40B4-BE49-F238E27FC236}">
                    <a16:creationId xmlns:a16="http://schemas.microsoft.com/office/drawing/2014/main" id="{3824C6DF-8283-E581-EDDA-101EBAE4E343}"/>
                  </a:ext>
                </a:extLst>
              </p:cNvPr>
              <p:cNvSpPr/>
              <p:nvPr/>
            </p:nvSpPr>
            <p:spPr>
              <a:xfrm>
                <a:off x="3045074" y="2240001"/>
                <a:ext cx="1277949" cy="601586"/>
              </a:xfrm>
              <a:prstGeom prst="roundRect">
                <a:avLst/>
              </a:prstGeom>
            </p:spPr>
            <p:style>
              <a:lnRef idx="2">
                <a:schemeClr val="accent4">
                  <a:shade val="15000"/>
                </a:schemeClr>
              </a:lnRef>
              <a:fillRef idx="1">
                <a:schemeClr val="accent4"/>
              </a:fillRef>
              <a:effectRef idx="0">
                <a:schemeClr val="accent4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altLang="zh-TW" sz="1200" b="1" dirty="0">
                    <a:solidFill>
                      <a:schemeClr val="tx1"/>
                    </a:solidFill>
                  </a:rPr>
                  <a:t>LCM Loss 2</a:t>
                </a:r>
                <a:endParaRPr lang="zh-TW" altLang="en-US" sz="1200" b="1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66" name="矩形: 圓角 65">
                <a:extLst>
                  <a:ext uri="{FF2B5EF4-FFF2-40B4-BE49-F238E27FC236}">
                    <a16:creationId xmlns:a16="http://schemas.microsoft.com/office/drawing/2014/main" id="{F81703BD-7728-F835-22FC-9DCC63847F47}"/>
                  </a:ext>
                </a:extLst>
              </p:cNvPr>
              <p:cNvSpPr/>
              <p:nvPr/>
            </p:nvSpPr>
            <p:spPr>
              <a:xfrm>
                <a:off x="1839926" y="2235684"/>
                <a:ext cx="1143292" cy="601586"/>
              </a:xfrm>
              <a:prstGeom prst="roundRect">
                <a:avLst/>
              </a:prstGeom>
            </p:spPr>
            <p:style>
              <a:lnRef idx="2">
                <a:schemeClr val="accent4">
                  <a:shade val="15000"/>
                </a:schemeClr>
              </a:lnRef>
              <a:fillRef idx="1">
                <a:schemeClr val="accent4"/>
              </a:fillRef>
              <a:effectRef idx="0">
                <a:schemeClr val="accent4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altLang="zh-TW" sz="1200" b="1" dirty="0">
                    <a:solidFill>
                      <a:schemeClr val="tx1"/>
                    </a:solidFill>
                  </a:rPr>
                  <a:t>CE</a:t>
                </a:r>
                <a:r>
                  <a:rPr lang="zh-TW" altLang="en-US" sz="1200" b="1" dirty="0">
                    <a:solidFill>
                      <a:schemeClr val="tx1"/>
                    </a:solidFill>
                  </a:rPr>
                  <a:t> </a:t>
                </a:r>
                <a:r>
                  <a:rPr lang="en-US" altLang="zh-TW" sz="1200" b="1" dirty="0">
                    <a:solidFill>
                      <a:schemeClr val="tx1"/>
                    </a:solidFill>
                  </a:rPr>
                  <a:t>Loss 2</a:t>
                </a:r>
                <a:endParaRPr lang="zh-TW" altLang="en-US" sz="1200" b="1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45" name="箭號: 向上 44">
                <a:extLst>
                  <a:ext uri="{FF2B5EF4-FFF2-40B4-BE49-F238E27FC236}">
                    <a16:creationId xmlns:a16="http://schemas.microsoft.com/office/drawing/2014/main" id="{0D96F54B-F7A3-ED4A-25DD-82CB82FDC2E9}"/>
                  </a:ext>
                </a:extLst>
              </p:cNvPr>
              <p:cNvSpPr/>
              <p:nvPr/>
            </p:nvSpPr>
            <p:spPr>
              <a:xfrm>
                <a:off x="2339572" y="1994190"/>
                <a:ext cx="144000" cy="216000"/>
              </a:xfrm>
              <a:prstGeom prst="upArrow">
                <a:avLst/>
              </a:prstGeom>
              <a:ln>
                <a:noFill/>
              </a:ln>
            </p:spPr>
            <p:style>
              <a:lnRef idx="2">
                <a:schemeClr val="accent2">
                  <a:shade val="15000"/>
                </a:schemeClr>
              </a:lnRef>
              <a:fillRef idx="1">
                <a:schemeClr val="accent2"/>
              </a:fillRef>
              <a:effectRef idx="0">
                <a:schemeClr val="accent2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TW" altLang="en-US"/>
              </a:p>
            </p:txBody>
          </p:sp>
          <p:sp>
            <p:nvSpPr>
              <p:cNvPr id="46" name="箭號: 向上 45">
                <a:extLst>
                  <a:ext uri="{FF2B5EF4-FFF2-40B4-BE49-F238E27FC236}">
                    <a16:creationId xmlns:a16="http://schemas.microsoft.com/office/drawing/2014/main" id="{4A84FE22-F790-EF94-F0DC-700754AC328B}"/>
                  </a:ext>
                </a:extLst>
              </p:cNvPr>
              <p:cNvSpPr/>
              <p:nvPr/>
            </p:nvSpPr>
            <p:spPr>
              <a:xfrm>
                <a:off x="3553654" y="1995537"/>
                <a:ext cx="144000" cy="216000"/>
              </a:xfrm>
              <a:prstGeom prst="upArrow">
                <a:avLst/>
              </a:prstGeom>
              <a:ln>
                <a:noFill/>
              </a:ln>
            </p:spPr>
            <p:style>
              <a:lnRef idx="2">
                <a:schemeClr val="accent2">
                  <a:shade val="15000"/>
                </a:schemeClr>
              </a:lnRef>
              <a:fillRef idx="1">
                <a:schemeClr val="accent2"/>
              </a:fillRef>
              <a:effectRef idx="0">
                <a:schemeClr val="accent2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TW" altLang="en-US"/>
              </a:p>
            </p:txBody>
          </p:sp>
          <p:grpSp>
            <p:nvGrpSpPr>
              <p:cNvPr id="113" name="群組 112">
                <a:extLst>
                  <a:ext uri="{FF2B5EF4-FFF2-40B4-BE49-F238E27FC236}">
                    <a16:creationId xmlns:a16="http://schemas.microsoft.com/office/drawing/2014/main" id="{6D03476D-C59F-3DE9-5731-7493269C6D0F}"/>
                  </a:ext>
                </a:extLst>
              </p:cNvPr>
              <p:cNvGrpSpPr/>
              <p:nvPr/>
            </p:nvGrpSpPr>
            <p:grpSpPr>
              <a:xfrm>
                <a:off x="605936" y="1379985"/>
                <a:ext cx="10121382" cy="4405659"/>
                <a:chOff x="605936" y="1379985"/>
                <a:chExt cx="10121382" cy="4405659"/>
              </a:xfrm>
            </p:grpSpPr>
            <p:sp>
              <p:nvSpPr>
                <p:cNvPr id="24" name="矩形: 圓角 23">
                  <a:extLst>
                    <a:ext uri="{FF2B5EF4-FFF2-40B4-BE49-F238E27FC236}">
                      <a16:creationId xmlns:a16="http://schemas.microsoft.com/office/drawing/2014/main" id="{FB3D7F6B-63B3-DCFF-097E-F0F0E14586D6}"/>
                    </a:ext>
                  </a:extLst>
                </p:cNvPr>
                <p:cNvSpPr/>
                <p:nvPr/>
              </p:nvSpPr>
              <p:spPr>
                <a:xfrm>
                  <a:off x="705606" y="5128696"/>
                  <a:ext cx="6871658" cy="656948"/>
                </a:xfrm>
                <a:prstGeom prst="roundRect">
                  <a:avLst/>
                </a:prstGeom>
              </p:spPr>
              <p:style>
                <a:lnRef idx="2">
                  <a:schemeClr val="accent6">
                    <a:shade val="15000"/>
                  </a:schemeClr>
                </a:lnRef>
                <a:fillRef idx="1">
                  <a:schemeClr val="accent6"/>
                </a:fillRef>
                <a:effectRef idx="0">
                  <a:schemeClr val="accent6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en-US" altLang="zh-TW" dirty="0">
                      <a:solidFill>
                        <a:schemeClr val="tx1"/>
                      </a:solidFill>
                    </a:rPr>
                    <a:t>Shared</a:t>
                  </a:r>
                  <a:endParaRPr lang="zh-TW" altLang="en-US" dirty="0">
                    <a:solidFill>
                      <a:schemeClr val="tx1"/>
                    </a:solidFill>
                  </a:endParaRPr>
                </a:p>
              </p:txBody>
            </p:sp>
            <p:sp>
              <p:nvSpPr>
                <p:cNvPr id="80" name="矩形: 圓角 79">
                  <a:extLst>
                    <a:ext uri="{FF2B5EF4-FFF2-40B4-BE49-F238E27FC236}">
                      <a16:creationId xmlns:a16="http://schemas.microsoft.com/office/drawing/2014/main" id="{38C37932-BCBF-0990-1394-FB48BC959667}"/>
                    </a:ext>
                  </a:extLst>
                </p:cNvPr>
                <p:cNvSpPr/>
                <p:nvPr/>
              </p:nvSpPr>
              <p:spPr>
                <a:xfrm>
                  <a:off x="605936" y="3518732"/>
                  <a:ext cx="1143293" cy="601586"/>
                </a:xfrm>
                <a:prstGeom prst="roundRect">
                  <a:avLst/>
                </a:prstGeom>
              </p:spPr>
              <p:style>
                <a:lnRef idx="2">
                  <a:schemeClr val="accent5">
                    <a:shade val="15000"/>
                  </a:schemeClr>
                </a:lnRef>
                <a:fillRef idx="1">
                  <a:schemeClr val="accent5"/>
                </a:fillRef>
                <a:effectRef idx="0">
                  <a:schemeClr val="accent5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en-US" altLang="zh-TW" dirty="0">
                      <a:solidFill>
                        <a:schemeClr val="tx1"/>
                      </a:solidFill>
                    </a:rPr>
                    <a:t>Head 1</a:t>
                  </a:r>
                  <a:endParaRPr lang="zh-TW" altLang="en-US" dirty="0">
                    <a:solidFill>
                      <a:schemeClr val="tx1"/>
                    </a:solidFill>
                  </a:endParaRPr>
                </a:p>
              </p:txBody>
            </p:sp>
            <p:grpSp>
              <p:nvGrpSpPr>
                <p:cNvPr id="26" name="群組 25">
                  <a:extLst>
                    <a:ext uri="{FF2B5EF4-FFF2-40B4-BE49-F238E27FC236}">
                      <a16:creationId xmlns:a16="http://schemas.microsoft.com/office/drawing/2014/main" id="{0C42DB66-CCCD-DAF3-54A5-21035E138176}"/>
                    </a:ext>
                  </a:extLst>
                </p:cNvPr>
                <p:cNvGrpSpPr/>
                <p:nvPr/>
              </p:nvGrpSpPr>
              <p:grpSpPr>
                <a:xfrm>
                  <a:off x="910033" y="4146873"/>
                  <a:ext cx="7872902" cy="966351"/>
                  <a:chOff x="927788" y="4825938"/>
                  <a:chExt cx="5865080" cy="966351"/>
                </a:xfrm>
              </p:grpSpPr>
              <p:grpSp>
                <p:nvGrpSpPr>
                  <p:cNvPr id="69" name="群組 68">
                    <a:extLst>
                      <a:ext uri="{FF2B5EF4-FFF2-40B4-BE49-F238E27FC236}">
                        <a16:creationId xmlns:a16="http://schemas.microsoft.com/office/drawing/2014/main" id="{8BDE5217-3477-CC23-39E1-10079B616D98}"/>
                      </a:ext>
                    </a:extLst>
                  </p:cNvPr>
                  <p:cNvGrpSpPr/>
                  <p:nvPr/>
                </p:nvGrpSpPr>
                <p:grpSpPr>
                  <a:xfrm>
                    <a:off x="927788" y="4843550"/>
                    <a:ext cx="5544147" cy="948739"/>
                    <a:chOff x="1653159" y="2701033"/>
                    <a:chExt cx="2817772" cy="948739"/>
                  </a:xfrm>
                </p:grpSpPr>
                <p:sp>
                  <p:nvSpPr>
                    <p:cNvPr id="75" name="矩形 74">
                      <a:extLst>
                        <a:ext uri="{FF2B5EF4-FFF2-40B4-BE49-F238E27FC236}">
                          <a16:creationId xmlns:a16="http://schemas.microsoft.com/office/drawing/2014/main" id="{5FC7AAB6-144F-AF9C-2ED1-08220BDC1FF6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1653159" y="2701033"/>
                      <a:ext cx="40892" cy="656948"/>
                    </a:xfrm>
                    <a:prstGeom prst="rect">
                      <a:avLst/>
                    </a:prstGeom>
                    <a:ln>
                      <a:noFill/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zh-TW" altLang="en-US"/>
                    </a:p>
                  </p:txBody>
                </p:sp>
                <p:sp>
                  <p:nvSpPr>
                    <p:cNvPr id="76" name="矩形 75">
                      <a:extLst>
                        <a:ext uri="{FF2B5EF4-FFF2-40B4-BE49-F238E27FC236}">
                          <a16:creationId xmlns:a16="http://schemas.microsoft.com/office/drawing/2014/main" id="{9DC00401-7BCA-450C-482F-B7C108BFCE48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2849206" y="2701033"/>
                      <a:ext cx="40892" cy="656948"/>
                    </a:xfrm>
                    <a:prstGeom prst="rect">
                      <a:avLst/>
                    </a:prstGeom>
                    <a:ln>
                      <a:noFill/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zh-TW" altLang="en-US"/>
                    </a:p>
                  </p:txBody>
                </p:sp>
                <p:sp>
                  <p:nvSpPr>
                    <p:cNvPr id="77" name="矩形 76">
                      <a:extLst>
                        <a:ext uri="{FF2B5EF4-FFF2-40B4-BE49-F238E27FC236}">
                          <a16:creationId xmlns:a16="http://schemas.microsoft.com/office/drawing/2014/main" id="{39C143B5-F6A8-FBD4-8C63-30D9A2DFF5EF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4430039" y="2701033"/>
                      <a:ext cx="40892" cy="656948"/>
                    </a:xfrm>
                    <a:prstGeom prst="rect">
                      <a:avLst/>
                    </a:prstGeom>
                    <a:ln>
                      <a:noFill/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zh-TW" altLang="en-US"/>
                    </a:p>
                  </p:txBody>
                </p:sp>
                <p:sp>
                  <p:nvSpPr>
                    <p:cNvPr id="78" name="矩形 77">
                      <a:extLst>
                        <a:ext uri="{FF2B5EF4-FFF2-40B4-BE49-F238E27FC236}">
                          <a16:creationId xmlns:a16="http://schemas.microsoft.com/office/drawing/2014/main" id="{97148565-8E43-A798-6DC1-9FF242ED368E}"/>
                        </a:ext>
                      </a:extLst>
                    </p:cNvPr>
                    <p:cNvSpPr/>
                    <p:nvPr/>
                  </p:nvSpPr>
                  <p:spPr>
                    <a:xfrm rot="5400000">
                      <a:off x="2990039" y="1917493"/>
                      <a:ext cx="108000" cy="2772000"/>
                    </a:xfrm>
                    <a:prstGeom prst="rect">
                      <a:avLst/>
                    </a:prstGeom>
                    <a:ln>
                      <a:noFill/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zh-TW" altLang="en-US" dirty="0"/>
                    </a:p>
                  </p:txBody>
                </p:sp>
                <p:sp>
                  <p:nvSpPr>
                    <p:cNvPr id="79" name="箭號: 向下 78">
                      <a:extLst>
                        <a:ext uri="{FF2B5EF4-FFF2-40B4-BE49-F238E27FC236}">
                          <a16:creationId xmlns:a16="http://schemas.microsoft.com/office/drawing/2014/main" id="{CDE6F8D8-FED8-687D-806A-029E922441ED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2431366" y="3253772"/>
                      <a:ext cx="81783" cy="396000"/>
                    </a:xfrm>
                    <a:prstGeom prst="downArrow">
                      <a:avLst/>
                    </a:prstGeom>
                    <a:ln>
                      <a:noFill/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zh-TW" altLang="en-US" dirty="0"/>
                    </a:p>
                  </p:txBody>
                </p:sp>
              </p:grpSp>
              <p:grpSp>
                <p:nvGrpSpPr>
                  <p:cNvPr id="70" name="群組 69">
                    <a:extLst>
                      <a:ext uri="{FF2B5EF4-FFF2-40B4-BE49-F238E27FC236}">
                        <a16:creationId xmlns:a16="http://schemas.microsoft.com/office/drawing/2014/main" id="{09EB8A7B-B1F3-6693-AEBC-6FF7FF64E915}"/>
                      </a:ext>
                    </a:extLst>
                  </p:cNvPr>
                  <p:cNvGrpSpPr/>
                  <p:nvPr/>
                </p:nvGrpSpPr>
                <p:grpSpPr>
                  <a:xfrm>
                    <a:off x="1121379" y="4825938"/>
                    <a:ext cx="5671489" cy="945473"/>
                    <a:chOff x="1024147" y="4805717"/>
                    <a:chExt cx="2965142" cy="945473"/>
                  </a:xfrm>
                </p:grpSpPr>
                <p:sp>
                  <p:nvSpPr>
                    <p:cNvPr id="71" name="箭號: 上彎 70">
                      <a:extLst>
                        <a:ext uri="{FF2B5EF4-FFF2-40B4-BE49-F238E27FC236}">
                          <a16:creationId xmlns:a16="http://schemas.microsoft.com/office/drawing/2014/main" id="{5DAA6211-AAD4-E2FE-96AD-01BA921C0F4F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1780225" y="4805717"/>
                      <a:ext cx="602206" cy="386056"/>
                    </a:xfrm>
                    <a:prstGeom prst="bentUpArrow">
                      <a:avLst/>
                    </a:prstGeom>
                    <a:ln>
                      <a:noFill/>
                    </a:ln>
                  </p:spPr>
                  <p:style>
                    <a:lnRef idx="2">
                      <a:schemeClr val="accent2">
                        <a:shade val="15000"/>
                      </a:schemeClr>
                    </a:lnRef>
                    <a:fillRef idx="1">
                      <a:schemeClr val="accent2"/>
                    </a:fillRef>
                    <a:effectRef idx="0">
                      <a:schemeClr val="accent2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zh-TW" altLang="en-US"/>
                    </a:p>
                  </p:txBody>
                </p:sp>
                <p:sp>
                  <p:nvSpPr>
                    <p:cNvPr id="72" name="箭號: 上彎 71">
                      <a:extLst>
                        <a:ext uri="{FF2B5EF4-FFF2-40B4-BE49-F238E27FC236}">
                          <a16:creationId xmlns:a16="http://schemas.microsoft.com/office/drawing/2014/main" id="{992F3A4B-981C-5557-E8C2-A90DF141048D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2118007" y="4805717"/>
                      <a:ext cx="1871282" cy="386056"/>
                    </a:xfrm>
                    <a:prstGeom prst="bentUpArrow">
                      <a:avLst/>
                    </a:prstGeom>
                    <a:ln>
                      <a:noFill/>
                    </a:ln>
                  </p:spPr>
                  <p:style>
                    <a:lnRef idx="2">
                      <a:schemeClr val="accent2">
                        <a:shade val="15000"/>
                      </a:schemeClr>
                    </a:lnRef>
                    <a:fillRef idx="1">
                      <a:schemeClr val="accent2"/>
                    </a:fillRef>
                    <a:effectRef idx="0">
                      <a:schemeClr val="accent2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zh-TW" altLang="en-US" dirty="0"/>
                    </a:p>
                  </p:txBody>
                </p:sp>
                <p:sp>
                  <p:nvSpPr>
                    <p:cNvPr id="73" name="箭號: 上彎 72">
                      <a:extLst>
                        <a:ext uri="{FF2B5EF4-FFF2-40B4-BE49-F238E27FC236}">
                          <a16:creationId xmlns:a16="http://schemas.microsoft.com/office/drawing/2014/main" id="{C190D8DB-2A2D-9EAB-8828-6343E8C31E94}"/>
                        </a:ext>
                      </a:extLst>
                    </p:cNvPr>
                    <p:cNvSpPr/>
                    <p:nvPr/>
                  </p:nvSpPr>
                  <p:spPr>
                    <a:xfrm flipH="1">
                      <a:off x="1024147" y="4805717"/>
                      <a:ext cx="862088" cy="386056"/>
                    </a:xfrm>
                    <a:prstGeom prst="bentUpArrow">
                      <a:avLst/>
                    </a:prstGeom>
                    <a:ln>
                      <a:noFill/>
                    </a:ln>
                  </p:spPr>
                  <p:style>
                    <a:lnRef idx="2">
                      <a:schemeClr val="accent2">
                        <a:shade val="15000"/>
                      </a:schemeClr>
                    </a:lnRef>
                    <a:fillRef idx="1">
                      <a:schemeClr val="accent2"/>
                    </a:fillRef>
                    <a:effectRef idx="0">
                      <a:schemeClr val="accent2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zh-TW" altLang="en-US"/>
                    </a:p>
                  </p:txBody>
                </p:sp>
                <p:sp>
                  <p:nvSpPr>
                    <p:cNvPr id="74" name="矩形 73">
                      <a:extLst>
                        <a:ext uri="{FF2B5EF4-FFF2-40B4-BE49-F238E27FC236}">
                          <a16:creationId xmlns:a16="http://schemas.microsoft.com/office/drawing/2014/main" id="{A0136C40-E0E0-91EE-75D1-624CD7FBCAE2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1886233" y="5139190"/>
                      <a:ext cx="42064" cy="612000"/>
                    </a:xfrm>
                    <a:prstGeom prst="rect">
                      <a:avLst/>
                    </a:prstGeom>
                    <a:ln>
                      <a:noFill/>
                    </a:ln>
                  </p:spPr>
                  <p:style>
                    <a:lnRef idx="2">
                      <a:schemeClr val="accent2">
                        <a:shade val="15000"/>
                      </a:schemeClr>
                    </a:lnRef>
                    <a:fillRef idx="1">
                      <a:schemeClr val="accent2"/>
                    </a:fillRef>
                    <a:effectRef idx="0">
                      <a:schemeClr val="accent2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zh-TW" altLang="en-US"/>
                    </a:p>
                  </p:txBody>
                </p:sp>
              </p:grpSp>
            </p:grpSp>
            <p:sp>
              <p:nvSpPr>
                <p:cNvPr id="65" name="矩形: 圓角 64">
                  <a:extLst>
                    <a:ext uri="{FF2B5EF4-FFF2-40B4-BE49-F238E27FC236}">
                      <a16:creationId xmlns:a16="http://schemas.microsoft.com/office/drawing/2014/main" id="{A0B8F154-B8CA-9B92-EAB6-716CD00486A0}"/>
                    </a:ext>
                  </a:extLst>
                </p:cNvPr>
                <p:cNvSpPr/>
                <p:nvPr/>
              </p:nvSpPr>
              <p:spPr>
                <a:xfrm>
                  <a:off x="605936" y="2237747"/>
                  <a:ext cx="1143293" cy="601586"/>
                </a:xfrm>
                <a:prstGeom prst="roundRect">
                  <a:avLst/>
                </a:prstGeom>
              </p:spPr>
              <p:style>
                <a:lnRef idx="2">
                  <a:schemeClr val="accent4">
                    <a:shade val="15000"/>
                  </a:schemeClr>
                </a:lnRef>
                <a:fillRef idx="1">
                  <a:schemeClr val="accent4"/>
                </a:fillRef>
                <a:effectRef idx="0">
                  <a:schemeClr val="accent4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en-US" altLang="zh-TW" sz="1200" b="1" dirty="0">
                      <a:solidFill>
                        <a:schemeClr val="tx1"/>
                      </a:solidFill>
                    </a:rPr>
                    <a:t>CE</a:t>
                  </a:r>
                  <a:r>
                    <a:rPr lang="zh-TW" altLang="en-US" sz="1200" b="1" dirty="0">
                      <a:solidFill>
                        <a:schemeClr val="tx1"/>
                      </a:solidFill>
                    </a:rPr>
                    <a:t> </a:t>
                  </a:r>
                  <a:r>
                    <a:rPr lang="en-US" altLang="zh-TW" sz="1200" b="1" dirty="0">
                      <a:solidFill>
                        <a:schemeClr val="tx1"/>
                      </a:solidFill>
                    </a:rPr>
                    <a:t>Loss 1</a:t>
                  </a:r>
                  <a:endParaRPr lang="zh-TW" altLang="en-US" sz="1200" b="1" dirty="0">
                    <a:solidFill>
                      <a:schemeClr val="tx1"/>
                    </a:solidFill>
                  </a:endParaRPr>
                </a:p>
              </p:txBody>
            </p:sp>
            <p:grpSp>
              <p:nvGrpSpPr>
                <p:cNvPr id="51" name="群組 50">
                  <a:extLst>
                    <a:ext uri="{FF2B5EF4-FFF2-40B4-BE49-F238E27FC236}">
                      <a16:creationId xmlns:a16="http://schemas.microsoft.com/office/drawing/2014/main" id="{8D40AEA5-10E0-399B-26A5-9572A48CE3B0}"/>
                    </a:ext>
                  </a:extLst>
                </p:cNvPr>
                <p:cNvGrpSpPr/>
                <p:nvPr/>
              </p:nvGrpSpPr>
              <p:grpSpPr>
                <a:xfrm>
                  <a:off x="910033" y="2931776"/>
                  <a:ext cx="517331" cy="494512"/>
                  <a:chOff x="857746" y="3610841"/>
                  <a:chExt cx="517331" cy="494512"/>
                </a:xfrm>
              </p:grpSpPr>
              <p:grpSp>
                <p:nvGrpSpPr>
                  <p:cNvPr id="60" name="群組 59">
                    <a:extLst>
                      <a:ext uri="{FF2B5EF4-FFF2-40B4-BE49-F238E27FC236}">
                        <a16:creationId xmlns:a16="http://schemas.microsoft.com/office/drawing/2014/main" id="{8F951905-5C32-5B59-C589-031C2B6FD552}"/>
                      </a:ext>
                    </a:extLst>
                  </p:cNvPr>
                  <p:cNvGrpSpPr/>
                  <p:nvPr/>
                </p:nvGrpSpPr>
                <p:grpSpPr>
                  <a:xfrm>
                    <a:off x="857746" y="3610841"/>
                    <a:ext cx="337591" cy="494512"/>
                    <a:chOff x="2230583" y="2141666"/>
                    <a:chExt cx="337591" cy="494512"/>
                  </a:xfrm>
                </p:grpSpPr>
                <p:sp>
                  <p:nvSpPr>
                    <p:cNvPr id="62" name="箭號: 向上 61">
                      <a:extLst>
                        <a:ext uri="{FF2B5EF4-FFF2-40B4-BE49-F238E27FC236}">
                          <a16:creationId xmlns:a16="http://schemas.microsoft.com/office/drawing/2014/main" id="{8395AE15-458B-CA6D-C005-0CCE601861EC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2230583" y="2141666"/>
                      <a:ext cx="144000" cy="468000"/>
                    </a:xfrm>
                    <a:prstGeom prst="upArrow">
                      <a:avLst/>
                    </a:prstGeom>
                    <a:ln>
                      <a:noFill/>
                    </a:ln>
                  </p:spPr>
                  <p:style>
                    <a:lnRef idx="2">
                      <a:schemeClr val="accent2">
                        <a:shade val="15000"/>
                      </a:schemeClr>
                    </a:lnRef>
                    <a:fillRef idx="1">
                      <a:schemeClr val="accent2"/>
                    </a:fillRef>
                    <a:effectRef idx="0">
                      <a:schemeClr val="accent2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zh-TW" altLang="en-US"/>
                    </a:p>
                  </p:txBody>
                </p:sp>
                <p:sp>
                  <p:nvSpPr>
                    <p:cNvPr id="63" name="箭號: 向上 62">
                      <a:extLst>
                        <a:ext uri="{FF2B5EF4-FFF2-40B4-BE49-F238E27FC236}">
                          <a16:creationId xmlns:a16="http://schemas.microsoft.com/office/drawing/2014/main" id="{0CA42F72-80F4-104F-DEF9-05EC26E6A547}"/>
                        </a:ext>
                      </a:extLst>
                    </p:cNvPr>
                    <p:cNvSpPr/>
                    <p:nvPr/>
                  </p:nvSpPr>
                  <p:spPr>
                    <a:xfrm flipV="1">
                      <a:off x="2424174" y="2168178"/>
                      <a:ext cx="144000" cy="468000"/>
                    </a:xfrm>
                    <a:prstGeom prst="upArrow">
                      <a:avLst/>
                    </a:prstGeom>
                    <a:ln>
                      <a:noFill/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zh-TW" altLang="en-US" dirty="0"/>
                    </a:p>
                  </p:txBody>
                </p:sp>
              </p:grpSp>
              <p:sp>
                <p:nvSpPr>
                  <p:cNvPr id="61" name="矩形 60">
                    <a:extLst>
                      <a:ext uri="{FF2B5EF4-FFF2-40B4-BE49-F238E27FC236}">
                        <a16:creationId xmlns:a16="http://schemas.microsoft.com/office/drawing/2014/main" id="{6AF8AA71-244E-D83C-1196-6A32929A0F7D}"/>
                      </a:ext>
                    </a:extLst>
                  </p:cNvPr>
                  <p:cNvSpPr/>
                  <p:nvPr/>
                </p:nvSpPr>
                <p:spPr>
                  <a:xfrm>
                    <a:off x="1267077" y="3844841"/>
                    <a:ext cx="108000" cy="234000"/>
                  </a:xfrm>
                  <a:prstGeom prst="rect">
                    <a:avLst/>
                  </a:prstGeom>
                  <a:solidFill>
                    <a:srgbClr val="FF0000"/>
                  </a:solidFill>
                  <a:ln>
                    <a:noFill/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zh-TW" altLang="en-US" dirty="0"/>
                  </a:p>
                </p:txBody>
              </p:sp>
            </p:grpSp>
            <p:grpSp>
              <p:nvGrpSpPr>
                <p:cNvPr id="106" name="群組 105">
                  <a:extLst>
                    <a:ext uri="{FF2B5EF4-FFF2-40B4-BE49-F238E27FC236}">
                      <a16:creationId xmlns:a16="http://schemas.microsoft.com/office/drawing/2014/main" id="{CE85A746-4F4C-81EC-34D8-593D34052AA9}"/>
                    </a:ext>
                  </a:extLst>
                </p:cNvPr>
                <p:cNvGrpSpPr/>
                <p:nvPr/>
              </p:nvGrpSpPr>
              <p:grpSpPr>
                <a:xfrm>
                  <a:off x="6062367" y="1400830"/>
                  <a:ext cx="571221" cy="2546814"/>
                  <a:chOff x="4361572" y="1466689"/>
                  <a:chExt cx="571221" cy="2546814"/>
                </a:xfrm>
              </p:grpSpPr>
              <p:sp>
                <p:nvSpPr>
                  <p:cNvPr id="82" name="文字方塊 81">
                    <a:extLst>
                      <a:ext uri="{FF2B5EF4-FFF2-40B4-BE49-F238E27FC236}">
                        <a16:creationId xmlns:a16="http://schemas.microsoft.com/office/drawing/2014/main" id="{50231DEF-50DE-478E-5C19-244569F85BD7}"/>
                      </a:ext>
                    </a:extLst>
                  </p:cNvPr>
                  <p:cNvSpPr txBox="1"/>
                  <p:nvPr/>
                </p:nvSpPr>
                <p:spPr>
                  <a:xfrm>
                    <a:off x="4364542" y="3644171"/>
                    <a:ext cx="568251" cy="369332"/>
                  </a:xfrm>
                  <a:prstGeom prst="rect">
                    <a:avLst/>
                  </a:prstGeom>
                  <a:noFill/>
                </p:spPr>
                <p:txBody>
                  <a:bodyPr wrap="square" rtlCol="0" anchor="ctr">
                    <a:spAutoFit/>
                  </a:bodyPr>
                  <a:lstStyle/>
                  <a:p>
                    <a:pPr algn="ctr"/>
                    <a:r>
                      <a:rPr lang="en-US" altLang="zh-TW" dirty="0"/>
                      <a:t>… …</a:t>
                    </a:r>
                    <a:endParaRPr lang="zh-TW" altLang="en-US" dirty="0"/>
                  </a:p>
                </p:txBody>
              </p:sp>
              <p:sp>
                <p:nvSpPr>
                  <p:cNvPr id="67" name="文字方塊 66">
                    <a:extLst>
                      <a:ext uri="{FF2B5EF4-FFF2-40B4-BE49-F238E27FC236}">
                        <a16:creationId xmlns:a16="http://schemas.microsoft.com/office/drawing/2014/main" id="{E5B3DD03-2C8A-559A-E3D3-311BD3232653}"/>
                      </a:ext>
                    </a:extLst>
                  </p:cNvPr>
                  <p:cNvSpPr txBox="1"/>
                  <p:nvPr/>
                </p:nvSpPr>
                <p:spPr>
                  <a:xfrm>
                    <a:off x="4364541" y="2351811"/>
                    <a:ext cx="568251" cy="369332"/>
                  </a:xfrm>
                  <a:prstGeom prst="rect">
                    <a:avLst/>
                  </a:prstGeom>
                  <a:noFill/>
                </p:spPr>
                <p:txBody>
                  <a:bodyPr wrap="square" rtlCol="0" anchor="ctr">
                    <a:spAutoFit/>
                  </a:bodyPr>
                  <a:lstStyle/>
                  <a:p>
                    <a:pPr algn="ctr"/>
                    <a:r>
                      <a:rPr lang="en-US" altLang="zh-TW" dirty="0"/>
                      <a:t>… …</a:t>
                    </a:r>
                    <a:endParaRPr lang="zh-TW" altLang="en-US" dirty="0"/>
                  </a:p>
                </p:txBody>
              </p:sp>
              <p:sp>
                <p:nvSpPr>
                  <p:cNvPr id="44" name="文字方塊 43">
                    <a:extLst>
                      <a:ext uri="{FF2B5EF4-FFF2-40B4-BE49-F238E27FC236}">
                        <a16:creationId xmlns:a16="http://schemas.microsoft.com/office/drawing/2014/main" id="{383F0368-67D2-41FA-4611-C0246453BD4A}"/>
                      </a:ext>
                    </a:extLst>
                  </p:cNvPr>
                  <p:cNvSpPr txBox="1"/>
                  <p:nvPr/>
                </p:nvSpPr>
                <p:spPr>
                  <a:xfrm>
                    <a:off x="4361572" y="1466689"/>
                    <a:ext cx="568251" cy="369332"/>
                  </a:xfrm>
                  <a:prstGeom prst="rect">
                    <a:avLst/>
                  </a:prstGeom>
                  <a:noFill/>
                </p:spPr>
                <p:txBody>
                  <a:bodyPr wrap="square" rtlCol="0" anchor="ctr">
                    <a:spAutoFit/>
                  </a:bodyPr>
                  <a:lstStyle/>
                  <a:p>
                    <a:pPr algn="ctr"/>
                    <a:r>
                      <a:rPr lang="en-US" altLang="zh-TW" dirty="0"/>
                      <a:t>… …</a:t>
                    </a:r>
                    <a:endParaRPr lang="zh-TW" altLang="en-US" dirty="0"/>
                  </a:p>
                </p:txBody>
              </p:sp>
            </p:grpSp>
            <p:grpSp>
              <p:nvGrpSpPr>
                <p:cNvPr id="107" name="群組 106">
                  <a:extLst>
                    <a:ext uri="{FF2B5EF4-FFF2-40B4-BE49-F238E27FC236}">
                      <a16:creationId xmlns:a16="http://schemas.microsoft.com/office/drawing/2014/main" id="{D29FBD48-4D8C-C9B3-A458-E78E043B3540}"/>
                    </a:ext>
                  </a:extLst>
                </p:cNvPr>
                <p:cNvGrpSpPr/>
                <p:nvPr/>
              </p:nvGrpSpPr>
              <p:grpSpPr>
                <a:xfrm>
                  <a:off x="1833985" y="1382471"/>
                  <a:ext cx="4020558" cy="2747159"/>
                  <a:chOff x="1833985" y="1382471"/>
                  <a:chExt cx="2577457" cy="2747159"/>
                </a:xfrm>
              </p:grpSpPr>
              <p:sp>
                <p:nvSpPr>
                  <p:cNvPr id="81" name="矩形: 圓角 80">
                    <a:extLst>
                      <a:ext uri="{FF2B5EF4-FFF2-40B4-BE49-F238E27FC236}">
                        <a16:creationId xmlns:a16="http://schemas.microsoft.com/office/drawing/2014/main" id="{426E5A67-6F93-8DE0-AAFD-EB42C4C2F279}"/>
                      </a:ext>
                    </a:extLst>
                  </p:cNvPr>
                  <p:cNvSpPr/>
                  <p:nvPr/>
                </p:nvSpPr>
                <p:spPr>
                  <a:xfrm>
                    <a:off x="1839926" y="3528044"/>
                    <a:ext cx="2337467" cy="601586"/>
                  </a:xfrm>
                  <a:prstGeom prst="roundRect">
                    <a:avLst/>
                  </a:prstGeom>
                </p:spPr>
                <p:style>
                  <a:lnRef idx="2">
                    <a:schemeClr val="accent5">
                      <a:shade val="15000"/>
                    </a:schemeClr>
                  </a:lnRef>
                  <a:fillRef idx="1">
                    <a:schemeClr val="accent5"/>
                  </a:fillRef>
                  <a:effectRef idx="0">
                    <a:schemeClr val="accent5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r>
                      <a:rPr lang="en-US" altLang="zh-TW" dirty="0">
                        <a:solidFill>
                          <a:schemeClr val="tx1"/>
                        </a:solidFill>
                      </a:rPr>
                      <a:t>Head 2</a:t>
                    </a:r>
                    <a:endParaRPr lang="zh-TW" altLang="en-US" dirty="0">
                      <a:solidFill>
                        <a:schemeClr val="tx1"/>
                      </a:solidFill>
                    </a:endParaRPr>
                  </a:p>
                </p:txBody>
              </p:sp>
              <p:sp>
                <p:nvSpPr>
                  <p:cNvPr id="42" name="矩形: 圓角 41">
                    <a:extLst>
                      <a:ext uri="{FF2B5EF4-FFF2-40B4-BE49-F238E27FC236}">
                        <a16:creationId xmlns:a16="http://schemas.microsoft.com/office/drawing/2014/main" id="{2D26AD19-3F27-E640-09A9-AB93E1F39413}"/>
                      </a:ext>
                    </a:extLst>
                  </p:cNvPr>
                  <p:cNvSpPr/>
                  <p:nvPr/>
                </p:nvSpPr>
                <p:spPr>
                  <a:xfrm>
                    <a:off x="1833985" y="1382471"/>
                    <a:ext cx="2337467" cy="601586"/>
                  </a:xfrm>
                  <a:prstGeom prst="roundRect">
                    <a:avLst/>
                  </a:prstGeom>
                  <a:solidFill>
                    <a:schemeClr val="tx2">
                      <a:lumMod val="20000"/>
                      <a:lumOff val="80000"/>
                    </a:schemeClr>
                  </a:solidFill>
                </p:spPr>
                <p:style>
                  <a:lnRef idx="2">
                    <a:schemeClr val="accent5">
                      <a:shade val="15000"/>
                    </a:schemeClr>
                  </a:lnRef>
                  <a:fillRef idx="1">
                    <a:schemeClr val="accent5"/>
                  </a:fillRef>
                  <a:effectRef idx="0">
                    <a:schemeClr val="accent5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r>
                      <a:rPr lang="en-US" altLang="zh-TW" dirty="0">
                        <a:solidFill>
                          <a:schemeClr val="tx1"/>
                        </a:solidFill>
                      </a:rPr>
                      <a:t>Add</a:t>
                    </a:r>
                    <a:endParaRPr lang="zh-TW" altLang="en-US" dirty="0">
                      <a:solidFill>
                        <a:schemeClr val="tx1"/>
                      </a:solidFill>
                    </a:endParaRPr>
                  </a:p>
                </p:txBody>
              </p:sp>
              <p:grpSp>
                <p:nvGrpSpPr>
                  <p:cNvPr id="32" name="群組 31">
                    <a:extLst>
                      <a:ext uri="{FF2B5EF4-FFF2-40B4-BE49-F238E27FC236}">
                        <a16:creationId xmlns:a16="http://schemas.microsoft.com/office/drawing/2014/main" id="{ED0423D8-0221-CE43-B138-971D42086A53}"/>
                      </a:ext>
                    </a:extLst>
                  </p:cNvPr>
                  <p:cNvGrpSpPr/>
                  <p:nvPr/>
                </p:nvGrpSpPr>
                <p:grpSpPr>
                  <a:xfrm>
                    <a:off x="4181160" y="1647994"/>
                    <a:ext cx="230282" cy="2314767"/>
                    <a:chOff x="4198915" y="2327059"/>
                    <a:chExt cx="230282" cy="2314767"/>
                  </a:xfrm>
                </p:grpSpPr>
                <p:sp>
                  <p:nvSpPr>
                    <p:cNvPr id="38" name="矩形 37">
                      <a:extLst>
                        <a:ext uri="{FF2B5EF4-FFF2-40B4-BE49-F238E27FC236}">
                          <a16:creationId xmlns:a16="http://schemas.microsoft.com/office/drawing/2014/main" id="{1A33B6E5-0907-D520-8D2B-50C72104F275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4369619" y="2327060"/>
                      <a:ext cx="59578" cy="2268000"/>
                    </a:xfrm>
                    <a:prstGeom prst="rect">
                      <a:avLst/>
                    </a:prstGeom>
                    <a:ln>
                      <a:noFill/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zh-TW" altLang="en-US" dirty="0"/>
                    </a:p>
                  </p:txBody>
                </p:sp>
                <p:grpSp>
                  <p:nvGrpSpPr>
                    <p:cNvPr id="39" name="群組 38">
                      <a:extLst>
                        <a:ext uri="{FF2B5EF4-FFF2-40B4-BE49-F238E27FC236}">
                          <a16:creationId xmlns:a16="http://schemas.microsoft.com/office/drawing/2014/main" id="{BFA073F8-3807-3361-7EE2-C7F373A870CA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4198915" y="2327059"/>
                      <a:ext cx="200493" cy="2314767"/>
                      <a:chOff x="4198915" y="2327059"/>
                      <a:chExt cx="200493" cy="2314767"/>
                    </a:xfrm>
                  </p:grpSpPr>
                  <p:sp>
                    <p:nvSpPr>
                      <p:cNvPr id="40" name="矩形 39">
                        <a:extLst>
                          <a:ext uri="{FF2B5EF4-FFF2-40B4-BE49-F238E27FC236}">
                            <a16:creationId xmlns:a16="http://schemas.microsoft.com/office/drawing/2014/main" id="{C849B078-C5B1-4D66-EAB6-41623D559528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4198915" y="2327059"/>
                        <a:ext cx="200493" cy="72000"/>
                      </a:xfrm>
                      <a:prstGeom prst="rect">
                        <a:avLst/>
                      </a:prstGeom>
                      <a:ln>
                        <a:noFill/>
                      </a:ln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zh-TW" altLang="en-US"/>
                      </a:p>
                    </p:txBody>
                  </p:sp>
                  <p:sp>
                    <p:nvSpPr>
                      <p:cNvPr id="41" name="箭號: 向左 40">
                        <a:extLst>
                          <a:ext uri="{FF2B5EF4-FFF2-40B4-BE49-F238E27FC236}">
                            <a16:creationId xmlns:a16="http://schemas.microsoft.com/office/drawing/2014/main" id="{46D4202F-513A-7304-19F0-D1E318251D8B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4207826" y="4461826"/>
                        <a:ext cx="180000" cy="180000"/>
                      </a:xfrm>
                      <a:prstGeom prst="leftArrow">
                        <a:avLst/>
                      </a:prstGeom>
                      <a:ln>
                        <a:noFill/>
                      </a:ln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zh-TW" altLang="en-US" dirty="0"/>
                      </a:p>
                    </p:txBody>
                  </p:sp>
                </p:grpSp>
              </p:grpSp>
            </p:grpSp>
            <p:grpSp>
              <p:nvGrpSpPr>
                <p:cNvPr id="105" name="群組 104">
                  <a:extLst>
                    <a:ext uri="{FF2B5EF4-FFF2-40B4-BE49-F238E27FC236}">
                      <a16:creationId xmlns:a16="http://schemas.microsoft.com/office/drawing/2014/main" id="{2700B445-401F-A7AB-BD92-FCCC8DD5F9AA}"/>
                    </a:ext>
                  </a:extLst>
                </p:cNvPr>
                <p:cNvGrpSpPr/>
                <p:nvPr/>
              </p:nvGrpSpPr>
              <p:grpSpPr>
                <a:xfrm>
                  <a:off x="6794792" y="1379985"/>
                  <a:ext cx="3932526" cy="2782428"/>
                  <a:chOff x="5119943" y="1347202"/>
                  <a:chExt cx="3932526" cy="2782428"/>
                </a:xfrm>
              </p:grpSpPr>
              <p:sp>
                <p:nvSpPr>
                  <p:cNvPr id="68" name="矩形: 圓角 67">
                    <a:extLst>
                      <a:ext uri="{FF2B5EF4-FFF2-40B4-BE49-F238E27FC236}">
                        <a16:creationId xmlns:a16="http://schemas.microsoft.com/office/drawing/2014/main" id="{29F99D35-3120-770E-BEF2-36329FB6D90A}"/>
                      </a:ext>
                    </a:extLst>
                  </p:cNvPr>
                  <p:cNvSpPr/>
                  <p:nvPr/>
                </p:nvSpPr>
                <p:spPr>
                  <a:xfrm>
                    <a:off x="5119943" y="2235684"/>
                    <a:ext cx="1113375" cy="601586"/>
                  </a:xfrm>
                  <a:prstGeom prst="roundRect">
                    <a:avLst/>
                  </a:prstGeom>
                </p:spPr>
                <p:style>
                  <a:lnRef idx="2">
                    <a:schemeClr val="accent4">
                      <a:shade val="15000"/>
                    </a:schemeClr>
                  </a:lnRef>
                  <a:fillRef idx="1">
                    <a:schemeClr val="accent4"/>
                  </a:fillRef>
                  <a:effectRef idx="0">
                    <a:schemeClr val="accent4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r>
                      <a:rPr lang="en-US" altLang="zh-TW" sz="1200" b="1" dirty="0">
                        <a:solidFill>
                          <a:schemeClr val="tx1"/>
                        </a:solidFill>
                      </a:rPr>
                      <a:t>CE</a:t>
                    </a:r>
                    <a:r>
                      <a:rPr lang="zh-TW" altLang="en-US" sz="1200" b="1" dirty="0">
                        <a:solidFill>
                          <a:schemeClr val="tx1"/>
                        </a:solidFill>
                      </a:rPr>
                      <a:t> </a:t>
                    </a:r>
                    <a:r>
                      <a:rPr lang="en-US" altLang="zh-TW" sz="1200" b="1" dirty="0">
                        <a:solidFill>
                          <a:schemeClr val="tx1"/>
                        </a:solidFill>
                      </a:rPr>
                      <a:t>Loss K</a:t>
                    </a:r>
                    <a:endParaRPr lang="zh-TW" altLang="en-US" sz="1200" b="1" dirty="0">
                      <a:solidFill>
                        <a:schemeClr val="tx1"/>
                      </a:solidFill>
                    </a:endParaRPr>
                  </a:p>
                </p:txBody>
              </p:sp>
              <p:grpSp>
                <p:nvGrpSpPr>
                  <p:cNvPr id="53" name="群組 52">
                    <a:extLst>
                      <a:ext uri="{FF2B5EF4-FFF2-40B4-BE49-F238E27FC236}">
                        <a16:creationId xmlns:a16="http://schemas.microsoft.com/office/drawing/2014/main" id="{E22BCFA8-E70D-723E-BC0A-8E486A854400}"/>
                      </a:ext>
                    </a:extLst>
                  </p:cNvPr>
                  <p:cNvGrpSpPr/>
                  <p:nvPr/>
                </p:nvGrpSpPr>
                <p:grpSpPr>
                  <a:xfrm>
                    <a:off x="6621178" y="2926550"/>
                    <a:ext cx="613876" cy="468000"/>
                    <a:chOff x="2136461" y="3605615"/>
                    <a:chExt cx="613876" cy="468000"/>
                  </a:xfrm>
                </p:grpSpPr>
                <p:sp>
                  <p:nvSpPr>
                    <p:cNvPr id="56" name="箭號: 向上 55">
                      <a:extLst>
                        <a:ext uri="{FF2B5EF4-FFF2-40B4-BE49-F238E27FC236}">
                          <a16:creationId xmlns:a16="http://schemas.microsoft.com/office/drawing/2014/main" id="{B11F51E7-2096-B595-56BB-0B6284755ECA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2136461" y="3605615"/>
                      <a:ext cx="144000" cy="468000"/>
                    </a:xfrm>
                    <a:prstGeom prst="upArrow">
                      <a:avLst/>
                    </a:prstGeom>
                    <a:solidFill>
                      <a:srgbClr val="00B050"/>
                    </a:solidFill>
                    <a:ln>
                      <a:noFill/>
                    </a:ln>
                  </p:spPr>
                  <p:style>
                    <a:lnRef idx="2">
                      <a:schemeClr val="accent2">
                        <a:shade val="15000"/>
                      </a:schemeClr>
                    </a:lnRef>
                    <a:fillRef idx="1">
                      <a:schemeClr val="accent2"/>
                    </a:fillRef>
                    <a:effectRef idx="0">
                      <a:schemeClr val="accent2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zh-TW" altLang="en-US"/>
                    </a:p>
                  </p:txBody>
                </p:sp>
                <p:sp>
                  <p:nvSpPr>
                    <p:cNvPr id="57" name="箭號: 向上 56">
                      <a:extLst>
                        <a:ext uri="{FF2B5EF4-FFF2-40B4-BE49-F238E27FC236}">
                          <a16:creationId xmlns:a16="http://schemas.microsoft.com/office/drawing/2014/main" id="{CB59C7D4-3896-A4AC-0115-4E7B18E131FD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2606337" y="3605615"/>
                      <a:ext cx="144000" cy="234000"/>
                    </a:xfrm>
                    <a:prstGeom prst="upArrow">
                      <a:avLst/>
                    </a:prstGeom>
                    <a:solidFill>
                      <a:srgbClr val="FF0000"/>
                    </a:solidFill>
                    <a:ln>
                      <a:noFill/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zh-TW" altLang="en-US" dirty="0"/>
                    </a:p>
                  </p:txBody>
                </p:sp>
              </p:grpSp>
              <p:sp>
                <p:nvSpPr>
                  <p:cNvPr id="55" name="箭號: 向上 54">
                    <a:extLst>
                      <a:ext uri="{FF2B5EF4-FFF2-40B4-BE49-F238E27FC236}">
                        <a16:creationId xmlns:a16="http://schemas.microsoft.com/office/drawing/2014/main" id="{29F6C90C-BBE8-EBE1-19E9-FEDEAB280CCC}"/>
                      </a:ext>
                    </a:extLst>
                  </p:cNvPr>
                  <p:cNvSpPr/>
                  <p:nvPr/>
                </p:nvSpPr>
                <p:spPr>
                  <a:xfrm>
                    <a:off x="5609384" y="2926550"/>
                    <a:ext cx="144000" cy="468000"/>
                  </a:xfrm>
                  <a:prstGeom prst="upArrow">
                    <a:avLst/>
                  </a:prstGeom>
                  <a:ln>
                    <a:noFill/>
                  </a:ln>
                </p:spPr>
                <p:style>
                  <a:lnRef idx="2">
                    <a:schemeClr val="accent2">
                      <a:shade val="15000"/>
                    </a:schemeClr>
                  </a:lnRef>
                  <a:fillRef idx="1">
                    <a:schemeClr val="accent2"/>
                  </a:fillRef>
                  <a:effectRef idx="0">
                    <a:schemeClr val="accent2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zh-TW" altLang="en-US"/>
                  </a:p>
                </p:txBody>
              </p:sp>
              <p:sp>
                <p:nvSpPr>
                  <p:cNvPr id="47" name="箭號: 向上 46">
                    <a:extLst>
                      <a:ext uri="{FF2B5EF4-FFF2-40B4-BE49-F238E27FC236}">
                        <a16:creationId xmlns:a16="http://schemas.microsoft.com/office/drawing/2014/main" id="{392EA078-CFE0-F911-22C0-9F0D95096976}"/>
                      </a:ext>
                    </a:extLst>
                  </p:cNvPr>
                  <p:cNvSpPr/>
                  <p:nvPr/>
                </p:nvSpPr>
                <p:spPr>
                  <a:xfrm>
                    <a:off x="5609384" y="1984057"/>
                    <a:ext cx="144000" cy="216000"/>
                  </a:xfrm>
                  <a:prstGeom prst="upArrow">
                    <a:avLst/>
                  </a:prstGeom>
                  <a:ln>
                    <a:noFill/>
                  </a:ln>
                </p:spPr>
                <p:style>
                  <a:lnRef idx="2">
                    <a:schemeClr val="accent2">
                      <a:shade val="15000"/>
                    </a:schemeClr>
                  </a:lnRef>
                  <a:fillRef idx="1">
                    <a:schemeClr val="accent2"/>
                  </a:fillRef>
                  <a:effectRef idx="0">
                    <a:schemeClr val="accent2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zh-TW" altLang="en-US"/>
                  </a:p>
                </p:txBody>
              </p:sp>
              <p:sp>
                <p:nvSpPr>
                  <p:cNvPr id="48" name="箭號: 向上 47">
                    <a:extLst>
                      <a:ext uri="{FF2B5EF4-FFF2-40B4-BE49-F238E27FC236}">
                        <a16:creationId xmlns:a16="http://schemas.microsoft.com/office/drawing/2014/main" id="{F16E6986-1A02-5DD1-954D-497C33765E55}"/>
                      </a:ext>
                    </a:extLst>
                  </p:cNvPr>
                  <p:cNvSpPr/>
                  <p:nvPr/>
                </p:nvSpPr>
                <p:spPr>
                  <a:xfrm>
                    <a:off x="6832604" y="1984057"/>
                    <a:ext cx="144000" cy="216000"/>
                  </a:xfrm>
                  <a:prstGeom prst="upArrow">
                    <a:avLst/>
                  </a:prstGeom>
                  <a:ln>
                    <a:noFill/>
                  </a:ln>
                </p:spPr>
                <p:style>
                  <a:lnRef idx="2">
                    <a:schemeClr val="accent2">
                      <a:shade val="15000"/>
                    </a:schemeClr>
                  </a:lnRef>
                  <a:fillRef idx="1">
                    <a:schemeClr val="accent2"/>
                  </a:fillRef>
                  <a:effectRef idx="0">
                    <a:schemeClr val="accent2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zh-TW" altLang="en-US"/>
                  </a:p>
                </p:txBody>
              </p:sp>
              <p:sp>
                <p:nvSpPr>
                  <p:cNvPr id="83" name="矩形: 圓角 82">
                    <a:extLst>
                      <a:ext uri="{FF2B5EF4-FFF2-40B4-BE49-F238E27FC236}">
                        <a16:creationId xmlns:a16="http://schemas.microsoft.com/office/drawing/2014/main" id="{B986A042-D0F8-3049-0B98-CD967B6DF29E}"/>
                      </a:ext>
                    </a:extLst>
                  </p:cNvPr>
                  <p:cNvSpPr/>
                  <p:nvPr/>
                </p:nvSpPr>
                <p:spPr>
                  <a:xfrm>
                    <a:off x="5119943" y="3528044"/>
                    <a:ext cx="3562573" cy="601586"/>
                  </a:xfrm>
                  <a:prstGeom prst="roundRect">
                    <a:avLst/>
                  </a:prstGeom>
                </p:spPr>
                <p:style>
                  <a:lnRef idx="2">
                    <a:schemeClr val="accent5">
                      <a:shade val="15000"/>
                    </a:schemeClr>
                  </a:lnRef>
                  <a:fillRef idx="1">
                    <a:schemeClr val="accent5"/>
                  </a:fillRef>
                  <a:effectRef idx="0">
                    <a:schemeClr val="accent5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r>
                      <a:rPr lang="en-US" altLang="zh-TW" dirty="0">
                        <a:solidFill>
                          <a:schemeClr val="tx1"/>
                        </a:solidFill>
                      </a:rPr>
                      <a:t>Head K</a:t>
                    </a:r>
                    <a:endParaRPr lang="zh-TW" altLang="en-US" dirty="0">
                      <a:solidFill>
                        <a:schemeClr val="tx1"/>
                      </a:solidFill>
                    </a:endParaRPr>
                  </a:p>
                </p:txBody>
              </p:sp>
              <p:grpSp>
                <p:nvGrpSpPr>
                  <p:cNvPr id="35" name="群組 34">
                    <a:extLst>
                      <a:ext uri="{FF2B5EF4-FFF2-40B4-BE49-F238E27FC236}">
                        <a16:creationId xmlns:a16="http://schemas.microsoft.com/office/drawing/2014/main" id="{BBA8340C-1772-F32E-3444-9F501E78319E}"/>
                      </a:ext>
                    </a:extLst>
                  </p:cNvPr>
                  <p:cNvGrpSpPr/>
                  <p:nvPr/>
                </p:nvGrpSpPr>
                <p:grpSpPr>
                  <a:xfrm>
                    <a:off x="8694245" y="1647994"/>
                    <a:ext cx="312802" cy="2314744"/>
                    <a:chOff x="4194267" y="2327059"/>
                    <a:chExt cx="205141" cy="2314744"/>
                  </a:xfrm>
                </p:grpSpPr>
                <p:sp>
                  <p:nvSpPr>
                    <p:cNvPr id="36" name="矩形 35">
                      <a:extLst>
                        <a:ext uri="{FF2B5EF4-FFF2-40B4-BE49-F238E27FC236}">
                          <a16:creationId xmlns:a16="http://schemas.microsoft.com/office/drawing/2014/main" id="{DBAD3EF9-5BA7-79C9-AAD1-4984CB7A4A6A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4198915" y="2327059"/>
                      <a:ext cx="200493" cy="90000"/>
                    </a:xfrm>
                    <a:prstGeom prst="rect">
                      <a:avLst/>
                    </a:prstGeom>
                    <a:ln>
                      <a:noFill/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zh-TW" altLang="en-US" dirty="0"/>
                    </a:p>
                  </p:txBody>
                </p:sp>
                <p:sp>
                  <p:nvSpPr>
                    <p:cNvPr id="37" name="箭號: 向左 36">
                      <a:extLst>
                        <a:ext uri="{FF2B5EF4-FFF2-40B4-BE49-F238E27FC236}">
                          <a16:creationId xmlns:a16="http://schemas.microsoft.com/office/drawing/2014/main" id="{0077B422-779F-32BA-D62C-9E12C2E7B096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4194267" y="4461803"/>
                      <a:ext cx="180000" cy="180000"/>
                    </a:xfrm>
                    <a:prstGeom prst="leftArrow">
                      <a:avLst/>
                    </a:prstGeom>
                    <a:ln>
                      <a:noFill/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zh-TW" altLang="en-US" dirty="0"/>
                    </a:p>
                  </p:txBody>
                </p:sp>
              </p:grpSp>
              <p:sp>
                <p:nvSpPr>
                  <p:cNvPr id="43" name="矩形: 圓角 42">
                    <a:extLst>
                      <a:ext uri="{FF2B5EF4-FFF2-40B4-BE49-F238E27FC236}">
                        <a16:creationId xmlns:a16="http://schemas.microsoft.com/office/drawing/2014/main" id="{028A8C48-4812-C3DA-960D-D1BBE2322457}"/>
                      </a:ext>
                    </a:extLst>
                  </p:cNvPr>
                  <p:cNvSpPr/>
                  <p:nvPr/>
                </p:nvSpPr>
                <p:spPr>
                  <a:xfrm>
                    <a:off x="5119943" y="1347202"/>
                    <a:ext cx="3564200" cy="601586"/>
                  </a:xfrm>
                  <a:prstGeom prst="roundRect">
                    <a:avLst/>
                  </a:prstGeom>
                  <a:solidFill>
                    <a:schemeClr val="tx2">
                      <a:lumMod val="20000"/>
                      <a:lumOff val="80000"/>
                    </a:schemeClr>
                  </a:solidFill>
                </p:spPr>
                <p:style>
                  <a:lnRef idx="2">
                    <a:schemeClr val="accent5">
                      <a:shade val="15000"/>
                    </a:schemeClr>
                  </a:lnRef>
                  <a:fillRef idx="1">
                    <a:schemeClr val="accent5"/>
                  </a:fillRef>
                  <a:effectRef idx="0">
                    <a:schemeClr val="accent5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r>
                      <a:rPr lang="en-US" altLang="zh-TW" dirty="0">
                        <a:solidFill>
                          <a:schemeClr val="tx1"/>
                        </a:solidFill>
                      </a:rPr>
                      <a:t>Add</a:t>
                    </a:r>
                    <a:endParaRPr lang="zh-TW" altLang="en-US" dirty="0">
                      <a:solidFill>
                        <a:schemeClr val="tx1"/>
                      </a:solidFill>
                    </a:endParaRPr>
                  </a:p>
                </p:txBody>
              </p:sp>
              <p:sp>
                <p:nvSpPr>
                  <p:cNvPr id="34" name="矩形 33">
                    <a:extLst>
                      <a:ext uri="{FF2B5EF4-FFF2-40B4-BE49-F238E27FC236}">
                        <a16:creationId xmlns:a16="http://schemas.microsoft.com/office/drawing/2014/main" id="{DB5E7AA6-75A0-77B6-3C0A-DF1D86414886}"/>
                      </a:ext>
                    </a:extLst>
                  </p:cNvPr>
                  <p:cNvSpPr/>
                  <p:nvPr/>
                </p:nvSpPr>
                <p:spPr>
                  <a:xfrm>
                    <a:off x="8961624" y="1647995"/>
                    <a:ext cx="90845" cy="2268000"/>
                  </a:xfrm>
                  <a:prstGeom prst="rect">
                    <a:avLst/>
                  </a:prstGeom>
                  <a:ln>
                    <a:noFill/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zh-TW" altLang="en-US" dirty="0"/>
                  </a:p>
                </p:txBody>
              </p:sp>
              <p:sp>
                <p:nvSpPr>
                  <p:cNvPr id="84" name="矩形: 圓角 83">
                    <a:extLst>
                      <a:ext uri="{FF2B5EF4-FFF2-40B4-BE49-F238E27FC236}">
                        <a16:creationId xmlns:a16="http://schemas.microsoft.com/office/drawing/2014/main" id="{F4A75B6D-E8AB-8476-38D3-D1717FBFA939}"/>
                      </a:ext>
                    </a:extLst>
                  </p:cNvPr>
                  <p:cNvSpPr/>
                  <p:nvPr/>
                </p:nvSpPr>
                <p:spPr>
                  <a:xfrm>
                    <a:off x="6295316" y="2241003"/>
                    <a:ext cx="1277949" cy="601586"/>
                  </a:xfrm>
                  <a:prstGeom prst="roundRect">
                    <a:avLst/>
                  </a:prstGeom>
                </p:spPr>
                <p:style>
                  <a:lnRef idx="2">
                    <a:schemeClr val="accent4">
                      <a:shade val="15000"/>
                    </a:schemeClr>
                  </a:lnRef>
                  <a:fillRef idx="1">
                    <a:schemeClr val="accent4"/>
                  </a:fillRef>
                  <a:effectRef idx="0">
                    <a:schemeClr val="accent4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r>
                      <a:rPr lang="en-US" altLang="zh-TW" sz="1200" b="1" dirty="0">
                        <a:solidFill>
                          <a:schemeClr val="tx1"/>
                        </a:solidFill>
                      </a:rPr>
                      <a:t>LCM Loss K</a:t>
                    </a:r>
                    <a:endParaRPr lang="zh-TW" altLang="en-US" sz="1200" b="1" dirty="0">
                      <a:solidFill>
                        <a:schemeClr val="tx1"/>
                      </a:solidFill>
                    </a:endParaRPr>
                  </a:p>
                </p:txBody>
              </p:sp>
              <p:sp>
                <p:nvSpPr>
                  <p:cNvPr id="100" name="矩形: 圓角 99">
                    <a:extLst>
                      <a:ext uri="{FF2B5EF4-FFF2-40B4-BE49-F238E27FC236}">
                        <a16:creationId xmlns:a16="http://schemas.microsoft.com/office/drawing/2014/main" id="{6C6D1599-F703-AC80-2445-99522F57CB9A}"/>
                      </a:ext>
                    </a:extLst>
                  </p:cNvPr>
                  <p:cNvSpPr/>
                  <p:nvPr/>
                </p:nvSpPr>
                <p:spPr>
                  <a:xfrm>
                    <a:off x="7619682" y="2233629"/>
                    <a:ext cx="1277949" cy="601586"/>
                  </a:xfrm>
                  <a:prstGeom prst="roundRect">
                    <a:avLst/>
                  </a:prstGeom>
                </p:spPr>
                <p:style>
                  <a:lnRef idx="2">
                    <a:schemeClr val="accent4">
                      <a:shade val="15000"/>
                    </a:schemeClr>
                  </a:lnRef>
                  <a:fillRef idx="1">
                    <a:schemeClr val="accent4"/>
                  </a:fillRef>
                  <a:effectRef idx="0">
                    <a:schemeClr val="accent4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r>
                      <a:rPr lang="en-US" altLang="zh-TW" sz="1200" b="1" dirty="0">
                        <a:solidFill>
                          <a:schemeClr val="tx1"/>
                        </a:solidFill>
                      </a:rPr>
                      <a:t>SDC Loss K</a:t>
                    </a:r>
                    <a:endParaRPr lang="zh-TW" altLang="en-US" sz="1200" b="1" dirty="0">
                      <a:solidFill>
                        <a:schemeClr val="tx1"/>
                      </a:solidFill>
                    </a:endParaRPr>
                  </a:p>
                </p:txBody>
              </p:sp>
              <p:sp>
                <p:nvSpPr>
                  <p:cNvPr id="102" name="箭號: 向上 101">
                    <a:extLst>
                      <a:ext uri="{FF2B5EF4-FFF2-40B4-BE49-F238E27FC236}">
                        <a16:creationId xmlns:a16="http://schemas.microsoft.com/office/drawing/2014/main" id="{5AD4ED8F-2635-13E5-520D-B260BFE9B33D}"/>
                      </a:ext>
                    </a:extLst>
                  </p:cNvPr>
                  <p:cNvSpPr/>
                  <p:nvPr/>
                </p:nvSpPr>
                <p:spPr>
                  <a:xfrm>
                    <a:off x="8568611" y="2920788"/>
                    <a:ext cx="144000" cy="234000"/>
                  </a:xfrm>
                  <a:prstGeom prst="upArrow">
                    <a:avLst/>
                  </a:prstGeom>
                  <a:solidFill>
                    <a:srgbClr val="FF0000"/>
                  </a:solidFill>
                  <a:ln>
                    <a:noFill/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zh-TW" altLang="en-US" dirty="0"/>
                  </a:p>
                </p:txBody>
              </p:sp>
              <p:sp>
                <p:nvSpPr>
                  <p:cNvPr id="103" name="箭號: 向上 102">
                    <a:extLst>
                      <a:ext uri="{FF2B5EF4-FFF2-40B4-BE49-F238E27FC236}">
                        <a16:creationId xmlns:a16="http://schemas.microsoft.com/office/drawing/2014/main" id="{6A2160AE-D339-97EC-774F-A3E1C1F0D3D8}"/>
                      </a:ext>
                    </a:extLst>
                  </p:cNvPr>
                  <p:cNvSpPr/>
                  <p:nvPr/>
                </p:nvSpPr>
                <p:spPr>
                  <a:xfrm>
                    <a:off x="8192058" y="1986450"/>
                    <a:ext cx="144000" cy="216000"/>
                  </a:xfrm>
                  <a:prstGeom prst="upArrow">
                    <a:avLst/>
                  </a:prstGeom>
                  <a:ln>
                    <a:noFill/>
                  </a:ln>
                </p:spPr>
                <p:style>
                  <a:lnRef idx="2">
                    <a:schemeClr val="accent2">
                      <a:shade val="15000"/>
                    </a:schemeClr>
                  </a:lnRef>
                  <a:fillRef idx="1">
                    <a:schemeClr val="accent2"/>
                  </a:fillRef>
                  <a:effectRef idx="0">
                    <a:schemeClr val="accent2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zh-TW" altLang="en-US"/>
                  </a:p>
                </p:txBody>
              </p:sp>
              <p:sp>
                <p:nvSpPr>
                  <p:cNvPr id="104" name="箭號: 向上 103">
                    <a:extLst>
                      <a:ext uri="{FF2B5EF4-FFF2-40B4-BE49-F238E27FC236}">
                        <a16:creationId xmlns:a16="http://schemas.microsoft.com/office/drawing/2014/main" id="{D197C1F1-B220-E7D8-548C-D61E4ABC4749}"/>
                      </a:ext>
                    </a:extLst>
                  </p:cNvPr>
                  <p:cNvSpPr/>
                  <p:nvPr/>
                </p:nvSpPr>
                <p:spPr>
                  <a:xfrm>
                    <a:off x="8088527" y="2928996"/>
                    <a:ext cx="144000" cy="468000"/>
                  </a:xfrm>
                  <a:prstGeom prst="upArrow">
                    <a:avLst/>
                  </a:prstGeom>
                  <a:solidFill>
                    <a:srgbClr val="7030A0"/>
                  </a:solidFill>
                  <a:ln>
                    <a:noFill/>
                  </a:ln>
                </p:spPr>
                <p:style>
                  <a:lnRef idx="2">
                    <a:schemeClr val="accent2">
                      <a:shade val="15000"/>
                    </a:schemeClr>
                  </a:lnRef>
                  <a:fillRef idx="1">
                    <a:schemeClr val="accent2"/>
                  </a:fillRef>
                  <a:effectRef idx="0">
                    <a:schemeClr val="accent2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zh-TW" altLang="en-US" dirty="0"/>
                  </a:p>
                </p:txBody>
              </p:sp>
            </p:grpSp>
          </p:grpSp>
          <p:sp>
            <p:nvSpPr>
              <p:cNvPr id="109" name="矩形: 圓角 108">
                <a:extLst>
                  <a:ext uri="{FF2B5EF4-FFF2-40B4-BE49-F238E27FC236}">
                    <a16:creationId xmlns:a16="http://schemas.microsoft.com/office/drawing/2014/main" id="{D6A40E28-6FB7-5412-739C-0236AB74DACB}"/>
                  </a:ext>
                </a:extLst>
              </p:cNvPr>
              <p:cNvSpPr/>
              <p:nvPr/>
            </p:nvSpPr>
            <p:spPr>
              <a:xfrm>
                <a:off x="4396742" y="2238264"/>
                <a:ext cx="1277949" cy="601586"/>
              </a:xfrm>
              <a:prstGeom prst="roundRect">
                <a:avLst/>
              </a:prstGeom>
            </p:spPr>
            <p:style>
              <a:lnRef idx="2">
                <a:schemeClr val="accent4">
                  <a:shade val="15000"/>
                </a:schemeClr>
              </a:lnRef>
              <a:fillRef idx="1">
                <a:schemeClr val="accent4"/>
              </a:fillRef>
              <a:effectRef idx="0">
                <a:schemeClr val="accent4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altLang="zh-TW" sz="1200" b="1" dirty="0">
                    <a:solidFill>
                      <a:schemeClr val="tx1"/>
                    </a:solidFill>
                  </a:rPr>
                  <a:t>SDC Loss K</a:t>
                </a:r>
                <a:endParaRPr lang="zh-TW" altLang="en-US" sz="1200" b="1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114" name="箭號: 向上 113">
                <a:extLst>
                  <a:ext uri="{FF2B5EF4-FFF2-40B4-BE49-F238E27FC236}">
                    <a16:creationId xmlns:a16="http://schemas.microsoft.com/office/drawing/2014/main" id="{56A8638F-CB86-1B55-C61B-4AE784D9C54A}"/>
                  </a:ext>
                </a:extLst>
              </p:cNvPr>
              <p:cNvSpPr/>
              <p:nvPr/>
            </p:nvSpPr>
            <p:spPr>
              <a:xfrm>
                <a:off x="4963716" y="1996796"/>
                <a:ext cx="144000" cy="216000"/>
              </a:xfrm>
              <a:prstGeom prst="upArrow">
                <a:avLst/>
              </a:prstGeom>
              <a:ln>
                <a:noFill/>
              </a:ln>
            </p:spPr>
            <p:style>
              <a:lnRef idx="2">
                <a:schemeClr val="accent2">
                  <a:shade val="15000"/>
                </a:schemeClr>
              </a:lnRef>
              <a:fillRef idx="1">
                <a:schemeClr val="accent2"/>
              </a:fillRef>
              <a:effectRef idx="0">
                <a:schemeClr val="accent2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TW" altLang="en-US"/>
              </a:p>
            </p:txBody>
          </p:sp>
        </p:grpSp>
      </p:grpSp>
      <p:sp>
        <p:nvSpPr>
          <p:cNvPr id="117" name="箭號: 向上 116">
            <a:extLst>
              <a:ext uri="{FF2B5EF4-FFF2-40B4-BE49-F238E27FC236}">
                <a16:creationId xmlns:a16="http://schemas.microsoft.com/office/drawing/2014/main" id="{7EA2DEAD-57CA-DF92-09AF-1FD788680231}"/>
              </a:ext>
            </a:extLst>
          </p:cNvPr>
          <p:cNvSpPr/>
          <p:nvPr/>
        </p:nvSpPr>
        <p:spPr>
          <a:xfrm>
            <a:off x="8396782" y="3591107"/>
            <a:ext cx="215809" cy="432000"/>
          </a:xfrm>
          <a:prstGeom prst="upArrow">
            <a:avLst/>
          </a:prstGeom>
          <a:solidFill>
            <a:srgbClr val="7030A0"/>
          </a:solidFill>
          <a:ln>
            <a:noFill/>
          </a:ln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 dirty="0">
              <a:solidFill>
                <a:srgbClr val="FF0000"/>
              </a:solidFill>
            </a:endParaRPr>
          </a:p>
        </p:txBody>
      </p:sp>
      <p:sp>
        <p:nvSpPr>
          <p:cNvPr id="118" name="文字方塊 117">
            <a:extLst>
              <a:ext uri="{FF2B5EF4-FFF2-40B4-BE49-F238E27FC236}">
                <a16:creationId xmlns:a16="http://schemas.microsoft.com/office/drawing/2014/main" id="{7AE00958-E32C-8716-567F-29F74CA04508}"/>
              </a:ext>
            </a:extLst>
          </p:cNvPr>
          <p:cNvSpPr txBox="1"/>
          <p:nvPr/>
        </p:nvSpPr>
        <p:spPr>
          <a:xfrm>
            <a:off x="6528971" y="5156670"/>
            <a:ext cx="5526970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altLang="zh-TW" sz="1600" dirty="0"/>
              <a:t>CE loss: cross entropy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altLang="zh-TW" sz="1600" dirty="0"/>
              <a:t>SDC(selective distribution consistency ): define on Page. 15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altLang="zh-TW" sz="1600" dirty="0"/>
              <a:t>LCM(Latent Consistency Matching): define on Page. 16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6611112"/>
            <a:ext cx="12191695" cy="246888"/>
          </a:xfrm>
          <a:prstGeom prst="rect">
            <a:avLst/>
          </a:prstGeom>
          <a:solidFill>
            <a:srgbClr val="5B839B"/>
          </a:solidFill>
          <a:ln w="12700">
            <a:solidFill>
              <a:srgbClr val="5B839B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11292840" y="6629400"/>
            <a:ext cx="685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200" dirty="0">
                <a:solidFill>
                  <a:srgbClr val="FFFFFF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Noto Sans CJK TC" pitchFamily="34" charset="-120"/>
              </a:rPr>
              <a:t>15</a:t>
            </a:r>
            <a:endParaRPr lang="en-US" sz="1200" dirty="0"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4" name="Text 2"/>
          <p:cNvSpPr/>
          <p:nvPr/>
        </p:nvSpPr>
        <p:spPr>
          <a:xfrm>
            <a:off x="347472" y="274320"/>
            <a:ext cx="30175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b="1" dirty="0">
                <a:solidFill>
                  <a:srgbClr val="1B2E3A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Noto Sans CJK TC" pitchFamily="34" charset="-120"/>
              </a:rPr>
              <a:t>Part3: Proposed method</a:t>
            </a:r>
            <a:endParaRPr lang="en-US" dirty="0"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5" name="Text 3"/>
          <p:cNvSpPr/>
          <p:nvPr/>
        </p:nvSpPr>
        <p:spPr>
          <a:xfrm>
            <a:off x="347472" y="457200"/>
            <a:ext cx="79552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rgbClr val="60707A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Noto Sans CJK TC" pitchFamily="34" charset="-120"/>
              </a:rPr>
              <a:t>Selective Distribution Consistency — confidence-aware KL</a:t>
            </a:r>
            <a:endParaRPr lang="en-US" sz="1600" dirty="0"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7" name="Shape 5"/>
          <p:cNvSpPr/>
          <p:nvPr/>
        </p:nvSpPr>
        <p:spPr>
          <a:xfrm>
            <a:off x="347472" y="749808"/>
            <a:ext cx="11475720" cy="0"/>
          </a:xfrm>
          <a:prstGeom prst="line">
            <a:avLst/>
          </a:prstGeom>
          <a:noFill/>
          <a:ln w="12700">
            <a:solidFill>
              <a:srgbClr val="C8D6DE"/>
            </a:solidFill>
            <a:prstDash val="solid"/>
          </a:ln>
        </p:spPr>
      </p:sp>
      <p:grpSp>
        <p:nvGrpSpPr>
          <p:cNvPr id="33" name="群組 32">
            <a:extLst>
              <a:ext uri="{FF2B5EF4-FFF2-40B4-BE49-F238E27FC236}">
                <a16:creationId xmlns:a16="http://schemas.microsoft.com/office/drawing/2014/main" id="{A8B0D57F-9369-4AB8-A08B-52E71589CF1F}"/>
              </a:ext>
            </a:extLst>
          </p:cNvPr>
          <p:cNvGrpSpPr/>
          <p:nvPr/>
        </p:nvGrpSpPr>
        <p:grpSpPr>
          <a:xfrm>
            <a:off x="787179" y="1698618"/>
            <a:ext cx="2782957" cy="2864787"/>
            <a:chOff x="787179" y="946205"/>
            <a:chExt cx="2782957" cy="2864787"/>
          </a:xfrm>
        </p:grpSpPr>
        <p:sp>
          <p:nvSpPr>
            <p:cNvPr id="19" name="文字方塊 18">
              <a:extLst>
                <a:ext uri="{FF2B5EF4-FFF2-40B4-BE49-F238E27FC236}">
                  <a16:creationId xmlns:a16="http://schemas.microsoft.com/office/drawing/2014/main" id="{D7267312-9933-82F9-2BE4-976D7724B619}"/>
                </a:ext>
              </a:extLst>
            </p:cNvPr>
            <p:cNvSpPr txBox="1"/>
            <p:nvPr/>
          </p:nvSpPr>
          <p:spPr>
            <a:xfrm>
              <a:off x="787179" y="946205"/>
              <a:ext cx="2782957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zh-TW" dirty="0"/>
                <a:t>Step1. Calculate Confidence </a:t>
              </a:r>
              <a:endParaRPr lang="zh-TW" altLang="en-US" dirty="0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0" name="文字方塊 19">
                  <a:extLst>
                    <a:ext uri="{FF2B5EF4-FFF2-40B4-BE49-F238E27FC236}">
                      <a16:creationId xmlns:a16="http://schemas.microsoft.com/office/drawing/2014/main" id="{51BA7951-16A8-138E-2BE3-A6CCC52EA800}"/>
                    </a:ext>
                  </a:extLst>
                </p:cNvPr>
                <p:cNvSpPr txBox="1"/>
                <p:nvPr/>
              </p:nvSpPr>
              <p:spPr>
                <a:xfrm>
                  <a:off x="787179" y="2041469"/>
                  <a:ext cx="2530136" cy="1769523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left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altLang="zh-TW" sz="1600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zh-TW" sz="1600" b="0" i="1" smtClean="0">
                                <a:latin typeface="Cambria Math" panose="02040503050406030204" pitchFamily="18" charset="0"/>
                              </a:rPr>
                              <m:t>𝑝</m:t>
                            </m:r>
                          </m:e>
                          <m:sub>
                            <m:r>
                              <a:rPr lang="en-US" altLang="zh-TW" sz="1600" b="0" i="1" smtClean="0"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</m:sSub>
                        <m:r>
                          <a:rPr lang="en-US" altLang="zh-TW" sz="1600" b="0" i="1" smtClean="0">
                            <a:latin typeface="Cambria Math" panose="02040503050406030204" pitchFamily="18" charset="0"/>
                          </a:rPr>
                          <m:t>=</m:t>
                        </m:r>
                        <m:r>
                          <a:rPr lang="en-US" altLang="zh-TW" sz="1600" b="0" i="1" smtClean="0">
                            <a:latin typeface="Cambria Math" panose="02040503050406030204" pitchFamily="18" charset="0"/>
                          </a:rPr>
                          <m:t>𝑠𝑜𝑓𝑡𝑚𝑎𝑥</m:t>
                        </m:r>
                        <m:r>
                          <a:rPr lang="en-US" altLang="zh-TW" sz="1600" b="0" i="1" smtClean="0">
                            <a:latin typeface="Cambria Math" panose="02040503050406030204" pitchFamily="18" charset="0"/>
                          </a:rPr>
                          <m:t>(</m:t>
                        </m:r>
                        <m:sSub>
                          <m:sSubPr>
                            <m:ctrlPr>
                              <a:rPr lang="en-US" altLang="zh-TW" sz="1600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zh-TW" sz="1600" b="0" i="1" smtClean="0">
                                <a:latin typeface="Cambria Math" panose="02040503050406030204" pitchFamily="18" charset="0"/>
                              </a:rPr>
                              <m:t>𝑧</m:t>
                            </m:r>
                          </m:e>
                          <m:sub>
                            <m:r>
                              <a:rPr lang="en-US" altLang="zh-TW" sz="1600" b="0" i="1" smtClean="0"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</m:sSub>
                        <m:r>
                          <a:rPr lang="en-US" altLang="zh-TW" sz="1600" b="0" i="1" smtClean="0">
                            <a:latin typeface="Cambria Math" panose="02040503050406030204" pitchFamily="18" charset="0"/>
                          </a:rPr>
                          <m:t>)</m:t>
                        </m:r>
                      </m:oMath>
                    </m:oMathPara>
                  </a14:m>
                  <a:endParaRPr lang="en-US" altLang="zh-TW" sz="1600" i="1" dirty="0"/>
                </a:p>
                <a:p>
                  <a:r>
                    <a:rPr lang="en-US" altLang="zh-TW" sz="1600" i="1" dirty="0"/>
                    <a:t>V = vocabulary size</a:t>
                  </a:r>
                </a:p>
                <a:p>
                  <a:pPr/>
                  <a14:m>
                    <m:oMathPara xmlns:m="http://schemas.openxmlformats.org/officeDocument/2006/math">
                      <m:oMathParaPr>
                        <m:jc m:val="left"/>
                      </m:oMathParaPr>
                      <m:oMath xmlns:m="http://schemas.openxmlformats.org/officeDocument/2006/math">
                        <m:r>
                          <a:rPr lang="zh-TW" altLang="en-US" sz="1600" i="1">
                            <a:latin typeface="Cambria Math" panose="02040503050406030204" pitchFamily="18" charset="0"/>
                          </a:rPr>
                          <m:t>𝐻</m:t>
                        </m:r>
                        <m:d>
                          <m:dPr>
                            <m:ctrlPr>
                              <a:rPr lang="ar-AE" altLang="zh-TW" sz="1600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zh-TW" altLang="ar-AE" sz="1600" i="1">
                                <a:latin typeface="Cambria Math" panose="02040503050406030204" pitchFamily="18" charset="0"/>
                              </a:rPr>
                              <m:t>𝑝</m:t>
                            </m:r>
                          </m:e>
                        </m:d>
                        <m:r>
                          <a:rPr lang="ar-AE" altLang="zh-TW" sz="1600">
                            <a:latin typeface="Cambria Math" panose="02040503050406030204" pitchFamily="18" charset="0"/>
                          </a:rPr>
                          <m:t>=−</m:t>
                        </m:r>
                        <m:nary>
                          <m:naryPr>
                            <m:chr m:val="∑"/>
                            <m:grow m:val="on"/>
                            <m:ctrlPr>
                              <a:rPr lang="ar-AE" altLang="zh-TW" sz="1600" i="1">
                                <a:latin typeface="Cambria Math" panose="02040503050406030204" pitchFamily="18" charset="0"/>
                              </a:rPr>
                            </m:ctrlPr>
                          </m:naryPr>
                          <m:sub>
                            <m:r>
                              <a:rPr lang="zh-TW" altLang="ar-AE" sz="1600" i="1">
                                <a:latin typeface="Cambria Math" panose="02040503050406030204" pitchFamily="18" charset="0"/>
                              </a:rPr>
                              <m:t>𝑖</m:t>
                            </m:r>
                            <m:r>
                              <a:rPr lang="ar-AE" altLang="zh-TW" sz="1600">
                                <a:latin typeface="Cambria Math" panose="02040503050406030204" pitchFamily="18" charset="0"/>
                              </a:rPr>
                              <m:t>=</m:t>
                            </m:r>
                            <m:r>
                              <a:rPr lang="ar-AE" altLang="zh-TW" sz="1600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  <m:sup>
                            <m:r>
                              <a:rPr lang="zh-TW" altLang="ar-AE" sz="1600" i="1">
                                <a:latin typeface="Cambria Math" panose="02040503050406030204" pitchFamily="18" charset="0"/>
                              </a:rPr>
                              <m:t>𝑉</m:t>
                            </m:r>
                          </m:sup>
                          <m:e>
                            <m:sSub>
                              <m:sSubPr>
                                <m:ctrlPr>
                                  <a:rPr lang="ar-AE" altLang="zh-TW" sz="1600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zh-TW" altLang="ar-AE" sz="1600" i="1">
                                    <a:latin typeface="Cambria Math" panose="02040503050406030204" pitchFamily="18" charset="0"/>
                                  </a:rPr>
                                  <m:t>𝑝</m:t>
                                </m:r>
                              </m:e>
                              <m:sub>
                                <m:r>
                                  <a:rPr lang="zh-TW" altLang="ar-AE" sz="1600" i="1">
                                    <a:latin typeface="Cambria Math" panose="02040503050406030204" pitchFamily="18" charset="0"/>
                                  </a:rPr>
                                  <m:t>𝑖</m:t>
                                </m:r>
                              </m:sub>
                            </m:sSub>
                          </m:e>
                        </m:nary>
                        <m:func>
                          <m:funcPr>
                            <m:ctrlPr>
                              <a:rPr lang="ar-AE" altLang="zh-TW" sz="1600" i="1">
                                <a:latin typeface="Cambria Math" panose="02040503050406030204" pitchFamily="18" charset="0"/>
                              </a:rPr>
                            </m:ctrlPr>
                          </m:funcPr>
                          <m:fName>
                            <m:r>
                              <m:rPr>
                                <m:sty m:val="p"/>
                              </m:rPr>
                              <a:rPr lang="en-US" altLang="zh-TW" sz="1600">
                                <a:latin typeface="Cambria Math" panose="02040503050406030204" pitchFamily="18" charset="0"/>
                              </a:rPr>
                              <m:t>log</m:t>
                            </m:r>
                          </m:fName>
                          <m:e>
                            <m:sSub>
                              <m:sSubPr>
                                <m:ctrlPr>
                                  <a:rPr lang="ar-AE" altLang="zh-TW" sz="1600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zh-TW" altLang="ar-AE" sz="1600" i="1">
                                    <a:latin typeface="Cambria Math" panose="02040503050406030204" pitchFamily="18" charset="0"/>
                                  </a:rPr>
                                  <m:t>𝑝</m:t>
                                </m:r>
                              </m:e>
                              <m:sub>
                                <m:r>
                                  <a:rPr lang="zh-TW" altLang="ar-AE" sz="1600" i="1">
                                    <a:latin typeface="Cambria Math" panose="02040503050406030204" pitchFamily="18" charset="0"/>
                                  </a:rPr>
                                  <m:t>𝑖</m:t>
                                </m:r>
                              </m:sub>
                            </m:sSub>
                          </m:e>
                        </m:func>
                      </m:oMath>
                    </m:oMathPara>
                  </a14:m>
                  <a:endParaRPr lang="ar-AE" altLang="zh-TW" sz="1600" dirty="0"/>
                </a:p>
                <a:p>
                  <a:endParaRPr lang="ar-AE" altLang="zh-TW" sz="1600" b="0" dirty="0"/>
                </a:p>
                <a:p>
                  <a:endParaRPr lang="zh-TW" altLang="en-US" sz="1600" dirty="0"/>
                </a:p>
              </p:txBody>
            </p:sp>
          </mc:Choice>
          <mc:Fallback xmlns="">
            <p:sp>
              <p:nvSpPr>
                <p:cNvPr id="20" name="文字方塊 19">
                  <a:extLst>
                    <a:ext uri="{FF2B5EF4-FFF2-40B4-BE49-F238E27FC236}">
                      <a16:creationId xmlns:a16="http://schemas.microsoft.com/office/drawing/2014/main" id="{51BA7951-16A8-138E-2BE3-A6CCC52EA800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87179" y="2041469"/>
                  <a:ext cx="2530136" cy="1769523"/>
                </a:xfrm>
                <a:prstGeom prst="rect">
                  <a:avLst/>
                </a:prstGeom>
                <a:blipFill>
                  <a:blip r:embed="rId3"/>
                  <a:stretch>
                    <a:fillRect l="-1205"/>
                  </a:stretch>
                </a:blipFill>
              </p:spPr>
              <p:txBody>
                <a:bodyPr/>
                <a:lstStyle/>
                <a:p>
                  <a:r>
                    <a:rPr lang="zh-TW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2" name="文字方塊 21">
                  <a:extLst>
                    <a:ext uri="{FF2B5EF4-FFF2-40B4-BE49-F238E27FC236}">
                      <a16:creationId xmlns:a16="http://schemas.microsoft.com/office/drawing/2014/main" id="{661189BA-4F7B-6CEA-C738-20D3FB1EDC20}"/>
                    </a:ext>
                  </a:extLst>
                </p:cNvPr>
                <p:cNvSpPr txBox="1"/>
                <p:nvPr/>
              </p:nvSpPr>
              <p:spPr>
                <a:xfrm>
                  <a:off x="787179" y="1373934"/>
                  <a:ext cx="2439448" cy="678455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m:rPr>
                            <m:nor/>
                          </m:rPr>
                          <a:rPr lang="en-US" altLang="zh-TW" b="0" smtClean="0"/>
                          <m:t>Confidence</m:t>
                        </m:r>
                        <m:r>
                          <a:rPr lang="en-US" altLang="zh-TW">
                            <a:latin typeface="Cambria Math" panose="02040503050406030204" pitchFamily="18" charset="0"/>
                          </a:rPr>
                          <m:t>=</m:t>
                        </m:r>
                        <m:r>
                          <a:rPr lang="en-US" altLang="zh-TW">
                            <a:latin typeface="Cambria Math" panose="02040503050406030204" pitchFamily="18" charset="0"/>
                          </a:rPr>
                          <m:t>1</m:t>
                        </m:r>
                        <m:r>
                          <a:rPr lang="en-US" altLang="zh-TW">
                            <a:latin typeface="Cambria Math" panose="02040503050406030204" pitchFamily="18" charset="0"/>
                          </a:rPr>
                          <m:t>−</m:t>
                        </m:r>
                        <m:f>
                          <m:fPr>
                            <m:ctrlPr>
                              <a:rPr lang="ar-AE" altLang="zh-TW" i="1">
                                <a:latin typeface="Cambria Math" panose="02040503050406030204" pitchFamily="18" charset="0"/>
                              </a:rPr>
                            </m:ctrlPr>
                          </m:fPr>
                          <m:num>
                            <m:r>
                              <a:rPr lang="zh-TW" altLang="ar-AE" i="1">
                                <a:latin typeface="Cambria Math" panose="02040503050406030204" pitchFamily="18" charset="0"/>
                              </a:rPr>
                              <m:t>𝐻</m:t>
                            </m:r>
                            <m:d>
                              <m:dPr>
                                <m:ctrlPr>
                                  <a:rPr lang="ar-AE" altLang="zh-TW" i="1">
                                    <a:latin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r>
                                  <a:rPr lang="zh-TW" altLang="ar-AE" i="1">
                                    <a:latin typeface="Cambria Math" panose="02040503050406030204" pitchFamily="18" charset="0"/>
                                  </a:rPr>
                                  <m:t>𝑝</m:t>
                                </m:r>
                              </m:e>
                            </m:d>
                          </m:num>
                          <m:den>
                            <m:func>
                              <m:funcPr>
                                <m:ctrlPr>
                                  <a:rPr lang="ar-AE" altLang="zh-TW" i="1">
                                    <a:latin typeface="Cambria Math" panose="02040503050406030204" pitchFamily="18" charset="0"/>
                                  </a:rPr>
                                </m:ctrlPr>
                              </m:funcPr>
                              <m:fName>
                                <m:r>
                                  <m:rPr>
                                    <m:sty m:val="p"/>
                                  </m:rPr>
                                  <a:rPr lang="en-US" altLang="zh-TW">
                                    <a:latin typeface="Cambria Math" panose="02040503050406030204" pitchFamily="18" charset="0"/>
                                  </a:rPr>
                                  <m:t>log</m:t>
                                </m:r>
                              </m:fName>
                              <m:e>
                                <m:r>
                                  <a:rPr lang="zh-TW" altLang="ar-AE" i="1">
                                    <a:latin typeface="Cambria Math" panose="02040503050406030204" pitchFamily="18" charset="0"/>
                                  </a:rPr>
                                  <m:t>𝑉</m:t>
                                </m:r>
                              </m:e>
                            </m:func>
                          </m:den>
                        </m:f>
                      </m:oMath>
                    </m:oMathPara>
                  </a14:m>
                  <a:endParaRPr lang="zh-TW" altLang="en-US" dirty="0"/>
                </a:p>
              </p:txBody>
            </p:sp>
          </mc:Choice>
          <mc:Fallback xmlns="">
            <p:sp>
              <p:nvSpPr>
                <p:cNvPr id="22" name="文字方塊 21">
                  <a:extLst>
                    <a:ext uri="{FF2B5EF4-FFF2-40B4-BE49-F238E27FC236}">
                      <a16:creationId xmlns:a16="http://schemas.microsoft.com/office/drawing/2014/main" id="{661189BA-4F7B-6CEA-C738-20D3FB1EDC20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87179" y="1373934"/>
                  <a:ext cx="2439448" cy="678455"/>
                </a:xfrm>
                <a:prstGeom prst="rect">
                  <a:avLst/>
                </a:prstGeom>
                <a:blipFill>
                  <a:blip r:embed="rId4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zh-TW" alt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23" name="矩形 22">
              <a:extLst>
                <a:ext uri="{FF2B5EF4-FFF2-40B4-BE49-F238E27FC236}">
                  <a16:creationId xmlns:a16="http://schemas.microsoft.com/office/drawing/2014/main" id="{C2D51AC1-AC20-2F03-CA23-AC2B738AD25C}"/>
                </a:ext>
              </a:extLst>
            </p:cNvPr>
            <p:cNvSpPr/>
            <p:nvPr/>
          </p:nvSpPr>
          <p:spPr>
            <a:xfrm>
              <a:off x="787179" y="1310179"/>
              <a:ext cx="2782956" cy="2010293"/>
            </a:xfrm>
            <a:prstGeom prst="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</p:grpSp>
      <p:grpSp>
        <p:nvGrpSpPr>
          <p:cNvPr id="34" name="群組 33">
            <a:extLst>
              <a:ext uri="{FF2B5EF4-FFF2-40B4-BE49-F238E27FC236}">
                <a16:creationId xmlns:a16="http://schemas.microsoft.com/office/drawing/2014/main" id="{CE22EDB1-A38A-085E-EAFA-FA376075DBFD}"/>
              </a:ext>
            </a:extLst>
          </p:cNvPr>
          <p:cNvGrpSpPr/>
          <p:nvPr/>
        </p:nvGrpSpPr>
        <p:grpSpPr>
          <a:xfrm>
            <a:off x="4025863" y="1698618"/>
            <a:ext cx="3926620" cy="2374267"/>
            <a:chOff x="4064441" y="946205"/>
            <a:chExt cx="3926620" cy="2374267"/>
          </a:xfrm>
        </p:grpSpPr>
        <p:sp>
          <p:nvSpPr>
            <p:cNvPr id="24" name="文字方塊 23">
              <a:extLst>
                <a:ext uri="{FF2B5EF4-FFF2-40B4-BE49-F238E27FC236}">
                  <a16:creationId xmlns:a16="http://schemas.microsoft.com/office/drawing/2014/main" id="{14AFE812-81B3-60E6-7A59-79D2C8B9CA7B}"/>
                </a:ext>
              </a:extLst>
            </p:cNvPr>
            <p:cNvSpPr txBox="1"/>
            <p:nvPr/>
          </p:nvSpPr>
          <p:spPr>
            <a:xfrm>
              <a:off x="4064441" y="946205"/>
              <a:ext cx="3926620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zh-TW" dirty="0"/>
                <a:t>Step2. Mask with Confidence threshold</a:t>
              </a:r>
              <a:endParaRPr lang="zh-TW" altLang="en-US" dirty="0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5" name="文字方塊 24">
                  <a:extLst>
                    <a:ext uri="{FF2B5EF4-FFF2-40B4-BE49-F238E27FC236}">
                      <a16:creationId xmlns:a16="http://schemas.microsoft.com/office/drawing/2014/main" id="{FD2B5406-CDC9-91E7-45A0-E24264165997}"/>
                    </a:ext>
                  </a:extLst>
                </p:cNvPr>
                <p:cNvSpPr txBox="1"/>
                <p:nvPr/>
              </p:nvSpPr>
              <p:spPr>
                <a:xfrm>
                  <a:off x="4064441" y="1373934"/>
                  <a:ext cx="2495385" cy="710194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left"/>
                      </m:oMathParaPr>
                      <m:oMath xmlns:m="http://schemas.openxmlformats.org/officeDocument/2006/math">
                        <m:r>
                          <a:rPr lang="en-US" altLang="zh-TW" i="1" smtClean="0">
                            <a:latin typeface="Cambria Math" panose="02040503050406030204" pitchFamily="18" charset="0"/>
                          </a:rPr>
                          <m:t>1</m:t>
                        </m:r>
                        <m:d>
                          <m:dPr>
                            <m:ctrlPr>
                              <a:rPr lang="en-US" altLang="zh-TW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sSub>
                              <m:sSubPr>
                                <m:ctrlPr>
                                  <a:rPr lang="en-US" altLang="zh-TW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altLang="zh-TW" i="1">
                                    <a:latin typeface="Cambria Math" panose="02040503050406030204" pitchFamily="18" charset="0"/>
                                  </a:rPr>
                                  <m:t>𝑐</m:t>
                                </m:r>
                              </m:e>
                              <m:sub>
                                <m:r>
                                  <a:rPr lang="en-US" altLang="zh-TW" i="1">
                                    <a:latin typeface="Cambria Math" panose="02040503050406030204" pitchFamily="18" charset="0"/>
                                  </a:rPr>
                                  <m:t>𝑖</m:t>
                                </m:r>
                              </m:sub>
                            </m:sSub>
                            <m:r>
                              <a:rPr lang="en-US" altLang="zh-TW" i="1">
                                <a:latin typeface="Cambria Math" panose="02040503050406030204" pitchFamily="18" charset="0"/>
                              </a:rPr>
                              <m:t>&gt;</m:t>
                            </m:r>
                            <m:r>
                              <a:rPr lang="zh-TW" altLang="en-US" i="1">
                                <a:latin typeface="Cambria Math" panose="02040503050406030204" pitchFamily="18" charset="0"/>
                              </a:rPr>
                              <m:t>𝜏</m:t>
                            </m:r>
                          </m:e>
                        </m:d>
                        <m:r>
                          <a:rPr lang="en-US" altLang="zh-TW" b="0" i="0" smtClean="0">
                            <a:latin typeface="Cambria Math" panose="02040503050406030204" pitchFamily="18" charset="0"/>
                          </a:rPr>
                          <m:t>= </m:t>
                        </m:r>
                        <m:d>
                          <m:dPr>
                            <m:begChr m:val="{"/>
                            <m:endChr m:val=""/>
                            <m:ctrlPr>
                              <a:rPr lang="en-US" altLang="zh-TW" b="0" i="1" smtClean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eqArr>
                              <m:eqArrPr>
                                <m:ctrlPr>
                                  <a:rPr lang="en-US" altLang="zh-TW" b="0" i="1" smtClean="0">
                                    <a:latin typeface="Cambria Math" panose="02040503050406030204" pitchFamily="18" charset="0"/>
                                  </a:rPr>
                                </m:ctrlPr>
                              </m:eqArrPr>
                              <m:e>
                                <m:r>
                                  <a:rPr lang="en-US" altLang="zh-TW" b="0" i="1" smtClean="0">
                                    <a:latin typeface="Cambria Math" panose="02040503050406030204" pitchFamily="18" charset="0"/>
                                  </a:rPr>
                                  <m:t>1</m:t>
                                </m:r>
                                <m:r>
                                  <a:rPr lang="en-US" altLang="zh-TW" b="0" i="1" smtClean="0">
                                    <a:latin typeface="Cambria Math" panose="02040503050406030204" pitchFamily="18" charset="0"/>
                                  </a:rPr>
                                  <m:t>,</m:t>
                                </m:r>
                                <m:sSub>
                                  <m:sSubPr>
                                    <m:ctrlPr>
                                      <a:rPr lang="en-US" altLang="zh-TW" i="1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altLang="zh-TW" i="1">
                                        <a:latin typeface="Cambria Math" panose="02040503050406030204" pitchFamily="18" charset="0"/>
                                      </a:rPr>
                                      <m:t>𝑐</m:t>
                                    </m:r>
                                  </m:e>
                                  <m:sub>
                                    <m:r>
                                      <a:rPr lang="en-US" altLang="zh-TW" i="1">
                                        <a:latin typeface="Cambria Math" panose="02040503050406030204" pitchFamily="18" charset="0"/>
                                      </a:rPr>
                                      <m:t>𝑖</m:t>
                                    </m:r>
                                  </m:sub>
                                </m:sSub>
                                <m:r>
                                  <a:rPr lang="en-US" altLang="zh-TW" i="1">
                                    <a:latin typeface="Cambria Math" panose="02040503050406030204" pitchFamily="18" charset="0"/>
                                  </a:rPr>
                                  <m:t>&gt;</m:t>
                                </m:r>
                                <m:r>
                                  <a:rPr lang="zh-TW" altLang="en-US" i="1">
                                    <a:latin typeface="Cambria Math" panose="02040503050406030204" pitchFamily="18" charset="0"/>
                                  </a:rPr>
                                  <m:t>𝜏</m:t>
                                </m:r>
                              </m:e>
                              <m:e>
                                <m:r>
                                  <a:rPr lang="en-US" altLang="zh-TW" b="0" i="1" smtClean="0"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  <m:r>
                                  <a:rPr lang="en-US" altLang="zh-TW" i="1">
                                    <a:latin typeface="Cambria Math" panose="02040503050406030204" pitchFamily="18" charset="0"/>
                                  </a:rPr>
                                  <m:t>,</m:t>
                                </m:r>
                                <m:sSub>
                                  <m:sSubPr>
                                    <m:ctrlPr>
                                      <a:rPr lang="en-US" altLang="zh-TW" i="1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altLang="zh-TW" i="1">
                                        <a:latin typeface="Cambria Math" panose="02040503050406030204" pitchFamily="18" charset="0"/>
                                      </a:rPr>
                                      <m:t>𝑐</m:t>
                                    </m:r>
                                  </m:e>
                                  <m:sub>
                                    <m:r>
                                      <a:rPr lang="en-US" altLang="zh-TW" i="1">
                                        <a:latin typeface="Cambria Math" panose="02040503050406030204" pitchFamily="18" charset="0"/>
                                      </a:rPr>
                                      <m:t>𝑖</m:t>
                                    </m:r>
                                  </m:sub>
                                </m:sSub>
                                <m:r>
                                  <a:rPr lang="en-US" altLang="zh-TW" b="0" i="1" smtClean="0">
                                    <a:latin typeface="Cambria Math" panose="02040503050406030204" pitchFamily="18" charset="0"/>
                                  </a:rPr>
                                  <m:t>≤</m:t>
                                </m:r>
                                <m:r>
                                  <a:rPr lang="zh-TW" altLang="en-US" i="1">
                                    <a:latin typeface="Cambria Math" panose="02040503050406030204" pitchFamily="18" charset="0"/>
                                  </a:rPr>
                                  <m:t>𝜏</m:t>
                                </m:r>
                              </m:e>
                            </m:eqArr>
                          </m:e>
                        </m:d>
                      </m:oMath>
                    </m:oMathPara>
                  </a14:m>
                  <a:endParaRPr lang="en-US" altLang="zh-TW" dirty="0"/>
                </a:p>
              </p:txBody>
            </p:sp>
          </mc:Choice>
          <mc:Fallback xmlns="">
            <p:sp>
              <p:nvSpPr>
                <p:cNvPr id="25" name="文字方塊 24">
                  <a:extLst>
                    <a:ext uri="{FF2B5EF4-FFF2-40B4-BE49-F238E27FC236}">
                      <a16:creationId xmlns:a16="http://schemas.microsoft.com/office/drawing/2014/main" id="{FD2B5406-CDC9-91E7-45A0-E24264165997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064441" y="1373934"/>
                  <a:ext cx="2495385" cy="710194"/>
                </a:xfrm>
                <a:prstGeom prst="rect">
                  <a:avLst/>
                </a:prstGeom>
                <a:blipFill>
                  <a:blip r:embed="rId5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zh-TW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>
          <mc:Choice xmlns:a14="http://schemas.microsoft.com/office/drawing/2010/main" Requires="a14">
            <p:sp>
              <p:nvSpPr>
                <p:cNvPr id="26" name="文字方塊 25">
                  <a:extLst>
                    <a:ext uri="{FF2B5EF4-FFF2-40B4-BE49-F238E27FC236}">
                      <a16:creationId xmlns:a16="http://schemas.microsoft.com/office/drawing/2014/main" id="{D1963B69-6019-C7EA-06F4-3098975B8961}"/>
                    </a:ext>
                  </a:extLst>
                </p:cNvPr>
                <p:cNvSpPr txBox="1"/>
                <p:nvPr/>
              </p:nvSpPr>
              <p:spPr>
                <a:xfrm>
                  <a:off x="4064441" y="2041469"/>
                  <a:ext cx="2670314" cy="646139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left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altLang="zh-TW" sz="160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zh-TW" sz="1600" i="1">
                                <a:latin typeface="Cambria Math" panose="02040503050406030204" pitchFamily="18" charset="0"/>
                              </a:rPr>
                              <m:t>𝑐</m:t>
                            </m:r>
                          </m:e>
                          <m:sub>
                            <m:r>
                              <a:rPr lang="en-US" altLang="zh-TW" sz="1600" i="1"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</m:sSub>
                        <m:r>
                          <a:rPr lang="en-US" altLang="zh-TW" sz="16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=</m:t>
                        </m:r>
                        <m:r>
                          <a:rPr lang="en-US" altLang="zh-TW" sz="16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𝐶𝑜𝑛𝑓𝑖𝑑𝑒𝑛𝑐𝑒</m:t>
                        </m:r>
                        <m:r>
                          <a:rPr lang="en-US" altLang="zh-TW" sz="16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(</m:t>
                        </m:r>
                        <m:sSubSup>
                          <m:sSubSupPr>
                            <m:ctrlPr>
                              <a:rPr lang="en-US" altLang="zh-TW" sz="16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en-US" altLang="zh-TW" sz="16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𝑧</m:t>
                            </m:r>
                          </m:e>
                          <m:sub>
                            <m:r>
                              <a:rPr lang="en-US" altLang="zh-TW" sz="16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𝑡</m:t>
                            </m:r>
                          </m:sub>
                          <m:sup>
                            <m:r>
                              <a:rPr lang="en-US" altLang="zh-TW" sz="16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(</m:t>
                            </m:r>
                            <m:r>
                              <a:rPr lang="en-US" altLang="zh-TW" sz="16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𝑖</m:t>
                            </m:r>
                            <m:r>
                              <a:rPr lang="en-US" altLang="zh-TW" sz="16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)</m:t>
                            </m:r>
                          </m:sup>
                        </m:sSubSup>
                        <m:r>
                          <a:rPr lang="en-US" altLang="zh-TW" sz="16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)</m:t>
                        </m:r>
                      </m:oMath>
                    </m:oMathPara>
                  </a14:m>
                  <a:endParaRPr lang="en-US" altLang="zh-TW" sz="1600" i="1" dirty="0">
                    <a:latin typeface="Cambria Math" panose="02040503050406030204" pitchFamily="18" charset="0"/>
                    <a:ea typeface="Cambria Math" panose="02040503050406030204" pitchFamily="18" charset="0"/>
                  </a:endParaRPr>
                </a:p>
                <a:p>
                  <a:pPr/>
                  <a14:m>
                    <m:oMathPara xmlns:m="http://schemas.openxmlformats.org/officeDocument/2006/math">
                      <m:oMathParaPr>
                        <m:jc m:val="left"/>
                      </m:oMathParaPr>
                      <m:oMath xmlns:m="http://schemas.openxmlformats.org/officeDocument/2006/math">
                        <m:r>
                          <a:rPr lang="zh-TW" altLang="en-US" sz="1600" i="1">
                            <a:latin typeface="Cambria Math" panose="02040503050406030204" pitchFamily="18" charset="0"/>
                          </a:rPr>
                          <m:t>𝜏</m:t>
                        </m:r>
                        <m:r>
                          <a:rPr lang="en-US" altLang="zh-TW" sz="16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=</m:t>
                        </m:r>
                        <m:r>
                          <m:rPr>
                            <m:nor/>
                          </m:rPr>
                          <a:rPr lang="en-US" altLang="zh-TW" sz="1600" i="1" dirty="0"/>
                          <m:t>Confidence</m:t>
                        </m:r>
                        <m:r>
                          <m:rPr>
                            <m:nor/>
                          </m:rPr>
                          <a:rPr lang="en-US" altLang="zh-TW" sz="1600" i="1" dirty="0"/>
                          <m:t> </m:t>
                        </m:r>
                        <m:r>
                          <m:rPr>
                            <m:nor/>
                          </m:rPr>
                          <a:rPr lang="en-US" altLang="zh-TW" sz="1600" i="1" dirty="0"/>
                          <m:t>threshold</m:t>
                        </m:r>
                      </m:oMath>
                    </m:oMathPara>
                  </a14:m>
                  <a:endParaRPr lang="en-US" altLang="zh-TW" sz="1600" i="1" dirty="0"/>
                </a:p>
              </p:txBody>
            </p:sp>
          </mc:Choice>
          <mc:Fallback>
            <p:sp>
              <p:nvSpPr>
                <p:cNvPr id="26" name="文字方塊 25">
                  <a:extLst>
                    <a:ext uri="{FF2B5EF4-FFF2-40B4-BE49-F238E27FC236}">
                      <a16:creationId xmlns:a16="http://schemas.microsoft.com/office/drawing/2014/main" id="{D1963B69-6019-C7EA-06F4-3098975B8961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064441" y="2041469"/>
                  <a:ext cx="2670314" cy="646139"/>
                </a:xfrm>
                <a:prstGeom prst="rect">
                  <a:avLst/>
                </a:prstGeom>
                <a:blipFill>
                  <a:blip r:embed="rId6"/>
                  <a:stretch>
                    <a:fillRect b="-2830"/>
                  </a:stretch>
                </a:blipFill>
              </p:spPr>
              <p:txBody>
                <a:bodyPr/>
                <a:lstStyle/>
                <a:p>
                  <a:r>
                    <a:rPr lang="zh-TW" alt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27" name="矩形 26">
              <a:extLst>
                <a:ext uri="{FF2B5EF4-FFF2-40B4-BE49-F238E27FC236}">
                  <a16:creationId xmlns:a16="http://schemas.microsoft.com/office/drawing/2014/main" id="{520AF61F-0858-7EB1-1CB4-B467D14BBB8C}"/>
                </a:ext>
              </a:extLst>
            </p:cNvPr>
            <p:cNvSpPr/>
            <p:nvPr/>
          </p:nvSpPr>
          <p:spPr>
            <a:xfrm>
              <a:off x="4064441" y="1310179"/>
              <a:ext cx="3766830" cy="2010293"/>
            </a:xfrm>
            <a:prstGeom prst="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</p:grpSp>
      <p:grpSp>
        <p:nvGrpSpPr>
          <p:cNvPr id="35" name="群組 34">
            <a:extLst>
              <a:ext uri="{FF2B5EF4-FFF2-40B4-BE49-F238E27FC236}">
                <a16:creationId xmlns:a16="http://schemas.microsoft.com/office/drawing/2014/main" id="{07E39926-2A7E-FA77-56B6-C6BA4687B218}"/>
              </a:ext>
            </a:extLst>
          </p:cNvPr>
          <p:cNvGrpSpPr/>
          <p:nvPr/>
        </p:nvGrpSpPr>
        <p:grpSpPr>
          <a:xfrm>
            <a:off x="8052017" y="1688176"/>
            <a:ext cx="3926623" cy="2610294"/>
            <a:chOff x="8152734" y="946205"/>
            <a:chExt cx="3926623" cy="2610294"/>
          </a:xfrm>
        </p:grpSpPr>
        <p:sp>
          <p:nvSpPr>
            <p:cNvPr id="28" name="文字方塊 27">
              <a:extLst>
                <a:ext uri="{FF2B5EF4-FFF2-40B4-BE49-F238E27FC236}">
                  <a16:creationId xmlns:a16="http://schemas.microsoft.com/office/drawing/2014/main" id="{54E6BCDB-7E57-4689-5CC2-5F948A672DF9}"/>
                </a:ext>
              </a:extLst>
            </p:cNvPr>
            <p:cNvSpPr txBox="1"/>
            <p:nvPr/>
          </p:nvSpPr>
          <p:spPr>
            <a:xfrm>
              <a:off x="8152737" y="946205"/>
              <a:ext cx="3926620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zh-TW" dirty="0"/>
                <a:t>Step3. Calculate SDC loss</a:t>
              </a:r>
              <a:endParaRPr lang="zh-TW" altLang="en-US" dirty="0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9" name="文字方塊 28">
                  <a:extLst>
                    <a:ext uri="{FF2B5EF4-FFF2-40B4-BE49-F238E27FC236}">
                      <a16:creationId xmlns:a16="http://schemas.microsoft.com/office/drawing/2014/main" id="{60507A5D-3A65-2995-531D-DA310F61B4C1}"/>
                    </a:ext>
                  </a:extLst>
                </p:cNvPr>
                <p:cNvSpPr txBox="1"/>
                <p:nvPr/>
              </p:nvSpPr>
              <p:spPr>
                <a:xfrm>
                  <a:off x="8152735" y="1310179"/>
                  <a:ext cx="3926620" cy="871264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left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altLang="zh-TW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zh-TW" b="0" i="1" smtClean="0">
                                <a:latin typeface="Cambria Math" panose="02040503050406030204" pitchFamily="18" charset="0"/>
                              </a:rPr>
                              <m:t>𝐿</m:t>
                            </m:r>
                          </m:e>
                          <m:sub>
                            <m:r>
                              <a:rPr lang="en-US" altLang="zh-TW" b="0" i="1" smtClean="0">
                                <a:latin typeface="Cambria Math" panose="02040503050406030204" pitchFamily="18" charset="0"/>
                              </a:rPr>
                              <m:t>𝑆𝐷𝐶</m:t>
                            </m:r>
                          </m:sub>
                        </m:sSub>
                        <m:r>
                          <a:rPr lang="en-US" altLang="zh-TW" b="0" i="1" smtClean="0">
                            <a:latin typeface="Cambria Math" panose="02040503050406030204" pitchFamily="18" charset="0"/>
                          </a:rPr>
                          <m:t>= </m:t>
                        </m:r>
                        <m:nary>
                          <m:naryPr>
                            <m:chr m:val="∑"/>
                            <m:ctrlPr>
                              <a:rPr lang="en-US" altLang="zh-TW" b="0" i="1" smtClean="0">
                                <a:latin typeface="Cambria Math" panose="02040503050406030204" pitchFamily="18" charset="0"/>
                              </a:rPr>
                            </m:ctrlPr>
                          </m:naryPr>
                          <m:sub>
                            <m:r>
                              <m:rPr>
                                <m:brk m:alnAt="23"/>
                              </m:rPr>
                              <a:rPr lang="en-US" altLang="zh-TW" b="0" i="1" smtClean="0">
                                <a:latin typeface="Cambria Math" panose="02040503050406030204" pitchFamily="18" charset="0"/>
                              </a:rPr>
                              <m:t>𝑖</m:t>
                            </m:r>
                            <m:r>
                              <a:rPr lang="en-US" altLang="zh-TW" b="0" i="1" smtClean="0">
                                <a:latin typeface="Cambria Math" panose="02040503050406030204" pitchFamily="18" charset="0"/>
                              </a:rPr>
                              <m:t>=</m:t>
                            </m:r>
                            <m:r>
                              <m:rPr>
                                <m:brk m:alnAt="23"/>
                              </m:rPr>
                              <a:rPr lang="en-US" altLang="zh-TW" b="0" i="1" smtClean="0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  <m:sup>
                            <m:r>
                              <a:rPr lang="en-US" altLang="zh-TW" b="0" i="1" smtClean="0">
                                <a:latin typeface="Cambria Math" panose="02040503050406030204" pitchFamily="18" charset="0"/>
                              </a:rPr>
                              <m:t>𝑁</m:t>
                            </m:r>
                          </m:sup>
                          <m:e>
                            <m:r>
                              <a:rPr lang="en-US" altLang="zh-TW" b="0" i="1" smtClean="0">
                                <a:latin typeface="Cambria Math" panose="02040503050406030204" pitchFamily="18" charset="0"/>
                              </a:rPr>
                              <m:t>1</m:t>
                            </m:r>
                            <m:r>
                              <a:rPr lang="en-US" altLang="zh-TW" b="0" i="1" smtClean="0">
                                <a:latin typeface="Cambria Math" panose="02040503050406030204" pitchFamily="18" charset="0"/>
                              </a:rPr>
                              <m:t>(</m:t>
                            </m:r>
                            <m:sSub>
                              <m:sSubPr>
                                <m:ctrlPr>
                                  <a:rPr lang="en-US" altLang="zh-TW" b="0" i="1" smtClean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altLang="zh-TW" b="0" i="1" smtClean="0">
                                    <a:latin typeface="Cambria Math" panose="02040503050406030204" pitchFamily="18" charset="0"/>
                                  </a:rPr>
                                  <m:t>𝑐</m:t>
                                </m:r>
                              </m:e>
                              <m:sub>
                                <m:r>
                                  <a:rPr lang="en-US" altLang="zh-TW" b="0" i="1" smtClean="0">
                                    <a:latin typeface="Cambria Math" panose="02040503050406030204" pitchFamily="18" charset="0"/>
                                  </a:rPr>
                                  <m:t>𝑖</m:t>
                                </m:r>
                              </m:sub>
                            </m:sSub>
                            <m:r>
                              <a:rPr lang="en-US" altLang="zh-TW" b="0" i="1" smtClean="0">
                                <a:latin typeface="Cambria Math" panose="02040503050406030204" pitchFamily="18" charset="0"/>
                              </a:rPr>
                              <m:t>&gt;</m:t>
                            </m:r>
                            <m:r>
                              <a:rPr lang="zh-TW" altLang="en-US" b="0" i="1" smtClean="0">
                                <a:latin typeface="Cambria Math" panose="02040503050406030204" pitchFamily="18" charset="0"/>
                              </a:rPr>
                              <m:t>𝜏</m:t>
                            </m:r>
                            <m:r>
                              <a:rPr lang="en-US" altLang="zh-TW" b="0" i="1" smtClean="0">
                                <a:latin typeface="Cambria Math" panose="02040503050406030204" pitchFamily="18" charset="0"/>
                              </a:rPr>
                              <m:t>)</m:t>
                            </m:r>
                            <m:r>
                              <a:rPr lang="en-US" altLang="zh-TW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∙</m:t>
                            </m:r>
                            <m:sSub>
                              <m:sSubPr>
                                <m:ctrlPr>
                                  <a:rPr lang="en-US" altLang="zh-TW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altLang="zh-TW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𝐷</m:t>
                                </m:r>
                              </m:e>
                              <m:sub>
                                <m:r>
                                  <a:rPr lang="en-US" altLang="zh-TW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𝐾𝐿</m:t>
                                </m:r>
                              </m:sub>
                            </m:sSub>
                            <m:r>
                              <a:rPr lang="en-US" altLang="zh-TW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(</m:t>
                            </m:r>
                            <m:sSubSup>
                              <m:sSubSupPr>
                                <m:ctrlPr>
                                  <a:rPr lang="en-US" altLang="zh-TW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sSubSupPr>
                              <m:e>
                                <m:r>
                                  <a:rPr lang="en-US" altLang="zh-TW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𝑝</m:t>
                                </m:r>
                              </m:e>
                              <m:sub>
                                <m:r>
                                  <a:rPr lang="en-US" altLang="zh-TW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𝑡</m:t>
                                </m:r>
                              </m:sub>
                              <m:sup>
                                <m:d>
                                  <m:dPr>
                                    <m:ctrlPr>
                                      <a:rPr lang="en-US" altLang="zh-TW" b="0" i="1" smtClean="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</m:ctrlPr>
                                  </m:dPr>
                                  <m:e>
                                    <m:r>
                                      <a:rPr lang="en-US" altLang="zh-TW" b="0" i="1" smtClean="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𝑖</m:t>
                                    </m:r>
                                  </m:e>
                                </m:d>
                              </m:sup>
                            </m:sSubSup>
                            <m:r>
                              <a:rPr lang="en-US" altLang="zh-TW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||</m:t>
                            </m:r>
                            <m:sSubSup>
                              <m:sSubSupPr>
                                <m:ctrlPr>
                                  <a:rPr lang="en-US" altLang="zh-TW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sSubSupPr>
                              <m:e>
                                <m:r>
                                  <a:rPr lang="en-US" altLang="zh-TW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𝑝</m:t>
                                </m:r>
                              </m:e>
                              <m:sub>
                                <m:r>
                                  <a:rPr lang="en-US" altLang="zh-TW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𝑠</m:t>
                                </m:r>
                              </m:sub>
                              <m:sup>
                                <m:r>
                                  <a:rPr lang="en-US" altLang="zh-TW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(</m:t>
                                </m:r>
                                <m:r>
                                  <a:rPr lang="en-US" altLang="zh-TW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𝑖</m:t>
                                </m:r>
                                <m:r>
                                  <a:rPr lang="en-US" altLang="zh-TW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)</m:t>
                                </m:r>
                              </m:sup>
                            </m:sSubSup>
                            <m:r>
                              <a:rPr lang="en-US" altLang="zh-TW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)</m:t>
                            </m:r>
                          </m:e>
                        </m:nary>
                      </m:oMath>
                    </m:oMathPara>
                  </a14:m>
                  <a:endParaRPr lang="zh-TW" altLang="en-US" dirty="0"/>
                </a:p>
              </p:txBody>
            </p:sp>
          </mc:Choice>
          <mc:Fallback xmlns="">
            <p:sp>
              <p:nvSpPr>
                <p:cNvPr id="29" name="文字方塊 28">
                  <a:extLst>
                    <a:ext uri="{FF2B5EF4-FFF2-40B4-BE49-F238E27FC236}">
                      <a16:creationId xmlns:a16="http://schemas.microsoft.com/office/drawing/2014/main" id="{60507A5D-3A65-2995-531D-DA310F61B4C1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8152735" y="1310179"/>
                  <a:ext cx="3926620" cy="871264"/>
                </a:xfrm>
                <a:prstGeom prst="rect">
                  <a:avLst/>
                </a:prstGeom>
                <a:blipFill>
                  <a:blip r:embed="rId7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zh-TW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0" name="文字方塊 29">
                  <a:extLst>
                    <a:ext uri="{FF2B5EF4-FFF2-40B4-BE49-F238E27FC236}">
                      <a16:creationId xmlns:a16="http://schemas.microsoft.com/office/drawing/2014/main" id="{112E01B2-F296-D266-5250-CBBEDDEFD543}"/>
                    </a:ext>
                  </a:extLst>
                </p:cNvPr>
                <p:cNvSpPr txBox="1"/>
                <p:nvPr/>
              </p:nvSpPr>
              <p:spPr>
                <a:xfrm>
                  <a:off x="8152734" y="2181443"/>
                  <a:ext cx="2857969" cy="1375056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left"/>
                      </m:oMathParaPr>
                      <m:oMath xmlns:m="http://schemas.openxmlformats.org/officeDocument/2006/math">
                        <m:sSubSup>
                          <m:sSubSupPr>
                            <m:ctrlPr>
                              <a:rPr lang="en-US" altLang="zh-TW" sz="160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en-US" altLang="zh-TW" sz="16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𝑧</m:t>
                            </m:r>
                          </m:e>
                          <m:sub>
                            <m:r>
                              <a:rPr lang="en-US" altLang="zh-TW" sz="16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𝑡</m:t>
                            </m:r>
                          </m:sub>
                          <m:sup>
                            <m:r>
                              <a:rPr lang="en-US" altLang="zh-TW" sz="16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(</m:t>
                            </m:r>
                            <m:r>
                              <a:rPr lang="en-US" altLang="zh-TW" sz="16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𝑖</m:t>
                            </m:r>
                            <m:r>
                              <a:rPr lang="en-US" altLang="zh-TW" sz="16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)</m:t>
                            </m:r>
                          </m:sup>
                        </m:sSubSup>
                        <m:r>
                          <a:rPr lang="en-US" altLang="zh-TW" sz="16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=</m:t>
                        </m:r>
                        <m:r>
                          <a:rPr lang="en-US" altLang="zh-TW" sz="16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𝑡𝑒𝑎𝑐</m:t>
                        </m:r>
                        <m:r>
                          <a:rPr lang="en-US" altLang="zh-TW" sz="16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h</m:t>
                        </m:r>
                        <m:r>
                          <a:rPr lang="en-US" altLang="zh-TW" sz="16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𝑒𝑟</m:t>
                        </m:r>
                        <m:r>
                          <a:rPr lang="en-US" altLang="zh-TW" sz="16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 </m:t>
                        </m:r>
                        <m:r>
                          <a:rPr lang="en-US" altLang="zh-TW" sz="16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h</m:t>
                        </m:r>
                        <m:r>
                          <a:rPr lang="en-US" altLang="zh-TW" sz="16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𝑖𝑑𝑑𝑒𝑛</m:t>
                        </m:r>
                        <m:r>
                          <a:rPr lang="en-US" altLang="zh-TW" sz="16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 </m:t>
                        </m:r>
                        <m:r>
                          <a:rPr lang="en-US" altLang="zh-TW" sz="16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𝑠𝑡𝑎𝑡𝑒</m:t>
                        </m:r>
                      </m:oMath>
                    </m:oMathPara>
                  </a14:m>
                  <a:endParaRPr lang="en-US" altLang="zh-TW" sz="1600" b="0" i="1" dirty="0">
                    <a:latin typeface="Cambria Math" panose="02040503050406030204" pitchFamily="18" charset="0"/>
                    <a:ea typeface="Cambria Math" panose="02040503050406030204" pitchFamily="18" charset="0"/>
                  </a:endParaRPr>
                </a:p>
                <a:p>
                  <a:pPr/>
                  <a14:m>
                    <m:oMathPara xmlns:m="http://schemas.openxmlformats.org/officeDocument/2006/math">
                      <m:oMathParaPr>
                        <m:jc m:val="left"/>
                      </m:oMathParaPr>
                      <m:oMath xmlns:m="http://schemas.openxmlformats.org/officeDocument/2006/math">
                        <m:sSubSup>
                          <m:sSubSupPr>
                            <m:ctrlPr>
                              <a:rPr lang="en-US" altLang="zh-TW" sz="16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en-US" altLang="zh-TW" sz="16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𝑧</m:t>
                            </m:r>
                          </m:e>
                          <m:sub>
                            <m:r>
                              <a:rPr lang="en-US" altLang="zh-TW" sz="16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𝑠</m:t>
                            </m:r>
                          </m:sub>
                          <m:sup>
                            <m:r>
                              <a:rPr lang="en-US" altLang="zh-TW" sz="16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(</m:t>
                            </m:r>
                            <m:r>
                              <a:rPr lang="en-US" altLang="zh-TW" sz="16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𝑖</m:t>
                            </m:r>
                            <m:r>
                              <a:rPr lang="en-US" altLang="zh-TW" sz="16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)</m:t>
                            </m:r>
                          </m:sup>
                        </m:sSubSup>
                        <m:r>
                          <a:rPr lang="en-US" altLang="zh-TW" sz="16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=</m:t>
                        </m:r>
                        <m:r>
                          <a:rPr lang="en-US" altLang="zh-TW" sz="16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𝑠𝑡𝑢𝑑𝑒𝑛𝑡</m:t>
                        </m:r>
                        <m:r>
                          <a:rPr lang="en-US" altLang="zh-TW" sz="16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 </m:t>
                        </m:r>
                        <m:r>
                          <a:rPr lang="en-US" altLang="zh-TW" sz="16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h</m:t>
                        </m:r>
                        <m:r>
                          <a:rPr lang="en-US" altLang="zh-TW" sz="16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𝑖𝑑𝑑𝑒𝑛</m:t>
                        </m:r>
                        <m:r>
                          <a:rPr lang="en-US" altLang="zh-TW" sz="16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 </m:t>
                        </m:r>
                        <m:r>
                          <a:rPr lang="en-US" altLang="zh-TW" sz="16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𝑠𝑡𝑎𝑡𝑒</m:t>
                        </m:r>
                      </m:oMath>
                      <m:oMath xmlns:m="http://schemas.openxmlformats.org/officeDocument/2006/math">
                        <m:sSubSup>
                          <m:sSubSupPr>
                            <m:ctrlPr>
                              <a:rPr lang="en-US" altLang="zh-TW" sz="160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en-US" altLang="zh-TW" sz="16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𝑝</m:t>
                            </m:r>
                          </m:e>
                          <m:sub>
                            <m:r>
                              <a:rPr lang="en-US" altLang="zh-TW" sz="16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𝑠</m:t>
                            </m:r>
                          </m:sub>
                          <m:sup>
                            <m:r>
                              <a:rPr lang="en-US" altLang="zh-TW" sz="16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(</m:t>
                            </m:r>
                            <m:r>
                              <a:rPr lang="en-US" altLang="zh-TW" sz="16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𝑖</m:t>
                            </m:r>
                            <m:r>
                              <a:rPr lang="en-US" altLang="zh-TW" sz="16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)</m:t>
                            </m:r>
                          </m:sup>
                        </m:sSubSup>
                        <m:r>
                          <a:rPr lang="en-US" altLang="zh-TW" sz="16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=</m:t>
                        </m:r>
                        <m:r>
                          <a:rPr lang="en-US" altLang="zh-TW" sz="16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𝑠𝑜𝑓𝑡𝑚𝑎𝑥</m:t>
                        </m:r>
                        <m:d>
                          <m:dPr>
                            <m:ctrlPr>
                              <a:rPr lang="en-US" altLang="zh-TW" sz="16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dPr>
                          <m:e>
                            <m:sSubSup>
                              <m:sSubSupPr>
                                <m:ctrlPr>
                                  <a:rPr lang="en-US" altLang="zh-TW" sz="16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sSubSupPr>
                              <m:e>
                                <m:r>
                                  <a:rPr lang="en-US" altLang="zh-TW" sz="16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𝑧</m:t>
                                </m:r>
                              </m:e>
                              <m:sub>
                                <m:r>
                                  <a:rPr lang="en-US" altLang="zh-TW" sz="16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𝑠</m:t>
                                </m:r>
                              </m:sub>
                              <m:sup>
                                <m:d>
                                  <m:dPr>
                                    <m:ctrlPr>
                                      <a:rPr lang="en-US" altLang="zh-TW" sz="1600" b="0" i="1" smtClean="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</m:ctrlPr>
                                  </m:dPr>
                                  <m:e>
                                    <m:r>
                                      <a:rPr lang="en-US" altLang="zh-TW" sz="1600" b="0" i="1" smtClean="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𝑖</m:t>
                                    </m:r>
                                  </m:e>
                                </m:d>
                              </m:sup>
                            </m:sSubSup>
                          </m:e>
                        </m:d>
                      </m:oMath>
                    </m:oMathPara>
                  </a14:m>
                  <a:endParaRPr lang="en-US" altLang="zh-TW" sz="1600" b="0" dirty="0">
                    <a:ea typeface="Cambria Math" panose="02040503050406030204" pitchFamily="18" charset="0"/>
                  </a:endParaRPr>
                </a:p>
                <a:p>
                  <a:pPr/>
                  <a14:m>
                    <m:oMathPara xmlns:m="http://schemas.openxmlformats.org/officeDocument/2006/math">
                      <m:oMathParaPr>
                        <m:jc m:val="left"/>
                      </m:oMathParaPr>
                      <m:oMath xmlns:m="http://schemas.openxmlformats.org/officeDocument/2006/math">
                        <m:sSubSup>
                          <m:sSubSupPr>
                            <m:ctrlPr>
                              <a:rPr lang="en-US" altLang="zh-TW" sz="16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en-US" altLang="zh-TW" sz="16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𝑝</m:t>
                            </m:r>
                          </m:e>
                          <m:sub>
                            <m:r>
                              <a:rPr lang="en-US" altLang="zh-TW" sz="16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𝑡</m:t>
                            </m:r>
                          </m:sub>
                          <m:sup>
                            <m:r>
                              <a:rPr lang="en-US" altLang="zh-TW" sz="16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(</m:t>
                            </m:r>
                            <m:r>
                              <a:rPr lang="en-US" altLang="zh-TW" sz="16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𝑖</m:t>
                            </m:r>
                            <m:r>
                              <a:rPr lang="en-US" altLang="zh-TW" sz="16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)</m:t>
                            </m:r>
                          </m:sup>
                        </m:sSubSup>
                        <m:r>
                          <a:rPr lang="en-US" altLang="zh-TW" sz="16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=</m:t>
                        </m:r>
                        <m:r>
                          <a:rPr lang="en-US" altLang="zh-TW" sz="16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𝑠𝑜𝑓𝑡𝑚𝑎𝑥</m:t>
                        </m:r>
                        <m:r>
                          <a:rPr lang="en-US" altLang="zh-TW" sz="16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(</m:t>
                        </m:r>
                        <m:sSubSup>
                          <m:sSubSupPr>
                            <m:ctrlPr>
                              <a:rPr lang="en-US" altLang="zh-TW" sz="16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en-US" altLang="zh-TW" sz="16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𝑧</m:t>
                            </m:r>
                          </m:e>
                          <m:sub>
                            <m:r>
                              <a:rPr lang="en-US" altLang="zh-TW" sz="16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𝑡</m:t>
                            </m:r>
                          </m:sub>
                          <m:sup>
                            <m:r>
                              <a:rPr lang="en-US" altLang="zh-TW" sz="16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(</m:t>
                            </m:r>
                            <m:r>
                              <a:rPr lang="en-US" altLang="zh-TW" sz="16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𝑖</m:t>
                            </m:r>
                            <m:r>
                              <a:rPr lang="en-US" altLang="zh-TW" sz="16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)</m:t>
                            </m:r>
                          </m:sup>
                        </m:sSubSup>
                        <m:r>
                          <a:rPr lang="en-US" altLang="zh-TW" sz="16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)</m:t>
                        </m:r>
                      </m:oMath>
                    </m:oMathPara>
                  </a14:m>
                  <a:endParaRPr lang="en-US" altLang="zh-TW" sz="1600" dirty="0"/>
                </a:p>
              </p:txBody>
            </p:sp>
          </mc:Choice>
          <mc:Fallback xmlns="">
            <p:sp>
              <p:nvSpPr>
                <p:cNvPr id="30" name="文字方塊 29">
                  <a:extLst>
                    <a:ext uri="{FF2B5EF4-FFF2-40B4-BE49-F238E27FC236}">
                      <a16:creationId xmlns:a16="http://schemas.microsoft.com/office/drawing/2014/main" id="{112E01B2-F296-D266-5250-CBBEDDEFD543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8152734" y="2181443"/>
                  <a:ext cx="2857969" cy="1375056"/>
                </a:xfrm>
                <a:prstGeom prst="rect">
                  <a:avLst/>
                </a:prstGeom>
                <a:blipFill>
                  <a:blip r:embed="rId8"/>
                  <a:stretch>
                    <a:fillRect b="-1333"/>
                  </a:stretch>
                </a:blipFill>
              </p:spPr>
              <p:txBody>
                <a:bodyPr/>
                <a:lstStyle/>
                <a:p>
                  <a:r>
                    <a:rPr lang="zh-TW" alt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31" name="矩形 30">
              <a:extLst>
                <a:ext uri="{FF2B5EF4-FFF2-40B4-BE49-F238E27FC236}">
                  <a16:creationId xmlns:a16="http://schemas.microsoft.com/office/drawing/2014/main" id="{22EB0429-617F-CD4D-48E4-43AA5D4587D4}"/>
                </a:ext>
              </a:extLst>
            </p:cNvPr>
            <p:cNvSpPr/>
            <p:nvPr/>
          </p:nvSpPr>
          <p:spPr>
            <a:xfrm>
              <a:off x="8152734" y="1316262"/>
              <a:ext cx="3766830" cy="2211964"/>
            </a:xfrm>
            <a:prstGeom prst="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</p:grpSp>
      <p:sp>
        <p:nvSpPr>
          <p:cNvPr id="32" name="文字方塊 31">
            <a:extLst>
              <a:ext uri="{FF2B5EF4-FFF2-40B4-BE49-F238E27FC236}">
                <a16:creationId xmlns:a16="http://schemas.microsoft.com/office/drawing/2014/main" id="{F5B8F945-52E7-F5F0-E3D9-03D7EA9206C0}"/>
              </a:ext>
            </a:extLst>
          </p:cNvPr>
          <p:cNvSpPr txBox="1"/>
          <p:nvPr/>
        </p:nvSpPr>
        <p:spPr>
          <a:xfrm>
            <a:off x="787179" y="5149712"/>
            <a:ext cx="10962861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altLang="zh-TW" sz="1600" dirty="0"/>
              <a:t>confidence threshold </a:t>
            </a:r>
            <a:r>
              <a:rPr lang="el-GR" altLang="zh-TW" sz="1600" dirty="0"/>
              <a:t>τ </a:t>
            </a:r>
            <a:r>
              <a:rPr lang="zh-TW" altLang="en-US" sz="1600" dirty="0"/>
              <a:t>控制噪聲干擾。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zh-TW" altLang="en-US" sz="1600" dirty="0"/>
              <a:t>若 </a:t>
            </a:r>
            <a:r>
              <a:rPr lang="el-GR" altLang="zh-TW" sz="1600" dirty="0"/>
              <a:t>τ </a:t>
            </a:r>
            <a:r>
              <a:rPr lang="zh-TW" altLang="en-US" sz="1600" dirty="0"/>
              <a:t>過高，會讓模型整體傾向高信心度</a:t>
            </a:r>
            <a:r>
              <a:rPr lang="en-US" altLang="zh-TW" sz="1600" dirty="0"/>
              <a:t>/</a:t>
            </a:r>
            <a:r>
              <a:rPr lang="zh-TW" altLang="en-US" sz="1600" dirty="0"/>
              <a:t>重複度的回答，可能造成 </a:t>
            </a:r>
            <a:r>
              <a:rPr lang="en-US" altLang="zh-TW" sz="1600" dirty="0"/>
              <a:t>PPL / draft acceptance </a:t>
            </a:r>
            <a:r>
              <a:rPr lang="zh-TW" altLang="en-US" sz="1600" dirty="0"/>
              <a:t>下降，</a:t>
            </a:r>
            <a:r>
              <a:rPr lang="en-US" altLang="zh-TW" sz="1600" dirty="0" err="1"/>
              <a:t>GenPPL</a:t>
            </a:r>
            <a:r>
              <a:rPr lang="en-US" altLang="zh-TW" sz="1600" dirty="0"/>
              <a:t>/ repetition</a:t>
            </a:r>
            <a:r>
              <a:rPr lang="zh-TW" altLang="en-US" sz="1600" dirty="0"/>
              <a:t>上升。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6611112"/>
            <a:ext cx="12191695" cy="246888"/>
          </a:xfrm>
          <a:prstGeom prst="rect">
            <a:avLst/>
          </a:prstGeom>
          <a:solidFill>
            <a:srgbClr val="5B839B"/>
          </a:solidFill>
          <a:ln w="12700">
            <a:solidFill>
              <a:srgbClr val="5B839B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11430000" y="6629399"/>
            <a:ext cx="548640" cy="16896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200" dirty="0">
                <a:solidFill>
                  <a:srgbClr val="FFFFFF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Noto Sans CJK TC" pitchFamily="34" charset="-120"/>
              </a:rPr>
              <a:t>16</a:t>
            </a:r>
            <a:endParaRPr lang="en-US" sz="1200" dirty="0"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4" name="Text 2"/>
          <p:cNvSpPr/>
          <p:nvPr/>
        </p:nvSpPr>
        <p:spPr>
          <a:xfrm>
            <a:off x="347472" y="274320"/>
            <a:ext cx="30175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b="1" dirty="0">
                <a:solidFill>
                  <a:srgbClr val="1B2E3A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Noto Sans CJK TC" pitchFamily="34" charset="-120"/>
              </a:rPr>
              <a:t>Part3: Proposed method</a:t>
            </a:r>
            <a:endParaRPr lang="en-US" dirty="0"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5" name="Text 3"/>
          <p:cNvSpPr/>
          <p:nvPr/>
        </p:nvSpPr>
        <p:spPr>
          <a:xfrm>
            <a:off x="347472" y="457200"/>
            <a:ext cx="79552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rgbClr val="60707A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Noto Sans CJK TC" pitchFamily="34" charset="-120"/>
              </a:rPr>
              <a:t>Latent Consistency Matching</a:t>
            </a:r>
            <a:endParaRPr lang="en-US" sz="1600" dirty="0"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7" name="Shape 5"/>
          <p:cNvSpPr/>
          <p:nvPr/>
        </p:nvSpPr>
        <p:spPr>
          <a:xfrm>
            <a:off x="347472" y="749808"/>
            <a:ext cx="11475720" cy="0"/>
          </a:xfrm>
          <a:prstGeom prst="line">
            <a:avLst/>
          </a:prstGeom>
          <a:noFill/>
          <a:ln w="12700">
            <a:solidFill>
              <a:srgbClr val="C8D6DE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731520" y="1051560"/>
            <a:ext cx="10698480" cy="4572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lIns="1143" tIns="1143" rIns="1143" bIns="1143" rtlCol="0" anchor="ctr">
            <a:noAutofit/>
          </a:bodyPr>
          <a:lstStyle/>
          <a:p>
            <a:pPr marL="0" indent="0">
              <a:buNone/>
            </a:pPr>
            <a:r>
              <a:rPr lang="en-US" sz="1400" b="1" dirty="0">
                <a:solidFill>
                  <a:srgbClr val="27323A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Noto Sans CJK TC" pitchFamily="34" charset="-120"/>
              </a:rPr>
              <a:t>LCM </a:t>
            </a:r>
            <a:r>
              <a:rPr lang="zh-TW" altLang="en-US" sz="1400" b="1" dirty="0">
                <a:solidFill>
                  <a:srgbClr val="27323A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Noto Sans CJK TC" pitchFamily="34" charset="-120"/>
              </a:rPr>
              <a:t>不直接對齊 </a:t>
            </a:r>
            <a:r>
              <a:rPr lang="en-US" sz="1400" b="1" dirty="0" err="1">
                <a:solidFill>
                  <a:srgbClr val="27323A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Noto Sans CJK TC" pitchFamily="34" charset="-120"/>
              </a:rPr>
              <a:t>softmax</a:t>
            </a:r>
            <a:r>
              <a:rPr lang="en-US" sz="1400" b="1" dirty="0">
                <a:solidFill>
                  <a:srgbClr val="27323A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Noto Sans CJK TC" pitchFamily="34" charset="-120"/>
              </a:rPr>
              <a:t> probability distribution，</a:t>
            </a:r>
            <a:r>
              <a:rPr lang="zh-TW" altLang="en-US" sz="1400" b="1" dirty="0">
                <a:solidFill>
                  <a:srgbClr val="27323A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Noto Sans CJK TC" pitchFamily="34" charset="-120"/>
              </a:rPr>
              <a:t>而是在 </a:t>
            </a:r>
            <a:r>
              <a:rPr lang="en-US" sz="1400" b="1" dirty="0">
                <a:solidFill>
                  <a:srgbClr val="27323A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Noto Sans CJK TC" pitchFamily="34" charset="-120"/>
              </a:rPr>
              <a:t>latent / hidden representation </a:t>
            </a:r>
            <a:r>
              <a:rPr lang="zh-TW" altLang="en-US" sz="1400" b="1" dirty="0">
                <a:solidFill>
                  <a:srgbClr val="27323A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Noto Sans CJK TC" pitchFamily="34" charset="-120"/>
              </a:rPr>
              <a:t>層級對齊 </a:t>
            </a:r>
            <a:r>
              <a:rPr lang="en-US" sz="1400" b="1" dirty="0">
                <a:solidFill>
                  <a:srgbClr val="27323A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Noto Sans CJK TC" pitchFamily="34" charset="-120"/>
              </a:rPr>
              <a:t>teacher </a:t>
            </a:r>
            <a:r>
              <a:rPr lang="zh-TW" altLang="en-US" sz="1400" b="1" dirty="0">
                <a:solidFill>
                  <a:srgbClr val="27323A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Noto Sans CJK TC" pitchFamily="34" charset="-120"/>
              </a:rPr>
              <a:t>與 </a:t>
            </a:r>
            <a:r>
              <a:rPr lang="en-US" sz="1400" b="1" dirty="0">
                <a:solidFill>
                  <a:srgbClr val="27323A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Noto Sans CJK TC" pitchFamily="34" charset="-120"/>
              </a:rPr>
              <a:t>student。</a:t>
            </a:r>
            <a:endParaRPr lang="en-US" sz="1400" b="1" dirty="0"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1" name="文字方塊 20">
                <a:extLst>
                  <a:ext uri="{FF2B5EF4-FFF2-40B4-BE49-F238E27FC236}">
                    <a16:creationId xmlns:a16="http://schemas.microsoft.com/office/drawing/2014/main" id="{3A298F69-B887-4EFD-476D-255EFD4CC9F5}"/>
                  </a:ext>
                </a:extLst>
              </p:cNvPr>
              <p:cNvSpPr txBox="1"/>
              <p:nvPr/>
            </p:nvSpPr>
            <p:spPr>
              <a:xfrm>
                <a:off x="731520" y="2277665"/>
                <a:ext cx="4087850" cy="788486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altLang="zh-TW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zh-TW" b="0" i="1" smtClean="0">
                              <a:latin typeface="Cambria Math" panose="02040503050406030204" pitchFamily="18" charset="0"/>
                            </a:rPr>
                            <m:t>𝐿</m:t>
                          </m:r>
                        </m:e>
                        <m:sub>
                          <m:r>
                            <a:rPr lang="en-US" altLang="zh-TW" b="0" i="1" smtClean="0">
                              <a:latin typeface="Cambria Math" panose="02040503050406030204" pitchFamily="18" charset="0"/>
                            </a:rPr>
                            <m:t>𝐿𝐶𝑀</m:t>
                          </m:r>
                        </m:sub>
                      </m:sSub>
                      <m:r>
                        <a:rPr lang="en-US" altLang="zh-TW" b="0" i="1" smtClean="0">
                          <a:latin typeface="Cambria Math" panose="02040503050406030204" pitchFamily="18" charset="0"/>
                        </a:rPr>
                        <m:t>= </m:t>
                      </m:r>
                      <m:f>
                        <m:fPr>
                          <m:ctrlPr>
                            <a:rPr lang="en-US" altLang="zh-TW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altLang="zh-TW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d>
                            <m:dPr>
                              <m:ctrlPr>
                                <a:rPr lang="en-US" altLang="zh-TW" b="0" i="1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altLang="zh-TW" b="0" i="1" smtClean="0">
                                  <a:latin typeface="Cambria Math" panose="02040503050406030204" pitchFamily="18" charset="0"/>
                                </a:rPr>
                                <m:t>𝑆</m:t>
                              </m:r>
                              <m:r>
                                <a:rPr lang="en-US" altLang="zh-TW" b="0" i="1" smtClean="0">
                                  <a:latin typeface="Cambria Math" panose="02040503050406030204" pitchFamily="18" charset="0"/>
                                </a:rPr>
                                <m:t>−</m:t>
                              </m:r>
                              <m:r>
                                <a:rPr lang="en-US" altLang="zh-TW" b="0" i="1" smtClean="0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e>
                          </m:d>
                          <m:r>
                            <a:rPr lang="en-US" altLang="zh-TW" b="0" i="1" smtClean="0">
                              <a:latin typeface="Cambria Math" panose="02040503050406030204" pitchFamily="18" charset="0"/>
                            </a:rPr>
                            <m:t>𝐷</m:t>
                          </m:r>
                        </m:den>
                      </m:f>
                      <m:nary>
                        <m:naryPr>
                          <m:chr m:val="∑"/>
                          <m:ctrlPr>
                            <a:rPr lang="en-US" altLang="zh-TW" b="0" i="1" smtClean="0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brk m:alnAt="23"/>
                            </m:rPr>
                            <a:rPr lang="en-US" altLang="zh-TW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  <m:r>
                            <a:rPr lang="en-US" altLang="zh-TW" b="0" i="1" smtClean="0">
                              <a:latin typeface="Cambria Math" panose="02040503050406030204" pitchFamily="18" charset="0"/>
                            </a:rPr>
                            <m:t>=1</m:t>
                          </m:r>
                        </m:sub>
                        <m:sup>
                          <m:r>
                            <a:rPr lang="en-US" altLang="zh-TW" b="0" i="1" smtClean="0">
                              <a:latin typeface="Cambria Math" panose="02040503050406030204" pitchFamily="18" charset="0"/>
                            </a:rPr>
                            <m:t>𝑆</m:t>
                          </m:r>
                          <m:r>
                            <a:rPr lang="en-US" altLang="zh-TW" b="0" i="1" smtClean="0">
                              <a:latin typeface="Cambria Math" panose="02040503050406030204" pitchFamily="18" charset="0"/>
                            </a:rPr>
                            <m:t>−</m:t>
                          </m:r>
                          <m:r>
                            <a:rPr lang="en-US" altLang="zh-TW" b="0" i="1" smtClean="0">
                              <a:latin typeface="Cambria Math" panose="02040503050406030204" pitchFamily="18" charset="0"/>
                            </a:rPr>
                            <m:t>𝑖</m:t>
                          </m:r>
                        </m:sup>
                        <m:e>
                          <m:nary>
                            <m:naryPr>
                              <m:chr m:val="∑"/>
                              <m:ctrlPr>
                                <a:rPr lang="en-US" altLang="zh-TW" b="0" i="1" smtClean="0">
                                  <a:latin typeface="Cambria Math" panose="02040503050406030204" pitchFamily="18" charset="0"/>
                                </a:rPr>
                              </m:ctrlPr>
                            </m:naryPr>
                            <m:sub>
                              <m:r>
                                <m:rPr>
                                  <m:brk m:alnAt="23"/>
                                </m:rPr>
                                <a:rPr lang="en-US" altLang="zh-TW" b="0" i="1" smtClean="0">
                                  <a:latin typeface="Cambria Math" panose="02040503050406030204" pitchFamily="18" charset="0"/>
                                </a:rPr>
                                <m:t>𝑑</m:t>
                              </m:r>
                              <m:r>
                                <a:rPr lang="en-US" altLang="zh-TW" b="0" i="1" smtClean="0">
                                  <a:latin typeface="Cambria Math" panose="02040503050406030204" pitchFamily="18" charset="0"/>
                                </a:rPr>
                                <m:t>=1</m:t>
                              </m:r>
                            </m:sub>
                            <m:sup>
                              <m:r>
                                <a:rPr lang="en-US" altLang="zh-TW" b="0" i="1" smtClean="0">
                                  <a:latin typeface="Cambria Math" panose="02040503050406030204" pitchFamily="18" charset="0"/>
                                </a:rPr>
                                <m:t>𝐷</m:t>
                              </m:r>
                            </m:sup>
                            <m:e>
                              <m:sSup>
                                <m:sSupPr>
                                  <m:ctrlPr>
                                    <a:rPr lang="en-US" altLang="zh-TW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d>
                                    <m:dPr>
                                      <m:ctrlPr>
                                        <a:rPr lang="en-US" altLang="zh-TW" b="0" i="1" smtClean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sSubSup>
                                        <m:sSubSupPr>
                                          <m:ctrlPr>
                                            <a:rPr lang="en-US" altLang="zh-TW" b="0" i="1" smtClean="0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bSupPr>
                                        <m:e>
                                          <m:r>
                                            <a:rPr lang="en-US" altLang="zh-TW" b="0" i="1" smtClean="0">
                                              <a:latin typeface="Cambria Math" panose="02040503050406030204" pitchFamily="18" charset="0"/>
                                            </a:rPr>
                                            <m:t>h</m:t>
                                          </m:r>
                                        </m:e>
                                        <m:sub>
                                          <m:r>
                                            <a:rPr lang="en-US" altLang="zh-TW" b="0" i="1" smtClean="0">
                                              <a:latin typeface="Cambria Math" panose="02040503050406030204" pitchFamily="18" charset="0"/>
                                            </a:rPr>
                                            <m:t>𝑡</m:t>
                                          </m:r>
                                          <m:r>
                                            <a:rPr lang="en-US" altLang="zh-TW" b="0" i="1" smtClean="0">
                                              <a:latin typeface="Cambria Math" panose="02040503050406030204" pitchFamily="18" charset="0"/>
                                            </a:rPr>
                                            <m:t>,</m:t>
                                          </m:r>
                                          <m:r>
                                            <a:rPr lang="en-US" altLang="zh-TW" b="0" i="1" smtClean="0">
                                              <a:latin typeface="Cambria Math" panose="02040503050406030204" pitchFamily="18" charset="0"/>
                                            </a:rPr>
                                            <m:t>𝑑</m:t>
                                          </m:r>
                                        </m:sub>
                                        <m:sup>
                                          <m:r>
                                            <a:rPr lang="en-US" altLang="zh-TW" b="0" i="1" smtClean="0">
                                              <a:latin typeface="Cambria Math" panose="02040503050406030204" pitchFamily="18" charset="0"/>
                                            </a:rPr>
                                            <m:t>𝑡</m:t>
                                          </m:r>
                                        </m:sup>
                                      </m:sSubSup>
                                      <m:r>
                                        <a:rPr lang="en-US" altLang="zh-TW" b="0" i="1" smtClean="0">
                                          <a:latin typeface="Cambria Math" panose="02040503050406030204" pitchFamily="18" charset="0"/>
                                        </a:rPr>
                                        <m:t>−</m:t>
                                      </m:r>
                                      <m:sSubSup>
                                        <m:sSubSupPr>
                                          <m:ctrlPr>
                                            <a:rPr lang="en-US" altLang="zh-TW" b="0" i="1" smtClean="0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bSupPr>
                                        <m:e>
                                          <m:r>
                                            <a:rPr lang="en-US" altLang="zh-TW" b="0" i="1" smtClean="0">
                                              <a:latin typeface="Cambria Math" panose="02040503050406030204" pitchFamily="18" charset="0"/>
                                            </a:rPr>
                                            <m:t>h</m:t>
                                          </m:r>
                                        </m:e>
                                        <m:sub>
                                          <m:r>
                                            <a:rPr lang="en-US" altLang="zh-TW" b="0" i="1" smtClean="0">
                                              <a:latin typeface="Cambria Math" panose="02040503050406030204" pitchFamily="18" charset="0"/>
                                            </a:rPr>
                                            <m:t>𝑡</m:t>
                                          </m:r>
                                          <m:r>
                                            <a:rPr lang="en-US" altLang="zh-TW" b="0" i="1" smtClean="0">
                                              <a:latin typeface="Cambria Math" panose="02040503050406030204" pitchFamily="18" charset="0"/>
                                            </a:rPr>
                                            <m:t>+</m:t>
                                          </m:r>
                                          <m:r>
                                            <a:rPr lang="en-US" altLang="zh-TW" b="0" i="1" smtClean="0">
                                              <a:latin typeface="Cambria Math" panose="02040503050406030204" pitchFamily="18" charset="0"/>
                                            </a:rPr>
                                            <m:t>𝑖</m:t>
                                          </m:r>
                                          <m:r>
                                            <a:rPr lang="en-US" altLang="zh-TW" b="0" i="1" smtClean="0">
                                              <a:latin typeface="Cambria Math" panose="02040503050406030204" pitchFamily="18" charset="0"/>
                                            </a:rPr>
                                            <m:t>,</m:t>
                                          </m:r>
                                          <m:r>
                                            <a:rPr lang="en-US" altLang="zh-TW" b="0" i="1" smtClean="0">
                                              <a:latin typeface="Cambria Math" panose="02040503050406030204" pitchFamily="18" charset="0"/>
                                            </a:rPr>
                                            <m:t>𝑑</m:t>
                                          </m:r>
                                        </m:sub>
                                        <m:sup>
                                          <m:r>
                                            <a:rPr lang="en-US" altLang="zh-TW" b="0" i="1" smtClean="0">
                                              <a:latin typeface="Cambria Math" panose="02040503050406030204" pitchFamily="18" charset="0"/>
                                            </a:rPr>
                                            <m:t>𝑠</m:t>
                                          </m:r>
                                        </m:sup>
                                      </m:sSubSup>
                                    </m:e>
                                  </m:d>
                                </m:e>
                                <m:sup>
                                  <m:r>
                                    <a:rPr lang="en-US" altLang="zh-TW" b="0" i="1" smtClean="0"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sup>
                              </m:sSup>
                            </m:e>
                          </m:nary>
                        </m:e>
                      </m:nary>
                    </m:oMath>
                  </m:oMathPara>
                </a14:m>
                <a:endParaRPr lang="zh-TW" altLang="en-US" dirty="0"/>
              </a:p>
            </p:txBody>
          </p:sp>
        </mc:Choice>
        <mc:Fallback xmlns="">
          <p:sp>
            <p:nvSpPr>
              <p:cNvPr id="21" name="文字方塊 20">
                <a:extLst>
                  <a:ext uri="{FF2B5EF4-FFF2-40B4-BE49-F238E27FC236}">
                    <a16:creationId xmlns:a16="http://schemas.microsoft.com/office/drawing/2014/main" id="{3A298F69-B887-4EFD-476D-255EFD4CC9F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31520" y="2277665"/>
                <a:ext cx="4087850" cy="788486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2" name="文字方塊 21">
                <a:extLst>
                  <a:ext uri="{FF2B5EF4-FFF2-40B4-BE49-F238E27FC236}">
                    <a16:creationId xmlns:a16="http://schemas.microsoft.com/office/drawing/2014/main" id="{A7A73503-B096-1CB1-8ADB-B48E423BB0E8}"/>
                  </a:ext>
                </a:extLst>
              </p:cNvPr>
              <p:cNvSpPr txBox="1"/>
              <p:nvPr/>
            </p:nvSpPr>
            <p:spPr>
              <a:xfrm>
                <a:off x="731520" y="3429000"/>
                <a:ext cx="2816477" cy="1384995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a:rPr lang="en-US" altLang="zh-TW" b="0" i="1" smtClean="0">
                          <a:latin typeface="Cambria Math" panose="02040503050406030204" pitchFamily="18" charset="0"/>
                        </a:rPr>
                        <m:t>𝑆</m:t>
                      </m:r>
                      <m:r>
                        <a:rPr lang="en-US" altLang="zh-TW" b="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m:rPr>
                          <m:nor/>
                        </m:rPr>
                        <a:rPr lang="en-US" altLang="zh-TW">
                          <a:latin typeface="Cambria Math" panose="02040503050406030204" pitchFamily="18" charset="0"/>
                        </a:rPr>
                        <m:t>sequence</m:t>
                      </m:r>
                      <m:r>
                        <m:rPr>
                          <m:nor/>
                        </m:rPr>
                        <a:rPr lang="en-US" altLang="zh-TW">
                          <a:latin typeface="Cambria Math" panose="02040503050406030204" pitchFamily="18" charset="0"/>
                        </a:rPr>
                        <m:t> </m:t>
                      </m:r>
                      <m:r>
                        <m:rPr>
                          <m:nor/>
                        </m:rPr>
                        <a:rPr lang="en-US" altLang="zh-TW">
                          <a:latin typeface="Cambria Math" panose="02040503050406030204" pitchFamily="18" charset="0"/>
                        </a:rPr>
                        <m:t>length</m:t>
                      </m:r>
                    </m:oMath>
                  </m:oMathPara>
                </a14:m>
                <a:endParaRPr lang="en-US" altLang="zh-TW" dirty="0"/>
              </a:p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m:rPr>
                          <m:sty m:val="p"/>
                        </m:rPr>
                        <a:rPr lang="en-US" altLang="zh-TW" b="0" i="0" smtClean="0">
                          <a:latin typeface="Cambria Math" panose="02040503050406030204" pitchFamily="18" charset="0"/>
                        </a:rPr>
                        <m:t>D</m:t>
                      </m:r>
                      <m:r>
                        <a:rPr lang="en-US" altLang="zh-TW" i="1">
                          <a:latin typeface="Cambria Math" panose="02040503050406030204" pitchFamily="18" charset="0"/>
                        </a:rPr>
                        <m:t>=</m:t>
                      </m:r>
                      <m:r>
                        <m:rPr>
                          <m:nor/>
                        </m:rPr>
                        <a:rPr lang="en-US" altLang="zh-TW">
                          <a:latin typeface="Cambria Math" panose="02040503050406030204" pitchFamily="18" charset="0"/>
                        </a:rPr>
                        <m:t>hidden</m:t>
                      </m:r>
                      <m:r>
                        <m:rPr>
                          <m:nor/>
                        </m:rPr>
                        <a:rPr lang="en-US" altLang="zh-TW">
                          <a:latin typeface="Cambria Math" panose="02040503050406030204" pitchFamily="18" charset="0"/>
                        </a:rPr>
                        <m:t> </m:t>
                      </m:r>
                      <m:r>
                        <m:rPr>
                          <m:nor/>
                        </m:rPr>
                        <a:rPr lang="en-US" altLang="zh-TW">
                          <a:latin typeface="Cambria Math" panose="02040503050406030204" pitchFamily="18" charset="0"/>
                        </a:rPr>
                        <m:t>state</m:t>
                      </m:r>
                      <m:r>
                        <m:rPr>
                          <m:nor/>
                        </m:rPr>
                        <a:rPr lang="en-US" altLang="zh-TW" b="0" i="0" smtClean="0">
                          <a:latin typeface="Cambria Math" panose="02040503050406030204" pitchFamily="18" charset="0"/>
                        </a:rPr>
                        <m:t> </m:t>
                      </m:r>
                      <m:r>
                        <m:rPr>
                          <m:nor/>
                        </m:rPr>
                        <a:rPr lang="en-US" altLang="zh-TW">
                          <a:latin typeface="Cambria Math" panose="02040503050406030204" pitchFamily="18" charset="0"/>
                        </a:rPr>
                        <m:t>dimension</m:t>
                      </m:r>
                    </m:oMath>
                  </m:oMathPara>
                </a14:m>
                <a:endParaRPr lang="en-US" altLang="zh-TW" dirty="0"/>
              </a:p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a:rPr lang="en-US" altLang="zh-TW" b="0" i="1" smtClean="0">
                          <a:latin typeface="Cambria Math" panose="02040503050406030204" pitchFamily="18" charset="0"/>
                        </a:rPr>
                        <m:t>𝑖</m:t>
                      </m:r>
                      <m:r>
                        <a:rPr lang="en-US" altLang="zh-TW" i="1">
                          <a:latin typeface="Cambria Math" panose="02040503050406030204" pitchFamily="18" charset="0"/>
                        </a:rPr>
                        <m:t>=</m:t>
                      </m:r>
                      <m:r>
                        <m:rPr>
                          <m:nor/>
                        </m:rPr>
                        <a:rPr lang="en-US" altLang="zh-TW">
                          <a:latin typeface="Cambria Math" panose="02040503050406030204" pitchFamily="18" charset="0"/>
                        </a:rPr>
                        <m:t>head</m:t>
                      </m:r>
                      <m:r>
                        <m:rPr>
                          <m:nor/>
                        </m:rPr>
                        <a:rPr lang="en-US" altLang="zh-TW">
                          <a:latin typeface="Cambria Math" panose="02040503050406030204" pitchFamily="18" charset="0"/>
                        </a:rPr>
                        <m:t> </m:t>
                      </m:r>
                      <m:r>
                        <m:rPr>
                          <m:nor/>
                        </m:rPr>
                        <a:rPr lang="en-US" altLang="zh-TW">
                          <a:latin typeface="Cambria Math" panose="02040503050406030204" pitchFamily="18" charset="0"/>
                        </a:rPr>
                        <m:t>index</m:t>
                      </m:r>
                      <m:r>
                        <m:rPr>
                          <m:nor/>
                        </m:rPr>
                        <a:rPr lang="en-US" altLang="zh-TW">
                          <a:latin typeface="Cambria Math" panose="02040503050406030204" pitchFamily="18" charset="0"/>
                        </a:rPr>
                        <m:t> </m:t>
                      </m:r>
                      <m:r>
                        <m:rPr>
                          <m:nor/>
                        </m:rPr>
                        <a:rPr lang="en-US" altLang="zh-TW">
                          <a:latin typeface="Cambria Math" panose="02040503050406030204" pitchFamily="18" charset="0"/>
                        </a:rPr>
                        <m:t>shift</m:t>
                      </m:r>
                    </m:oMath>
                  </m:oMathPara>
                </a14:m>
                <a:endParaRPr lang="en-US" altLang="zh-TW" dirty="0"/>
              </a:p>
              <a:p>
                <a14:m>
                  <m:oMath xmlns:m="http://schemas.openxmlformats.org/officeDocument/2006/math">
                    <m:sSup>
                      <m:sSupPr>
                        <m:ctrlPr>
                          <a:rPr lang="en-US" altLang="zh-TW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altLang="zh-TW" b="0" i="1" smtClean="0">
                            <a:latin typeface="Cambria Math" panose="02040503050406030204" pitchFamily="18" charset="0"/>
                          </a:rPr>
                          <m:t>h</m:t>
                        </m:r>
                      </m:e>
                      <m:sup>
                        <m:r>
                          <a:rPr lang="en-US" altLang="zh-TW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</m:sup>
                    </m:sSup>
                    <m:r>
                      <a:rPr lang="en-US" altLang="zh-TW" i="1">
                        <a:latin typeface="Cambria Math" panose="02040503050406030204" pitchFamily="18" charset="0"/>
                      </a:rPr>
                      <m:t>=</m:t>
                    </m:r>
                    <m:r>
                      <m:rPr>
                        <m:nor/>
                      </m:rPr>
                      <a:rPr lang="en-US" altLang="zh-TW" b="0" i="0" smtClean="0">
                        <a:latin typeface="Cambria Math" panose="02040503050406030204" pitchFamily="18" charset="0"/>
                      </a:rPr>
                      <m:t>teacher</m:t>
                    </m:r>
                    <m:r>
                      <m:rPr>
                        <m:nor/>
                      </m:rPr>
                      <a:rPr lang="en-US" altLang="zh-TW" b="0" i="0" smtClean="0">
                        <a:latin typeface="Cambria Math" panose="02040503050406030204" pitchFamily="18" charset="0"/>
                      </a:rPr>
                      <m:t> </m:t>
                    </m:r>
                    <m:r>
                      <m:rPr>
                        <m:nor/>
                      </m:rPr>
                      <a:rPr lang="en-US" altLang="zh-TW">
                        <a:latin typeface="Cambria Math" panose="02040503050406030204" pitchFamily="18" charset="0"/>
                      </a:rPr>
                      <m:t>hidden</m:t>
                    </m:r>
                    <m:r>
                      <m:rPr>
                        <m:nor/>
                      </m:rPr>
                      <a:rPr lang="en-US" altLang="zh-TW" b="0" i="0" smtClean="0">
                        <a:latin typeface="Cambria Math" panose="02040503050406030204" pitchFamily="18" charset="0"/>
                      </a:rPr>
                      <m:t> </m:t>
                    </m:r>
                    <m:r>
                      <m:rPr>
                        <m:nor/>
                      </m:rPr>
                      <a:rPr lang="en-US" altLang="zh-TW" b="0" i="0" smtClean="0">
                        <a:latin typeface="Cambria Math" panose="02040503050406030204" pitchFamily="18" charset="0"/>
                      </a:rPr>
                      <m:t>state</m:t>
                    </m:r>
                  </m:oMath>
                </a14:m>
                <a:r>
                  <a:rPr lang="en-US" altLang="zh-TW" dirty="0"/>
                  <a:t> </a:t>
                </a:r>
              </a:p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sSup>
                        <m:sSupPr>
                          <m:ctrlPr>
                            <a:rPr lang="en-US" altLang="zh-TW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altLang="zh-TW" b="0" i="1" smtClean="0">
                              <a:latin typeface="Cambria Math" panose="02040503050406030204" pitchFamily="18" charset="0"/>
                            </a:rPr>
                            <m:t>h</m:t>
                          </m:r>
                        </m:e>
                        <m:sup>
                          <m:r>
                            <a:rPr lang="en-US" altLang="zh-TW" b="0" i="1" smtClean="0">
                              <a:latin typeface="Cambria Math" panose="02040503050406030204" pitchFamily="18" charset="0"/>
                            </a:rPr>
                            <m:t>𝑠</m:t>
                          </m:r>
                        </m:sup>
                      </m:sSup>
                      <m:r>
                        <a:rPr lang="en-US" altLang="zh-TW" i="1">
                          <a:latin typeface="Cambria Math" panose="02040503050406030204" pitchFamily="18" charset="0"/>
                        </a:rPr>
                        <m:t>=</m:t>
                      </m:r>
                      <m:r>
                        <m:rPr>
                          <m:nor/>
                        </m:rPr>
                        <a:rPr lang="en-US" altLang="zh-TW" b="0" i="0" smtClean="0">
                          <a:latin typeface="Cambria Math" panose="02040503050406030204" pitchFamily="18" charset="0"/>
                        </a:rPr>
                        <m:t>student</m:t>
                      </m:r>
                      <m:r>
                        <m:rPr>
                          <m:nor/>
                        </m:rPr>
                        <a:rPr lang="en-US" altLang="zh-TW" b="0" i="1" smtClean="0">
                          <a:latin typeface="Cambria Math" panose="02040503050406030204" pitchFamily="18" charset="0"/>
                        </a:rPr>
                        <m:t> </m:t>
                      </m:r>
                      <m:r>
                        <m:rPr>
                          <m:nor/>
                        </m:rPr>
                        <a:rPr lang="en-US" altLang="zh-TW">
                          <a:latin typeface="Cambria Math" panose="02040503050406030204" pitchFamily="18" charset="0"/>
                        </a:rPr>
                        <m:t>hidden</m:t>
                      </m:r>
                      <m:r>
                        <m:rPr>
                          <m:nor/>
                        </m:rPr>
                        <a:rPr lang="en-US" altLang="zh-TW" b="0" i="0" smtClean="0">
                          <a:latin typeface="Cambria Math" panose="02040503050406030204" pitchFamily="18" charset="0"/>
                        </a:rPr>
                        <m:t> </m:t>
                      </m:r>
                      <m:r>
                        <m:rPr>
                          <m:nor/>
                        </m:rPr>
                        <a:rPr lang="en-US" altLang="zh-TW">
                          <a:latin typeface="Cambria Math" panose="02040503050406030204" pitchFamily="18" charset="0"/>
                        </a:rPr>
                        <m:t>state</m:t>
                      </m:r>
                    </m:oMath>
                  </m:oMathPara>
                </a14:m>
                <a:endParaRPr lang="en-US" altLang="zh-TW" dirty="0"/>
              </a:p>
            </p:txBody>
          </p:sp>
        </mc:Choice>
        <mc:Fallback xmlns="">
          <p:sp>
            <p:nvSpPr>
              <p:cNvPr id="22" name="文字方塊 21">
                <a:extLst>
                  <a:ext uri="{FF2B5EF4-FFF2-40B4-BE49-F238E27FC236}">
                    <a16:creationId xmlns:a16="http://schemas.microsoft.com/office/drawing/2014/main" id="{A7A73503-B096-1CB1-8ADB-B48E423BB0E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31520" y="3429000"/>
                <a:ext cx="2816477" cy="1384995"/>
              </a:xfrm>
              <a:prstGeom prst="rect">
                <a:avLst/>
              </a:prstGeom>
              <a:blipFill>
                <a:blip r:embed="rId4"/>
                <a:stretch>
                  <a:fillRect l="-3030" t="-881" r="-433" b="-441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6611112"/>
            <a:ext cx="12191695" cy="246888"/>
          </a:xfrm>
          <a:prstGeom prst="rect">
            <a:avLst/>
          </a:prstGeom>
          <a:solidFill>
            <a:srgbClr val="5B839B"/>
          </a:solidFill>
          <a:ln w="12700">
            <a:solidFill>
              <a:srgbClr val="5B839B"/>
            </a:solidFill>
            <a:prstDash val="solid"/>
          </a:ln>
        </p:spPr>
        <p:txBody>
          <a:bodyPr/>
          <a:lstStyle/>
          <a:p>
            <a:endParaRPr lang="zh-TW" altLang="en-US" dirty="0"/>
          </a:p>
        </p:txBody>
      </p:sp>
      <p:sp>
        <p:nvSpPr>
          <p:cNvPr id="3" name="Text 1"/>
          <p:cNvSpPr/>
          <p:nvPr/>
        </p:nvSpPr>
        <p:spPr>
          <a:xfrm>
            <a:off x="11441927" y="6629400"/>
            <a:ext cx="536713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200" dirty="0">
                <a:solidFill>
                  <a:srgbClr val="FFFFFF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17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0" y="2496312"/>
            <a:ext cx="12191695" cy="676656"/>
          </a:xfrm>
          <a:prstGeom prst="rect">
            <a:avLst/>
          </a:prstGeom>
          <a:solidFill>
            <a:srgbClr val="5B839B"/>
          </a:solidFill>
          <a:ln w="12700">
            <a:solidFill>
              <a:srgbClr val="5B839B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457200" y="2660904"/>
            <a:ext cx="1127455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FFFFFF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Experiment results</a:t>
            </a:r>
            <a:endParaRPr lang="en-US" sz="2000" dirty="0"/>
          </a:p>
        </p:txBody>
      </p:sp>
      <p:sp>
        <p:nvSpPr>
          <p:cNvPr id="9" name="Text 7"/>
          <p:cNvSpPr/>
          <p:nvPr/>
        </p:nvSpPr>
        <p:spPr>
          <a:xfrm>
            <a:off x="5623560" y="4361688"/>
            <a:ext cx="914400" cy="1188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540" dirty="0">
                <a:solidFill>
                  <a:srgbClr val="FFFFFF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FOUR</a:t>
            </a:r>
            <a:endParaRPr lang="en-US" sz="54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6611112"/>
            <a:ext cx="12191695" cy="246888"/>
          </a:xfrm>
          <a:prstGeom prst="rect">
            <a:avLst/>
          </a:prstGeom>
          <a:solidFill>
            <a:srgbClr val="5B839B"/>
          </a:solidFill>
          <a:ln w="12700">
            <a:solidFill>
              <a:srgbClr val="5B839B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3" name="Text 1"/>
          <p:cNvSpPr/>
          <p:nvPr/>
        </p:nvSpPr>
        <p:spPr>
          <a:xfrm>
            <a:off x="11549849" y="6629400"/>
            <a:ext cx="428791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200" dirty="0">
                <a:solidFill>
                  <a:srgbClr val="FFFFFF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Noto Sans CJK TC" pitchFamily="34" charset="-120"/>
              </a:rPr>
              <a:t>12</a:t>
            </a:r>
            <a:endParaRPr lang="en-US" sz="1200" dirty="0"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4" name="Text 2"/>
          <p:cNvSpPr/>
          <p:nvPr/>
        </p:nvSpPr>
        <p:spPr>
          <a:xfrm>
            <a:off x="347472" y="274320"/>
            <a:ext cx="30175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altLang="zh-TW" b="1" dirty="0">
                <a:solidFill>
                  <a:srgbClr val="1B2E3A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Part4: Experiment results</a:t>
            </a:r>
            <a:endParaRPr lang="en-US" altLang="zh-TW" dirty="0"/>
          </a:p>
        </p:txBody>
      </p:sp>
      <p:sp>
        <p:nvSpPr>
          <p:cNvPr id="5" name="Text 3"/>
          <p:cNvSpPr/>
          <p:nvPr/>
        </p:nvSpPr>
        <p:spPr>
          <a:xfrm>
            <a:off x="347472" y="457200"/>
            <a:ext cx="79552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rgbClr val="60707A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Noto Sans CJK TC" pitchFamily="34" charset="-120"/>
              </a:rPr>
              <a:t>Evaluation metrics</a:t>
            </a:r>
            <a:endParaRPr lang="en-US" sz="1600" dirty="0"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7" name="Shape 5"/>
          <p:cNvSpPr/>
          <p:nvPr/>
        </p:nvSpPr>
        <p:spPr>
          <a:xfrm>
            <a:off x="347472" y="749808"/>
            <a:ext cx="11475720" cy="0"/>
          </a:xfrm>
          <a:prstGeom prst="line">
            <a:avLst/>
          </a:prstGeom>
          <a:noFill/>
          <a:ln w="12700">
            <a:solidFill>
              <a:srgbClr val="C8D6DE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graphicFrame>
        <p:nvGraphicFramePr>
          <p:cNvPr id="29" name="表格 28">
            <a:extLst>
              <a:ext uri="{FF2B5EF4-FFF2-40B4-BE49-F238E27FC236}">
                <a16:creationId xmlns:a16="http://schemas.microsoft.com/office/drawing/2014/main" id="{330D437E-2C43-3467-413B-E55AA94050B5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363364041"/>
              </p:ext>
            </p:extLst>
          </p:nvPr>
        </p:nvGraphicFramePr>
        <p:xfrm>
          <a:off x="494811" y="1181303"/>
          <a:ext cx="11202378" cy="4740099"/>
        </p:xfrm>
        <a:graphic>
          <a:graphicData uri="http://schemas.openxmlformats.org/drawingml/2006/table">
            <a:tbl>
              <a:tblPr firstRow="1" bandRow="1">
                <a:tableStyleId>{5FD0F851-EC5A-4D38-B0AD-8093EC10F338}</a:tableStyleId>
              </a:tblPr>
              <a:tblGrid>
                <a:gridCol w="2674517">
                  <a:extLst>
                    <a:ext uri="{9D8B030D-6E8A-4147-A177-3AD203B41FA5}">
                      <a16:colId xmlns:a16="http://schemas.microsoft.com/office/drawing/2014/main" val="1065077904"/>
                    </a:ext>
                  </a:extLst>
                </a:gridCol>
                <a:gridCol w="5921406">
                  <a:extLst>
                    <a:ext uri="{9D8B030D-6E8A-4147-A177-3AD203B41FA5}">
                      <a16:colId xmlns:a16="http://schemas.microsoft.com/office/drawing/2014/main" val="978672596"/>
                    </a:ext>
                  </a:extLst>
                </a:gridCol>
                <a:gridCol w="2606455">
                  <a:extLst>
                    <a:ext uri="{9D8B030D-6E8A-4147-A177-3AD203B41FA5}">
                      <a16:colId xmlns:a16="http://schemas.microsoft.com/office/drawing/2014/main" val="1651558404"/>
                    </a:ext>
                  </a:extLst>
                </a:gridCol>
              </a:tblGrid>
              <a:tr h="677157">
                <a:tc>
                  <a:txBody>
                    <a:bodyPr/>
                    <a:lstStyle/>
                    <a:p>
                      <a:pPr algn="ctr"/>
                      <a:r>
                        <a:rPr lang="en-US" altLang="zh-TW" dirty="0"/>
                        <a:t>Metric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dirty="0"/>
                        <a:t>Definition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zh-TW" altLang="en-US" dirty="0"/>
                        <a:t>備註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619705471"/>
                  </a:ext>
                </a:extLst>
              </a:tr>
              <a:tr h="677157">
                <a:tc>
                  <a:txBody>
                    <a:bodyPr/>
                    <a:lstStyle/>
                    <a:p>
                      <a:pPr algn="l"/>
                      <a:r>
                        <a:rPr lang="en-US" altLang="zh-TW" sz="1600" dirty="0"/>
                        <a:t>Oracle PPL head 1~K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lang="zh-TW" altLang="en-US" sz="1600" dirty="0"/>
                        <a:t>各 </a:t>
                      </a:r>
                      <a:r>
                        <a:rPr lang="en-US" altLang="zh-TW" sz="1600" dirty="0"/>
                        <a:t>head </a:t>
                      </a:r>
                      <a:r>
                        <a:rPr lang="zh-TW" altLang="en-US" sz="1600" dirty="0"/>
                        <a:t>在 </a:t>
                      </a:r>
                      <a:r>
                        <a:rPr lang="en-US" altLang="zh-TW" sz="1600" dirty="0"/>
                        <a:t>token prediction </a:t>
                      </a:r>
                      <a:r>
                        <a:rPr lang="zh-TW" altLang="en-US" sz="1600" dirty="0"/>
                        <a:t>上的 </a:t>
                      </a:r>
                      <a:r>
                        <a:rPr lang="en-US" altLang="zh-TW" sz="1600" dirty="0"/>
                        <a:t>perplexity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/>
                      <a:endParaRPr lang="zh-TW" altLang="en-US" sz="160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063415258"/>
                  </a:ext>
                </a:extLst>
              </a:tr>
              <a:tr h="677157">
                <a:tc>
                  <a:txBody>
                    <a:bodyPr/>
                    <a:lstStyle/>
                    <a:p>
                      <a:pPr algn="l"/>
                      <a:r>
                        <a:rPr lang="en-US" altLang="zh-TW" sz="1600" dirty="0"/>
                        <a:t>Avg Draft Token Accepted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lang="zh-TW" altLang="en-US" sz="1600" dirty="0"/>
                        <a:t>不同 </a:t>
                      </a:r>
                      <a:r>
                        <a:rPr lang="en-US" altLang="zh-TW" sz="1600" dirty="0"/>
                        <a:t>prefix(prompt) length </a:t>
                      </a:r>
                      <a:r>
                        <a:rPr lang="zh-TW" altLang="en-US" sz="1600" dirty="0"/>
                        <a:t>下的 </a:t>
                      </a:r>
                      <a:r>
                        <a:rPr lang="en-US" altLang="zh-TW" sz="1600" dirty="0"/>
                        <a:t>accepted tokens per forward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altLang="zh-TW" sz="1600" dirty="0"/>
                        <a:t>prefix length </a:t>
                      </a:r>
                      <a:r>
                        <a:rPr lang="zh-TW" altLang="en-US" sz="1600" dirty="0"/>
                        <a:t>從</a:t>
                      </a:r>
                      <a:r>
                        <a:rPr lang="en-US" altLang="zh-TW" sz="1600" dirty="0"/>
                        <a:t>1~1024</a:t>
                      </a:r>
                      <a:r>
                        <a:rPr lang="zh-TW" altLang="en-US" sz="1600" dirty="0"/>
                        <a:t>依次遞增加總取平均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380944447"/>
                  </a:ext>
                </a:extLst>
              </a:tr>
              <a:tr h="677157">
                <a:tc>
                  <a:txBody>
                    <a:bodyPr/>
                    <a:lstStyle/>
                    <a:p>
                      <a:r>
                        <a:rPr lang="en-US" altLang="zh-TW" sz="1600" dirty="0"/>
                        <a:t>Avg Draft Tokens Accepted vs. Prefix Length</a:t>
                      </a:r>
                      <a:endParaRPr lang="zh-TW" altLang="en-US" sz="16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lang="zh-TW" altLang="en-US" sz="1600" dirty="0"/>
                        <a:t>不同 </a:t>
                      </a:r>
                      <a:r>
                        <a:rPr lang="en-US" altLang="zh-TW" sz="1600" dirty="0"/>
                        <a:t>prefix(prompt) length </a:t>
                      </a:r>
                      <a:r>
                        <a:rPr lang="zh-TW" altLang="en-US" sz="1600" dirty="0"/>
                        <a:t>下的 </a:t>
                      </a:r>
                      <a:r>
                        <a:rPr lang="en-US" altLang="zh-TW" sz="1600" dirty="0"/>
                        <a:t>accepted tokens per forward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altLang="zh-TW" sz="1600" dirty="0"/>
                        <a:t>128, 256, 512, 768 length with random continue slicing</a:t>
                      </a:r>
                      <a:endParaRPr lang="zh-TW" altLang="en-US" sz="160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818520907"/>
                  </a:ext>
                </a:extLst>
              </a:tr>
              <a:tr h="677157">
                <a:tc>
                  <a:txBody>
                    <a:bodyPr/>
                    <a:lstStyle/>
                    <a:p>
                      <a:pPr algn="l"/>
                      <a:r>
                        <a:rPr lang="en-US" altLang="zh-TW" sz="1600" dirty="0"/>
                        <a:t>Generative PPL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lang="zh-TW" altLang="en-US" sz="1600" dirty="0"/>
                        <a:t>生成文字由外部 </a:t>
                      </a:r>
                      <a:r>
                        <a:rPr lang="en-US" altLang="zh-TW" sz="1600" dirty="0"/>
                        <a:t>LM </a:t>
                      </a:r>
                      <a:r>
                        <a:rPr lang="zh-TW" altLang="en-US" sz="1600" dirty="0"/>
                        <a:t>評估的 </a:t>
                      </a:r>
                      <a:r>
                        <a:rPr lang="en-US" altLang="zh-TW" sz="1600" dirty="0"/>
                        <a:t>perplexity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600" dirty="0"/>
                        <a:t>LM</a:t>
                      </a:r>
                      <a:r>
                        <a:rPr lang="zh-TW" altLang="en-US" sz="1600" dirty="0"/>
                        <a:t>使用</a:t>
                      </a:r>
                      <a:r>
                        <a:rPr lang="en-US" altLang="zh-TW" sz="1600" dirty="0"/>
                        <a:t>gpt2-large, </a:t>
                      </a:r>
                      <a:r>
                        <a:rPr lang="zh-TW" altLang="en-US" sz="1600" dirty="0"/>
                        <a:t>生成</a:t>
                      </a:r>
                      <a:r>
                        <a:rPr lang="en-US" altLang="zh-TW" sz="1600" dirty="0"/>
                        <a:t>200 response</a:t>
                      </a:r>
                      <a:endParaRPr lang="zh-TW" altLang="en-US" sz="160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659289110"/>
                  </a:ext>
                </a:extLst>
              </a:tr>
              <a:tr h="677157">
                <a:tc>
                  <a:txBody>
                    <a:bodyPr/>
                    <a:lstStyle/>
                    <a:p>
                      <a:pPr algn="l"/>
                      <a:r>
                        <a:rPr lang="en-US" altLang="zh-TW" sz="1600" dirty="0"/>
                        <a:t>Entropy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lang="zh-TW" altLang="en-US" sz="1600" dirty="0"/>
                        <a:t>生成分佈的不確定性 </a:t>
                      </a:r>
                      <a:r>
                        <a:rPr lang="en-US" altLang="zh-TW" sz="1600" dirty="0"/>
                        <a:t>/ </a:t>
                      </a:r>
                      <a:r>
                        <a:rPr lang="zh-TW" altLang="en-US" sz="1600" dirty="0"/>
                        <a:t>多樣性指標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lang="zh-TW" altLang="en-US" sz="1600" dirty="0"/>
                        <a:t>生成</a:t>
                      </a:r>
                      <a:r>
                        <a:rPr lang="en-US" altLang="zh-TW" sz="1600" dirty="0"/>
                        <a:t>200 response</a:t>
                      </a:r>
                      <a:endParaRPr lang="zh-TW" altLang="en-US" sz="160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4164976817"/>
                  </a:ext>
                </a:extLst>
              </a:tr>
              <a:tr h="677157">
                <a:tc>
                  <a:txBody>
                    <a:bodyPr/>
                    <a:lstStyle/>
                    <a:p>
                      <a:pPr algn="l"/>
                      <a:r>
                        <a:rPr lang="en-US" altLang="zh-TW" sz="1600" dirty="0"/>
                        <a:t>4-gram repetition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lang="zh-TW" altLang="en-US" sz="1600" dirty="0"/>
                        <a:t>生成文字重複程度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zh-TW" altLang="en-US" sz="1600" dirty="0"/>
                        <a:t>生成</a:t>
                      </a:r>
                      <a:r>
                        <a:rPr lang="en-US" altLang="zh-TW" sz="1600" dirty="0"/>
                        <a:t>200 response</a:t>
                      </a:r>
                      <a:endParaRPr lang="zh-TW" altLang="en-US" sz="160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792297587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6611112"/>
            <a:ext cx="12191695" cy="246888"/>
          </a:xfrm>
          <a:prstGeom prst="rect">
            <a:avLst/>
          </a:prstGeom>
          <a:solidFill>
            <a:srgbClr val="5B839B"/>
          </a:solidFill>
          <a:ln w="12700">
            <a:solidFill>
              <a:srgbClr val="5B839B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11425561" y="6629400"/>
            <a:ext cx="553079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200" dirty="0">
                <a:solidFill>
                  <a:srgbClr val="FFFFFF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18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347472" y="274320"/>
            <a:ext cx="30175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b="1" dirty="0">
                <a:solidFill>
                  <a:srgbClr val="1B2E3A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Part4: Experiment results</a:t>
            </a:r>
            <a:endParaRPr lang="en-US" dirty="0"/>
          </a:p>
        </p:txBody>
      </p:sp>
      <p:sp>
        <p:nvSpPr>
          <p:cNvPr id="5" name="Text 3"/>
          <p:cNvSpPr/>
          <p:nvPr/>
        </p:nvSpPr>
        <p:spPr>
          <a:xfrm>
            <a:off x="347472" y="457200"/>
            <a:ext cx="79552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rgbClr val="60707A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Formal 1.3B comparison — SDC+LCM vs. baseline. Oracle PPL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347472" y="749808"/>
            <a:ext cx="11475720" cy="0"/>
          </a:xfrm>
          <a:prstGeom prst="line">
            <a:avLst/>
          </a:prstGeom>
          <a:noFill/>
          <a:ln w="12700">
            <a:solidFill>
              <a:srgbClr val="C8D6DE"/>
            </a:solidFill>
            <a:prstDash val="solid"/>
          </a:ln>
        </p:spPr>
      </p:sp>
      <p:graphicFrame>
        <p:nvGraphicFramePr>
          <p:cNvPr id="45" name="表格 44">
            <a:extLst>
              <a:ext uri="{FF2B5EF4-FFF2-40B4-BE49-F238E27FC236}">
                <a16:creationId xmlns:a16="http://schemas.microsoft.com/office/drawing/2014/main" id="{BA3C4AD7-4912-5CD1-B4D0-610C78A295AD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790810299"/>
              </p:ext>
            </p:extLst>
          </p:nvPr>
        </p:nvGraphicFramePr>
        <p:xfrm>
          <a:off x="347472" y="1008835"/>
          <a:ext cx="11475720" cy="4508990"/>
        </p:xfrm>
        <a:graphic>
          <a:graphicData uri="http://schemas.openxmlformats.org/drawingml/2006/table">
            <a:tbl>
              <a:tblPr firstRow="1" bandRow="1">
                <a:tableStyleId>{5FD0F851-EC5A-4D38-B0AD-8093EC10F338}</a:tableStyleId>
              </a:tblPr>
              <a:tblGrid>
                <a:gridCol w="2868930">
                  <a:extLst>
                    <a:ext uri="{9D8B030D-6E8A-4147-A177-3AD203B41FA5}">
                      <a16:colId xmlns:a16="http://schemas.microsoft.com/office/drawing/2014/main" val="2798033119"/>
                    </a:ext>
                  </a:extLst>
                </a:gridCol>
                <a:gridCol w="2868930">
                  <a:extLst>
                    <a:ext uri="{9D8B030D-6E8A-4147-A177-3AD203B41FA5}">
                      <a16:colId xmlns:a16="http://schemas.microsoft.com/office/drawing/2014/main" val="2302720759"/>
                    </a:ext>
                  </a:extLst>
                </a:gridCol>
                <a:gridCol w="2868930">
                  <a:extLst>
                    <a:ext uri="{9D8B030D-6E8A-4147-A177-3AD203B41FA5}">
                      <a16:colId xmlns:a16="http://schemas.microsoft.com/office/drawing/2014/main" val="3196848465"/>
                    </a:ext>
                  </a:extLst>
                </a:gridCol>
                <a:gridCol w="2868930">
                  <a:extLst>
                    <a:ext uri="{9D8B030D-6E8A-4147-A177-3AD203B41FA5}">
                      <a16:colId xmlns:a16="http://schemas.microsoft.com/office/drawing/2014/main" val="119275881"/>
                    </a:ext>
                  </a:extLst>
                </a:gridCol>
              </a:tblGrid>
              <a:tr h="901798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600" dirty="0"/>
                        <a:t>Metric</a:t>
                      </a:r>
                      <a:endParaRPr lang="zh-TW" altLang="en-US" sz="16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600" dirty="0"/>
                        <a:t>SDC+LCM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600" dirty="0"/>
                        <a:t>baseline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600" dirty="0"/>
                        <a:t>Improvement</a:t>
                      </a:r>
                      <a:endParaRPr lang="zh-TW" altLang="en-US" sz="160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708462793"/>
                  </a:ext>
                </a:extLst>
              </a:tr>
              <a:tr h="901798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600" dirty="0"/>
                        <a:t>PPL head 1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600" dirty="0"/>
                        <a:t>19.1695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600" dirty="0"/>
                        <a:t>19.4293</a:t>
                      </a:r>
                      <a:endParaRPr lang="zh-TW" altLang="en-US" sz="16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600" dirty="0"/>
                        <a:t>1.34% 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863181710"/>
                  </a:ext>
                </a:extLst>
              </a:tr>
              <a:tr h="901798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600" dirty="0"/>
                        <a:t>PPL head 2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600" dirty="0"/>
                        <a:t>83.7266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600" dirty="0"/>
                        <a:t>87.2351</a:t>
                      </a:r>
                      <a:endParaRPr lang="zh-TW" altLang="en-US" sz="16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600" dirty="0"/>
                        <a:t>4.02% 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274358862"/>
                  </a:ext>
                </a:extLst>
              </a:tr>
              <a:tr h="901798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600" dirty="0"/>
                        <a:t>PPL head 3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600" dirty="0"/>
                        <a:t>189.2825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600" dirty="0"/>
                        <a:t>200.0813</a:t>
                      </a:r>
                      <a:endParaRPr lang="zh-TW" altLang="en-US" sz="16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600" dirty="0"/>
                        <a:t>5.40% 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570447526"/>
                  </a:ext>
                </a:extLst>
              </a:tr>
              <a:tr h="901798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600" dirty="0"/>
                        <a:t>PPL head 4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600" dirty="0"/>
                        <a:t>299.5625</a:t>
                      </a:r>
                      <a:endParaRPr lang="zh-TW" altLang="en-US" sz="16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600" dirty="0"/>
                        <a:t>318.3247</a:t>
                      </a:r>
                      <a:endParaRPr lang="zh-TW" altLang="en-US" sz="16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600" dirty="0"/>
                        <a:t>5.89% 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428410621"/>
                  </a:ext>
                </a:extLst>
              </a:tr>
            </a:tbl>
          </a:graphicData>
        </a:graphic>
      </p:graphicFrame>
      <p:sp>
        <p:nvSpPr>
          <p:cNvPr id="6" name="文字方塊 5">
            <a:extLst>
              <a:ext uri="{FF2B5EF4-FFF2-40B4-BE49-F238E27FC236}">
                <a16:creationId xmlns:a16="http://schemas.microsoft.com/office/drawing/2014/main" id="{16C0230B-EEBF-E83E-AE74-AC4C0C9423D5}"/>
              </a:ext>
            </a:extLst>
          </p:cNvPr>
          <p:cNvSpPr txBox="1"/>
          <p:nvPr/>
        </p:nvSpPr>
        <p:spPr>
          <a:xfrm>
            <a:off x="9721048" y="461072"/>
            <a:ext cx="2281561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TW" sz="1400" dirty="0"/>
              <a:t>10B token for training model</a:t>
            </a:r>
            <a:endParaRPr lang="zh-TW" altLang="en-US" sz="14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DE5FE34-DE46-7C88-B2CA-423CE3CBC9D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>
            <a:extLst>
              <a:ext uri="{FF2B5EF4-FFF2-40B4-BE49-F238E27FC236}">
                <a16:creationId xmlns:a16="http://schemas.microsoft.com/office/drawing/2014/main" id="{E911295E-14F7-A3E3-7F73-D0AC8AA92512}"/>
              </a:ext>
            </a:extLst>
          </p:cNvPr>
          <p:cNvSpPr/>
          <p:nvPr/>
        </p:nvSpPr>
        <p:spPr>
          <a:xfrm>
            <a:off x="0" y="6611112"/>
            <a:ext cx="12191695" cy="246888"/>
          </a:xfrm>
          <a:prstGeom prst="rect">
            <a:avLst/>
          </a:prstGeom>
          <a:solidFill>
            <a:srgbClr val="5B839B"/>
          </a:solidFill>
          <a:ln w="12700">
            <a:solidFill>
              <a:srgbClr val="5B839B"/>
            </a:solidFill>
            <a:prstDash val="solid"/>
          </a:ln>
        </p:spPr>
      </p:sp>
      <p:sp>
        <p:nvSpPr>
          <p:cNvPr id="3" name="Text 1">
            <a:extLst>
              <a:ext uri="{FF2B5EF4-FFF2-40B4-BE49-F238E27FC236}">
                <a16:creationId xmlns:a16="http://schemas.microsoft.com/office/drawing/2014/main" id="{BB09BBF0-0944-77A9-2EE8-522B6A687624}"/>
              </a:ext>
            </a:extLst>
          </p:cNvPr>
          <p:cNvSpPr/>
          <p:nvPr/>
        </p:nvSpPr>
        <p:spPr>
          <a:xfrm>
            <a:off x="11425561" y="6629400"/>
            <a:ext cx="553079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200" dirty="0">
                <a:solidFill>
                  <a:srgbClr val="FFFFFF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19</a:t>
            </a:r>
            <a:endParaRPr lang="en-US" sz="1200" dirty="0"/>
          </a:p>
        </p:txBody>
      </p:sp>
      <p:sp>
        <p:nvSpPr>
          <p:cNvPr id="4" name="Text 2">
            <a:extLst>
              <a:ext uri="{FF2B5EF4-FFF2-40B4-BE49-F238E27FC236}">
                <a16:creationId xmlns:a16="http://schemas.microsoft.com/office/drawing/2014/main" id="{C082DBD3-0B65-4922-4D07-0351417E50B6}"/>
              </a:ext>
            </a:extLst>
          </p:cNvPr>
          <p:cNvSpPr/>
          <p:nvPr/>
        </p:nvSpPr>
        <p:spPr>
          <a:xfrm>
            <a:off x="347472" y="274320"/>
            <a:ext cx="30175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b="1" dirty="0">
                <a:solidFill>
                  <a:srgbClr val="1B2E3A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Part4: Experiment results</a:t>
            </a:r>
            <a:endParaRPr lang="en-US" dirty="0"/>
          </a:p>
        </p:txBody>
      </p:sp>
      <p:sp>
        <p:nvSpPr>
          <p:cNvPr id="5" name="Text 3">
            <a:extLst>
              <a:ext uri="{FF2B5EF4-FFF2-40B4-BE49-F238E27FC236}">
                <a16:creationId xmlns:a16="http://schemas.microsoft.com/office/drawing/2014/main" id="{CC75DBB6-392C-1A1E-D200-1F2F0804F4D4}"/>
              </a:ext>
            </a:extLst>
          </p:cNvPr>
          <p:cNvSpPr/>
          <p:nvPr/>
        </p:nvSpPr>
        <p:spPr>
          <a:xfrm>
            <a:off x="347472" y="457200"/>
            <a:ext cx="79552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rgbClr val="60707A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Formal 1.3B comparison — SDC+LCM vs. baseline. Avg Draft Tokens Accepted </a:t>
            </a:r>
            <a:endParaRPr lang="en-US" sz="1600" dirty="0"/>
          </a:p>
        </p:txBody>
      </p:sp>
      <p:sp>
        <p:nvSpPr>
          <p:cNvPr id="7" name="Shape 5">
            <a:extLst>
              <a:ext uri="{FF2B5EF4-FFF2-40B4-BE49-F238E27FC236}">
                <a16:creationId xmlns:a16="http://schemas.microsoft.com/office/drawing/2014/main" id="{F24BEE52-C35A-EC62-029C-0FE6E0AA77ED}"/>
              </a:ext>
            </a:extLst>
          </p:cNvPr>
          <p:cNvSpPr/>
          <p:nvPr/>
        </p:nvSpPr>
        <p:spPr>
          <a:xfrm>
            <a:off x="347472" y="749808"/>
            <a:ext cx="11475720" cy="0"/>
          </a:xfrm>
          <a:prstGeom prst="line">
            <a:avLst/>
          </a:prstGeom>
          <a:noFill/>
          <a:ln w="12700">
            <a:solidFill>
              <a:srgbClr val="C8D6DE"/>
            </a:solidFill>
            <a:prstDash val="solid"/>
          </a:ln>
        </p:spPr>
      </p:sp>
      <p:graphicFrame>
        <p:nvGraphicFramePr>
          <p:cNvPr id="45" name="表格 44">
            <a:extLst>
              <a:ext uri="{FF2B5EF4-FFF2-40B4-BE49-F238E27FC236}">
                <a16:creationId xmlns:a16="http://schemas.microsoft.com/office/drawing/2014/main" id="{644F6D47-7C0E-64ED-B35D-637766B3B793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87361294"/>
              </p:ext>
            </p:extLst>
          </p:nvPr>
        </p:nvGraphicFramePr>
        <p:xfrm>
          <a:off x="347471" y="1008834"/>
          <a:ext cx="11475720" cy="5410788"/>
        </p:xfrm>
        <a:graphic>
          <a:graphicData uri="http://schemas.openxmlformats.org/drawingml/2006/table">
            <a:tbl>
              <a:tblPr firstRow="1" bandRow="1">
                <a:tableStyleId>{5FD0F851-EC5A-4D38-B0AD-8093EC10F338}</a:tableStyleId>
              </a:tblPr>
              <a:tblGrid>
                <a:gridCol w="2868930">
                  <a:extLst>
                    <a:ext uri="{9D8B030D-6E8A-4147-A177-3AD203B41FA5}">
                      <a16:colId xmlns:a16="http://schemas.microsoft.com/office/drawing/2014/main" val="2798033119"/>
                    </a:ext>
                  </a:extLst>
                </a:gridCol>
                <a:gridCol w="2868930">
                  <a:extLst>
                    <a:ext uri="{9D8B030D-6E8A-4147-A177-3AD203B41FA5}">
                      <a16:colId xmlns:a16="http://schemas.microsoft.com/office/drawing/2014/main" val="2302720759"/>
                    </a:ext>
                  </a:extLst>
                </a:gridCol>
                <a:gridCol w="2868930">
                  <a:extLst>
                    <a:ext uri="{9D8B030D-6E8A-4147-A177-3AD203B41FA5}">
                      <a16:colId xmlns:a16="http://schemas.microsoft.com/office/drawing/2014/main" val="3196848465"/>
                    </a:ext>
                  </a:extLst>
                </a:gridCol>
                <a:gridCol w="2868930">
                  <a:extLst>
                    <a:ext uri="{9D8B030D-6E8A-4147-A177-3AD203B41FA5}">
                      <a16:colId xmlns:a16="http://schemas.microsoft.com/office/drawing/2014/main" val="119275881"/>
                    </a:ext>
                  </a:extLst>
                </a:gridCol>
              </a:tblGrid>
              <a:tr h="901798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600" dirty="0"/>
                        <a:t>Metric</a:t>
                      </a:r>
                      <a:endParaRPr lang="zh-TW" altLang="en-US" sz="16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600" dirty="0"/>
                        <a:t>SDC+LCM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600" dirty="0"/>
                        <a:t>baseline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600" dirty="0"/>
                        <a:t>Improvement</a:t>
                      </a:r>
                      <a:endParaRPr lang="zh-TW" altLang="en-US" sz="160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708462793"/>
                  </a:ext>
                </a:extLst>
              </a:tr>
              <a:tr h="901798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600" dirty="0"/>
                        <a:t>Avg Draft Tokens Accepted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600" dirty="0"/>
                        <a:t>0.7302 ± 0.0000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600" dirty="0"/>
                        <a:t>0.7010 ± 0.0000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600" dirty="0"/>
                        <a:t>4.17%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863181710"/>
                  </a:ext>
                </a:extLst>
              </a:tr>
              <a:tr h="901798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600" dirty="0"/>
                        <a:t>Prefix 128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600" dirty="0"/>
                        <a:t>0.9653 ± 0.0401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600" dirty="0"/>
                        <a:t>0.9117 ± 0.0205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600" dirty="0"/>
                        <a:t>5.88%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274358862"/>
                  </a:ext>
                </a:extLst>
              </a:tr>
              <a:tr h="901798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600" dirty="0"/>
                        <a:t>Prefix 256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600" dirty="0"/>
                        <a:t>0.9873 ± 0.0063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600" dirty="0"/>
                        <a:t>0.9458 ± 0.0068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600" dirty="0"/>
                        <a:t>4.39%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570447526"/>
                  </a:ext>
                </a:extLst>
              </a:tr>
              <a:tr h="901798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600" dirty="0"/>
                        <a:t>Prefix 512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600" dirty="0"/>
                        <a:t>1.0158 ± 0.0309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600" dirty="0"/>
                        <a:t>0.9689 ± 0.0221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600" dirty="0"/>
                        <a:t>4.84%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428410621"/>
                  </a:ext>
                </a:extLst>
              </a:tr>
              <a:tr h="901798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600" dirty="0"/>
                        <a:t>Prefix 768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600" dirty="0"/>
                        <a:t>1.0272 ± 0.0250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600" dirty="0"/>
                        <a:t>0.9760 ± 0.0222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600" dirty="0"/>
                        <a:t>5.25%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4003051542"/>
                  </a:ext>
                </a:extLst>
              </a:tr>
            </a:tbl>
          </a:graphicData>
        </a:graphic>
      </p:graphicFrame>
      <p:sp>
        <p:nvSpPr>
          <p:cNvPr id="8" name="文字方塊 7">
            <a:extLst>
              <a:ext uri="{FF2B5EF4-FFF2-40B4-BE49-F238E27FC236}">
                <a16:creationId xmlns:a16="http://schemas.microsoft.com/office/drawing/2014/main" id="{C07697EA-B5B2-1B66-1F61-022F3AA7ABFC}"/>
              </a:ext>
            </a:extLst>
          </p:cNvPr>
          <p:cNvSpPr txBox="1"/>
          <p:nvPr/>
        </p:nvSpPr>
        <p:spPr>
          <a:xfrm>
            <a:off x="9721048" y="461072"/>
            <a:ext cx="2281561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TW" sz="1400" dirty="0"/>
              <a:t>10B token for training model</a:t>
            </a:r>
            <a:endParaRPr lang="zh-TW" altLang="en-US" sz="1400" dirty="0"/>
          </a:p>
        </p:txBody>
      </p:sp>
    </p:spTree>
    <p:extLst>
      <p:ext uri="{BB962C8B-B14F-4D97-AF65-F5344CB8AC3E}">
        <p14:creationId xmlns:p14="http://schemas.microsoft.com/office/powerpoint/2010/main" val="3843784318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E58BB6E-12E1-EEA8-0713-F9D387D7994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>
            <a:extLst>
              <a:ext uri="{FF2B5EF4-FFF2-40B4-BE49-F238E27FC236}">
                <a16:creationId xmlns:a16="http://schemas.microsoft.com/office/drawing/2014/main" id="{E6CA5463-EEDE-FD64-F0DD-618D2BC98B90}"/>
              </a:ext>
            </a:extLst>
          </p:cNvPr>
          <p:cNvSpPr/>
          <p:nvPr/>
        </p:nvSpPr>
        <p:spPr>
          <a:xfrm>
            <a:off x="0" y="6611112"/>
            <a:ext cx="12191695" cy="246888"/>
          </a:xfrm>
          <a:prstGeom prst="rect">
            <a:avLst/>
          </a:prstGeom>
          <a:solidFill>
            <a:srgbClr val="5B839B"/>
          </a:solidFill>
          <a:ln w="12700">
            <a:solidFill>
              <a:srgbClr val="5B839B"/>
            </a:solidFill>
            <a:prstDash val="solid"/>
          </a:ln>
        </p:spPr>
      </p:sp>
      <p:sp>
        <p:nvSpPr>
          <p:cNvPr id="3" name="Text 1">
            <a:extLst>
              <a:ext uri="{FF2B5EF4-FFF2-40B4-BE49-F238E27FC236}">
                <a16:creationId xmlns:a16="http://schemas.microsoft.com/office/drawing/2014/main" id="{EE5EE915-09D5-98ED-49AB-507EFF513C55}"/>
              </a:ext>
            </a:extLst>
          </p:cNvPr>
          <p:cNvSpPr/>
          <p:nvPr/>
        </p:nvSpPr>
        <p:spPr>
          <a:xfrm>
            <a:off x="11425561" y="6629400"/>
            <a:ext cx="553079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200" dirty="0">
                <a:solidFill>
                  <a:srgbClr val="FFFFFF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20</a:t>
            </a:r>
            <a:endParaRPr lang="en-US" sz="1200" dirty="0"/>
          </a:p>
        </p:txBody>
      </p:sp>
      <p:sp>
        <p:nvSpPr>
          <p:cNvPr id="4" name="Text 2">
            <a:extLst>
              <a:ext uri="{FF2B5EF4-FFF2-40B4-BE49-F238E27FC236}">
                <a16:creationId xmlns:a16="http://schemas.microsoft.com/office/drawing/2014/main" id="{3843D7CA-621D-7EE6-6819-0CB19A95C099}"/>
              </a:ext>
            </a:extLst>
          </p:cNvPr>
          <p:cNvSpPr/>
          <p:nvPr/>
        </p:nvSpPr>
        <p:spPr>
          <a:xfrm>
            <a:off x="347472" y="274320"/>
            <a:ext cx="30175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b="1" dirty="0">
                <a:solidFill>
                  <a:srgbClr val="1B2E3A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Part4: Experiment results</a:t>
            </a:r>
            <a:endParaRPr lang="en-US" dirty="0"/>
          </a:p>
        </p:txBody>
      </p:sp>
      <p:sp>
        <p:nvSpPr>
          <p:cNvPr id="5" name="Text 3">
            <a:extLst>
              <a:ext uri="{FF2B5EF4-FFF2-40B4-BE49-F238E27FC236}">
                <a16:creationId xmlns:a16="http://schemas.microsoft.com/office/drawing/2014/main" id="{030C3F48-773A-B085-028F-766629FFA22A}"/>
              </a:ext>
            </a:extLst>
          </p:cNvPr>
          <p:cNvSpPr/>
          <p:nvPr/>
        </p:nvSpPr>
        <p:spPr>
          <a:xfrm>
            <a:off x="347472" y="457200"/>
            <a:ext cx="1019032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rgbClr val="60707A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Formal 1.3B comparison — SDC+LCM vs. baseline. Generative quality</a:t>
            </a:r>
          </a:p>
        </p:txBody>
      </p:sp>
      <p:sp>
        <p:nvSpPr>
          <p:cNvPr id="7" name="Shape 5">
            <a:extLst>
              <a:ext uri="{FF2B5EF4-FFF2-40B4-BE49-F238E27FC236}">
                <a16:creationId xmlns:a16="http://schemas.microsoft.com/office/drawing/2014/main" id="{5BC0ECBE-93FD-66A9-9FD9-351765D31D19}"/>
              </a:ext>
            </a:extLst>
          </p:cNvPr>
          <p:cNvSpPr/>
          <p:nvPr/>
        </p:nvSpPr>
        <p:spPr>
          <a:xfrm>
            <a:off x="347472" y="749808"/>
            <a:ext cx="11475720" cy="0"/>
          </a:xfrm>
          <a:prstGeom prst="line">
            <a:avLst/>
          </a:prstGeom>
          <a:noFill/>
          <a:ln w="12700">
            <a:solidFill>
              <a:srgbClr val="C8D6DE"/>
            </a:solidFill>
            <a:prstDash val="solid"/>
          </a:ln>
        </p:spPr>
      </p:sp>
      <p:graphicFrame>
        <p:nvGraphicFramePr>
          <p:cNvPr id="45" name="表格 44">
            <a:extLst>
              <a:ext uri="{FF2B5EF4-FFF2-40B4-BE49-F238E27FC236}">
                <a16:creationId xmlns:a16="http://schemas.microsoft.com/office/drawing/2014/main" id="{1CFAD70E-BDD4-5EE7-564F-0FBA22FA13E0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730960667"/>
              </p:ext>
            </p:extLst>
          </p:nvPr>
        </p:nvGraphicFramePr>
        <p:xfrm>
          <a:off x="347471" y="1008834"/>
          <a:ext cx="11475720" cy="3607192"/>
        </p:xfrm>
        <a:graphic>
          <a:graphicData uri="http://schemas.openxmlformats.org/drawingml/2006/table">
            <a:tbl>
              <a:tblPr firstRow="1" bandRow="1">
                <a:tableStyleId>{5FD0F851-EC5A-4D38-B0AD-8093EC10F338}</a:tableStyleId>
              </a:tblPr>
              <a:tblGrid>
                <a:gridCol w="2868930">
                  <a:extLst>
                    <a:ext uri="{9D8B030D-6E8A-4147-A177-3AD203B41FA5}">
                      <a16:colId xmlns:a16="http://schemas.microsoft.com/office/drawing/2014/main" val="2798033119"/>
                    </a:ext>
                  </a:extLst>
                </a:gridCol>
                <a:gridCol w="2868930">
                  <a:extLst>
                    <a:ext uri="{9D8B030D-6E8A-4147-A177-3AD203B41FA5}">
                      <a16:colId xmlns:a16="http://schemas.microsoft.com/office/drawing/2014/main" val="2302720759"/>
                    </a:ext>
                  </a:extLst>
                </a:gridCol>
                <a:gridCol w="2868930">
                  <a:extLst>
                    <a:ext uri="{9D8B030D-6E8A-4147-A177-3AD203B41FA5}">
                      <a16:colId xmlns:a16="http://schemas.microsoft.com/office/drawing/2014/main" val="3196848465"/>
                    </a:ext>
                  </a:extLst>
                </a:gridCol>
                <a:gridCol w="2868930">
                  <a:extLst>
                    <a:ext uri="{9D8B030D-6E8A-4147-A177-3AD203B41FA5}">
                      <a16:colId xmlns:a16="http://schemas.microsoft.com/office/drawing/2014/main" val="119275881"/>
                    </a:ext>
                  </a:extLst>
                </a:gridCol>
              </a:tblGrid>
              <a:tr h="901798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600" dirty="0"/>
                        <a:t>Metric</a:t>
                      </a:r>
                      <a:endParaRPr lang="zh-TW" altLang="en-US" sz="16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600" dirty="0"/>
                        <a:t>SDC+LCM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600" dirty="0"/>
                        <a:t>baseline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600" dirty="0"/>
                        <a:t>Improvement</a:t>
                      </a:r>
                      <a:endParaRPr lang="zh-TW" altLang="en-US" sz="160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708462793"/>
                  </a:ext>
                </a:extLst>
              </a:tr>
              <a:tr h="901798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600" dirty="0"/>
                        <a:t>Generative PPL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600" dirty="0"/>
                        <a:t>18.7180 ± 0.8276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600" dirty="0"/>
                        <a:t>39.5580 ± 0.9425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600" dirty="0"/>
                        <a:t>52.68%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863181710"/>
                  </a:ext>
                </a:extLst>
              </a:tr>
              <a:tr h="901798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600" dirty="0"/>
                        <a:t>Entropy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600" dirty="0"/>
                        <a:t>6.8620 ± 0.0202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600" dirty="0"/>
                        <a:t>7.3223 ± 0.0351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600" dirty="0"/>
                        <a:t>6.29%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274358862"/>
                  </a:ext>
                </a:extLst>
              </a:tr>
              <a:tr h="901798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600" dirty="0"/>
                        <a:t>4-gram repetition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600" dirty="0"/>
                        <a:t>0.0526 ± 0.0147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600" dirty="0"/>
                        <a:t>0.0229 ± 0.0084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600" dirty="0"/>
                        <a:t>-130.17%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570447526"/>
                  </a:ext>
                </a:extLst>
              </a:tr>
            </a:tbl>
          </a:graphicData>
        </a:graphic>
      </p:graphicFrame>
      <p:sp>
        <p:nvSpPr>
          <p:cNvPr id="11" name="箭號: 向下 10">
            <a:extLst>
              <a:ext uri="{FF2B5EF4-FFF2-40B4-BE49-F238E27FC236}">
                <a16:creationId xmlns:a16="http://schemas.microsoft.com/office/drawing/2014/main" id="{326E9213-DDA1-48B0-0D84-4563C83B6684}"/>
              </a:ext>
            </a:extLst>
          </p:cNvPr>
          <p:cNvSpPr/>
          <p:nvPr/>
        </p:nvSpPr>
        <p:spPr>
          <a:xfrm>
            <a:off x="11027546" y="3105630"/>
            <a:ext cx="150920" cy="363985"/>
          </a:xfrm>
          <a:prstGeom prst="downArrow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12" name="箭號: 向下 11">
            <a:extLst>
              <a:ext uri="{FF2B5EF4-FFF2-40B4-BE49-F238E27FC236}">
                <a16:creationId xmlns:a16="http://schemas.microsoft.com/office/drawing/2014/main" id="{36EB1FBE-BD9F-7FE2-D17B-A428A3E7FB80}"/>
              </a:ext>
            </a:extLst>
          </p:cNvPr>
          <p:cNvSpPr/>
          <p:nvPr/>
        </p:nvSpPr>
        <p:spPr>
          <a:xfrm>
            <a:off x="11027546" y="3998922"/>
            <a:ext cx="150920" cy="363985"/>
          </a:xfrm>
          <a:prstGeom prst="downArrow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13" name="箭號: 向下 12">
            <a:extLst>
              <a:ext uri="{FF2B5EF4-FFF2-40B4-BE49-F238E27FC236}">
                <a16:creationId xmlns:a16="http://schemas.microsoft.com/office/drawing/2014/main" id="{AD875A98-4ED0-5E69-A914-8BD51E633B46}"/>
              </a:ext>
            </a:extLst>
          </p:cNvPr>
          <p:cNvSpPr/>
          <p:nvPr/>
        </p:nvSpPr>
        <p:spPr>
          <a:xfrm rot="10800000">
            <a:off x="11027546" y="2212338"/>
            <a:ext cx="150920" cy="363985"/>
          </a:xfrm>
          <a:prstGeom prst="downArrow">
            <a:avLst/>
          </a:prstGeom>
          <a:solidFill>
            <a:srgbClr val="00B05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8" name="文字方塊 7">
            <a:extLst>
              <a:ext uri="{FF2B5EF4-FFF2-40B4-BE49-F238E27FC236}">
                <a16:creationId xmlns:a16="http://schemas.microsoft.com/office/drawing/2014/main" id="{FBD7964B-012C-314B-D6DD-18E3C6C882C8}"/>
              </a:ext>
            </a:extLst>
          </p:cNvPr>
          <p:cNvSpPr txBox="1"/>
          <p:nvPr/>
        </p:nvSpPr>
        <p:spPr>
          <a:xfrm>
            <a:off x="9721048" y="461072"/>
            <a:ext cx="2281561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TW" sz="1400" dirty="0"/>
              <a:t>10B token for training model</a:t>
            </a:r>
            <a:endParaRPr lang="zh-TW" altLang="en-US" sz="1400" dirty="0"/>
          </a:p>
        </p:txBody>
      </p:sp>
    </p:spTree>
    <p:extLst>
      <p:ext uri="{BB962C8B-B14F-4D97-AF65-F5344CB8AC3E}">
        <p14:creationId xmlns:p14="http://schemas.microsoft.com/office/powerpoint/2010/main" val="3540542347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6611112"/>
            <a:ext cx="12191695" cy="246888"/>
          </a:xfrm>
          <a:prstGeom prst="rect">
            <a:avLst/>
          </a:prstGeom>
          <a:solidFill>
            <a:srgbClr val="5B839B"/>
          </a:solidFill>
          <a:ln w="12700">
            <a:solidFill>
              <a:srgbClr val="5B839B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47472" y="274320"/>
            <a:ext cx="30175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b="1" dirty="0">
                <a:solidFill>
                  <a:srgbClr val="1B2E3A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Part4: Experiment results</a:t>
            </a:r>
            <a:endParaRPr lang="en-US" dirty="0"/>
          </a:p>
        </p:txBody>
      </p:sp>
      <p:sp>
        <p:nvSpPr>
          <p:cNvPr id="5" name="Text 3"/>
          <p:cNvSpPr/>
          <p:nvPr/>
        </p:nvSpPr>
        <p:spPr>
          <a:xfrm>
            <a:off x="347471" y="457200"/>
            <a:ext cx="9373577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altLang="zh-TW" sz="1600" dirty="0">
                <a:solidFill>
                  <a:srgbClr val="60707A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Formal 1.3B comparison — SDC+LCM vs. baseline. </a:t>
            </a:r>
            <a:r>
              <a:rPr lang="en-US" sz="1600" dirty="0">
                <a:solidFill>
                  <a:srgbClr val="60707A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Zero-shot PPL improvement by head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347472" y="749808"/>
            <a:ext cx="11475720" cy="0"/>
          </a:xfrm>
          <a:prstGeom prst="line">
            <a:avLst/>
          </a:prstGeom>
          <a:noFill/>
          <a:ln w="12700">
            <a:solidFill>
              <a:srgbClr val="C8D6DE"/>
            </a:solidFill>
            <a:prstDash val="solid"/>
          </a:ln>
        </p:spPr>
      </p:sp>
      <p:sp>
        <p:nvSpPr>
          <p:cNvPr id="55" name="Text 1">
            <a:extLst>
              <a:ext uri="{FF2B5EF4-FFF2-40B4-BE49-F238E27FC236}">
                <a16:creationId xmlns:a16="http://schemas.microsoft.com/office/drawing/2014/main" id="{8216F9A1-FFD7-3D36-0CD9-2D2EB55541BF}"/>
              </a:ext>
            </a:extLst>
          </p:cNvPr>
          <p:cNvSpPr/>
          <p:nvPr/>
        </p:nvSpPr>
        <p:spPr>
          <a:xfrm>
            <a:off x="11425561" y="6629400"/>
            <a:ext cx="553079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200" dirty="0">
                <a:solidFill>
                  <a:srgbClr val="FFFFFF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21</a:t>
            </a:r>
            <a:endParaRPr lang="en-US" sz="1200" dirty="0"/>
          </a:p>
        </p:txBody>
      </p:sp>
      <p:graphicFrame>
        <p:nvGraphicFramePr>
          <p:cNvPr id="56" name="表格 55">
            <a:extLst>
              <a:ext uri="{FF2B5EF4-FFF2-40B4-BE49-F238E27FC236}">
                <a16:creationId xmlns:a16="http://schemas.microsoft.com/office/drawing/2014/main" id="{C6C3DFB3-B9F6-12A4-6F5E-A47320FF6C89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949501019"/>
              </p:ext>
            </p:extLst>
          </p:nvPr>
        </p:nvGraphicFramePr>
        <p:xfrm>
          <a:off x="347470" y="1020570"/>
          <a:ext cx="11475720" cy="4525410"/>
        </p:xfrm>
        <a:graphic>
          <a:graphicData uri="http://schemas.openxmlformats.org/drawingml/2006/table">
            <a:tbl>
              <a:tblPr firstRow="1" bandRow="1">
                <a:tableStyleId>{5FD0F851-EC5A-4D38-B0AD-8093EC10F338}</a:tableStyleId>
              </a:tblPr>
              <a:tblGrid>
                <a:gridCol w="1912620">
                  <a:extLst>
                    <a:ext uri="{9D8B030D-6E8A-4147-A177-3AD203B41FA5}">
                      <a16:colId xmlns:a16="http://schemas.microsoft.com/office/drawing/2014/main" val="2880323015"/>
                    </a:ext>
                  </a:extLst>
                </a:gridCol>
                <a:gridCol w="1273223">
                  <a:extLst>
                    <a:ext uri="{9D8B030D-6E8A-4147-A177-3AD203B41FA5}">
                      <a16:colId xmlns:a16="http://schemas.microsoft.com/office/drawing/2014/main" val="3421584875"/>
                    </a:ext>
                  </a:extLst>
                </a:gridCol>
                <a:gridCol w="1207363">
                  <a:extLst>
                    <a:ext uri="{9D8B030D-6E8A-4147-A177-3AD203B41FA5}">
                      <a16:colId xmlns:a16="http://schemas.microsoft.com/office/drawing/2014/main" val="1184110547"/>
                    </a:ext>
                  </a:extLst>
                </a:gridCol>
                <a:gridCol w="1233996">
                  <a:extLst>
                    <a:ext uri="{9D8B030D-6E8A-4147-A177-3AD203B41FA5}">
                      <a16:colId xmlns:a16="http://schemas.microsoft.com/office/drawing/2014/main" val="3781708433"/>
                    </a:ext>
                  </a:extLst>
                </a:gridCol>
                <a:gridCol w="1358283">
                  <a:extLst>
                    <a:ext uri="{9D8B030D-6E8A-4147-A177-3AD203B41FA5}">
                      <a16:colId xmlns:a16="http://schemas.microsoft.com/office/drawing/2014/main" val="107327293"/>
                    </a:ext>
                  </a:extLst>
                </a:gridCol>
                <a:gridCol w="4490235">
                  <a:extLst>
                    <a:ext uri="{9D8B030D-6E8A-4147-A177-3AD203B41FA5}">
                      <a16:colId xmlns:a16="http://schemas.microsoft.com/office/drawing/2014/main" val="2185817678"/>
                    </a:ext>
                  </a:extLst>
                </a:gridCol>
              </a:tblGrid>
              <a:tr h="754235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800" dirty="0"/>
                        <a:t>Dataset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dirty="0"/>
                        <a:t>Head 1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dirty="0"/>
                        <a:t>Head 2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dirty="0"/>
                        <a:t>Head 3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dirty="0"/>
                        <a:t>Head 4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dirty="0"/>
                        <a:t>Observation</a:t>
                      </a:r>
                      <a:endParaRPr lang="zh-TW" altLang="en-US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57095099"/>
                  </a:ext>
                </a:extLst>
              </a:tr>
              <a:tr h="754235">
                <a:tc>
                  <a:txBody>
                    <a:bodyPr/>
                    <a:lstStyle/>
                    <a:p>
                      <a:pPr algn="ctr"/>
                      <a:r>
                        <a:rPr lang="en-US" altLang="zh-TW" dirty="0" err="1"/>
                        <a:t>Wikitext</a:t>
                      </a:r>
                      <a:endParaRPr lang="en-US" altLang="zh-TW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dirty="0"/>
                        <a:t>0.32%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dirty="0"/>
                        <a:t>7.57%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dirty="0"/>
                        <a:t>7.19%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dirty="0"/>
                        <a:t>5.62%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endParaRPr lang="zh-TW" altLang="en-US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4165766225"/>
                  </a:ext>
                </a:extLst>
              </a:tr>
              <a:tr h="754235">
                <a:tc>
                  <a:txBody>
                    <a:bodyPr/>
                    <a:lstStyle/>
                    <a:p>
                      <a:pPr algn="ctr"/>
                      <a:r>
                        <a:rPr lang="en-US" altLang="zh-TW" dirty="0"/>
                        <a:t>PTB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dirty="0"/>
                        <a:t>13.82%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dirty="0"/>
                        <a:t>9.90%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dirty="0"/>
                        <a:t>10.53%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dirty="0"/>
                        <a:t>5.63%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endParaRPr lang="zh-TW" altLang="en-US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088568622"/>
                  </a:ext>
                </a:extLst>
              </a:tr>
              <a:tr h="754235">
                <a:tc>
                  <a:txBody>
                    <a:bodyPr/>
                    <a:lstStyle/>
                    <a:p>
                      <a:pPr algn="ctr"/>
                      <a:r>
                        <a:rPr lang="en-US" altLang="zh-TW" dirty="0"/>
                        <a:t>Lambada</a:t>
                      </a:r>
                      <a:endParaRPr lang="zh-TW" altLang="en-US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dirty="0"/>
                        <a:t>38.53%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dirty="0"/>
                        <a:t>10.43%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dirty="0"/>
                        <a:t>4.44%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dirty="0"/>
                        <a:t>3.27%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endParaRPr lang="zh-TW" altLang="en-US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427155248"/>
                  </a:ext>
                </a:extLst>
              </a:tr>
              <a:tr h="754235">
                <a:tc>
                  <a:txBody>
                    <a:bodyPr/>
                    <a:lstStyle/>
                    <a:p>
                      <a:pPr algn="ctr"/>
                      <a:r>
                        <a:rPr lang="en-US" altLang="zh-TW" dirty="0" err="1"/>
                        <a:t>Arxiv</a:t>
                      </a:r>
                      <a:endParaRPr lang="en-US" altLang="zh-TW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dirty="0"/>
                        <a:t>1.48%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dirty="0"/>
                        <a:t>3.94%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dirty="0"/>
                        <a:t>3.71%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dirty="0"/>
                        <a:t>0.27%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endParaRPr lang="zh-TW" altLang="en-US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678960123"/>
                  </a:ext>
                </a:extLst>
              </a:tr>
              <a:tr h="754235">
                <a:tc>
                  <a:txBody>
                    <a:bodyPr/>
                    <a:lstStyle/>
                    <a:p>
                      <a:pPr algn="ctr"/>
                      <a:r>
                        <a:rPr lang="en-US" altLang="zh-TW" dirty="0"/>
                        <a:t>PubMed</a:t>
                      </a:r>
                      <a:endParaRPr lang="zh-TW" altLang="en-US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dirty="0"/>
                        <a:t>7.04%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dirty="0"/>
                        <a:t>7.76%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dirty="0"/>
                        <a:t>8.33%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dirty="0"/>
                        <a:t>8.26%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endParaRPr lang="zh-TW" altLang="en-US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531699260"/>
                  </a:ext>
                </a:extLst>
              </a:tr>
            </a:tbl>
          </a:graphicData>
        </a:graphic>
      </p:graphicFrame>
      <p:sp>
        <p:nvSpPr>
          <p:cNvPr id="6" name="文字方塊 5">
            <a:extLst>
              <a:ext uri="{FF2B5EF4-FFF2-40B4-BE49-F238E27FC236}">
                <a16:creationId xmlns:a16="http://schemas.microsoft.com/office/drawing/2014/main" id="{E213558D-FE79-D2C2-D5BC-62F0FD05A71E}"/>
              </a:ext>
            </a:extLst>
          </p:cNvPr>
          <p:cNvSpPr txBox="1"/>
          <p:nvPr/>
        </p:nvSpPr>
        <p:spPr>
          <a:xfrm>
            <a:off x="9721048" y="461072"/>
            <a:ext cx="2281561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TW" sz="1400" dirty="0"/>
              <a:t>10B token for training model</a:t>
            </a:r>
            <a:endParaRPr lang="zh-TW" altLang="en-US" sz="14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47419F2-D775-11DD-65F0-55862AE4368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>
            <a:extLst>
              <a:ext uri="{FF2B5EF4-FFF2-40B4-BE49-F238E27FC236}">
                <a16:creationId xmlns:a16="http://schemas.microsoft.com/office/drawing/2014/main" id="{8C74057B-3D30-9F3D-E41F-6830E6880007}"/>
              </a:ext>
            </a:extLst>
          </p:cNvPr>
          <p:cNvSpPr/>
          <p:nvPr/>
        </p:nvSpPr>
        <p:spPr>
          <a:xfrm>
            <a:off x="0" y="6611112"/>
            <a:ext cx="12191695" cy="246888"/>
          </a:xfrm>
          <a:prstGeom prst="rect">
            <a:avLst/>
          </a:prstGeom>
          <a:solidFill>
            <a:srgbClr val="5B839B"/>
          </a:solidFill>
          <a:ln w="12700">
            <a:solidFill>
              <a:srgbClr val="5B839B"/>
            </a:solidFill>
            <a:prstDash val="solid"/>
          </a:ln>
        </p:spPr>
      </p:sp>
      <p:sp>
        <p:nvSpPr>
          <p:cNvPr id="4" name="Text 2">
            <a:extLst>
              <a:ext uri="{FF2B5EF4-FFF2-40B4-BE49-F238E27FC236}">
                <a16:creationId xmlns:a16="http://schemas.microsoft.com/office/drawing/2014/main" id="{EC7B687B-4163-746E-180C-40D5A59918C7}"/>
              </a:ext>
            </a:extLst>
          </p:cNvPr>
          <p:cNvSpPr/>
          <p:nvPr/>
        </p:nvSpPr>
        <p:spPr>
          <a:xfrm>
            <a:off x="347472" y="274320"/>
            <a:ext cx="30175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b="1" dirty="0">
                <a:solidFill>
                  <a:srgbClr val="1B2E3A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Part4: Experiment results</a:t>
            </a:r>
            <a:endParaRPr lang="en-US" dirty="0"/>
          </a:p>
        </p:txBody>
      </p:sp>
      <p:sp>
        <p:nvSpPr>
          <p:cNvPr id="5" name="Text 3">
            <a:extLst>
              <a:ext uri="{FF2B5EF4-FFF2-40B4-BE49-F238E27FC236}">
                <a16:creationId xmlns:a16="http://schemas.microsoft.com/office/drawing/2014/main" id="{F6DEC72A-1451-5822-DFB1-366706CBC0CC}"/>
              </a:ext>
            </a:extLst>
          </p:cNvPr>
          <p:cNvSpPr/>
          <p:nvPr/>
        </p:nvSpPr>
        <p:spPr>
          <a:xfrm>
            <a:off x="347471" y="457200"/>
            <a:ext cx="9373577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600" dirty="0">
                <a:solidFill>
                  <a:schemeClr val="bg1">
                    <a:lumMod val="50000"/>
                  </a:schemeClr>
                </a:solidFill>
              </a:rPr>
              <a:t>Ablation study — Oracle PPL </a:t>
            </a:r>
          </a:p>
        </p:txBody>
      </p:sp>
      <p:sp>
        <p:nvSpPr>
          <p:cNvPr id="7" name="Shape 5">
            <a:extLst>
              <a:ext uri="{FF2B5EF4-FFF2-40B4-BE49-F238E27FC236}">
                <a16:creationId xmlns:a16="http://schemas.microsoft.com/office/drawing/2014/main" id="{217D31D8-00E8-7BA1-5BC5-889B65E73C3B}"/>
              </a:ext>
            </a:extLst>
          </p:cNvPr>
          <p:cNvSpPr/>
          <p:nvPr/>
        </p:nvSpPr>
        <p:spPr>
          <a:xfrm>
            <a:off x="347472" y="749808"/>
            <a:ext cx="11475720" cy="0"/>
          </a:xfrm>
          <a:prstGeom prst="line">
            <a:avLst/>
          </a:prstGeom>
          <a:noFill/>
          <a:ln w="12700">
            <a:solidFill>
              <a:srgbClr val="C8D6DE"/>
            </a:solidFill>
            <a:prstDash val="solid"/>
          </a:ln>
        </p:spPr>
      </p:sp>
      <p:sp>
        <p:nvSpPr>
          <p:cNvPr id="55" name="Text 1">
            <a:extLst>
              <a:ext uri="{FF2B5EF4-FFF2-40B4-BE49-F238E27FC236}">
                <a16:creationId xmlns:a16="http://schemas.microsoft.com/office/drawing/2014/main" id="{713D0A59-A09E-B3C3-F7B0-8F1861BD2D8D}"/>
              </a:ext>
            </a:extLst>
          </p:cNvPr>
          <p:cNvSpPr/>
          <p:nvPr/>
        </p:nvSpPr>
        <p:spPr>
          <a:xfrm>
            <a:off x="11425561" y="6629400"/>
            <a:ext cx="553079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200" dirty="0">
                <a:solidFill>
                  <a:srgbClr val="FFFFFF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22</a:t>
            </a:r>
            <a:endParaRPr lang="en-US" sz="1200" dirty="0"/>
          </a:p>
        </p:txBody>
      </p:sp>
      <p:graphicFrame>
        <p:nvGraphicFramePr>
          <p:cNvPr id="56" name="表格 55">
            <a:extLst>
              <a:ext uri="{FF2B5EF4-FFF2-40B4-BE49-F238E27FC236}">
                <a16:creationId xmlns:a16="http://schemas.microsoft.com/office/drawing/2014/main" id="{E0D42E36-1191-3073-6607-BE5E045CB04A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029403884"/>
              </p:ext>
            </p:extLst>
          </p:nvPr>
        </p:nvGraphicFramePr>
        <p:xfrm>
          <a:off x="347470" y="1020571"/>
          <a:ext cx="11475720" cy="5251987"/>
        </p:xfrm>
        <a:graphic>
          <a:graphicData uri="http://schemas.openxmlformats.org/drawingml/2006/table">
            <a:tbl>
              <a:tblPr firstRow="1" bandRow="1">
                <a:tableStyleId>{5FD0F851-EC5A-4D38-B0AD-8093EC10F338}</a:tableStyleId>
              </a:tblPr>
              <a:tblGrid>
                <a:gridCol w="3142043">
                  <a:extLst>
                    <a:ext uri="{9D8B030D-6E8A-4147-A177-3AD203B41FA5}">
                      <a16:colId xmlns:a16="http://schemas.microsoft.com/office/drawing/2014/main" val="2880323015"/>
                    </a:ext>
                  </a:extLst>
                </a:gridCol>
                <a:gridCol w="2091644">
                  <a:extLst>
                    <a:ext uri="{9D8B030D-6E8A-4147-A177-3AD203B41FA5}">
                      <a16:colId xmlns:a16="http://schemas.microsoft.com/office/drawing/2014/main" val="3421584875"/>
                    </a:ext>
                  </a:extLst>
                </a:gridCol>
                <a:gridCol w="1983450">
                  <a:extLst>
                    <a:ext uri="{9D8B030D-6E8A-4147-A177-3AD203B41FA5}">
                      <a16:colId xmlns:a16="http://schemas.microsoft.com/office/drawing/2014/main" val="1184110547"/>
                    </a:ext>
                  </a:extLst>
                </a:gridCol>
                <a:gridCol w="2027202">
                  <a:extLst>
                    <a:ext uri="{9D8B030D-6E8A-4147-A177-3AD203B41FA5}">
                      <a16:colId xmlns:a16="http://schemas.microsoft.com/office/drawing/2014/main" val="3781708433"/>
                    </a:ext>
                  </a:extLst>
                </a:gridCol>
                <a:gridCol w="2231381">
                  <a:extLst>
                    <a:ext uri="{9D8B030D-6E8A-4147-A177-3AD203B41FA5}">
                      <a16:colId xmlns:a16="http://schemas.microsoft.com/office/drawing/2014/main" val="107327293"/>
                    </a:ext>
                  </a:extLst>
                </a:gridCol>
              </a:tblGrid>
              <a:tr h="403999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800" dirty="0"/>
                        <a:t>Setting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dirty="0"/>
                        <a:t>Head 1 PPL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dirty="0"/>
                        <a:t>Head 2 PPL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dirty="0"/>
                        <a:t>Head 3 PPL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dirty="0"/>
                        <a:t>Head 4 PPL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57095099"/>
                  </a:ext>
                </a:extLst>
              </a:tr>
              <a:tr h="403999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600" dirty="0"/>
                        <a:t>baseline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zh-TW" sz="1600" dirty="0"/>
                        <a:t>26.2356 ± 0.0000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zh-TW" sz="1600" dirty="0"/>
                        <a:t>121.8033 ± 0.0000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zh-TW" sz="1600" dirty="0"/>
                        <a:t>269.2450 ± 0.0000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zh-TW" sz="1600" dirty="0"/>
                        <a:t>406.6959 ± 0.0000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4165766225"/>
                  </a:ext>
                </a:extLst>
              </a:tr>
              <a:tr h="403999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600" dirty="0">
                          <a:latin typeface="+mn-lt"/>
                          <a:ea typeface="微軟正黑體" panose="020B0604030504040204" pitchFamily="34" charset="-120"/>
                        </a:rPr>
                        <a:t>S</a:t>
                      </a:r>
                      <a:r>
                        <a:rPr lang="en-US" altLang="zh-TW" sz="1600" baseline="-25000" dirty="0">
                          <a:latin typeface="+mn-lt"/>
                          <a:ea typeface="微軟正黑體" panose="020B0604030504040204" pitchFamily="34" charset="-120"/>
                        </a:rPr>
                        <a:t>W</a:t>
                      </a:r>
                      <a:r>
                        <a:rPr lang="en-US" altLang="zh-TW" sz="1600" baseline="0" dirty="0">
                          <a:latin typeface="+mn-lt"/>
                          <a:ea typeface="微軟正黑體" panose="020B0604030504040204" pitchFamily="34" charset="-120"/>
                        </a:rPr>
                        <a:t>=1.0,</a:t>
                      </a:r>
                      <a:r>
                        <a:rPr lang="el-GR" altLang="zh-TW" sz="1600" dirty="0">
                          <a:latin typeface="+mn-lt"/>
                        </a:rPr>
                        <a:t> τ</a:t>
                      </a:r>
                      <a:r>
                        <a:rPr lang="en-US" altLang="zh-TW" sz="1600" dirty="0">
                          <a:latin typeface="+mn-lt"/>
                        </a:rPr>
                        <a:t>=0.0, </a:t>
                      </a:r>
                      <a:r>
                        <a:rPr lang="en-US" altLang="zh-TW" sz="1600" dirty="0">
                          <a:latin typeface="+mn-lt"/>
                          <a:ea typeface="微軟正黑體" panose="020B0604030504040204" pitchFamily="34" charset="-120"/>
                        </a:rPr>
                        <a:t>L</a:t>
                      </a:r>
                      <a:r>
                        <a:rPr lang="en-US" altLang="zh-TW" sz="1600" baseline="-25000" dirty="0">
                          <a:latin typeface="+mn-lt"/>
                          <a:ea typeface="微軟正黑體" panose="020B0604030504040204" pitchFamily="34" charset="-120"/>
                        </a:rPr>
                        <a:t>W</a:t>
                      </a:r>
                      <a:r>
                        <a:rPr lang="en-US" altLang="zh-TW" sz="1600" baseline="0" dirty="0">
                          <a:latin typeface="+mn-lt"/>
                          <a:ea typeface="微軟正黑體" panose="020B0604030504040204" pitchFamily="34" charset="-120"/>
                        </a:rPr>
                        <a:t>=0.0</a:t>
                      </a:r>
                      <a:endParaRPr lang="en-US" altLang="zh-TW" sz="1600" baseline="0" dirty="0">
                        <a:latin typeface="+mn-lt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zh-TW" sz="1600" dirty="0"/>
                        <a:t>26.7541 ± 0.0000</a:t>
                      </a:r>
                    </a:p>
                  </a:txBody>
                  <a:tcPr marL="33472" marR="33472" marT="16736" marB="16736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zh-TW" sz="1600" dirty="0"/>
                        <a:t>120.6687 ± 0.0000</a:t>
                      </a:r>
                    </a:p>
                  </a:txBody>
                  <a:tcPr marL="33472" marR="33472" marT="16736" marB="16736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zh-TW" sz="1600" dirty="0"/>
                        <a:t>261.6664 ± 0.0000</a:t>
                      </a:r>
                    </a:p>
                  </a:txBody>
                  <a:tcPr marL="33472" marR="33472" marT="16736" marB="16736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zh-TW" sz="1600"/>
                        <a:t>394.6503 ± 0.0000</a:t>
                      </a:r>
                    </a:p>
                  </a:txBody>
                  <a:tcPr marL="33472" marR="33472" marT="16736" marB="16736" anchor="ctr"/>
                </a:tc>
                <a:extLst>
                  <a:ext uri="{0D108BD9-81ED-4DB2-BD59-A6C34878D82A}">
                    <a16:rowId xmlns:a16="http://schemas.microsoft.com/office/drawing/2014/main" val="1088568622"/>
                  </a:ext>
                </a:extLst>
              </a:tr>
              <a:tr h="403999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600" dirty="0">
                          <a:latin typeface="+mn-lt"/>
                          <a:ea typeface="微軟正黑體" panose="020B0604030504040204" pitchFamily="34" charset="-120"/>
                        </a:rPr>
                        <a:t>S</a:t>
                      </a:r>
                      <a:r>
                        <a:rPr lang="en-US" altLang="zh-TW" sz="1600" baseline="-25000" dirty="0">
                          <a:latin typeface="+mn-lt"/>
                          <a:ea typeface="微軟正黑體" panose="020B0604030504040204" pitchFamily="34" charset="-120"/>
                        </a:rPr>
                        <a:t>W</a:t>
                      </a:r>
                      <a:r>
                        <a:rPr lang="en-US" altLang="zh-TW" sz="1600" baseline="0" dirty="0">
                          <a:latin typeface="+mn-lt"/>
                          <a:ea typeface="微軟正黑體" panose="020B0604030504040204" pitchFamily="34" charset="-120"/>
                        </a:rPr>
                        <a:t>=1.0,</a:t>
                      </a:r>
                      <a:r>
                        <a:rPr lang="el-GR" altLang="zh-TW" sz="1600" dirty="0">
                          <a:latin typeface="+mn-lt"/>
                        </a:rPr>
                        <a:t> τ</a:t>
                      </a:r>
                      <a:r>
                        <a:rPr lang="en-US" altLang="zh-TW" sz="1600" dirty="0">
                          <a:latin typeface="+mn-lt"/>
                        </a:rPr>
                        <a:t>=0.3, </a:t>
                      </a:r>
                      <a:r>
                        <a:rPr lang="en-US" altLang="zh-TW" sz="1600" dirty="0">
                          <a:latin typeface="+mn-lt"/>
                          <a:ea typeface="微軟正黑體" panose="020B0604030504040204" pitchFamily="34" charset="-120"/>
                        </a:rPr>
                        <a:t>L</a:t>
                      </a:r>
                      <a:r>
                        <a:rPr lang="en-US" altLang="zh-TW" sz="1600" baseline="-25000" dirty="0">
                          <a:latin typeface="+mn-lt"/>
                          <a:ea typeface="微軟正黑體" panose="020B0604030504040204" pitchFamily="34" charset="-120"/>
                        </a:rPr>
                        <a:t>W</a:t>
                      </a:r>
                      <a:r>
                        <a:rPr lang="en-US" altLang="zh-TW" sz="1600" baseline="0" dirty="0">
                          <a:latin typeface="+mn-lt"/>
                          <a:ea typeface="微軟正黑體" panose="020B0604030504040204" pitchFamily="34" charset="-120"/>
                        </a:rPr>
                        <a:t>=0.0</a:t>
                      </a:r>
                      <a:endParaRPr lang="en-US" altLang="zh-TW" sz="1600" baseline="0" dirty="0">
                        <a:latin typeface="+mn-lt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zh-TW" sz="1600" dirty="0"/>
                        <a:t>26.8150 ± 0.0000</a:t>
                      </a:r>
                    </a:p>
                  </a:txBody>
                  <a:tcPr marL="33472" marR="33472" marT="16736" marB="16736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zh-TW" sz="1600" dirty="0"/>
                        <a:t>120.5276 ± 0.0000</a:t>
                      </a:r>
                    </a:p>
                  </a:txBody>
                  <a:tcPr marL="33472" marR="33472" marT="16736" marB="16736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zh-TW" sz="1600" dirty="0"/>
                        <a:t>261.9479 ± 0.0000</a:t>
                      </a:r>
                    </a:p>
                  </a:txBody>
                  <a:tcPr marL="33472" marR="33472" marT="16736" marB="16736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zh-TW" sz="1600" dirty="0"/>
                        <a:t>394.7055 ± 0.0000</a:t>
                      </a:r>
                    </a:p>
                  </a:txBody>
                  <a:tcPr marL="33472" marR="33472" marT="16736" marB="16736" anchor="ctr"/>
                </a:tc>
                <a:extLst>
                  <a:ext uri="{0D108BD9-81ED-4DB2-BD59-A6C34878D82A}">
                    <a16:rowId xmlns:a16="http://schemas.microsoft.com/office/drawing/2014/main" val="3427155248"/>
                  </a:ext>
                </a:extLst>
              </a:tr>
              <a:tr h="403999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600" dirty="0">
                          <a:latin typeface="+mn-lt"/>
                          <a:ea typeface="微軟正黑體" panose="020B0604030504040204" pitchFamily="34" charset="-120"/>
                        </a:rPr>
                        <a:t>S</a:t>
                      </a:r>
                      <a:r>
                        <a:rPr lang="en-US" altLang="zh-TW" sz="1600" baseline="-25000" dirty="0">
                          <a:latin typeface="+mn-lt"/>
                          <a:ea typeface="微軟正黑體" panose="020B0604030504040204" pitchFamily="34" charset="-120"/>
                        </a:rPr>
                        <a:t>W</a:t>
                      </a:r>
                      <a:r>
                        <a:rPr lang="en-US" altLang="zh-TW" sz="1600" baseline="0" dirty="0">
                          <a:latin typeface="+mn-lt"/>
                          <a:ea typeface="微軟正黑體" panose="020B0604030504040204" pitchFamily="34" charset="-120"/>
                        </a:rPr>
                        <a:t>=1.0,</a:t>
                      </a:r>
                      <a:r>
                        <a:rPr lang="el-GR" altLang="zh-TW" sz="1600" dirty="0">
                          <a:latin typeface="+mn-lt"/>
                        </a:rPr>
                        <a:t> τ</a:t>
                      </a:r>
                      <a:r>
                        <a:rPr lang="en-US" altLang="zh-TW" sz="1600" dirty="0">
                          <a:latin typeface="+mn-lt"/>
                        </a:rPr>
                        <a:t>=0.6, </a:t>
                      </a:r>
                      <a:r>
                        <a:rPr lang="en-US" altLang="zh-TW" sz="1600" dirty="0">
                          <a:latin typeface="+mn-lt"/>
                          <a:ea typeface="微軟正黑體" panose="020B0604030504040204" pitchFamily="34" charset="-120"/>
                        </a:rPr>
                        <a:t>L</a:t>
                      </a:r>
                      <a:r>
                        <a:rPr lang="en-US" altLang="zh-TW" sz="1600" baseline="-25000" dirty="0">
                          <a:latin typeface="+mn-lt"/>
                          <a:ea typeface="微軟正黑體" panose="020B0604030504040204" pitchFamily="34" charset="-120"/>
                        </a:rPr>
                        <a:t>W</a:t>
                      </a:r>
                      <a:r>
                        <a:rPr lang="en-US" altLang="zh-TW" sz="1600" baseline="0" dirty="0">
                          <a:latin typeface="+mn-lt"/>
                          <a:ea typeface="微軟正黑體" panose="020B0604030504040204" pitchFamily="34" charset="-120"/>
                        </a:rPr>
                        <a:t>=0.0</a:t>
                      </a:r>
                      <a:endParaRPr lang="en-US" altLang="zh-TW" sz="1600" baseline="0" dirty="0">
                        <a:latin typeface="+mn-lt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zh-TW" sz="1600" dirty="0"/>
                        <a:t>27.7396 ± 0.0000</a:t>
                      </a:r>
                    </a:p>
                  </a:txBody>
                  <a:tcPr marL="33472" marR="33472" marT="16736" marB="16736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zh-TW" sz="1600" dirty="0"/>
                        <a:t>129.2922 ± 0.0001</a:t>
                      </a:r>
                    </a:p>
                  </a:txBody>
                  <a:tcPr marL="33472" marR="33472" marT="16736" marB="16736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zh-TW" sz="1600" dirty="0"/>
                        <a:t>278.8881 ± 0.0000</a:t>
                      </a:r>
                    </a:p>
                  </a:txBody>
                  <a:tcPr marL="33472" marR="33472" marT="16736" marB="16736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zh-TW" sz="1600" dirty="0"/>
                        <a:t>417.5874 ± 0.0000</a:t>
                      </a:r>
                    </a:p>
                  </a:txBody>
                  <a:tcPr marL="33472" marR="33472" marT="16736" marB="16736" anchor="ctr"/>
                </a:tc>
                <a:extLst>
                  <a:ext uri="{0D108BD9-81ED-4DB2-BD59-A6C34878D82A}">
                    <a16:rowId xmlns:a16="http://schemas.microsoft.com/office/drawing/2014/main" val="678960123"/>
                  </a:ext>
                </a:extLst>
              </a:tr>
              <a:tr h="403999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600" dirty="0">
                          <a:latin typeface="+mn-lt"/>
                          <a:ea typeface="微軟正黑體" panose="020B0604030504040204" pitchFamily="34" charset="-120"/>
                        </a:rPr>
                        <a:t>S</a:t>
                      </a:r>
                      <a:r>
                        <a:rPr lang="en-US" altLang="zh-TW" sz="1600" baseline="-25000" dirty="0">
                          <a:latin typeface="+mn-lt"/>
                          <a:ea typeface="微軟正黑體" panose="020B0604030504040204" pitchFamily="34" charset="-120"/>
                        </a:rPr>
                        <a:t>W</a:t>
                      </a:r>
                      <a:r>
                        <a:rPr lang="en-US" altLang="zh-TW" sz="1600" baseline="0" dirty="0">
                          <a:latin typeface="+mn-lt"/>
                          <a:ea typeface="微軟正黑體" panose="020B0604030504040204" pitchFamily="34" charset="-120"/>
                        </a:rPr>
                        <a:t>=1.5,</a:t>
                      </a:r>
                      <a:r>
                        <a:rPr lang="el-GR" altLang="zh-TW" sz="1600" dirty="0">
                          <a:latin typeface="+mn-lt"/>
                        </a:rPr>
                        <a:t> τ</a:t>
                      </a:r>
                      <a:r>
                        <a:rPr lang="en-US" altLang="zh-TW" sz="1600" dirty="0">
                          <a:latin typeface="+mn-lt"/>
                        </a:rPr>
                        <a:t>=0.3, </a:t>
                      </a:r>
                      <a:r>
                        <a:rPr lang="en-US" altLang="zh-TW" sz="1600" dirty="0">
                          <a:latin typeface="+mn-lt"/>
                          <a:ea typeface="微軟正黑體" panose="020B0604030504040204" pitchFamily="34" charset="-120"/>
                        </a:rPr>
                        <a:t>L</a:t>
                      </a:r>
                      <a:r>
                        <a:rPr lang="en-US" altLang="zh-TW" sz="1600" baseline="-25000" dirty="0">
                          <a:latin typeface="+mn-lt"/>
                          <a:ea typeface="微軟正黑體" panose="020B0604030504040204" pitchFamily="34" charset="-120"/>
                        </a:rPr>
                        <a:t>W</a:t>
                      </a:r>
                      <a:r>
                        <a:rPr lang="en-US" altLang="zh-TW" sz="1600" baseline="0" dirty="0">
                          <a:latin typeface="+mn-lt"/>
                          <a:ea typeface="微軟正黑體" panose="020B0604030504040204" pitchFamily="34" charset="-120"/>
                        </a:rPr>
                        <a:t>=0.0</a:t>
                      </a:r>
                      <a:endParaRPr lang="en-US" altLang="zh-TW" sz="1600" baseline="0" dirty="0">
                        <a:latin typeface="+mn-lt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zh-TW" sz="1600" dirty="0"/>
                        <a:t>27.2684 ± 0.0000</a:t>
                      </a:r>
                    </a:p>
                  </a:txBody>
                  <a:tcPr marL="33472" marR="33472" marT="16736" marB="16736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zh-TW" sz="1600"/>
                        <a:t>122.5244 ± 0.0000</a:t>
                      </a:r>
                    </a:p>
                  </a:txBody>
                  <a:tcPr marL="33472" marR="33472" marT="16736" marB="16736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zh-TW" sz="1600" dirty="0"/>
                        <a:t>264.6119 ± 0.0000</a:t>
                      </a:r>
                    </a:p>
                  </a:txBody>
                  <a:tcPr marL="33472" marR="33472" marT="16736" marB="16736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zh-TW" sz="1600" dirty="0"/>
                        <a:t>397.3106 ± 0.0000</a:t>
                      </a:r>
                    </a:p>
                  </a:txBody>
                  <a:tcPr marL="33472" marR="33472" marT="16736" marB="16736" anchor="ctr"/>
                </a:tc>
                <a:extLst>
                  <a:ext uri="{0D108BD9-81ED-4DB2-BD59-A6C34878D82A}">
                    <a16:rowId xmlns:a16="http://schemas.microsoft.com/office/drawing/2014/main" val="1531699260"/>
                  </a:ext>
                </a:extLst>
              </a:tr>
              <a:tr h="403999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600" dirty="0">
                          <a:latin typeface="+mn-lt"/>
                          <a:ea typeface="微軟正黑體" panose="020B0604030504040204" pitchFamily="34" charset="-120"/>
                        </a:rPr>
                        <a:t>S</a:t>
                      </a:r>
                      <a:r>
                        <a:rPr lang="en-US" altLang="zh-TW" sz="1600" baseline="-25000" dirty="0">
                          <a:latin typeface="+mn-lt"/>
                          <a:ea typeface="微軟正黑體" panose="020B0604030504040204" pitchFamily="34" charset="-120"/>
                        </a:rPr>
                        <a:t>W</a:t>
                      </a:r>
                      <a:r>
                        <a:rPr lang="en-US" altLang="zh-TW" sz="1600" baseline="0" dirty="0">
                          <a:latin typeface="+mn-lt"/>
                          <a:ea typeface="微軟正黑體" panose="020B0604030504040204" pitchFamily="34" charset="-120"/>
                        </a:rPr>
                        <a:t>=0.5,</a:t>
                      </a:r>
                      <a:r>
                        <a:rPr lang="el-GR" altLang="zh-TW" sz="1600" dirty="0">
                          <a:latin typeface="+mn-lt"/>
                        </a:rPr>
                        <a:t> τ</a:t>
                      </a:r>
                      <a:r>
                        <a:rPr lang="en-US" altLang="zh-TW" sz="1600" dirty="0">
                          <a:latin typeface="+mn-lt"/>
                        </a:rPr>
                        <a:t>=0.3, </a:t>
                      </a:r>
                      <a:r>
                        <a:rPr lang="en-US" altLang="zh-TW" sz="1600" dirty="0">
                          <a:latin typeface="+mn-lt"/>
                          <a:ea typeface="微軟正黑體" panose="020B0604030504040204" pitchFamily="34" charset="-120"/>
                        </a:rPr>
                        <a:t>L</a:t>
                      </a:r>
                      <a:r>
                        <a:rPr lang="en-US" altLang="zh-TW" sz="1600" baseline="-25000" dirty="0">
                          <a:latin typeface="+mn-lt"/>
                          <a:ea typeface="微軟正黑體" panose="020B0604030504040204" pitchFamily="34" charset="-120"/>
                        </a:rPr>
                        <a:t>W</a:t>
                      </a:r>
                      <a:r>
                        <a:rPr lang="en-US" altLang="zh-TW" sz="1600" baseline="0" dirty="0">
                          <a:latin typeface="+mn-lt"/>
                          <a:ea typeface="微軟正黑體" panose="020B0604030504040204" pitchFamily="34" charset="-120"/>
                        </a:rPr>
                        <a:t>=0.0</a:t>
                      </a:r>
                      <a:endParaRPr lang="en-US" altLang="zh-TW" sz="1600" baseline="0" dirty="0">
                        <a:latin typeface="+mn-lt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zh-TW" sz="1600" dirty="0"/>
                        <a:t>26.4587 ± 0.0000</a:t>
                      </a:r>
                    </a:p>
                  </a:txBody>
                  <a:tcPr marL="33472" marR="33472" marT="16736" marB="16736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zh-TW" sz="1600" dirty="0"/>
                        <a:t>120.7186 ± 0.0000</a:t>
                      </a:r>
                    </a:p>
                  </a:txBody>
                  <a:tcPr marL="33472" marR="33472" marT="16736" marB="16736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zh-TW" sz="1600" dirty="0"/>
                        <a:t>265.0660 ± 0.0000</a:t>
                      </a:r>
                    </a:p>
                  </a:txBody>
                  <a:tcPr marL="33472" marR="33472" marT="16736" marB="16736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zh-TW" sz="1600" dirty="0"/>
                        <a:t>402.0413 ± 0.0000</a:t>
                      </a:r>
                    </a:p>
                  </a:txBody>
                  <a:tcPr marL="33472" marR="33472" marT="16736" marB="16736" anchor="ctr"/>
                </a:tc>
                <a:extLst>
                  <a:ext uri="{0D108BD9-81ED-4DB2-BD59-A6C34878D82A}">
                    <a16:rowId xmlns:a16="http://schemas.microsoft.com/office/drawing/2014/main" val="318103260"/>
                  </a:ext>
                </a:extLst>
              </a:tr>
              <a:tr h="403999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600" dirty="0">
                          <a:latin typeface="+mn-lt"/>
                          <a:ea typeface="微軟正黑體" panose="020B0604030504040204" pitchFamily="34" charset="-120"/>
                        </a:rPr>
                        <a:t>S</a:t>
                      </a:r>
                      <a:r>
                        <a:rPr lang="en-US" altLang="zh-TW" sz="1600" baseline="-25000" dirty="0">
                          <a:latin typeface="+mn-lt"/>
                          <a:ea typeface="微軟正黑體" panose="020B0604030504040204" pitchFamily="34" charset="-120"/>
                        </a:rPr>
                        <a:t>W</a:t>
                      </a:r>
                      <a:r>
                        <a:rPr lang="en-US" altLang="zh-TW" sz="1600" baseline="0" dirty="0">
                          <a:latin typeface="+mn-lt"/>
                          <a:ea typeface="微軟正黑體" panose="020B0604030504040204" pitchFamily="34" charset="-120"/>
                        </a:rPr>
                        <a:t>=0.0,</a:t>
                      </a:r>
                      <a:r>
                        <a:rPr lang="el-GR" altLang="zh-TW" sz="1600" dirty="0">
                          <a:latin typeface="+mn-lt"/>
                        </a:rPr>
                        <a:t> τ</a:t>
                      </a:r>
                      <a:r>
                        <a:rPr lang="en-US" altLang="zh-TW" sz="1600" dirty="0">
                          <a:latin typeface="+mn-lt"/>
                        </a:rPr>
                        <a:t>=0.0, </a:t>
                      </a:r>
                      <a:r>
                        <a:rPr lang="en-US" altLang="zh-TW" sz="1600" dirty="0">
                          <a:latin typeface="+mn-lt"/>
                          <a:ea typeface="微軟正黑體" panose="020B0604030504040204" pitchFamily="34" charset="-120"/>
                        </a:rPr>
                        <a:t>L</a:t>
                      </a:r>
                      <a:r>
                        <a:rPr lang="en-US" altLang="zh-TW" sz="1600" baseline="-25000" dirty="0">
                          <a:latin typeface="+mn-lt"/>
                          <a:ea typeface="微軟正黑體" panose="020B0604030504040204" pitchFamily="34" charset="-120"/>
                        </a:rPr>
                        <a:t>W</a:t>
                      </a:r>
                      <a:r>
                        <a:rPr lang="en-US" altLang="zh-TW" sz="1600" baseline="0" dirty="0">
                          <a:latin typeface="+mn-lt"/>
                          <a:ea typeface="微軟正黑體" panose="020B0604030504040204" pitchFamily="34" charset="-120"/>
                        </a:rPr>
                        <a:t>=0.5</a:t>
                      </a:r>
                      <a:endParaRPr lang="en-US" altLang="zh-TW" sz="1600" baseline="0" dirty="0">
                        <a:latin typeface="+mn-lt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zh-TW" sz="1600" dirty="0"/>
                        <a:t>25.7096 ± 0.0000</a:t>
                      </a:r>
                    </a:p>
                  </a:txBody>
                  <a:tcPr marL="33472" marR="33472" marT="16736" marB="16736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zh-TW" sz="1600" dirty="0"/>
                        <a:t>118.9247 ± 0.0000</a:t>
                      </a:r>
                    </a:p>
                  </a:txBody>
                  <a:tcPr marL="33472" marR="33472" marT="16736" marB="16736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zh-TW" sz="1600" dirty="0"/>
                        <a:t>262.1637 ± 0.0000</a:t>
                      </a:r>
                    </a:p>
                  </a:txBody>
                  <a:tcPr marL="33472" marR="33472" marT="16736" marB="16736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zh-TW" sz="1600" dirty="0"/>
                        <a:t>397.9911 ± 0.0000</a:t>
                      </a:r>
                    </a:p>
                  </a:txBody>
                  <a:tcPr marL="33472" marR="33472" marT="16736" marB="16736" anchor="ctr"/>
                </a:tc>
                <a:extLst>
                  <a:ext uri="{0D108BD9-81ED-4DB2-BD59-A6C34878D82A}">
                    <a16:rowId xmlns:a16="http://schemas.microsoft.com/office/drawing/2014/main" val="1441213913"/>
                  </a:ext>
                </a:extLst>
              </a:tr>
              <a:tr h="403999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600" dirty="0">
                          <a:latin typeface="+mn-lt"/>
                          <a:ea typeface="微軟正黑體" panose="020B0604030504040204" pitchFamily="34" charset="-120"/>
                        </a:rPr>
                        <a:t>S</a:t>
                      </a:r>
                      <a:r>
                        <a:rPr lang="en-US" altLang="zh-TW" sz="1600" baseline="-25000" dirty="0">
                          <a:latin typeface="+mn-lt"/>
                          <a:ea typeface="微軟正黑體" panose="020B0604030504040204" pitchFamily="34" charset="-120"/>
                        </a:rPr>
                        <a:t>W</a:t>
                      </a:r>
                      <a:r>
                        <a:rPr lang="en-US" altLang="zh-TW" sz="1600" baseline="0" dirty="0">
                          <a:latin typeface="+mn-lt"/>
                          <a:ea typeface="微軟正黑體" panose="020B0604030504040204" pitchFamily="34" charset="-120"/>
                        </a:rPr>
                        <a:t>=0.0,</a:t>
                      </a:r>
                      <a:r>
                        <a:rPr lang="el-GR" altLang="zh-TW" sz="1600" dirty="0">
                          <a:latin typeface="+mn-lt"/>
                        </a:rPr>
                        <a:t> τ</a:t>
                      </a:r>
                      <a:r>
                        <a:rPr lang="en-US" altLang="zh-TW" sz="1600" dirty="0">
                          <a:latin typeface="+mn-lt"/>
                        </a:rPr>
                        <a:t>=0.0, </a:t>
                      </a:r>
                      <a:r>
                        <a:rPr lang="en-US" altLang="zh-TW" sz="1600" dirty="0">
                          <a:latin typeface="+mn-lt"/>
                          <a:ea typeface="微軟正黑體" panose="020B0604030504040204" pitchFamily="34" charset="-120"/>
                        </a:rPr>
                        <a:t>L</a:t>
                      </a:r>
                      <a:r>
                        <a:rPr lang="en-US" altLang="zh-TW" sz="1600" baseline="-25000" dirty="0">
                          <a:latin typeface="+mn-lt"/>
                          <a:ea typeface="微軟正黑體" panose="020B0604030504040204" pitchFamily="34" charset="-120"/>
                        </a:rPr>
                        <a:t>W</a:t>
                      </a:r>
                      <a:r>
                        <a:rPr lang="en-US" altLang="zh-TW" sz="1600" baseline="0" dirty="0">
                          <a:latin typeface="+mn-lt"/>
                          <a:ea typeface="微軟正黑體" panose="020B0604030504040204" pitchFamily="34" charset="-120"/>
                        </a:rPr>
                        <a:t>=1.0</a:t>
                      </a:r>
                      <a:endParaRPr lang="en-US" altLang="zh-TW" sz="1600" baseline="0" dirty="0">
                        <a:latin typeface="+mn-lt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zh-TW" sz="1600" dirty="0"/>
                        <a:t>25.5312 ± 0.0000</a:t>
                      </a:r>
                    </a:p>
                  </a:txBody>
                  <a:tcPr marL="33472" marR="33472" marT="16736" marB="16736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zh-TW" sz="1600" dirty="0"/>
                        <a:t>118.5823 ± 0.0000</a:t>
                      </a:r>
                    </a:p>
                  </a:txBody>
                  <a:tcPr marL="33472" marR="33472" marT="16736" marB="16736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zh-TW" sz="1600" dirty="0"/>
                        <a:t>261.1872 ± 0.0000</a:t>
                      </a:r>
                    </a:p>
                  </a:txBody>
                  <a:tcPr marL="33472" marR="33472" marT="16736" marB="16736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zh-TW" sz="1600" dirty="0"/>
                        <a:t>395.1838 ± 0.0000</a:t>
                      </a:r>
                    </a:p>
                  </a:txBody>
                  <a:tcPr marL="33472" marR="33472" marT="16736" marB="16736" anchor="ctr"/>
                </a:tc>
                <a:extLst>
                  <a:ext uri="{0D108BD9-81ED-4DB2-BD59-A6C34878D82A}">
                    <a16:rowId xmlns:a16="http://schemas.microsoft.com/office/drawing/2014/main" val="1591432723"/>
                  </a:ext>
                </a:extLst>
              </a:tr>
              <a:tr h="403999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600" dirty="0">
                          <a:latin typeface="+mn-lt"/>
                          <a:ea typeface="微軟正黑體" panose="020B0604030504040204" pitchFamily="34" charset="-120"/>
                        </a:rPr>
                        <a:t>S</a:t>
                      </a:r>
                      <a:r>
                        <a:rPr lang="en-US" altLang="zh-TW" sz="1600" baseline="-25000" dirty="0">
                          <a:latin typeface="+mn-lt"/>
                          <a:ea typeface="微軟正黑體" panose="020B0604030504040204" pitchFamily="34" charset="-120"/>
                        </a:rPr>
                        <a:t>W</a:t>
                      </a:r>
                      <a:r>
                        <a:rPr lang="en-US" altLang="zh-TW" sz="1600" baseline="0" dirty="0">
                          <a:latin typeface="+mn-lt"/>
                          <a:ea typeface="微軟正黑體" panose="020B0604030504040204" pitchFamily="34" charset="-120"/>
                        </a:rPr>
                        <a:t>=0.0,</a:t>
                      </a:r>
                      <a:r>
                        <a:rPr lang="el-GR" altLang="zh-TW" sz="1600" dirty="0">
                          <a:latin typeface="+mn-lt"/>
                        </a:rPr>
                        <a:t> τ</a:t>
                      </a:r>
                      <a:r>
                        <a:rPr lang="en-US" altLang="zh-TW" sz="1600" dirty="0">
                          <a:latin typeface="+mn-lt"/>
                        </a:rPr>
                        <a:t>=0.0, </a:t>
                      </a:r>
                      <a:r>
                        <a:rPr lang="en-US" altLang="zh-TW" sz="1600" dirty="0">
                          <a:latin typeface="+mn-lt"/>
                          <a:ea typeface="微軟正黑體" panose="020B0604030504040204" pitchFamily="34" charset="-120"/>
                        </a:rPr>
                        <a:t>L</a:t>
                      </a:r>
                      <a:r>
                        <a:rPr lang="en-US" altLang="zh-TW" sz="1600" baseline="-25000" dirty="0">
                          <a:latin typeface="+mn-lt"/>
                          <a:ea typeface="微軟正黑體" panose="020B0604030504040204" pitchFamily="34" charset="-120"/>
                        </a:rPr>
                        <a:t>W</a:t>
                      </a:r>
                      <a:r>
                        <a:rPr lang="en-US" altLang="zh-TW" sz="1600" baseline="0" dirty="0">
                          <a:latin typeface="+mn-lt"/>
                          <a:ea typeface="微軟正黑體" panose="020B0604030504040204" pitchFamily="34" charset="-120"/>
                        </a:rPr>
                        <a:t>=1.5</a:t>
                      </a:r>
                      <a:endParaRPr lang="en-US" altLang="zh-TW" sz="1600" baseline="0" dirty="0">
                        <a:latin typeface="+mn-lt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zh-TW" sz="1600" b="1" dirty="0">
                          <a:solidFill>
                            <a:srgbClr val="FF0000"/>
                          </a:solidFill>
                        </a:rPr>
                        <a:t>25.4583 ± 0.0000</a:t>
                      </a:r>
                    </a:p>
                  </a:txBody>
                  <a:tcPr marL="33472" marR="33472" marT="16736" marB="16736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zh-TW" sz="1600" dirty="0"/>
                        <a:t>119.1595 ± 0.0000</a:t>
                      </a:r>
                    </a:p>
                  </a:txBody>
                  <a:tcPr marL="33472" marR="33472" marT="16736" marB="16736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zh-TW" sz="1600" dirty="0"/>
                        <a:t>263.2083 ± 0.0000</a:t>
                      </a:r>
                    </a:p>
                  </a:txBody>
                  <a:tcPr marL="33472" marR="33472" marT="16736" marB="16736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zh-TW" sz="1600" dirty="0"/>
                        <a:t>398.8679 ± 0.0000</a:t>
                      </a:r>
                    </a:p>
                  </a:txBody>
                  <a:tcPr marL="33472" marR="33472" marT="16736" marB="16736" anchor="ctr"/>
                </a:tc>
                <a:extLst>
                  <a:ext uri="{0D108BD9-81ED-4DB2-BD59-A6C34878D82A}">
                    <a16:rowId xmlns:a16="http://schemas.microsoft.com/office/drawing/2014/main" val="1309331485"/>
                  </a:ext>
                </a:extLst>
              </a:tr>
              <a:tr h="403999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600" dirty="0">
                          <a:latin typeface="+mn-lt"/>
                          <a:ea typeface="微軟正黑體" panose="020B0604030504040204" pitchFamily="34" charset="-120"/>
                        </a:rPr>
                        <a:t>S</a:t>
                      </a:r>
                      <a:r>
                        <a:rPr lang="en-US" altLang="zh-TW" sz="1600" baseline="-25000" dirty="0">
                          <a:latin typeface="+mn-lt"/>
                          <a:ea typeface="微軟正黑體" panose="020B0604030504040204" pitchFamily="34" charset="-120"/>
                        </a:rPr>
                        <a:t>W</a:t>
                      </a:r>
                      <a:r>
                        <a:rPr lang="en-US" altLang="zh-TW" sz="1600" baseline="0" dirty="0">
                          <a:latin typeface="+mn-lt"/>
                          <a:ea typeface="微軟正黑體" panose="020B0604030504040204" pitchFamily="34" charset="-120"/>
                        </a:rPr>
                        <a:t>=1.0,</a:t>
                      </a:r>
                      <a:r>
                        <a:rPr lang="el-GR" altLang="zh-TW" sz="1600" dirty="0">
                          <a:latin typeface="+mn-lt"/>
                        </a:rPr>
                        <a:t> τ</a:t>
                      </a:r>
                      <a:r>
                        <a:rPr lang="en-US" altLang="zh-TW" sz="1600" dirty="0">
                          <a:latin typeface="+mn-lt"/>
                        </a:rPr>
                        <a:t>=0.3, </a:t>
                      </a:r>
                      <a:r>
                        <a:rPr lang="en-US" altLang="zh-TW" sz="1600" dirty="0">
                          <a:latin typeface="+mn-lt"/>
                          <a:ea typeface="微軟正黑體" panose="020B0604030504040204" pitchFamily="34" charset="-120"/>
                        </a:rPr>
                        <a:t>L</a:t>
                      </a:r>
                      <a:r>
                        <a:rPr lang="en-US" altLang="zh-TW" sz="1600" baseline="-25000" dirty="0">
                          <a:latin typeface="+mn-lt"/>
                          <a:ea typeface="微軟正黑體" panose="020B0604030504040204" pitchFamily="34" charset="-120"/>
                        </a:rPr>
                        <a:t>W</a:t>
                      </a:r>
                      <a:r>
                        <a:rPr lang="en-US" altLang="zh-TW" sz="1600" baseline="0" dirty="0">
                          <a:latin typeface="+mn-lt"/>
                          <a:ea typeface="微軟正黑體" panose="020B0604030504040204" pitchFamily="34" charset="-120"/>
                        </a:rPr>
                        <a:t>=0.5</a:t>
                      </a:r>
                      <a:endParaRPr lang="en-US" altLang="zh-TW" sz="1600" baseline="0" dirty="0">
                        <a:latin typeface="+mn-lt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zh-TW" sz="1600" dirty="0"/>
                        <a:t>26.2402 ± 0.0000</a:t>
                      </a:r>
                    </a:p>
                  </a:txBody>
                  <a:tcPr marL="33472" marR="33472" marT="16736" marB="16736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zh-TW" sz="1600" b="1" dirty="0">
                          <a:solidFill>
                            <a:srgbClr val="FF0000"/>
                          </a:solidFill>
                        </a:rPr>
                        <a:t>118.2168 ± 0.0000</a:t>
                      </a:r>
                    </a:p>
                  </a:txBody>
                  <a:tcPr marL="33472" marR="33472" marT="16736" marB="16736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zh-TW" sz="1600" dirty="0"/>
                        <a:t>257.0344 ± 0.0000</a:t>
                      </a:r>
                    </a:p>
                  </a:txBody>
                  <a:tcPr marL="33472" marR="33472" marT="16736" marB="16736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zh-TW" sz="1600" dirty="0"/>
                        <a:t>387.7455 ± 0.0000</a:t>
                      </a:r>
                    </a:p>
                  </a:txBody>
                  <a:tcPr marL="33472" marR="33472" marT="16736" marB="16736" anchor="ctr"/>
                </a:tc>
                <a:extLst>
                  <a:ext uri="{0D108BD9-81ED-4DB2-BD59-A6C34878D82A}">
                    <a16:rowId xmlns:a16="http://schemas.microsoft.com/office/drawing/2014/main" val="3663042970"/>
                  </a:ext>
                </a:extLst>
              </a:tr>
              <a:tr h="403999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600" dirty="0">
                          <a:latin typeface="+mn-lt"/>
                          <a:ea typeface="微軟正黑體" panose="020B0604030504040204" pitchFamily="34" charset="-120"/>
                        </a:rPr>
                        <a:t>S</a:t>
                      </a:r>
                      <a:r>
                        <a:rPr lang="en-US" altLang="zh-TW" sz="1600" baseline="-25000" dirty="0">
                          <a:latin typeface="+mn-lt"/>
                          <a:ea typeface="微軟正黑體" panose="020B0604030504040204" pitchFamily="34" charset="-120"/>
                        </a:rPr>
                        <a:t>W</a:t>
                      </a:r>
                      <a:r>
                        <a:rPr lang="en-US" altLang="zh-TW" sz="1600" baseline="0" dirty="0">
                          <a:latin typeface="+mn-lt"/>
                          <a:ea typeface="微軟正黑體" panose="020B0604030504040204" pitchFamily="34" charset="-120"/>
                        </a:rPr>
                        <a:t>=1.0,</a:t>
                      </a:r>
                      <a:r>
                        <a:rPr lang="el-GR" altLang="zh-TW" sz="1600" dirty="0">
                          <a:latin typeface="+mn-lt"/>
                        </a:rPr>
                        <a:t> τ</a:t>
                      </a:r>
                      <a:r>
                        <a:rPr lang="en-US" altLang="zh-TW" sz="1600" dirty="0">
                          <a:latin typeface="+mn-lt"/>
                        </a:rPr>
                        <a:t>=0.3, </a:t>
                      </a:r>
                      <a:r>
                        <a:rPr lang="en-US" altLang="zh-TW" sz="1600" dirty="0">
                          <a:latin typeface="+mn-lt"/>
                          <a:ea typeface="微軟正黑體" panose="020B0604030504040204" pitchFamily="34" charset="-120"/>
                        </a:rPr>
                        <a:t>L</a:t>
                      </a:r>
                      <a:r>
                        <a:rPr lang="en-US" altLang="zh-TW" sz="1600" baseline="-25000" dirty="0">
                          <a:latin typeface="+mn-lt"/>
                          <a:ea typeface="微軟正黑體" panose="020B0604030504040204" pitchFamily="34" charset="-120"/>
                        </a:rPr>
                        <a:t>W</a:t>
                      </a:r>
                      <a:r>
                        <a:rPr lang="en-US" altLang="zh-TW" sz="1600" baseline="0" dirty="0">
                          <a:latin typeface="+mn-lt"/>
                          <a:ea typeface="微軟正黑體" panose="020B0604030504040204" pitchFamily="34" charset="-120"/>
                        </a:rPr>
                        <a:t>=1.0</a:t>
                      </a:r>
                      <a:endParaRPr lang="en-US" altLang="zh-TW" sz="1600" baseline="0" dirty="0">
                        <a:latin typeface="+mn-lt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zh-TW" sz="1600" dirty="0"/>
                        <a:t>26.4553 ± 0.0000</a:t>
                      </a:r>
                    </a:p>
                  </a:txBody>
                  <a:tcPr marL="33472" marR="33472" marT="16736" marB="16736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zh-TW" sz="1600"/>
                        <a:t>119.2975 ± 0.0000</a:t>
                      </a:r>
                    </a:p>
                  </a:txBody>
                  <a:tcPr marL="33472" marR="33472" marT="16736" marB="16736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zh-TW" sz="1600"/>
                        <a:t>258.4100 ± 0.0000</a:t>
                      </a:r>
                    </a:p>
                  </a:txBody>
                  <a:tcPr marL="33472" marR="33472" marT="16736" marB="16736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zh-TW" sz="1600" dirty="0"/>
                        <a:t>390.7829 ± 0.0000</a:t>
                      </a:r>
                    </a:p>
                  </a:txBody>
                  <a:tcPr marL="33472" marR="33472" marT="16736" marB="16736" anchor="ctr"/>
                </a:tc>
                <a:extLst>
                  <a:ext uri="{0D108BD9-81ED-4DB2-BD59-A6C34878D82A}">
                    <a16:rowId xmlns:a16="http://schemas.microsoft.com/office/drawing/2014/main" val="3253892573"/>
                  </a:ext>
                </a:extLst>
              </a:tr>
              <a:tr h="403999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600" dirty="0">
                          <a:latin typeface="+mn-lt"/>
                          <a:ea typeface="微軟正黑體" panose="020B0604030504040204" pitchFamily="34" charset="-120"/>
                        </a:rPr>
                        <a:t>S</a:t>
                      </a:r>
                      <a:r>
                        <a:rPr lang="en-US" altLang="zh-TW" sz="1600" baseline="-25000" dirty="0">
                          <a:latin typeface="+mn-lt"/>
                          <a:ea typeface="微軟正黑體" panose="020B0604030504040204" pitchFamily="34" charset="-120"/>
                        </a:rPr>
                        <a:t>W</a:t>
                      </a:r>
                      <a:r>
                        <a:rPr lang="en-US" altLang="zh-TW" sz="1600" baseline="0" dirty="0">
                          <a:latin typeface="+mn-lt"/>
                          <a:ea typeface="微軟正黑體" panose="020B0604030504040204" pitchFamily="34" charset="-120"/>
                        </a:rPr>
                        <a:t>=1.5,</a:t>
                      </a:r>
                      <a:r>
                        <a:rPr lang="el-GR" altLang="zh-TW" sz="1600" dirty="0">
                          <a:latin typeface="+mn-lt"/>
                        </a:rPr>
                        <a:t> τ</a:t>
                      </a:r>
                      <a:r>
                        <a:rPr lang="en-US" altLang="zh-TW" sz="1600" dirty="0">
                          <a:latin typeface="+mn-lt"/>
                        </a:rPr>
                        <a:t>=0.3, </a:t>
                      </a:r>
                      <a:r>
                        <a:rPr lang="en-US" altLang="zh-TW" sz="1600" dirty="0">
                          <a:latin typeface="+mn-lt"/>
                          <a:ea typeface="微軟正黑體" panose="020B0604030504040204" pitchFamily="34" charset="-120"/>
                        </a:rPr>
                        <a:t>L</a:t>
                      </a:r>
                      <a:r>
                        <a:rPr lang="en-US" altLang="zh-TW" sz="1600" baseline="-25000" dirty="0">
                          <a:latin typeface="+mn-lt"/>
                          <a:ea typeface="微軟正黑體" panose="020B0604030504040204" pitchFamily="34" charset="-120"/>
                        </a:rPr>
                        <a:t>W</a:t>
                      </a:r>
                      <a:r>
                        <a:rPr lang="en-US" altLang="zh-TW" sz="1600" baseline="0" dirty="0">
                          <a:latin typeface="+mn-lt"/>
                          <a:ea typeface="微軟正黑體" panose="020B0604030504040204" pitchFamily="34" charset="-120"/>
                        </a:rPr>
                        <a:t>=1.0</a:t>
                      </a:r>
                      <a:endParaRPr lang="en-US" altLang="zh-TW" sz="1600" baseline="0" dirty="0">
                        <a:latin typeface="+mn-lt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zh-TW" sz="1600" dirty="0"/>
                        <a:t>26.5485 ± 0.0000</a:t>
                      </a:r>
                    </a:p>
                  </a:txBody>
                  <a:tcPr marL="33472" marR="33472" marT="16736" marB="16736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zh-TW" sz="1600"/>
                        <a:t>118.4341 ± 0.0000</a:t>
                      </a:r>
                    </a:p>
                  </a:txBody>
                  <a:tcPr marL="33472" marR="33472" marT="16736" marB="16736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zh-TW" sz="1600" b="1" dirty="0">
                          <a:solidFill>
                            <a:srgbClr val="FF0000"/>
                          </a:solidFill>
                        </a:rPr>
                        <a:t>254.9612 ± 0.0000</a:t>
                      </a:r>
                      <a:endParaRPr lang="zh-TW" altLang="en-US" sz="1600" dirty="0">
                        <a:solidFill>
                          <a:srgbClr val="FF0000"/>
                        </a:solidFill>
                      </a:endParaRPr>
                    </a:p>
                  </a:txBody>
                  <a:tcPr marL="33472" marR="33472" marT="16736" marB="16736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zh-TW" sz="1600" b="1" dirty="0">
                          <a:solidFill>
                            <a:srgbClr val="FF0000"/>
                          </a:solidFill>
                        </a:rPr>
                        <a:t>383.7626 ± 0.0000</a:t>
                      </a:r>
                      <a:endParaRPr lang="zh-TW" altLang="en-US" sz="1600" dirty="0">
                        <a:solidFill>
                          <a:srgbClr val="FF0000"/>
                        </a:solidFill>
                      </a:endParaRPr>
                    </a:p>
                  </a:txBody>
                  <a:tcPr marL="33472" marR="33472" marT="16736" marB="16736" anchor="ctr"/>
                </a:tc>
                <a:extLst>
                  <a:ext uri="{0D108BD9-81ED-4DB2-BD59-A6C34878D82A}">
                    <a16:rowId xmlns:a16="http://schemas.microsoft.com/office/drawing/2014/main" val="2083154564"/>
                  </a:ext>
                </a:extLst>
              </a:tr>
            </a:tbl>
          </a:graphicData>
        </a:graphic>
      </p:graphicFrame>
      <p:sp>
        <p:nvSpPr>
          <p:cNvPr id="10" name="文字方塊 9">
            <a:extLst>
              <a:ext uri="{FF2B5EF4-FFF2-40B4-BE49-F238E27FC236}">
                <a16:creationId xmlns:a16="http://schemas.microsoft.com/office/drawing/2014/main" id="{A9B66502-775B-245F-E461-CF986EB3F8B6}"/>
              </a:ext>
            </a:extLst>
          </p:cNvPr>
          <p:cNvSpPr txBox="1"/>
          <p:nvPr/>
        </p:nvSpPr>
        <p:spPr>
          <a:xfrm>
            <a:off x="347470" y="6272558"/>
            <a:ext cx="8787652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TW" sz="1600" dirty="0"/>
              <a:t>Let </a:t>
            </a:r>
            <a:r>
              <a:rPr lang="en-US" altLang="zh-TW" sz="1600" dirty="0">
                <a:ea typeface="微軟正黑體" panose="020B0604030504040204" pitchFamily="34" charset="-120"/>
              </a:rPr>
              <a:t>S</a:t>
            </a:r>
            <a:r>
              <a:rPr lang="en-US" altLang="zh-TW" sz="1600" baseline="-25000" dirty="0">
                <a:ea typeface="微軟正黑體" panose="020B0604030504040204" pitchFamily="34" charset="-120"/>
              </a:rPr>
              <a:t>W</a:t>
            </a:r>
            <a:r>
              <a:rPr lang="en-US" altLang="zh-TW" sz="1600" dirty="0">
                <a:ea typeface="微軟正黑體" panose="020B0604030504040204" pitchFamily="34" charset="-120"/>
              </a:rPr>
              <a:t>, </a:t>
            </a:r>
            <a:r>
              <a:rPr lang="el-GR" altLang="zh-TW" sz="1600" dirty="0"/>
              <a:t>τ</a:t>
            </a:r>
            <a:r>
              <a:rPr lang="en-US" altLang="zh-TW" sz="1600" dirty="0"/>
              <a:t>, and </a:t>
            </a:r>
            <a:r>
              <a:rPr lang="en-US" altLang="zh-TW" sz="1600" dirty="0">
                <a:ea typeface="微軟正黑體" panose="020B0604030504040204" pitchFamily="34" charset="-120"/>
              </a:rPr>
              <a:t>L</a:t>
            </a:r>
            <a:r>
              <a:rPr lang="en-US" altLang="zh-TW" sz="1600" baseline="-25000" dirty="0">
                <a:ea typeface="微軟正黑體" panose="020B0604030504040204" pitchFamily="34" charset="-120"/>
              </a:rPr>
              <a:t>W</a:t>
            </a:r>
            <a:r>
              <a:rPr lang="en-US" altLang="zh-TW" sz="1600" dirty="0">
                <a:ea typeface="微軟正黑體" panose="020B0604030504040204" pitchFamily="34" charset="-120"/>
              </a:rPr>
              <a:t> </a:t>
            </a:r>
            <a:r>
              <a:rPr lang="en-US" altLang="zh-TW" sz="1600" dirty="0"/>
              <a:t>denote the SDC term weight, confidence threshold, and LCM term weight, respectively.</a:t>
            </a:r>
            <a:endParaRPr lang="zh-TW" altLang="en-US" sz="1600" dirty="0">
              <a:ea typeface="微軟正黑體" panose="020B0604030504040204" pitchFamily="34" charset="-120"/>
            </a:endParaRPr>
          </a:p>
        </p:txBody>
      </p:sp>
      <p:sp>
        <p:nvSpPr>
          <p:cNvPr id="3" name="文字方塊 2">
            <a:extLst>
              <a:ext uri="{FF2B5EF4-FFF2-40B4-BE49-F238E27FC236}">
                <a16:creationId xmlns:a16="http://schemas.microsoft.com/office/drawing/2014/main" id="{EEE75B88-F1B5-F047-040C-8C2D6885DC88}"/>
              </a:ext>
            </a:extLst>
          </p:cNvPr>
          <p:cNvSpPr txBox="1"/>
          <p:nvPr/>
        </p:nvSpPr>
        <p:spPr>
          <a:xfrm>
            <a:off x="9721048" y="461072"/>
            <a:ext cx="2281561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TW" sz="1400" dirty="0"/>
              <a:t>1B token for training model</a:t>
            </a:r>
            <a:endParaRPr lang="zh-TW" altLang="en-US" sz="1400" dirty="0"/>
          </a:p>
        </p:txBody>
      </p:sp>
    </p:spTree>
    <p:extLst>
      <p:ext uri="{BB962C8B-B14F-4D97-AF65-F5344CB8AC3E}">
        <p14:creationId xmlns:p14="http://schemas.microsoft.com/office/powerpoint/2010/main" val="55875610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5339A16-4E0C-D0DB-4567-D7DFB04B6DB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>
            <a:extLst>
              <a:ext uri="{FF2B5EF4-FFF2-40B4-BE49-F238E27FC236}">
                <a16:creationId xmlns:a16="http://schemas.microsoft.com/office/drawing/2014/main" id="{89F41718-BFAD-8797-E817-2BBAE9DA9732}"/>
              </a:ext>
            </a:extLst>
          </p:cNvPr>
          <p:cNvSpPr/>
          <p:nvPr/>
        </p:nvSpPr>
        <p:spPr>
          <a:xfrm>
            <a:off x="0" y="6611112"/>
            <a:ext cx="12191695" cy="246888"/>
          </a:xfrm>
          <a:prstGeom prst="rect">
            <a:avLst/>
          </a:prstGeom>
          <a:solidFill>
            <a:srgbClr val="5B839B"/>
          </a:solidFill>
          <a:ln w="12700">
            <a:solidFill>
              <a:srgbClr val="5B839B"/>
            </a:solidFill>
            <a:prstDash val="solid"/>
          </a:ln>
        </p:spPr>
      </p:sp>
      <p:sp>
        <p:nvSpPr>
          <p:cNvPr id="4" name="Text 2">
            <a:extLst>
              <a:ext uri="{FF2B5EF4-FFF2-40B4-BE49-F238E27FC236}">
                <a16:creationId xmlns:a16="http://schemas.microsoft.com/office/drawing/2014/main" id="{6129113D-2072-4B7F-83A1-53AD641B82DA}"/>
              </a:ext>
            </a:extLst>
          </p:cNvPr>
          <p:cNvSpPr/>
          <p:nvPr/>
        </p:nvSpPr>
        <p:spPr>
          <a:xfrm>
            <a:off x="347472" y="274320"/>
            <a:ext cx="30175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b="1" dirty="0">
                <a:solidFill>
                  <a:srgbClr val="1B2E3A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Part4: Experiment results</a:t>
            </a:r>
            <a:endParaRPr lang="en-US" dirty="0"/>
          </a:p>
        </p:txBody>
      </p:sp>
      <p:sp>
        <p:nvSpPr>
          <p:cNvPr id="5" name="Text 3">
            <a:extLst>
              <a:ext uri="{FF2B5EF4-FFF2-40B4-BE49-F238E27FC236}">
                <a16:creationId xmlns:a16="http://schemas.microsoft.com/office/drawing/2014/main" id="{CEDCB4D3-5893-5145-8F7D-0E3F2DBDFB81}"/>
              </a:ext>
            </a:extLst>
          </p:cNvPr>
          <p:cNvSpPr/>
          <p:nvPr/>
        </p:nvSpPr>
        <p:spPr>
          <a:xfrm>
            <a:off x="347471" y="457200"/>
            <a:ext cx="9373577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600" dirty="0">
                <a:solidFill>
                  <a:schemeClr val="bg1">
                    <a:lumMod val="50000"/>
                  </a:schemeClr>
                </a:solidFill>
              </a:rPr>
              <a:t>Ablation study — Avg Draft Tokens Accepted </a:t>
            </a:r>
          </a:p>
        </p:txBody>
      </p:sp>
      <p:sp>
        <p:nvSpPr>
          <p:cNvPr id="7" name="Shape 5">
            <a:extLst>
              <a:ext uri="{FF2B5EF4-FFF2-40B4-BE49-F238E27FC236}">
                <a16:creationId xmlns:a16="http://schemas.microsoft.com/office/drawing/2014/main" id="{FF2DC6C8-3CB0-F3FC-11CA-AF1CD7EDC81B}"/>
              </a:ext>
            </a:extLst>
          </p:cNvPr>
          <p:cNvSpPr/>
          <p:nvPr/>
        </p:nvSpPr>
        <p:spPr>
          <a:xfrm>
            <a:off x="347472" y="749808"/>
            <a:ext cx="11475720" cy="0"/>
          </a:xfrm>
          <a:prstGeom prst="line">
            <a:avLst/>
          </a:prstGeom>
          <a:noFill/>
          <a:ln w="12700">
            <a:solidFill>
              <a:srgbClr val="C8D6DE"/>
            </a:solidFill>
            <a:prstDash val="solid"/>
          </a:ln>
        </p:spPr>
      </p:sp>
      <p:sp>
        <p:nvSpPr>
          <p:cNvPr id="55" name="Text 1">
            <a:extLst>
              <a:ext uri="{FF2B5EF4-FFF2-40B4-BE49-F238E27FC236}">
                <a16:creationId xmlns:a16="http://schemas.microsoft.com/office/drawing/2014/main" id="{D1A2D604-B9AA-6D6F-8781-24D79187D610}"/>
              </a:ext>
            </a:extLst>
          </p:cNvPr>
          <p:cNvSpPr/>
          <p:nvPr/>
        </p:nvSpPr>
        <p:spPr>
          <a:xfrm>
            <a:off x="11425561" y="6629400"/>
            <a:ext cx="553079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200" dirty="0">
                <a:solidFill>
                  <a:srgbClr val="FFFFFF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23</a:t>
            </a:r>
            <a:endParaRPr lang="en-US" sz="1200" dirty="0"/>
          </a:p>
        </p:txBody>
      </p:sp>
      <p:graphicFrame>
        <p:nvGraphicFramePr>
          <p:cNvPr id="56" name="表格 55">
            <a:extLst>
              <a:ext uri="{FF2B5EF4-FFF2-40B4-BE49-F238E27FC236}">
                <a16:creationId xmlns:a16="http://schemas.microsoft.com/office/drawing/2014/main" id="{083F11C3-8E2A-E29F-BE4F-F2929CE71EC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44111409"/>
              </p:ext>
            </p:extLst>
          </p:nvPr>
        </p:nvGraphicFramePr>
        <p:xfrm>
          <a:off x="347470" y="931881"/>
          <a:ext cx="11475719" cy="5369140"/>
        </p:xfrm>
        <a:graphic>
          <a:graphicData uri="http://schemas.openxmlformats.org/drawingml/2006/table">
            <a:tbl>
              <a:tblPr firstRow="1" bandRow="1">
                <a:tableStyleId>{5FD0F851-EC5A-4D38-B0AD-8093EC10F338}</a:tableStyleId>
              </a:tblPr>
              <a:tblGrid>
                <a:gridCol w="2630549">
                  <a:extLst>
                    <a:ext uri="{9D8B030D-6E8A-4147-A177-3AD203B41FA5}">
                      <a16:colId xmlns:a16="http://schemas.microsoft.com/office/drawing/2014/main" val="2880323015"/>
                    </a:ext>
                  </a:extLst>
                </a:gridCol>
                <a:gridCol w="1751145">
                  <a:extLst>
                    <a:ext uri="{9D8B030D-6E8A-4147-A177-3AD203B41FA5}">
                      <a16:colId xmlns:a16="http://schemas.microsoft.com/office/drawing/2014/main" val="3421584875"/>
                    </a:ext>
                  </a:extLst>
                </a:gridCol>
                <a:gridCol w="1660564">
                  <a:extLst>
                    <a:ext uri="{9D8B030D-6E8A-4147-A177-3AD203B41FA5}">
                      <a16:colId xmlns:a16="http://schemas.microsoft.com/office/drawing/2014/main" val="1184110547"/>
                    </a:ext>
                  </a:extLst>
                </a:gridCol>
                <a:gridCol w="1697193">
                  <a:extLst>
                    <a:ext uri="{9D8B030D-6E8A-4147-A177-3AD203B41FA5}">
                      <a16:colId xmlns:a16="http://schemas.microsoft.com/office/drawing/2014/main" val="3781708433"/>
                    </a:ext>
                  </a:extLst>
                </a:gridCol>
                <a:gridCol w="1868134">
                  <a:extLst>
                    <a:ext uri="{9D8B030D-6E8A-4147-A177-3AD203B41FA5}">
                      <a16:colId xmlns:a16="http://schemas.microsoft.com/office/drawing/2014/main" val="107327293"/>
                    </a:ext>
                  </a:extLst>
                </a:gridCol>
                <a:gridCol w="1868134">
                  <a:extLst>
                    <a:ext uri="{9D8B030D-6E8A-4147-A177-3AD203B41FA5}">
                      <a16:colId xmlns:a16="http://schemas.microsoft.com/office/drawing/2014/main" val="3215815911"/>
                    </a:ext>
                  </a:extLst>
                </a:gridCol>
              </a:tblGrid>
              <a:tr h="403999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800" dirty="0"/>
                        <a:t>Setting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600" dirty="0"/>
                        <a:t>Avg Draft Token Accepted</a:t>
                      </a:r>
                    </a:p>
                  </a:txBody>
                  <a:tcPr marL="33472" marR="33472" marT="16736" marB="16736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600" dirty="0"/>
                        <a:t>Prefix 128</a:t>
                      </a:r>
                    </a:p>
                  </a:txBody>
                  <a:tcPr marL="33472" marR="33472" marT="16736" marB="16736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600" dirty="0"/>
                        <a:t>Prefix 256</a:t>
                      </a:r>
                    </a:p>
                  </a:txBody>
                  <a:tcPr marL="33472" marR="33472" marT="16736" marB="16736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600"/>
                        <a:t>Prefix 512</a:t>
                      </a:r>
                    </a:p>
                  </a:txBody>
                  <a:tcPr marL="33472" marR="33472" marT="16736" marB="16736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600"/>
                        <a:t>Prefix 768</a:t>
                      </a:r>
                    </a:p>
                  </a:txBody>
                  <a:tcPr marL="33472" marR="33472" marT="16736" marB="16736" anchor="ctr"/>
                </a:tc>
                <a:extLst>
                  <a:ext uri="{0D108BD9-81ED-4DB2-BD59-A6C34878D82A}">
                    <a16:rowId xmlns:a16="http://schemas.microsoft.com/office/drawing/2014/main" val="57095099"/>
                  </a:ext>
                </a:extLst>
              </a:tr>
              <a:tr h="403999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600" dirty="0"/>
                        <a:t>baseline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zh-TW" sz="1600" dirty="0"/>
                        <a:t>0.6238 ± 0.0000</a:t>
                      </a:r>
                    </a:p>
                  </a:txBody>
                  <a:tcPr marL="33472" marR="33472" marT="16736" marB="16736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zh-TW" sz="1600" dirty="0"/>
                        <a:t>0.8251 ± 0.0140</a:t>
                      </a:r>
                    </a:p>
                  </a:txBody>
                  <a:tcPr marL="33472" marR="33472" marT="16736" marB="16736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zh-TW" sz="1600" dirty="0"/>
                        <a:t>0.8205 ± 0.0062</a:t>
                      </a:r>
                    </a:p>
                  </a:txBody>
                  <a:tcPr marL="33472" marR="33472" marT="16736" marB="16736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zh-TW" sz="1600" dirty="0"/>
                        <a:t>0.8519 ± 0.0195</a:t>
                      </a:r>
                    </a:p>
                  </a:txBody>
                  <a:tcPr marL="33472" marR="33472" marT="16736" marB="16736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zh-TW" sz="1600" dirty="0"/>
                        <a:t>0.8552 ± 0.0233</a:t>
                      </a:r>
                    </a:p>
                  </a:txBody>
                  <a:tcPr marL="33472" marR="33472" marT="16736" marB="16736" anchor="ctr"/>
                </a:tc>
                <a:extLst>
                  <a:ext uri="{0D108BD9-81ED-4DB2-BD59-A6C34878D82A}">
                    <a16:rowId xmlns:a16="http://schemas.microsoft.com/office/drawing/2014/main" val="4165766225"/>
                  </a:ext>
                </a:extLst>
              </a:tr>
              <a:tr h="403999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600" dirty="0">
                          <a:latin typeface="+mn-lt"/>
                          <a:ea typeface="微軟正黑體" panose="020B0604030504040204" pitchFamily="34" charset="-120"/>
                        </a:rPr>
                        <a:t>S</a:t>
                      </a:r>
                      <a:r>
                        <a:rPr lang="en-US" altLang="zh-TW" sz="1600" baseline="-25000" dirty="0">
                          <a:latin typeface="+mn-lt"/>
                          <a:ea typeface="微軟正黑體" panose="020B0604030504040204" pitchFamily="34" charset="-120"/>
                        </a:rPr>
                        <a:t>W</a:t>
                      </a:r>
                      <a:r>
                        <a:rPr lang="en-US" altLang="zh-TW" sz="1600" baseline="0" dirty="0">
                          <a:latin typeface="+mn-lt"/>
                          <a:ea typeface="微軟正黑體" panose="020B0604030504040204" pitchFamily="34" charset="-120"/>
                        </a:rPr>
                        <a:t>=1.0,</a:t>
                      </a:r>
                      <a:r>
                        <a:rPr lang="el-GR" altLang="zh-TW" sz="1600" dirty="0">
                          <a:latin typeface="+mn-lt"/>
                        </a:rPr>
                        <a:t> τ</a:t>
                      </a:r>
                      <a:r>
                        <a:rPr lang="en-US" altLang="zh-TW" sz="1600" dirty="0">
                          <a:latin typeface="+mn-lt"/>
                        </a:rPr>
                        <a:t>=0.0, </a:t>
                      </a:r>
                      <a:r>
                        <a:rPr lang="en-US" altLang="zh-TW" sz="1600" dirty="0">
                          <a:latin typeface="+mn-lt"/>
                          <a:ea typeface="微軟正黑體" panose="020B0604030504040204" pitchFamily="34" charset="-120"/>
                        </a:rPr>
                        <a:t>L</a:t>
                      </a:r>
                      <a:r>
                        <a:rPr lang="en-US" altLang="zh-TW" sz="1600" baseline="-25000" dirty="0">
                          <a:latin typeface="+mn-lt"/>
                          <a:ea typeface="微軟正黑體" panose="020B0604030504040204" pitchFamily="34" charset="-120"/>
                        </a:rPr>
                        <a:t>W</a:t>
                      </a:r>
                      <a:r>
                        <a:rPr lang="en-US" altLang="zh-TW" sz="1600" baseline="0" dirty="0">
                          <a:latin typeface="+mn-lt"/>
                          <a:ea typeface="微軟正黑體" panose="020B0604030504040204" pitchFamily="34" charset="-120"/>
                        </a:rPr>
                        <a:t>=0.0</a:t>
                      </a:r>
                      <a:endParaRPr lang="en-US" altLang="zh-TW" sz="1600" baseline="0" dirty="0">
                        <a:latin typeface="+mn-lt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zh-TW" sz="1600" dirty="0"/>
                        <a:t>0.6388 ± 0.0000</a:t>
                      </a:r>
                    </a:p>
                  </a:txBody>
                  <a:tcPr marL="33472" marR="33472" marT="16736" marB="16736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zh-TW" sz="1600" dirty="0"/>
                        <a:t>0.8374 ± 0.0165</a:t>
                      </a:r>
                    </a:p>
                  </a:txBody>
                  <a:tcPr marL="33472" marR="33472" marT="16736" marB="16736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zh-TW" sz="1600" dirty="0"/>
                        <a:t>0.8746 ± 0.0108</a:t>
                      </a:r>
                    </a:p>
                  </a:txBody>
                  <a:tcPr marL="33472" marR="33472" marT="16736" marB="16736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zh-TW" sz="1600" dirty="0"/>
                        <a:t>0.8736 ± 0.0158</a:t>
                      </a:r>
                    </a:p>
                  </a:txBody>
                  <a:tcPr marL="33472" marR="33472" marT="16736" marB="16736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zh-TW" sz="1600" dirty="0"/>
                        <a:t>0.8802 ± 0.0029</a:t>
                      </a:r>
                    </a:p>
                  </a:txBody>
                  <a:tcPr marL="33472" marR="33472" marT="16736" marB="16736" anchor="ctr"/>
                </a:tc>
                <a:extLst>
                  <a:ext uri="{0D108BD9-81ED-4DB2-BD59-A6C34878D82A}">
                    <a16:rowId xmlns:a16="http://schemas.microsoft.com/office/drawing/2014/main" val="1088568622"/>
                  </a:ext>
                </a:extLst>
              </a:tr>
              <a:tr h="403999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600" dirty="0">
                          <a:latin typeface="+mn-lt"/>
                          <a:ea typeface="微軟正黑體" panose="020B0604030504040204" pitchFamily="34" charset="-120"/>
                        </a:rPr>
                        <a:t>S</a:t>
                      </a:r>
                      <a:r>
                        <a:rPr lang="en-US" altLang="zh-TW" sz="1600" baseline="-25000" dirty="0">
                          <a:latin typeface="+mn-lt"/>
                          <a:ea typeface="微軟正黑體" panose="020B0604030504040204" pitchFamily="34" charset="-120"/>
                        </a:rPr>
                        <a:t>W</a:t>
                      </a:r>
                      <a:r>
                        <a:rPr lang="en-US" altLang="zh-TW" sz="1600" baseline="0" dirty="0">
                          <a:latin typeface="+mn-lt"/>
                          <a:ea typeface="微軟正黑體" panose="020B0604030504040204" pitchFamily="34" charset="-120"/>
                        </a:rPr>
                        <a:t>=1.0,</a:t>
                      </a:r>
                      <a:r>
                        <a:rPr lang="el-GR" altLang="zh-TW" sz="1600" dirty="0">
                          <a:latin typeface="+mn-lt"/>
                        </a:rPr>
                        <a:t> τ</a:t>
                      </a:r>
                      <a:r>
                        <a:rPr lang="en-US" altLang="zh-TW" sz="1600" dirty="0">
                          <a:latin typeface="+mn-lt"/>
                        </a:rPr>
                        <a:t>=0.3, </a:t>
                      </a:r>
                      <a:r>
                        <a:rPr lang="en-US" altLang="zh-TW" sz="1600" dirty="0">
                          <a:latin typeface="+mn-lt"/>
                          <a:ea typeface="微軟正黑體" panose="020B0604030504040204" pitchFamily="34" charset="-120"/>
                        </a:rPr>
                        <a:t>L</a:t>
                      </a:r>
                      <a:r>
                        <a:rPr lang="en-US" altLang="zh-TW" sz="1600" baseline="-25000" dirty="0">
                          <a:latin typeface="+mn-lt"/>
                          <a:ea typeface="微軟正黑體" panose="020B0604030504040204" pitchFamily="34" charset="-120"/>
                        </a:rPr>
                        <a:t>W</a:t>
                      </a:r>
                      <a:r>
                        <a:rPr lang="en-US" altLang="zh-TW" sz="1600" baseline="0" dirty="0">
                          <a:latin typeface="+mn-lt"/>
                          <a:ea typeface="微軟正黑體" panose="020B0604030504040204" pitchFamily="34" charset="-120"/>
                        </a:rPr>
                        <a:t>=0.0</a:t>
                      </a:r>
                      <a:endParaRPr lang="en-US" altLang="zh-TW" sz="1600" baseline="0" dirty="0">
                        <a:latin typeface="+mn-lt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zh-TW" sz="1600" dirty="0"/>
                        <a:t>0.6400 ± 0.0000</a:t>
                      </a:r>
                    </a:p>
                  </a:txBody>
                  <a:tcPr marL="33472" marR="33472" marT="16736" marB="16736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zh-TW" sz="1600" dirty="0"/>
                        <a:t>0.8406 ± 0.0131</a:t>
                      </a:r>
                    </a:p>
                  </a:txBody>
                  <a:tcPr marL="33472" marR="33472" marT="16736" marB="16736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zh-TW" sz="1600"/>
                        <a:t>0.8602 ± 0.0232</a:t>
                      </a:r>
                    </a:p>
                  </a:txBody>
                  <a:tcPr marL="33472" marR="33472" marT="16736" marB="16736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zh-TW" sz="1600"/>
                        <a:t>0.8720 ± 0.0233</a:t>
                      </a:r>
                    </a:p>
                  </a:txBody>
                  <a:tcPr marL="33472" marR="33472" marT="16736" marB="16736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zh-TW" sz="1600" dirty="0"/>
                        <a:t>0.8772 ± 0.0015</a:t>
                      </a:r>
                    </a:p>
                  </a:txBody>
                  <a:tcPr marL="33472" marR="33472" marT="16736" marB="16736" anchor="ctr"/>
                </a:tc>
                <a:extLst>
                  <a:ext uri="{0D108BD9-81ED-4DB2-BD59-A6C34878D82A}">
                    <a16:rowId xmlns:a16="http://schemas.microsoft.com/office/drawing/2014/main" val="3427155248"/>
                  </a:ext>
                </a:extLst>
              </a:tr>
              <a:tr h="403999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600" dirty="0">
                          <a:latin typeface="+mn-lt"/>
                          <a:ea typeface="微軟正黑體" panose="020B0604030504040204" pitchFamily="34" charset="-120"/>
                        </a:rPr>
                        <a:t>S</a:t>
                      </a:r>
                      <a:r>
                        <a:rPr lang="en-US" altLang="zh-TW" sz="1600" baseline="-25000" dirty="0">
                          <a:latin typeface="+mn-lt"/>
                          <a:ea typeface="微軟正黑體" panose="020B0604030504040204" pitchFamily="34" charset="-120"/>
                        </a:rPr>
                        <a:t>W</a:t>
                      </a:r>
                      <a:r>
                        <a:rPr lang="en-US" altLang="zh-TW" sz="1600" baseline="0" dirty="0">
                          <a:latin typeface="+mn-lt"/>
                          <a:ea typeface="微軟正黑體" panose="020B0604030504040204" pitchFamily="34" charset="-120"/>
                        </a:rPr>
                        <a:t>=1.0,</a:t>
                      </a:r>
                      <a:r>
                        <a:rPr lang="el-GR" altLang="zh-TW" sz="1600" dirty="0">
                          <a:latin typeface="+mn-lt"/>
                        </a:rPr>
                        <a:t> τ</a:t>
                      </a:r>
                      <a:r>
                        <a:rPr lang="en-US" altLang="zh-TW" sz="1600" dirty="0">
                          <a:latin typeface="+mn-lt"/>
                        </a:rPr>
                        <a:t>=0.6, </a:t>
                      </a:r>
                      <a:r>
                        <a:rPr lang="en-US" altLang="zh-TW" sz="1600" dirty="0">
                          <a:latin typeface="+mn-lt"/>
                          <a:ea typeface="微軟正黑體" panose="020B0604030504040204" pitchFamily="34" charset="-120"/>
                        </a:rPr>
                        <a:t>L</a:t>
                      </a:r>
                      <a:r>
                        <a:rPr lang="en-US" altLang="zh-TW" sz="1600" baseline="-25000" dirty="0">
                          <a:latin typeface="+mn-lt"/>
                          <a:ea typeface="微軟正黑體" panose="020B0604030504040204" pitchFamily="34" charset="-120"/>
                        </a:rPr>
                        <a:t>W</a:t>
                      </a:r>
                      <a:r>
                        <a:rPr lang="en-US" altLang="zh-TW" sz="1600" baseline="0" dirty="0">
                          <a:latin typeface="+mn-lt"/>
                          <a:ea typeface="微軟正黑體" panose="020B0604030504040204" pitchFamily="34" charset="-120"/>
                        </a:rPr>
                        <a:t>=0.0</a:t>
                      </a:r>
                      <a:endParaRPr lang="en-US" altLang="zh-TW" sz="1600" baseline="0" dirty="0">
                        <a:latin typeface="+mn-lt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zh-TW" sz="1600" dirty="0"/>
                        <a:t>0.6113 ± 0.0000</a:t>
                      </a:r>
                    </a:p>
                  </a:txBody>
                  <a:tcPr marL="33472" marR="33472" marT="16736" marB="16736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zh-TW" sz="1600" dirty="0"/>
                        <a:t>0.7908 ± 0.0074</a:t>
                      </a:r>
                    </a:p>
                  </a:txBody>
                  <a:tcPr marL="33472" marR="33472" marT="16736" marB="16736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zh-TW" sz="1600" dirty="0"/>
                        <a:t>0.7919 ± 0.0086</a:t>
                      </a:r>
                    </a:p>
                  </a:txBody>
                  <a:tcPr marL="33472" marR="33472" marT="16736" marB="16736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zh-TW" sz="1600" dirty="0"/>
                        <a:t>0.8009 ± 0.0035</a:t>
                      </a:r>
                    </a:p>
                  </a:txBody>
                  <a:tcPr marL="33472" marR="33472" marT="16736" marB="16736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zh-TW" sz="1600" dirty="0"/>
                        <a:t>0.8174 ± 0.0130</a:t>
                      </a:r>
                    </a:p>
                  </a:txBody>
                  <a:tcPr marL="33472" marR="33472" marT="16736" marB="16736" anchor="ctr"/>
                </a:tc>
                <a:extLst>
                  <a:ext uri="{0D108BD9-81ED-4DB2-BD59-A6C34878D82A}">
                    <a16:rowId xmlns:a16="http://schemas.microsoft.com/office/drawing/2014/main" val="678960123"/>
                  </a:ext>
                </a:extLst>
              </a:tr>
              <a:tr h="403999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600" dirty="0">
                          <a:latin typeface="+mn-lt"/>
                          <a:ea typeface="微軟正黑體" panose="020B0604030504040204" pitchFamily="34" charset="-120"/>
                        </a:rPr>
                        <a:t>S</a:t>
                      </a:r>
                      <a:r>
                        <a:rPr lang="en-US" altLang="zh-TW" sz="1600" baseline="-25000" dirty="0">
                          <a:latin typeface="+mn-lt"/>
                          <a:ea typeface="微軟正黑體" panose="020B0604030504040204" pitchFamily="34" charset="-120"/>
                        </a:rPr>
                        <a:t>W</a:t>
                      </a:r>
                      <a:r>
                        <a:rPr lang="en-US" altLang="zh-TW" sz="1600" baseline="0" dirty="0">
                          <a:latin typeface="+mn-lt"/>
                          <a:ea typeface="微軟正黑體" panose="020B0604030504040204" pitchFamily="34" charset="-120"/>
                        </a:rPr>
                        <a:t>=1.5,</a:t>
                      </a:r>
                      <a:r>
                        <a:rPr lang="el-GR" altLang="zh-TW" sz="1600" dirty="0">
                          <a:latin typeface="+mn-lt"/>
                        </a:rPr>
                        <a:t> τ</a:t>
                      </a:r>
                      <a:r>
                        <a:rPr lang="en-US" altLang="zh-TW" sz="1600" dirty="0">
                          <a:latin typeface="+mn-lt"/>
                        </a:rPr>
                        <a:t>=0.3, </a:t>
                      </a:r>
                      <a:r>
                        <a:rPr lang="en-US" altLang="zh-TW" sz="1600" dirty="0">
                          <a:latin typeface="+mn-lt"/>
                          <a:ea typeface="微軟正黑體" panose="020B0604030504040204" pitchFamily="34" charset="-120"/>
                        </a:rPr>
                        <a:t>L</a:t>
                      </a:r>
                      <a:r>
                        <a:rPr lang="en-US" altLang="zh-TW" sz="1600" baseline="-25000" dirty="0">
                          <a:latin typeface="+mn-lt"/>
                          <a:ea typeface="微軟正黑體" panose="020B0604030504040204" pitchFamily="34" charset="-120"/>
                        </a:rPr>
                        <a:t>W</a:t>
                      </a:r>
                      <a:r>
                        <a:rPr lang="en-US" altLang="zh-TW" sz="1600" baseline="0" dirty="0">
                          <a:latin typeface="+mn-lt"/>
                          <a:ea typeface="微軟正黑體" panose="020B0604030504040204" pitchFamily="34" charset="-120"/>
                        </a:rPr>
                        <a:t>=0.0</a:t>
                      </a:r>
                      <a:endParaRPr lang="en-US" altLang="zh-TW" sz="1600" baseline="0" dirty="0">
                        <a:latin typeface="+mn-lt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zh-TW" sz="1600"/>
                        <a:t>0.6414 ± 0.0000</a:t>
                      </a:r>
                    </a:p>
                  </a:txBody>
                  <a:tcPr marL="33472" marR="33472" marT="16736" marB="16736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zh-TW" sz="1600"/>
                        <a:t>0.8522 ± 0.0098</a:t>
                      </a:r>
                    </a:p>
                  </a:txBody>
                  <a:tcPr marL="33472" marR="33472" marT="16736" marB="16736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zh-TW" sz="1600" dirty="0"/>
                        <a:t>0.8581 ± 0.0139</a:t>
                      </a:r>
                    </a:p>
                  </a:txBody>
                  <a:tcPr marL="33472" marR="33472" marT="16736" marB="16736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zh-TW" sz="1600"/>
                        <a:t>0.8897 ± 0.0043</a:t>
                      </a:r>
                    </a:p>
                  </a:txBody>
                  <a:tcPr marL="33472" marR="33472" marT="16736" marB="16736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zh-TW" sz="1600" dirty="0"/>
                        <a:t>0.9082 ± 0.0204</a:t>
                      </a:r>
                    </a:p>
                  </a:txBody>
                  <a:tcPr marL="33472" marR="33472" marT="16736" marB="16736" anchor="ctr"/>
                </a:tc>
                <a:extLst>
                  <a:ext uri="{0D108BD9-81ED-4DB2-BD59-A6C34878D82A}">
                    <a16:rowId xmlns:a16="http://schemas.microsoft.com/office/drawing/2014/main" val="1531699260"/>
                  </a:ext>
                </a:extLst>
              </a:tr>
              <a:tr h="403999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600" dirty="0">
                          <a:latin typeface="+mn-lt"/>
                          <a:ea typeface="微軟正黑體" panose="020B0604030504040204" pitchFamily="34" charset="-120"/>
                        </a:rPr>
                        <a:t>S</a:t>
                      </a:r>
                      <a:r>
                        <a:rPr lang="en-US" altLang="zh-TW" sz="1600" baseline="-25000" dirty="0">
                          <a:latin typeface="+mn-lt"/>
                          <a:ea typeface="微軟正黑體" panose="020B0604030504040204" pitchFamily="34" charset="-120"/>
                        </a:rPr>
                        <a:t>W</a:t>
                      </a:r>
                      <a:r>
                        <a:rPr lang="en-US" altLang="zh-TW" sz="1600" baseline="0" dirty="0">
                          <a:latin typeface="+mn-lt"/>
                          <a:ea typeface="微軟正黑體" panose="020B0604030504040204" pitchFamily="34" charset="-120"/>
                        </a:rPr>
                        <a:t>=0.5,</a:t>
                      </a:r>
                      <a:r>
                        <a:rPr lang="el-GR" altLang="zh-TW" sz="1600" dirty="0">
                          <a:latin typeface="+mn-lt"/>
                        </a:rPr>
                        <a:t> τ</a:t>
                      </a:r>
                      <a:r>
                        <a:rPr lang="en-US" altLang="zh-TW" sz="1600" dirty="0">
                          <a:latin typeface="+mn-lt"/>
                        </a:rPr>
                        <a:t>=0.3, </a:t>
                      </a:r>
                      <a:r>
                        <a:rPr lang="en-US" altLang="zh-TW" sz="1600" dirty="0">
                          <a:latin typeface="+mn-lt"/>
                          <a:ea typeface="微軟正黑體" panose="020B0604030504040204" pitchFamily="34" charset="-120"/>
                        </a:rPr>
                        <a:t>L</a:t>
                      </a:r>
                      <a:r>
                        <a:rPr lang="en-US" altLang="zh-TW" sz="1600" baseline="-25000" dirty="0">
                          <a:latin typeface="+mn-lt"/>
                          <a:ea typeface="微軟正黑體" panose="020B0604030504040204" pitchFamily="34" charset="-120"/>
                        </a:rPr>
                        <a:t>W</a:t>
                      </a:r>
                      <a:r>
                        <a:rPr lang="en-US" altLang="zh-TW" sz="1600" baseline="0" dirty="0">
                          <a:latin typeface="+mn-lt"/>
                          <a:ea typeface="微軟正黑體" panose="020B0604030504040204" pitchFamily="34" charset="-120"/>
                        </a:rPr>
                        <a:t>=0.0</a:t>
                      </a:r>
                      <a:endParaRPr lang="en-US" altLang="zh-TW" sz="1600" baseline="0" dirty="0">
                        <a:latin typeface="+mn-lt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zh-TW" sz="1600" dirty="0"/>
                        <a:t>0.6345 ± 0.0000</a:t>
                      </a:r>
                    </a:p>
                  </a:txBody>
                  <a:tcPr marL="33472" marR="33472" marT="16736" marB="16736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zh-TW" sz="1600" dirty="0"/>
                        <a:t>0.8195 ± 0.0122</a:t>
                      </a:r>
                    </a:p>
                  </a:txBody>
                  <a:tcPr marL="33472" marR="33472" marT="16736" marB="16736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zh-TW" sz="1600" dirty="0"/>
                        <a:t>0.8416 ± 0.0115</a:t>
                      </a:r>
                    </a:p>
                  </a:txBody>
                  <a:tcPr marL="33472" marR="33472" marT="16736" marB="16736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zh-TW" sz="1600" dirty="0"/>
                        <a:t>0.8601 ± 0.0065</a:t>
                      </a:r>
                    </a:p>
                  </a:txBody>
                  <a:tcPr marL="33472" marR="33472" marT="16736" marB="16736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zh-TW" sz="1600" dirty="0"/>
                        <a:t>0.8644 ± 0.0304</a:t>
                      </a:r>
                    </a:p>
                  </a:txBody>
                  <a:tcPr marL="33472" marR="33472" marT="16736" marB="16736" anchor="ctr"/>
                </a:tc>
                <a:extLst>
                  <a:ext uri="{0D108BD9-81ED-4DB2-BD59-A6C34878D82A}">
                    <a16:rowId xmlns:a16="http://schemas.microsoft.com/office/drawing/2014/main" val="318103260"/>
                  </a:ext>
                </a:extLst>
              </a:tr>
              <a:tr h="403999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600" dirty="0">
                          <a:latin typeface="+mn-lt"/>
                          <a:ea typeface="微軟正黑體" panose="020B0604030504040204" pitchFamily="34" charset="-120"/>
                        </a:rPr>
                        <a:t>S</a:t>
                      </a:r>
                      <a:r>
                        <a:rPr lang="en-US" altLang="zh-TW" sz="1600" baseline="-25000" dirty="0">
                          <a:latin typeface="+mn-lt"/>
                          <a:ea typeface="微軟正黑體" panose="020B0604030504040204" pitchFamily="34" charset="-120"/>
                        </a:rPr>
                        <a:t>W</a:t>
                      </a:r>
                      <a:r>
                        <a:rPr lang="en-US" altLang="zh-TW" sz="1600" baseline="0" dirty="0">
                          <a:latin typeface="+mn-lt"/>
                          <a:ea typeface="微軟正黑體" panose="020B0604030504040204" pitchFamily="34" charset="-120"/>
                        </a:rPr>
                        <a:t>=0.0,</a:t>
                      </a:r>
                      <a:r>
                        <a:rPr lang="el-GR" altLang="zh-TW" sz="1600" dirty="0">
                          <a:latin typeface="+mn-lt"/>
                        </a:rPr>
                        <a:t> τ</a:t>
                      </a:r>
                      <a:r>
                        <a:rPr lang="en-US" altLang="zh-TW" sz="1600" dirty="0">
                          <a:latin typeface="+mn-lt"/>
                        </a:rPr>
                        <a:t>=0.0, </a:t>
                      </a:r>
                      <a:r>
                        <a:rPr lang="en-US" altLang="zh-TW" sz="1600" dirty="0">
                          <a:latin typeface="+mn-lt"/>
                          <a:ea typeface="微軟正黑體" panose="020B0604030504040204" pitchFamily="34" charset="-120"/>
                        </a:rPr>
                        <a:t>L</a:t>
                      </a:r>
                      <a:r>
                        <a:rPr lang="en-US" altLang="zh-TW" sz="1600" baseline="-25000" dirty="0">
                          <a:latin typeface="+mn-lt"/>
                          <a:ea typeface="微軟正黑體" panose="020B0604030504040204" pitchFamily="34" charset="-120"/>
                        </a:rPr>
                        <a:t>W</a:t>
                      </a:r>
                      <a:r>
                        <a:rPr lang="en-US" altLang="zh-TW" sz="1600" baseline="0" dirty="0">
                          <a:latin typeface="+mn-lt"/>
                          <a:ea typeface="微軟正黑體" panose="020B0604030504040204" pitchFamily="34" charset="-120"/>
                        </a:rPr>
                        <a:t>=0.5</a:t>
                      </a:r>
                      <a:endParaRPr lang="en-US" altLang="zh-TW" sz="1600" baseline="0" dirty="0">
                        <a:latin typeface="+mn-lt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zh-TW" sz="1600"/>
                        <a:t>0.6398 ± 0.0000</a:t>
                      </a:r>
                    </a:p>
                  </a:txBody>
                  <a:tcPr marL="33472" marR="33472" marT="16736" marB="16736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zh-TW" sz="1600"/>
                        <a:t>0.8517 ± 0.0156</a:t>
                      </a:r>
                    </a:p>
                  </a:txBody>
                  <a:tcPr marL="33472" marR="33472" marT="16736" marB="16736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zh-TW" sz="1600" dirty="0"/>
                        <a:t>0.8589 ± 0.0096</a:t>
                      </a:r>
                    </a:p>
                  </a:txBody>
                  <a:tcPr marL="33472" marR="33472" marT="16736" marB="16736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zh-TW" sz="1600"/>
                        <a:t>0.8794 ± 0.0050</a:t>
                      </a:r>
                    </a:p>
                  </a:txBody>
                  <a:tcPr marL="33472" marR="33472" marT="16736" marB="16736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zh-TW" sz="1600" dirty="0"/>
                        <a:t>0.8895 ± 0.0257</a:t>
                      </a:r>
                    </a:p>
                  </a:txBody>
                  <a:tcPr marL="33472" marR="33472" marT="16736" marB="16736" anchor="ctr"/>
                </a:tc>
                <a:extLst>
                  <a:ext uri="{0D108BD9-81ED-4DB2-BD59-A6C34878D82A}">
                    <a16:rowId xmlns:a16="http://schemas.microsoft.com/office/drawing/2014/main" val="1441213913"/>
                  </a:ext>
                </a:extLst>
              </a:tr>
              <a:tr h="403999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600" dirty="0">
                          <a:latin typeface="+mn-lt"/>
                          <a:ea typeface="微軟正黑體" panose="020B0604030504040204" pitchFamily="34" charset="-120"/>
                        </a:rPr>
                        <a:t>S</a:t>
                      </a:r>
                      <a:r>
                        <a:rPr lang="en-US" altLang="zh-TW" sz="1600" baseline="-25000" dirty="0">
                          <a:latin typeface="+mn-lt"/>
                          <a:ea typeface="微軟正黑體" panose="020B0604030504040204" pitchFamily="34" charset="-120"/>
                        </a:rPr>
                        <a:t>W</a:t>
                      </a:r>
                      <a:r>
                        <a:rPr lang="en-US" altLang="zh-TW" sz="1600" baseline="0" dirty="0">
                          <a:latin typeface="+mn-lt"/>
                          <a:ea typeface="微軟正黑體" panose="020B0604030504040204" pitchFamily="34" charset="-120"/>
                        </a:rPr>
                        <a:t>=0.0,</a:t>
                      </a:r>
                      <a:r>
                        <a:rPr lang="el-GR" altLang="zh-TW" sz="1600" dirty="0">
                          <a:latin typeface="+mn-lt"/>
                        </a:rPr>
                        <a:t> τ</a:t>
                      </a:r>
                      <a:r>
                        <a:rPr lang="en-US" altLang="zh-TW" sz="1600" dirty="0">
                          <a:latin typeface="+mn-lt"/>
                        </a:rPr>
                        <a:t>=0.0, </a:t>
                      </a:r>
                      <a:r>
                        <a:rPr lang="en-US" altLang="zh-TW" sz="1600" dirty="0">
                          <a:latin typeface="+mn-lt"/>
                          <a:ea typeface="微軟正黑體" panose="020B0604030504040204" pitchFamily="34" charset="-120"/>
                        </a:rPr>
                        <a:t>L</a:t>
                      </a:r>
                      <a:r>
                        <a:rPr lang="en-US" altLang="zh-TW" sz="1600" baseline="-25000" dirty="0">
                          <a:latin typeface="+mn-lt"/>
                          <a:ea typeface="微軟正黑體" panose="020B0604030504040204" pitchFamily="34" charset="-120"/>
                        </a:rPr>
                        <a:t>W</a:t>
                      </a:r>
                      <a:r>
                        <a:rPr lang="en-US" altLang="zh-TW" sz="1600" baseline="0" dirty="0">
                          <a:latin typeface="+mn-lt"/>
                          <a:ea typeface="微軟正黑體" panose="020B0604030504040204" pitchFamily="34" charset="-120"/>
                        </a:rPr>
                        <a:t>=1.0</a:t>
                      </a:r>
                      <a:endParaRPr lang="en-US" altLang="zh-TW" sz="1600" baseline="0" dirty="0">
                        <a:latin typeface="+mn-lt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zh-TW" sz="1600" dirty="0"/>
                        <a:t>0.6442 ± 0.0000</a:t>
                      </a:r>
                    </a:p>
                  </a:txBody>
                  <a:tcPr marL="33472" marR="33472" marT="16736" marB="16736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zh-TW" sz="1600" dirty="0"/>
                        <a:t>0.8491 ± 0.0130</a:t>
                      </a:r>
                    </a:p>
                  </a:txBody>
                  <a:tcPr marL="33472" marR="33472" marT="16736" marB="16736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zh-TW" sz="1600" dirty="0"/>
                        <a:t>0.8698 ± 0.0154</a:t>
                      </a:r>
                    </a:p>
                  </a:txBody>
                  <a:tcPr marL="33472" marR="33472" marT="16736" marB="16736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zh-TW" sz="1600" dirty="0"/>
                        <a:t>0.8919 ± 0.0168</a:t>
                      </a:r>
                    </a:p>
                  </a:txBody>
                  <a:tcPr marL="33472" marR="33472" marT="16736" marB="16736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zh-TW" sz="1600" dirty="0"/>
                        <a:t>0.8943 ± 0.0012</a:t>
                      </a:r>
                    </a:p>
                  </a:txBody>
                  <a:tcPr marL="33472" marR="33472" marT="16736" marB="16736" anchor="ctr"/>
                </a:tc>
                <a:extLst>
                  <a:ext uri="{0D108BD9-81ED-4DB2-BD59-A6C34878D82A}">
                    <a16:rowId xmlns:a16="http://schemas.microsoft.com/office/drawing/2014/main" val="1591432723"/>
                  </a:ext>
                </a:extLst>
              </a:tr>
              <a:tr h="403999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600" dirty="0">
                          <a:latin typeface="+mn-lt"/>
                          <a:ea typeface="微軟正黑體" panose="020B0604030504040204" pitchFamily="34" charset="-120"/>
                        </a:rPr>
                        <a:t>S</a:t>
                      </a:r>
                      <a:r>
                        <a:rPr lang="en-US" altLang="zh-TW" sz="1600" baseline="-25000" dirty="0">
                          <a:latin typeface="+mn-lt"/>
                          <a:ea typeface="微軟正黑體" panose="020B0604030504040204" pitchFamily="34" charset="-120"/>
                        </a:rPr>
                        <a:t>W</a:t>
                      </a:r>
                      <a:r>
                        <a:rPr lang="en-US" altLang="zh-TW" sz="1600" baseline="0" dirty="0">
                          <a:latin typeface="+mn-lt"/>
                          <a:ea typeface="微軟正黑體" panose="020B0604030504040204" pitchFamily="34" charset="-120"/>
                        </a:rPr>
                        <a:t>=0.0,</a:t>
                      </a:r>
                      <a:r>
                        <a:rPr lang="el-GR" altLang="zh-TW" sz="1600" dirty="0">
                          <a:latin typeface="+mn-lt"/>
                        </a:rPr>
                        <a:t> τ</a:t>
                      </a:r>
                      <a:r>
                        <a:rPr lang="en-US" altLang="zh-TW" sz="1600" dirty="0">
                          <a:latin typeface="+mn-lt"/>
                        </a:rPr>
                        <a:t>=0.0, </a:t>
                      </a:r>
                      <a:r>
                        <a:rPr lang="en-US" altLang="zh-TW" sz="1600" dirty="0">
                          <a:latin typeface="+mn-lt"/>
                          <a:ea typeface="微軟正黑體" panose="020B0604030504040204" pitchFamily="34" charset="-120"/>
                        </a:rPr>
                        <a:t>L</a:t>
                      </a:r>
                      <a:r>
                        <a:rPr lang="en-US" altLang="zh-TW" sz="1600" baseline="-25000" dirty="0">
                          <a:latin typeface="+mn-lt"/>
                          <a:ea typeface="微軟正黑體" panose="020B0604030504040204" pitchFamily="34" charset="-120"/>
                        </a:rPr>
                        <a:t>W</a:t>
                      </a:r>
                      <a:r>
                        <a:rPr lang="en-US" altLang="zh-TW" sz="1600" baseline="0" dirty="0">
                          <a:latin typeface="+mn-lt"/>
                          <a:ea typeface="微軟正黑體" panose="020B0604030504040204" pitchFamily="34" charset="-120"/>
                        </a:rPr>
                        <a:t>=1.5</a:t>
                      </a:r>
                      <a:endParaRPr lang="en-US" altLang="zh-TW" sz="1600" baseline="0" dirty="0">
                        <a:latin typeface="+mn-lt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zh-TW" sz="1600" dirty="0"/>
                        <a:t>0.6467 ± 0.0000</a:t>
                      </a:r>
                    </a:p>
                  </a:txBody>
                  <a:tcPr marL="33472" marR="33472" marT="16736" marB="16736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zh-TW" sz="1600" dirty="0"/>
                        <a:t>0.8510 ± 0.0112</a:t>
                      </a:r>
                    </a:p>
                  </a:txBody>
                  <a:tcPr marL="33472" marR="33472" marT="16736" marB="16736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zh-TW" sz="1600" b="1" dirty="0">
                          <a:solidFill>
                            <a:srgbClr val="FF0000"/>
                          </a:solidFill>
                        </a:rPr>
                        <a:t>0.8862 ± 0.0054</a:t>
                      </a:r>
                    </a:p>
                  </a:txBody>
                  <a:tcPr marL="33472" marR="33472" marT="16736" marB="16736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zh-TW" sz="1600" dirty="0"/>
                        <a:t>0.8951 ± 0.0129</a:t>
                      </a:r>
                    </a:p>
                  </a:txBody>
                  <a:tcPr marL="33472" marR="33472" marT="16736" marB="16736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zh-TW" sz="1600" dirty="0"/>
                        <a:t>0.9028 ± 0.0327</a:t>
                      </a:r>
                    </a:p>
                  </a:txBody>
                  <a:tcPr marL="33472" marR="33472" marT="16736" marB="16736" anchor="ctr"/>
                </a:tc>
                <a:extLst>
                  <a:ext uri="{0D108BD9-81ED-4DB2-BD59-A6C34878D82A}">
                    <a16:rowId xmlns:a16="http://schemas.microsoft.com/office/drawing/2014/main" val="1309331485"/>
                  </a:ext>
                </a:extLst>
              </a:tr>
              <a:tr h="403999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600" dirty="0">
                          <a:latin typeface="+mn-lt"/>
                          <a:ea typeface="微軟正黑體" panose="020B0604030504040204" pitchFamily="34" charset="-120"/>
                        </a:rPr>
                        <a:t>S</a:t>
                      </a:r>
                      <a:r>
                        <a:rPr lang="en-US" altLang="zh-TW" sz="1600" baseline="-25000" dirty="0">
                          <a:latin typeface="+mn-lt"/>
                          <a:ea typeface="微軟正黑體" panose="020B0604030504040204" pitchFamily="34" charset="-120"/>
                        </a:rPr>
                        <a:t>W</a:t>
                      </a:r>
                      <a:r>
                        <a:rPr lang="en-US" altLang="zh-TW" sz="1600" baseline="0" dirty="0">
                          <a:latin typeface="+mn-lt"/>
                          <a:ea typeface="微軟正黑體" panose="020B0604030504040204" pitchFamily="34" charset="-120"/>
                        </a:rPr>
                        <a:t>=1.0,</a:t>
                      </a:r>
                      <a:r>
                        <a:rPr lang="el-GR" altLang="zh-TW" sz="1600" dirty="0">
                          <a:latin typeface="+mn-lt"/>
                        </a:rPr>
                        <a:t> τ</a:t>
                      </a:r>
                      <a:r>
                        <a:rPr lang="en-US" altLang="zh-TW" sz="1600" dirty="0">
                          <a:latin typeface="+mn-lt"/>
                        </a:rPr>
                        <a:t>=0.3, </a:t>
                      </a:r>
                      <a:r>
                        <a:rPr lang="en-US" altLang="zh-TW" sz="1600" dirty="0">
                          <a:latin typeface="+mn-lt"/>
                          <a:ea typeface="微軟正黑體" panose="020B0604030504040204" pitchFamily="34" charset="-120"/>
                        </a:rPr>
                        <a:t>L</a:t>
                      </a:r>
                      <a:r>
                        <a:rPr lang="en-US" altLang="zh-TW" sz="1600" baseline="-25000" dirty="0">
                          <a:latin typeface="+mn-lt"/>
                          <a:ea typeface="微軟正黑體" panose="020B0604030504040204" pitchFamily="34" charset="-120"/>
                        </a:rPr>
                        <a:t>W</a:t>
                      </a:r>
                      <a:r>
                        <a:rPr lang="en-US" altLang="zh-TW" sz="1600" baseline="0" dirty="0">
                          <a:latin typeface="+mn-lt"/>
                          <a:ea typeface="微軟正黑體" panose="020B0604030504040204" pitchFamily="34" charset="-120"/>
                        </a:rPr>
                        <a:t>=0.5</a:t>
                      </a:r>
                      <a:endParaRPr lang="en-US" altLang="zh-TW" sz="1600" baseline="0" dirty="0">
                        <a:latin typeface="+mn-lt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zh-TW" sz="1600" dirty="0"/>
                        <a:t>0.6507 ± 0.0000</a:t>
                      </a:r>
                    </a:p>
                  </a:txBody>
                  <a:tcPr marL="33472" marR="33472" marT="16736" marB="16736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zh-TW" sz="1600" dirty="0"/>
                        <a:t>0.8498 ± 0.0339</a:t>
                      </a:r>
                    </a:p>
                  </a:txBody>
                  <a:tcPr marL="33472" marR="33472" marT="16736" marB="16736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zh-TW" sz="1600" dirty="0"/>
                        <a:t>0.8615 ± 0.0179</a:t>
                      </a:r>
                    </a:p>
                  </a:txBody>
                  <a:tcPr marL="33472" marR="33472" marT="16736" marB="16736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zh-TW" sz="1600" dirty="0"/>
                        <a:t>0.8987 ± 0.0103</a:t>
                      </a:r>
                    </a:p>
                  </a:txBody>
                  <a:tcPr marL="33472" marR="33472" marT="16736" marB="16736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zh-TW" sz="1600" dirty="0"/>
                        <a:t>0.8862 ± 0.0151</a:t>
                      </a:r>
                    </a:p>
                  </a:txBody>
                  <a:tcPr marL="33472" marR="33472" marT="16736" marB="16736" anchor="ctr"/>
                </a:tc>
                <a:extLst>
                  <a:ext uri="{0D108BD9-81ED-4DB2-BD59-A6C34878D82A}">
                    <a16:rowId xmlns:a16="http://schemas.microsoft.com/office/drawing/2014/main" val="3663042970"/>
                  </a:ext>
                </a:extLst>
              </a:tr>
              <a:tr h="403999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600" dirty="0">
                          <a:latin typeface="+mn-lt"/>
                          <a:ea typeface="微軟正黑體" panose="020B0604030504040204" pitchFamily="34" charset="-120"/>
                        </a:rPr>
                        <a:t>S</a:t>
                      </a:r>
                      <a:r>
                        <a:rPr lang="en-US" altLang="zh-TW" sz="1600" baseline="-25000" dirty="0">
                          <a:latin typeface="+mn-lt"/>
                          <a:ea typeface="微軟正黑體" panose="020B0604030504040204" pitchFamily="34" charset="-120"/>
                        </a:rPr>
                        <a:t>W</a:t>
                      </a:r>
                      <a:r>
                        <a:rPr lang="en-US" altLang="zh-TW" sz="1600" baseline="0" dirty="0">
                          <a:latin typeface="+mn-lt"/>
                          <a:ea typeface="微軟正黑體" panose="020B0604030504040204" pitchFamily="34" charset="-120"/>
                        </a:rPr>
                        <a:t>=1.0,</a:t>
                      </a:r>
                      <a:r>
                        <a:rPr lang="el-GR" altLang="zh-TW" sz="1600" dirty="0">
                          <a:latin typeface="+mn-lt"/>
                        </a:rPr>
                        <a:t> τ</a:t>
                      </a:r>
                      <a:r>
                        <a:rPr lang="en-US" altLang="zh-TW" sz="1600" dirty="0">
                          <a:latin typeface="+mn-lt"/>
                        </a:rPr>
                        <a:t>=0.3, </a:t>
                      </a:r>
                      <a:r>
                        <a:rPr lang="en-US" altLang="zh-TW" sz="1600" dirty="0">
                          <a:latin typeface="+mn-lt"/>
                          <a:ea typeface="微軟正黑體" panose="020B0604030504040204" pitchFamily="34" charset="-120"/>
                        </a:rPr>
                        <a:t>L</a:t>
                      </a:r>
                      <a:r>
                        <a:rPr lang="en-US" altLang="zh-TW" sz="1600" baseline="-25000" dirty="0">
                          <a:latin typeface="+mn-lt"/>
                          <a:ea typeface="微軟正黑體" panose="020B0604030504040204" pitchFamily="34" charset="-120"/>
                        </a:rPr>
                        <a:t>W</a:t>
                      </a:r>
                      <a:r>
                        <a:rPr lang="en-US" altLang="zh-TW" sz="1600" baseline="0" dirty="0">
                          <a:latin typeface="+mn-lt"/>
                          <a:ea typeface="微軟正黑體" panose="020B0604030504040204" pitchFamily="34" charset="-120"/>
                        </a:rPr>
                        <a:t>=1.0</a:t>
                      </a:r>
                      <a:endParaRPr lang="en-US" altLang="zh-TW" sz="1600" baseline="0" dirty="0">
                        <a:latin typeface="+mn-lt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zh-TW" sz="1600"/>
                        <a:t>0.6495 ± 0.0000</a:t>
                      </a:r>
                    </a:p>
                  </a:txBody>
                  <a:tcPr marL="33472" marR="33472" marT="16736" marB="16736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zh-TW" sz="1600"/>
                        <a:t>0.8402 ± 0.0209</a:t>
                      </a:r>
                    </a:p>
                  </a:txBody>
                  <a:tcPr marL="33472" marR="33472" marT="16736" marB="16736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zh-TW" sz="1600"/>
                        <a:t>0.8612 ± 0.0043</a:t>
                      </a:r>
                    </a:p>
                  </a:txBody>
                  <a:tcPr marL="33472" marR="33472" marT="16736" marB="16736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zh-TW" sz="1600"/>
                        <a:t>0.8879 ± 0.0157</a:t>
                      </a:r>
                    </a:p>
                  </a:txBody>
                  <a:tcPr marL="33472" marR="33472" marT="16736" marB="16736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zh-TW" sz="1600" dirty="0"/>
                        <a:t>0.8950 ± 0.0071</a:t>
                      </a:r>
                    </a:p>
                  </a:txBody>
                  <a:tcPr marL="33472" marR="33472" marT="16736" marB="16736" anchor="ctr"/>
                </a:tc>
                <a:extLst>
                  <a:ext uri="{0D108BD9-81ED-4DB2-BD59-A6C34878D82A}">
                    <a16:rowId xmlns:a16="http://schemas.microsoft.com/office/drawing/2014/main" val="3253892573"/>
                  </a:ext>
                </a:extLst>
              </a:tr>
              <a:tr h="403999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600" dirty="0">
                          <a:latin typeface="+mn-lt"/>
                          <a:ea typeface="微軟正黑體" panose="020B0604030504040204" pitchFamily="34" charset="-120"/>
                        </a:rPr>
                        <a:t>S</a:t>
                      </a:r>
                      <a:r>
                        <a:rPr lang="en-US" altLang="zh-TW" sz="1600" baseline="-25000" dirty="0">
                          <a:latin typeface="+mn-lt"/>
                          <a:ea typeface="微軟正黑體" panose="020B0604030504040204" pitchFamily="34" charset="-120"/>
                        </a:rPr>
                        <a:t>W</a:t>
                      </a:r>
                      <a:r>
                        <a:rPr lang="en-US" altLang="zh-TW" sz="1600" baseline="0" dirty="0">
                          <a:latin typeface="+mn-lt"/>
                          <a:ea typeface="微軟正黑體" panose="020B0604030504040204" pitchFamily="34" charset="-120"/>
                        </a:rPr>
                        <a:t>=1.5,</a:t>
                      </a:r>
                      <a:r>
                        <a:rPr lang="el-GR" altLang="zh-TW" sz="1600" dirty="0">
                          <a:latin typeface="+mn-lt"/>
                        </a:rPr>
                        <a:t> τ</a:t>
                      </a:r>
                      <a:r>
                        <a:rPr lang="en-US" altLang="zh-TW" sz="1600" dirty="0">
                          <a:latin typeface="+mn-lt"/>
                        </a:rPr>
                        <a:t>=0.3, </a:t>
                      </a:r>
                      <a:r>
                        <a:rPr lang="en-US" altLang="zh-TW" sz="1600" dirty="0">
                          <a:latin typeface="+mn-lt"/>
                          <a:ea typeface="微軟正黑體" panose="020B0604030504040204" pitchFamily="34" charset="-120"/>
                        </a:rPr>
                        <a:t>L</a:t>
                      </a:r>
                      <a:r>
                        <a:rPr lang="en-US" altLang="zh-TW" sz="1600" baseline="-25000" dirty="0">
                          <a:latin typeface="+mn-lt"/>
                          <a:ea typeface="微軟正黑體" panose="020B0604030504040204" pitchFamily="34" charset="-120"/>
                        </a:rPr>
                        <a:t>W</a:t>
                      </a:r>
                      <a:r>
                        <a:rPr lang="en-US" altLang="zh-TW" sz="1600" baseline="0" dirty="0">
                          <a:latin typeface="+mn-lt"/>
                          <a:ea typeface="微軟正黑體" panose="020B0604030504040204" pitchFamily="34" charset="-120"/>
                        </a:rPr>
                        <a:t>=1.0</a:t>
                      </a:r>
                      <a:endParaRPr lang="en-US" altLang="zh-TW" sz="1600" baseline="0" dirty="0">
                        <a:latin typeface="+mn-lt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zh-TW" sz="1600" b="1" dirty="0">
                          <a:solidFill>
                            <a:srgbClr val="FF0000"/>
                          </a:solidFill>
                        </a:rPr>
                        <a:t>0.6525 ± 0.0000</a:t>
                      </a:r>
                      <a:endParaRPr lang="zh-TW" altLang="en-US" sz="1600" dirty="0">
                        <a:solidFill>
                          <a:srgbClr val="FF0000"/>
                        </a:solidFill>
                      </a:endParaRPr>
                    </a:p>
                  </a:txBody>
                  <a:tcPr marL="33472" marR="33472" marT="16736" marB="16736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zh-TW" sz="1600" b="1" dirty="0">
                          <a:solidFill>
                            <a:srgbClr val="FF0000"/>
                          </a:solidFill>
                        </a:rPr>
                        <a:t>0.8590 ± 0.0101</a:t>
                      </a:r>
                    </a:p>
                  </a:txBody>
                  <a:tcPr marL="33472" marR="33472" marT="16736" marB="16736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zh-TW" sz="1600"/>
                        <a:t>0.8656 ± 0.0214</a:t>
                      </a:r>
                    </a:p>
                  </a:txBody>
                  <a:tcPr marL="33472" marR="33472" marT="16736" marB="16736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zh-TW" sz="1600" b="1" dirty="0">
                          <a:solidFill>
                            <a:srgbClr val="FF0000"/>
                          </a:solidFill>
                        </a:rPr>
                        <a:t>0.9023 ± 0.0277</a:t>
                      </a:r>
                      <a:endParaRPr lang="zh-TW" altLang="en-US" sz="1600" dirty="0">
                        <a:solidFill>
                          <a:srgbClr val="FF0000"/>
                        </a:solidFill>
                      </a:endParaRPr>
                    </a:p>
                  </a:txBody>
                  <a:tcPr marL="33472" marR="33472" marT="16736" marB="16736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zh-TW" sz="1600" b="1" dirty="0">
                          <a:solidFill>
                            <a:srgbClr val="FF0000"/>
                          </a:solidFill>
                        </a:rPr>
                        <a:t>0.9044 ± 0.0140</a:t>
                      </a:r>
                      <a:endParaRPr lang="zh-TW" altLang="en-US" sz="1600" dirty="0">
                        <a:solidFill>
                          <a:srgbClr val="FF0000"/>
                        </a:solidFill>
                      </a:endParaRPr>
                    </a:p>
                  </a:txBody>
                  <a:tcPr marL="33472" marR="33472" marT="16736" marB="16736" anchor="ctr"/>
                </a:tc>
                <a:extLst>
                  <a:ext uri="{0D108BD9-81ED-4DB2-BD59-A6C34878D82A}">
                    <a16:rowId xmlns:a16="http://schemas.microsoft.com/office/drawing/2014/main" val="2083154564"/>
                  </a:ext>
                </a:extLst>
              </a:tr>
            </a:tbl>
          </a:graphicData>
        </a:graphic>
      </p:graphicFrame>
      <p:sp>
        <p:nvSpPr>
          <p:cNvPr id="10" name="文字方塊 9">
            <a:extLst>
              <a:ext uri="{FF2B5EF4-FFF2-40B4-BE49-F238E27FC236}">
                <a16:creationId xmlns:a16="http://schemas.microsoft.com/office/drawing/2014/main" id="{208DF93E-9F83-087B-6F84-6C59BBDE7955}"/>
              </a:ext>
            </a:extLst>
          </p:cNvPr>
          <p:cNvSpPr txBox="1"/>
          <p:nvPr/>
        </p:nvSpPr>
        <p:spPr>
          <a:xfrm>
            <a:off x="347470" y="6272558"/>
            <a:ext cx="8787652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TW" sz="1600" dirty="0"/>
              <a:t>Let </a:t>
            </a:r>
            <a:r>
              <a:rPr lang="en-US" altLang="zh-TW" sz="1600" dirty="0">
                <a:ea typeface="微軟正黑體" panose="020B0604030504040204" pitchFamily="34" charset="-120"/>
              </a:rPr>
              <a:t>S</a:t>
            </a:r>
            <a:r>
              <a:rPr lang="en-US" altLang="zh-TW" sz="1600" baseline="-25000" dirty="0">
                <a:ea typeface="微軟正黑體" panose="020B0604030504040204" pitchFamily="34" charset="-120"/>
              </a:rPr>
              <a:t>W</a:t>
            </a:r>
            <a:r>
              <a:rPr lang="en-US" altLang="zh-TW" sz="1600" dirty="0">
                <a:ea typeface="微軟正黑體" panose="020B0604030504040204" pitchFamily="34" charset="-120"/>
              </a:rPr>
              <a:t>, </a:t>
            </a:r>
            <a:r>
              <a:rPr lang="el-GR" altLang="zh-TW" sz="1600" dirty="0"/>
              <a:t>τ</a:t>
            </a:r>
            <a:r>
              <a:rPr lang="en-US" altLang="zh-TW" sz="1600" dirty="0"/>
              <a:t>, and </a:t>
            </a:r>
            <a:r>
              <a:rPr lang="en-US" altLang="zh-TW" sz="1600" dirty="0">
                <a:ea typeface="微軟正黑體" panose="020B0604030504040204" pitchFamily="34" charset="-120"/>
              </a:rPr>
              <a:t>L</a:t>
            </a:r>
            <a:r>
              <a:rPr lang="en-US" altLang="zh-TW" sz="1600" baseline="-25000" dirty="0">
                <a:ea typeface="微軟正黑體" panose="020B0604030504040204" pitchFamily="34" charset="-120"/>
              </a:rPr>
              <a:t>W</a:t>
            </a:r>
            <a:r>
              <a:rPr lang="en-US" altLang="zh-TW" sz="1600" dirty="0">
                <a:ea typeface="微軟正黑體" panose="020B0604030504040204" pitchFamily="34" charset="-120"/>
              </a:rPr>
              <a:t> </a:t>
            </a:r>
            <a:r>
              <a:rPr lang="en-US" altLang="zh-TW" sz="1600" dirty="0"/>
              <a:t>denote the SDC term weight, confidence threshold, and LCM term weight, respectively.</a:t>
            </a:r>
            <a:endParaRPr lang="zh-TW" altLang="en-US" sz="1600" dirty="0">
              <a:ea typeface="微軟正黑體" panose="020B0604030504040204" pitchFamily="34" charset="-120"/>
            </a:endParaRPr>
          </a:p>
        </p:txBody>
      </p:sp>
      <p:sp>
        <p:nvSpPr>
          <p:cNvPr id="3" name="文字方塊 2">
            <a:extLst>
              <a:ext uri="{FF2B5EF4-FFF2-40B4-BE49-F238E27FC236}">
                <a16:creationId xmlns:a16="http://schemas.microsoft.com/office/drawing/2014/main" id="{5D307BE5-537F-E472-EC84-1093A4706950}"/>
              </a:ext>
            </a:extLst>
          </p:cNvPr>
          <p:cNvSpPr txBox="1"/>
          <p:nvPr/>
        </p:nvSpPr>
        <p:spPr>
          <a:xfrm>
            <a:off x="9721048" y="461072"/>
            <a:ext cx="2281561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TW" sz="1400" dirty="0"/>
              <a:t>1B token for training model</a:t>
            </a:r>
            <a:endParaRPr lang="zh-TW" altLang="en-US" sz="1400" dirty="0"/>
          </a:p>
        </p:txBody>
      </p:sp>
    </p:spTree>
    <p:extLst>
      <p:ext uri="{BB962C8B-B14F-4D97-AF65-F5344CB8AC3E}">
        <p14:creationId xmlns:p14="http://schemas.microsoft.com/office/powerpoint/2010/main" val="2263133894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15EE752-3C1C-296A-7D31-796F534CAFD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>
            <a:extLst>
              <a:ext uri="{FF2B5EF4-FFF2-40B4-BE49-F238E27FC236}">
                <a16:creationId xmlns:a16="http://schemas.microsoft.com/office/drawing/2014/main" id="{EFDADE8F-F386-0497-9D29-20211925D138}"/>
              </a:ext>
            </a:extLst>
          </p:cNvPr>
          <p:cNvSpPr/>
          <p:nvPr/>
        </p:nvSpPr>
        <p:spPr>
          <a:xfrm>
            <a:off x="0" y="6611112"/>
            <a:ext cx="12191695" cy="246888"/>
          </a:xfrm>
          <a:prstGeom prst="rect">
            <a:avLst/>
          </a:prstGeom>
          <a:solidFill>
            <a:srgbClr val="5B839B"/>
          </a:solidFill>
          <a:ln w="12700">
            <a:solidFill>
              <a:srgbClr val="5B839B"/>
            </a:solidFill>
            <a:prstDash val="solid"/>
          </a:ln>
        </p:spPr>
      </p:sp>
      <p:sp>
        <p:nvSpPr>
          <p:cNvPr id="4" name="Text 2">
            <a:extLst>
              <a:ext uri="{FF2B5EF4-FFF2-40B4-BE49-F238E27FC236}">
                <a16:creationId xmlns:a16="http://schemas.microsoft.com/office/drawing/2014/main" id="{DED2B12B-6C97-83BC-94CC-AA00372C4112}"/>
              </a:ext>
            </a:extLst>
          </p:cNvPr>
          <p:cNvSpPr/>
          <p:nvPr/>
        </p:nvSpPr>
        <p:spPr>
          <a:xfrm>
            <a:off x="347472" y="274320"/>
            <a:ext cx="30175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b="1" dirty="0">
                <a:solidFill>
                  <a:srgbClr val="1B2E3A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Part4: Experiment results</a:t>
            </a:r>
            <a:endParaRPr lang="en-US" dirty="0"/>
          </a:p>
        </p:txBody>
      </p:sp>
      <p:sp>
        <p:nvSpPr>
          <p:cNvPr id="5" name="Text 3">
            <a:extLst>
              <a:ext uri="{FF2B5EF4-FFF2-40B4-BE49-F238E27FC236}">
                <a16:creationId xmlns:a16="http://schemas.microsoft.com/office/drawing/2014/main" id="{EC893D63-57C6-AED6-1766-79E0E184C04A}"/>
              </a:ext>
            </a:extLst>
          </p:cNvPr>
          <p:cNvSpPr/>
          <p:nvPr/>
        </p:nvSpPr>
        <p:spPr>
          <a:xfrm>
            <a:off x="347471" y="457200"/>
            <a:ext cx="9373577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600" dirty="0">
                <a:solidFill>
                  <a:schemeClr val="bg1">
                    <a:lumMod val="50000"/>
                  </a:schemeClr>
                </a:solidFill>
              </a:rPr>
              <a:t>Ablation study — Generative quality</a:t>
            </a:r>
          </a:p>
        </p:txBody>
      </p:sp>
      <p:sp>
        <p:nvSpPr>
          <p:cNvPr id="7" name="Shape 5">
            <a:extLst>
              <a:ext uri="{FF2B5EF4-FFF2-40B4-BE49-F238E27FC236}">
                <a16:creationId xmlns:a16="http://schemas.microsoft.com/office/drawing/2014/main" id="{35AD2620-D6F0-1E86-09CA-1997608D21F5}"/>
              </a:ext>
            </a:extLst>
          </p:cNvPr>
          <p:cNvSpPr/>
          <p:nvPr/>
        </p:nvSpPr>
        <p:spPr>
          <a:xfrm>
            <a:off x="347472" y="749808"/>
            <a:ext cx="11475720" cy="0"/>
          </a:xfrm>
          <a:prstGeom prst="line">
            <a:avLst/>
          </a:prstGeom>
          <a:noFill/>
          <a:ln w="12700">
            <a:solidFill>
              <a:srgbClr val="C8D6DE"/>
            </a:solidFill>
            <a:prstDash val="solid"/>
          </a:ln>
        </p:spPr>
      </p:sp>
      <p:sp>
        <p:nvSpPr>
          <p:cNvPr id="55" name="Text 1">
            <a:extLst>
              <a:ext uri="{FF2B5EF4-FFF2-40B4-BE49-F238E27FC236}">
                <a16:creationId xmlns:a16="http://schemas.microsoft.com/office/drawing/2014/main" id="{BF27876B-D3A4-A62F-7BA0-C3191108D7DC}"/>
              </a:ext>
            </a:extLst>
          </p:cNvPr>
          <p:cNvSpPr/>
          <p:nvPr/>
        </p:nvSpPr>
        <p:spPr>
          <a:xfrm>
            <a:off x="11425561" y="6629400"/>
            <a:ext cx="553079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200" dirty="0">
                <a:solidFill>
                  <a:srgbClr val="FFFFFF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24</a:t>
            </a:r>
            <a:endParaRPr lang="en-US" sz="1200" dirty="0"/>
          </a:p>
        </p:txBody>
      </p:sp>
      <p:graphicFrame>
        <p:nvGraphicFramePr>
          <p:cNvPr id="56" name="表格 55">
            <a:extLst>
              <a:ext uri="{FF2B5EF4-FFF2-40B4-BE49-F238E27FC236}">
                <a16:creationId xmlns:a16="http://schemas.microsoft.com/office/drawing/2014/main" id="{B7EFFAAB-6533-AC11-342F-F3956440CDF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098386680"/>
              </p:ext>
            </p:extLst>
          </p:nvPr>
        </p:nvGraphicFramePr>
        <p:xfrm>
          <a:off x="347470" y="931881"/>
          <a:ext cx="11475720" cy="5251987"/>
        </p:xfrm>
        <a:graphic>
          <a:graphicData uri="http://schemas.openxmlformats.org/drawingml/2006/table">
            <a:tbl>
              <a:tblPr firstRow="1" bandRow="1">
                <a:tableStyleId>{5FD0F851-EC5A-4D38-B0AD-8093EC10F338}</a:tableStyleId>
              </a:tblPr>
              <a:tblGrid>
                <a:gridCol w="3900463">
                  <a:extLst>
                    <a:ext uri="{9D8B030D-6E8A-4147-A177-3AD203B41FA5}">
                      <a16:colId xmlns:a16="http://schemas.microsoft.com/office/drawing/2014/main" val="2880323015"/>
                    </a:ext>
                  </a:extLst>
                </a:gridCol>
                <a:gridCol w="2250521">
                  <a:extLst>
                    <a:ext uri="{9D8B030D-6E8A-4147-A177-3AD203B41FA5}">
                      <a16:colId xmlns:a16="http://schemas.microsoft.com/office/drawing/2014/main" val="3421584875"/>
                    </a:ext>
                  </a:extLst>
                </a:gridCol>
                <a:gridCol w="2808212">
                  <a:extLst>
                    <a:ext uri="{9D8B030D-6E8A-4147-A177-3AD203B41FA5}">
                      <a16:colId xmlns:a16="http://schemas.microsoft.com/office/drawing/2014/main" val="1184110547"/>
                    </a:ext>
                  </a:extLst>
                </a:gridCol>
                <a:gridCol w="2516524">
                  <a:extLst>
                    <a:ext uri="{9D8B030D-6E8A-4147-A177-3AD203B41FA5}">
                      <a16:colId xmlns:a16="http://schemas.microsoft.com/office/drawing/2014/main" val="3781708433"/>
                    </a:ext>
                  </a:extLst>
                </a:gridCol>
              </a:tblGrid>
              <a:tr h="403999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800" dirty="0"/>
                        <a:t>Setting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zh-TW" sz="1800" dirty="0"/>
                        <a:t>Generative </a:t>
                      </a:r>
                      <a:r>
                        <a:rPr lang="en-US" sz="1800" dirty="0"/>
                        <a:t>PPL</a:t>
                      </a:r>
                    </a:p>
                  </a:txBody>
                  <a:tcPr marL="45804" marR="45804" marT="22902" marB="22902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800" dirty="0"/>
                        <a:t>Entropy</a:t>
                      </a:r>
                    </a:p>
                  </a:txBody>
                  <a:tcPr marL="45804" marR="45804" marT="22902" marB="22902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800" dirty="0"/>
                        <a:t>4-gram repetition</a:t>
                      </a:r>
                    </a:p>
                  </a:txBody>
                  <a:tcPr marL="45804" marR="45804" marT="22902" marB="22902" anchor="ctr"/>
                </a:tc>
                <a:extLst>
                  <a:ext uri="{0D108BD9-81ED-4DB2-BD59-A6C34878D82A}">
                    <a16:rowId xmlns:a16="http://schemas.microsoft.com/office/drawing/2014/main" val="57095099"/>
                  </a:ext>
                </a:extLst>
              </a:tr>
              <a:tr h="403999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600" dirty="0"/>
                        <a:t>baseline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zh-TW" sz="1600" dirty="0"/>
                        <a:t>83.8285 ± 5.1409</a:t>
                      </a:r>
                    </a:p>
                  </a:txBody>
                  <a:tcPr marL="45804" marR="45804" marT="22902" marB="22902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zh-TW" sz="1600" b="1" dirty="0">
                          <a:solidFill>
                            <a:srgbClr val="FF0000"/>
                          </a:solidFill>
                        </a:rPr>
                        <a:t>7.4068 ± 0.0461</a:t>
                      </a:r>
                    </a:p>
                  </a:txBody>
                  <a:tcPr marL="45804" marR="45804" marT="22902" marB="22902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zh-TW" sz="1600" b="1" dirty="0">
                          <a:solidFill>
                            <a:srgbClr val="FF0000"/>
                          </a:solidFill>
                        </a:rPr>
                        <a:t>0.0119 ± 0.0097</a:t>
                      </a:r>
                    </a:p>
                  </a:txBody>
                  <a:tcPr marL="45804" marR="45804" marT="22902" marB="22902" anchor="ctr"/>
                </a:tc>
                <a:extLst>
                  <a:ext uri="{0D108BD9-81ED-4DB2-BD59-A6C34878D82A}">
                    <a16:rowId xmlns:a16="http://schemas.microsoft.com/office/drawing/2014/main" val="4165766225"/>
                  </a:ext>
                </a:extLst>
              </a:tr>
              <a:tr h="403999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600" dirty="0">
                          <a:latin typeface="+mn-lt"/>
                          <a:ea typeface="微軟正黑體" panose="020B0604030504040204" pitchFamily="34" charset="-120"/>
                        </a:rPr>
                        <a:t>S</a:t>
                      </a:r>
                      <a:r>
                        <a:rPr lang="en-US" altLang="zh-TW" sz="1600" baseline="-25000" dirty="0">
                          <a:latin typeface="+mn-lt"/>
                          <a:ea typeface="微軟正黑體" panose="020B0604030504040204" pitchFamily="34" charset="-120"/>
                        </a:rPr>
                        <a:t>W</a:t>
                      </a:r>
                      <a:r>
                        <a:rPr lang="en-US" altLang="zh-TW" sz="1600" baseline="0" dirty="0">
                          <a:latin typeface="+mn-lt"/>
                          <a:ea typeface="微軟正黑體" panose="020B0604030504040204" pitchFamily="34" charset="-120"/>
                        </a:rPr>
                        <a:t>=1.0,</a:t>
                      </a:r>
                      <a:r>
                        <a:rPr lang="el-GR" altLang="zh-TW" sz="1600" dirty="0">
                          <a:latin typeface="+mn-lt"/>
                        </a:rPr>
                        <a:t> τ</a:t>
                      </a:r>
                      <a:r>
                        <a:rPr lang="en-US" altLang="zh-TW" sz="1600" dirty="0">
                          <a:latin typeface="+mn-lt"/>
                        </a:rPr>
                        <a:t>=0.0, </a:t>
                      </a:r>
                      <a:r>
                        <a:rPr lang="en-US" altLang="zh-TW" sz="1600" dirty="0">
                          <a:latin typeface="+mn-lt"/>
                          <a:ea typeface="微軟正黑體" panose="020B0604030504040204" pitchFamily="34" charset="-120"/>
                        </a:rPr>
                        <a:t>L</a:t>
                      </a:r>
                      <a:r>
                        <a:rPr lang="en-US" altLang="zh-TW" sz="1600" baseline="-25000" dirty="0">
                          <a:latin typeface="+mn-lt"/>
                          <a:ea typeface="微軟正黑體" panose="020B0604030504040204" pitchFamily="34" charset="-120"/>
                        </a:rPr>
                        <a:t>W</a:t>
                      </a:r>
                      <a:r>
                        <a:rPr lang="en-US" altLang="zh-TW" sz="1600" baseline="0" dirty="0">
                          <a:latin typeface="+mn-lt"/>
                          <a:ea typeface="微軟正黑體" panose="020B0604030504040204" pitchFamily="34" charset="-120"/>
                        </a:rPr>
                        <a:t>=0.0</a:t>
                      </a:r>
                      <a:endParaRPr lang="en-US" altLang="zh-TW" sz="1600" baseline="0" dirty="0">
                        <a:latin typeface="+mn-lt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zh-TW" sz="1600" dirty="0"/>
                        <a:t>68.0596 ± 4.5760</a:t>
                      </a:r>
                    </a:p>
                  </a:txBody>
                  <a:tcPr marL="45804" marR="45804" marT="22902" marB="22902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zh-TW" sz="1600" dirty="0"/>
                        <a:t>7.3141 ± 0.0519</a:t>
                      </a:r>
                    </a:p>
                  </a:txBody>
                  <a:tcPr marL="45804" marR="45804" marT="22902" marB="22902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zh-TW" sz="1600" dirty="0"/>
                        <a:t>0.0193 ± 0.0154</a:t>
                      </a:r>
                    </a:p>
                  </a:txBody>
                  <a:tcPr marL="45804" marR="45804" marT="22902" marB="22902" anchor="ctr"/>
                </a:tc>
                <a:extLst>
                  <a:ext uri="{0D108BD9-81ED-4DB2-BD59-A6C34878D82A}">
                    <a16:rowId xmlns:a16="http://schemas.microsoft.com/office/drawing/2014/main" val="1088568622"/>
                  </a:ext>
                </a:extLst>
              </a:tr>
              <a:tr h="403999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600" dirty="0">
                          <a:latin typeface="+mn-lt"/>
                          <a:ea typeface="微軟正黑體" panose="020B0604030504040204" pitchFamily="34" charset="-120"/>
                        </a:rPr>
                        <a:t>S</a:t>
                      </a:r>
                      <a:r>
                        <a:rPr lang="en-US" altLang="zh-TW" sz="1600" baseline="-25000" dirty="0">
                          <a:latin typeface="+mn-lt"/>
                          <a:ea typeface="微軟正黑體" panose="020B0604030504040204" pitchFamily="34" charset="-120"/>
                        </a:rPr>
                        <a:t>W</a:t>
                      </a:r>
                      <a:r>
                        <a:rPr lang="en-US" altLang="zh-TW" sz="1600" baseline="0" dirty="0">
                          <a:latin typeface="+mn-lt"/>
                          <a:ea typeface="微軟正黑體" panose="020B0604030504040204" pitchFamily="34" charset="-120"/>
                        </a:rPr>
                        <a:t>=1.0,</a:t>
                      </a:r>
                      <a:r>
                        <a:rPr lang="el-GR" altLang="zh-TW" sz="1600" dirty="0">
                          <a:latin typeface="+mn-lt"/>
                        </a:rPr>
                        <a:t> τ</a:t>
                      </a:r>
                      <a:r>
                        <a:rPr lang="en-US" altLang="zh-TW" sz="1600" dirty="0">
                          <a:latin typeface="+mn-lt"/>
                        </a:rPr>
                        <a:t>=0.3, </a:t>
                      </a:r>
                      <a:r>
                        <a:rPr lang="en-US" altLang="zh-TW" sz="1600" dirty="0">
                          <a:latin typeface="+mn-lt"/>
                          <a:ea typeface="微軟正黑體" panose="020B0604030504040204" pitchFamily="34" charset="-120"/>
                        </a:rPr>
                        <a:t>L</a:t>
                      </a:r>
                      <a:r>
                        <a:rPr lang="en-US" altLang="zh-TW" sz="1600" baseline="-25000" dirty="0">
                          <a:latin typeface="+mn-lt"/>
                          <a:ea typeface="微軟正黑體" panose="020B0604030504040204" pitchFamily="34" charset="-120"/>
                        </a:rPr>
                        <a:t>W</a:t>
                      </a:r>
                      <a:r>
                        <a:rPr lang="en-US" altLang="zh-TW" sz="1600" baseline="0" dirty="0">
                          <a:latin typeface="+mn-lt"/>
                          <a:ea typeface="微軟正黑體" panose="020B0604030504040204" pitchFamily="34" charset="-120"/>
                        </a:rPr>
                        <a:t>=0.0</a:t>
                      </a:r>
                      <a:endParaRPr lang="en-US" altLang="zh-TW" sz="1600" baseline="0" dirty="0">
                        <a:latin typeface="+mn-lt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zh-TW" sz="1600" dirty="0"/>
                        <a:t>26.3414 ± 0.3656</a:t>
                      </a:r>
                    </a:p>
                  </a:txBody>
                  <a:tcPr marL="45804" marR="45804" marT="22902" marB="22902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zh-TW" sz="1600" dirty="0"/>
                        <a:t>6.7567 ± 0.0016</a:t>
                      </a:r>
                    </a:p>
                  </a:txBody>
                  <a:tcPr marL="45804" marR="45804" marT="22902" marB="22902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zh-TW" sz="1600" dirty="0"/>
                        <a:t>0.0460 ± 0.0160</a:t>
                      </a:r>
                    </a:p>
                  </a:txBody>
                  <a:tcPr marL="45804" marR="45804" marT="22902" marB="22902" anchor="ctr"/>
                </a:tc>
                <a:extLst>
                  <a:ext uri="{0D108BD9-81ED-4DB2-BD59-A6C34878D82A}">
                    <a16:rowId xmlns:a16="http://schemas.microsoft.com/office/drawing/2014/main" val="3427155248"/>
                  </a:ext>
                </a:extLst>
              </a:tr>
              <a:tr h="403999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600" dirty="0">
                          <a:latin typeface="+mn-lt"/>
                          <a:ea typeface="微軟正黑體" panose="020B0604030504040204" pitchFamily="34" charset="-120"/>
                        </a:rPr>
                        <a:t>S</a:t>
                      </a:r>
                      <a:r>
                        <a:rPr lang="en-US" altLang="zh-TW" sz="1600" baseline="-25000" dirty="0">
                          <a:latin typeface="+mn-lt"/>
                          <a:ea typeface="微軟正黑體" panose="020B0604030504040204" pitchFamily="34" charset="-120"/>
                        </a:rPr>
                        <a:t>W</a:t>
                      </a:r>
                      <a:r>
                        <a:rPr lang="en-US" altLang="zh-TW" sz="1600" baseline="0" dirty="0">
                          <a:latin typeface="+mn-lt"/>
                          <a:ea typeface="微軟正黑體" panose="020B0604030504040204" pitchFamily="34" charset="-120"/>
                        </a:rPr>
                        <a:t>=1.0,</a:t>
                      </a:r>
                      <a:r>
                        <a:rPr lang="el-GR" altLang="zh-TW" sz="1600" dirty="0">
                          <a:latin typeface="+mn-lt"/>
                        </a:rPr>
                        <a:t> τ</a:t>
                      </a:r>
                      <a:r>
                        <a:rPr lang="en-US" altLang="zh-TW" sz="1600" dirty="0">
                          <a:latin typeface="+mn-lt"/>
                        </a:rPr>
                        <a:t>=0.6, </a:t>
                      </a:r>
                      <a:r>
                        <a:rPr lang="en-US" altLang="zh-TW" sz="1600" dirty="0">
                          <a:latin typeface="+mn-lt"/>
                          <a:ea typeface="微軟正黑體" panose="020B0604030504040204" pitchFamily="34" charset="-120"/>
                        </a:rPr>
                        <a:t>L</a:t>
                      </a:r>
                      <a:r>
                        <a:rPr lang="en-US" altLang="zh-TW" sz="1600" baseline="-25000" dirty="0">
                          <a:latin typeface="+mn-lt"/>
                          <a:ea typeface="微軟正黑體" panose="020B0604030504040204" pitchFamily="34" charset="-120"/>
                        </a:rPr>
                        <a:t>W</a:t>
                      </a:r>
                      <a:r>
                        <a:rPr lang="en-US" altLang="zh-TW" sz="1600" baseline="0" dirty="0">
                          <a:latin typeface="+mn-lt"/>
                          <a:ea typeface="微軟正黑體" panose="020B0604030504040204" pitchFamily="34" charset="-120"/>
                        </a:rPr>
                        <a:t>=0.0</a:t>
                      </a:r>
                      <a:endParaRPr lang="en-US" altLang="zh-TW" sz="1600" baseline="0" dirty="0">
                        <a:latin typeface="+mn-lt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zh-TW" sz="1600" dirty="0"/>
                        <a:t>28.2332 ± 1.2754</a:t>
                      </a:r>
                    </a:p>
                  </a:txBody>
                  <a:tcPr marL="45804" marR="45804" marT="22902" marB="22902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zh-TW" sz="1600" dirty="0"/>
                        <a:t>6.7789 ± 0.0178</a:t>
                      </a:r>
                    </a:p>
                  </a:txBody>
                  <a:tcPr marL="45804" marR="45804" marT="22902" marB="22902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zh-TW" sz="1600" dirty="0"/>
                        <a:t>0.0393 ± 0.0080</a:t>
                      </a:r>
                    </a:p>
                  </a:txBody>
                  <a:tcPr marL="45804" marR="45804" marT="22902" marB="22902" anchor="ctr"/>
                </a:tc>
                <a:extLst>
                  <a:ext uri="{0D108BD9-81ED-4DB2-BD59-A6C34878D82A}">
                    <a16:rowId xmlns:a16="http://schemas.microsoft.com/office/drawing/2014/main" val="678960123"/>
                  </a:ext>
                </a:extLst>
              </a:tr>
              <a:tr h="403999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600" dirty="0">
                          <a:latin typeface="+mn-lt"/>
                          <a:ea typeface="微軟正黑體" panose="020B0604030504040204" pitchFamily="34" charset="-120"/>
                        </a:rPr>
                        <a:t>S</a:t>
                      </a:r>
                      <a:r>
                        <a:rPr lang="en-US" altLang="zh-TW" sz="1600" baseline="-25000" dirty="0">
                          <a:latin typeface="+mn-lt"/>
                          <a:ea typeface="微軟正黑體" panose="020B0604030504040204" pitchFamily="34" charset="-120"/>
                        </a:rPr>
                        <a:t>W</a:t>
                      </a:r>
                      <a:r>
                        <a:rPr lang="en-US" altLang="zh-TW" sz="1600" baseline="0" dirty="0">
                          <a:latin typeface="+mn-lt"/>
                          <a:ea typeface="微軟正黑體" panose="020B0604030504040204" pitchFamily="34" charset="-120"/>
                        </a:rPr>
                        <a:t>=1.5,</a:t>
                      </a:r>
                      <a:r>
                        <a:rPr lang="el-GR" altLang="zh-TW" sz="1600" dirty="0">
                          <a:latin typeface="+mn-lt"/>
                        </a:rPr>
                        <a:t> τ</a:t>
                      </a:r>
                      <a:r>
                        <a:rPr lang="en-US" altLang="zh-TW" sz="1600" dirty="0">
                          <a:latin typeface="+mn-lt"/>
                        </a:rPr>
                        <a:t>=0.3, </a:t>
                      </a:r>
                      <a:r>
                        <a:rPr lang="en-US" altLang="zh-TW" sz="1600" dirty="0">
                          <a:latin typeface="+mn-lt"/>
                          <a:ea typeface="微軟正黑體" panose="020B0604030504040204" pitchFamily="34" charset="-120"/>
                        </a:rPr>
                        <a:t>L</a:t>
                      </a:r>
                      <a:r>
                        <a:rPr lang="en-US" altLang="zh-TW" sz="1600" baseline="-25000" dirty="0">
                          <a:latin typeface="+mn-lt"/>
                          <a:ea typeface="微軟正黑體" panose="020B0604030504040204" pitchFamily="34" charset="-120"/>
                        </a:rPr>
                        <a:t>W</a:t>
                      </a:r>
                      <a:r>
                        <a:rPr lang="en-US" altLang="zh-TW" sz="1600" baseline="0" dirty="0">
                          <a:latin typeface="+mn-lt"/>
                          <a:ea typeface="微軟正黑體" panose="020B0604030504040204" pitchFamily="34" charset="-120"/>
                        </a:rPr>
                        <a:t>=0.0</a:t>
                      </a:r>
                      <a:endParaRPr lang="en-US" altLang="zh-TW" sz="1600" baseline="0" dirty="0">
                        <a:latin typeface="+mn-lt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zh-TW" sz="1600" dirty="0"/>
                        <a:t>31.8082 ± 0.4503</a:t>
                      </a:r>
                    </a:p>
                  </a:txBody>
                  <a:tcPr marL="45804" marR="45804" marT="22902" marB="22902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zh-TW" sz="1600" dirty="0"/>
                        <a:t>6.8248 ± 0.0353</a:t>
                      </a:r>
                    </a:p>
                  </a:txBody>
                  <a:tcPr marL="45804" marR="45804" marT="22902" marB="22902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zh-TW" sz="1600" dirty="0"/>
                        <a:t>0.0485 ± 0.0159</a:t>
                      </a:r>
                    </a:p>
                  </a:txBody>
                  <a:tcPr marL="45804" marR="45804" marT="22902" marB="22902" anchor="ctr"/>
                </a:tc>
                <a:extLst>
                  <a:ext uri="{0D108BD9-81ED-4DB2-BD59-A6C34878D82A}">
                    <a16:rowId xmlns:a16="http://schemas.microsoft.com/office/drawing/2014/main" val="1531699260"/>
                  </a:ext>
                </a:extLst>
              </a:tr>
              <a:tr h="403999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600" dirty="0">
                          <a:latin typeface="+mn-lt"/>
                          <a:ea typeface="微軟正黑體" panose="020B0604030504040204" pitchFamily="34" charset="-120"/>
                        </a:rPr>
                        <a:t>S</a:t>
                      </a:r>
                      <a:r>
                        <a:rPr lang="en-US" altLang="zh-TW" sz="1600" baseline="-25000" dirty="0">
                          <a:latin typeface="+mn-lt"/>
                          <a:ea typeface="微軟正黑體" panose="020B0604030504040204" pitchFamily="34" charset="-120"/>
                        </a:rPr>
                        <a:t>W</a:t>
                      </a:r>
                      <a:r>
                        <a:rPr lang="en-US" altLang="zh-TW" sz="1600" baseline="0" dirty="0">
                          <a:latin typeface="+mn-lt"/>
                          <a:ea typeface="微軟正黑體" panose="020B0604030504040204" pitchFamily="34" charset="-120"/>
                        </a:rPr>
                        <a:t>=0.5,</a:t>
                      </a:r>
                      <a:r>
                        <a:rPr lang="el-GR" altLang="zh-TW" sz="1600" dirty="0">
                          <a:latin typeface="+mn-lt"/>
                        </a:rPr>
                        <a:t> τ</a:t>
                      </a:r>
                      <a:r>
                        <a:rPr lang="en-US" altLang="zh-TW" sz="1600" dirty="0">
                          <a:latin typeface="+mn-lt"/>
                        </a:rPr>
                        <a:t>=0.3, </a:t>
                      </a:r>
                      <a:r>
                        <a:rPr lang="en-US" altLang="zh-TW" sz="1600" dirty="0">
                          <a:latin typeface="+mn-lt"/>
                          <a:ea typeface="微軟正黑體" panose="020B0604030504040204" pitchFamily="34" charset="-120"/>
                        </a:rPr>
                        <a:t>L</a:t>
                      </a:r>
                      <a:r>
                        <a:rPr lang="en-US" altLang="zh-TW" sz="1600" baseline="-25000" dirty="0">
                          <a:latin typeface="+mn-lt"/>
                          <a:ea typeface="微軟正黑體" panose="020B0604030504040204" pitchFamily="34" charset="-120"/>
                        </a:rPr>
                        <a:t>W</a:t>
                      </a:r>
                      <a:r>
                        <a:rPr lang="en-US" altLang="zh-TW" sz="1600" baseline="0" dirty="0">
                          <a:latin typeface="+mn-lt"/>
                          <a:ea typeface="微軟正黑體" panose="020B0604030504040204" pitchFamily="34" charset="-120"/>
                        </a:rPr>
                        <a:t>=0.0</a:t>
                      </a:r>
                      <a:endParaRPr lang="en-US" altLang="zh-TW" sz="1600" baseline="0" dirty="0">
                        <a:latin typeface="+mn-lt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zh-TW" sz="1600" dirty="0"/>
                        <a:t>52.7654 ± 2.2732</a:t>
                      </a:r>
                    </a:p>
                  </a:txBody>
                  <a:tcPr marL="45804" marR="45804" marT="22902" marB="22902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zh-TW" sz="1600" dirty="0"/>
                        <a:t>7.1490 ± 0.0335</a:t>
                      </a:r>
                    </a:p>
                  </a:txBody>
                  <a:tcPr marL="45804" marR="45804" marT="22902" marB="22902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zh-TW" sz="1600" dirty="0"/>
                        <a:t>0.0323 ± 0.0169</a:t>
                      </a:r>
                    </a:p>
                  </a:txBody>
                  <a:tcPr marL="45804" marR="45804" marT="22902" marB="22902" anchor="ctr"/>
                </a:tc>
                <a:extLst>
                  <a:ext uri="{0D108BD9-81ED-4DB2-BD59-A6C34878D82A}">
                    <a16:rowId xmlns:a16="http://schemas.microsoft.com/office/drawing/2014/main" val="318103260"/>
                  </a:ext>
                </a:extLst>
              </a:tr>
              <a:tr h="403999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600" dirty="0">
                          <a:latin typeface="+mn-lt"/>
                          <a:ea typeface="微軟正黑體" panose="020B0604030504040204" pitchFamily="34" charset="-120"/>
                        </a:rPr>
                        <a:t>S</a:t>
                      </a:r>
                      <a:r>
                        <a:rPr lang="en-US" altLang="zh-TW" sz="1600" baseline="-25000" dirty="0">
                          <a:latin typeface="+mn-lt"/>
                          <a:ea typeface="微軟正黑體" panose="020B0604030504040204" pitchFamily="34" charset="-120"/>
                        </a:rPr>
                        <a:t>W</a:t>
                      </a:r>
                      <a:r>
                        <a:rPr lang="en-US" altLang="zh-TW" sz="1600" baseline="0" dirty="0">
                          <a:latin typeface="+mn-lt"/>
                          <a:ea typeface="微軟正黑體" panose="020B0604030504040204" pitchFamily="34" charset="-120"/>
                        </a:rPr>
                        <a:t>=0.0,</a:t>
                      </a:r>
                      <a:r>
                        <a:rPr lang="el-GR" altLang="zh-TW" sz="1600" dirty="0">
                          <a:latin typeface="+mn-lt"/>
                        </a:rPr>
                        <a:t> τ</a:t>
                      </a:r>
                      <a:r>
                        <a:rPr lang="en-US" altLang="zh-TW" sz="1600" dirty="0">
                          <a:latin typeface="+mn-lt"/>
                        </a:rPr>
                        <a:t>=0.0, </a:t>
                      </a:r>
                      <a:r>
                        <a:rPr lang="en-US" altLang="zh-TW" sz="1600" dirty="0">
                          <a:latin typeface="+mn-lt"/>
                          <a:ea typeface="微軟正黑體" panose="020B0604030504040204" pitchFamily="34" charset="-120"/>
                        </a:rPr>
                        <a:t>L</a:t>
                      </a:r>
                      <a:r>
                        <a:rPr lang="en-US" altLang="zh-TW" sz="1600" baseline="-25000" dirty="0">
                          <a:latin typeface="+mn-lt"/>
                          <a:ea typeface="微軟正黑體" panose="020B0604030504040204" pitchFamily="34" charset="-120"/>
                        </a:rPr>
                        <a:t>W</a:t>
                      </a:r>
                      <a:r>
                        <a:rPr lang="en-US" altLang="zh-TW" sz="1600" baseline="0" dirty="0">
                          <a:latin typeface="+mn-lt"/>
                          <a:ea typeface="微軟正黑體" panose="020B0604030504040204" pitchFamily="34" charset="-120"/>
                        </a:rPr>
                        <a:t>=0.5</a:t>
                      </a:r>
                      <a:endParaRPr lang="en-US" altLang="zh-TW" sz="1600" baseline="0" dirty="0">
                        <a:latin typeface="+mn-lt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zh-TW" sz="1600" dirty="0"/>
                        <a:t>26.2091 ± 1.5675</a:t>
                      </a:r>
                    </a:p>
                  </a:txBody>
                  <a:tcPr marL="45804" marR="45804" marT="22902" marB="22902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zh-TW" sz="1600" dirty="0"/>
                        <a:t>6.8576 ± 0.0374</a:t>
                      </a:r>
                    </a:p>
                  </a:txBody>
                  <a:tcPr marL="45804" marR="45804" marT="22902" marB="22902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zh-TW" sz="1600" dirty="0"/>
                        <a:t>0.0555 ± 0.0204</a:t>
                      </a:r>
                    </a:p>
                  </a:txBody>
                  <a:tcPr marL="45804" marR="45804" marT="22902" marB="22902" anchor="ctr"/>
                </a:tc>
                <a:extLst>
                  <a:ext uri="{0D108BD9-81ED-4DB2-BD59-A6C34878D82A}">
                    <a16:rowId xmlns:a16="http://schemas.microsoft.com/office/drawing/2014/main" val="1441213913"/>
                  </a:ext>
                </a:extLst>
              </a:tr>
              <a:tr h="403999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600" dirty="0">
                          <a:latin typeface="+mn-lt"/>
                          <a:ea typeface="微軟正黑體" panose="020B0604030504040204" pitchFamily="34" charset="-120"/>
                        </a:rPr>
                        <a:t>S</a:t>
                      </a:r>
                      <a:r>
                        <a:rPr lang="en-US" altLang="zh-TW" sz="1600" baseline="-25000" dirty="0">
                          <a:latin typeface="+mn-lt"/>
                          <a:ea typeface="微軟正黑體" panose="020B0604030504040204" pitchFamily="34" charset="-120"/>
                        </a:rPr>
                        <a:t>W</a:t>
                      </a:r>
                      <a:r>
                        <a:rPr lang="en-US" altLang="zh-TW" sz="1600" baseline="0" dirty="0">
                          <a:latin typeface="+mn-lt"/>
                          <a:ea typeface="微軟正黑體" panose="020B0604030504040204" pitchFamily="34" charset="-120"/>
                        </a:rPr>
                        <a:t>=0.0,</a:t>
                      </a:r>
                      <a:r>
                        <a:rPr lang="el-GR" altLang="zh-TW" sz="1600" dirty="0">
                          <a:latin typeface="+mn-lt"/>
                        </a:rPr>
                        <a:t> τ</a:t>
                      </a:r>
                      <a:r>
                        <a:rPr lang="en-US" altLang="zh-TW" sz="1600" dirty="0">
                          <a:latin typeface="+mn-lt"/>
                        </a:rPr>
                        <a:t>=0.0, </a:t>
                      </a:r>
                      <a:r>
                        <a:rPr lang="en-US" altLang="zh-TW" sz="1600" dirty="0">
                          <a:latin typeface="+mn-lt"/>
                          <a:ea typeface="微軟正黑體" panose="020B0604030504040204" pitchFamily="34" charset="-120"/>
                        </a:rPr>
                        <a:t>L</a:t>
                      </a:r>
                      <a:r>
                        <a:rPr lang="en-US" altLang="zh-TW" sz="1600" baseline="-25000" dirty="0">
                          <a:latin typeface="+mn-lt"/>
                          <a:ea typeface="微軟正黑體" panose="020B0604030504040204" pitchFamily="34" charset="-120"/>
                        </a:rPr>
                        <a:t>W</a:t>
                      </a:r>
                      <a:r>
                        <a:rPr lang="en-US" altLang="zh-TW" sz="1600" baseline="0" dirty="0">
                          <a:latin typeface="+mn-lt"/>
                          <a:ea typeface="微軟正黑體" panose="020B0604030504040204" pitchFamily="34" charset="-120"/>
                        </a:rPr>
                        <a:t>=1.0</a:t>
                      </a:r>
                      <a:endParaRPr lang="en-US" altLang="zh-TW" sz="1600" baseline="0" dirty="0">
                        <a:latin typeface="+mn-lt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zh-TW" sz="1600" dirty="0"/>
                        <a:t>24.0955 ± 3.2440</a:t>
                      </a:r>
                    </a:p>
                  </a:txBody>
                  <a:tcPr marL="45804" marR="45804" marT="22902" marB="22902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zh-TW" sz="1600" dirty="0"/>
                        <a:t>6.7935 ± 0.0828</a:t>
                      </a:r>
                    </a:p>
                  </a:txBody>
                  <a:tcPr marL="45804" marR="45804" marT="22902" marB="22902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zh-TW" sz="1600" dirty="0"/>
                        <a:t>0.0657 ± 0.0388</a:t>
                      </a:r>
                    </a:p>
                  </a:txBody>
                  <a:tcPr marL="45804" marR="45804" marT="22902" marB="22902" anchor="ctr"/>
                </a:tc>
                <a:extLst>
                  <a:ext uri="{0D108BD9-81ED-4DB2-BD59-A6C34878D82A}">
                    <a16:rowId xmlns:a16="http://schemas.microsoft.com/office/drawing/2014/main" val="1591432723"/>
                  </a:ext>
                </a:extLst>
              </a:tr>
              <a:tr h="403999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600" dirty="0">
                          <a:latin typeface="+mn-lt"/>
                          <a:ea typeface="微軟正黑體" panose="020B0604030504040204" pitchFamily="34" charset="-120"/>
                        </a:rPr>
                        <a:t>S</a:t>
                      </a:r>
                      <a:r>
                        <a:rPr lang="en-US" altLang="zh-TW" sz="1600" baseline="-25000" dirty="0">
                          <a:latin typeface="+mn-lt"/>
                          <a:ea typeface="微軟正黑體" panose="020B0604030504040204" pitchFamily="34" charset="-120"/>
                        </a:rPr>
                        <a:t>W</a:t>
                      </a:r>
                      <a:r>
                        <a:rPr lang="en-US" altLang="zh-TW" sz="1600" baseline="0" dirty="0">
                          <a:latin typeface="+mn-lt"/>
                          <a:ea typeface="微軟正黑體" panose="020B0604030504040204" pitchFamily="34" charset="-120"/>
                        </a:rPr>
                        <a:t>=0.0,</a:t>
                      </a:r>
                      <a:r>
                        <a:rPr lang="el-GR" altLang="zh-TW" sz="1600" dirty="0">
                          <a:latin typeface="+mn-lt"/>
                        </a:rPr>
                        <a:t> τ</a:t>
                      </a:r>
                      <a:r>
                        <a:rPr lang="en-US" altLang="zh-TW" sz="1600" dirty="0">
                          <a:latin typeface="+mn-lt"/>
                        </a:rPr>
                        <a:t>=0.0, </a:t>
                      </a:r>
                      <a:r>
                        <a:rPr lang="en-US" altLang="zh-TW" sz="1600" dirty="0">
                          <a:latin typeface="+mn-lt"/>
                          <a:ea typeface="微軟正黑體" panose="020B0604030504040204" pitchFamily="34" charset="-120"/>
                        </a:rPr>
                        <a:t>L</a:t>
                      </a:r>
                      <a:r>
                        <a:rPr lang="en-US" altLang="zh-TW" sz="1600" baseline="-25000" dirty="0">
                          <a:latin typeface="+mn-lt"/>
                          <a:ea typeface="微軟正黑體" panose="020B0604030504040204" pitchFamily="34" charset="-120"/>
                        </a:rPr>
                        <a:t>W</a:t>
                      </a:r>
                      <a:r>
                        <a:rPr lang="en-US" altLang="zh-TW" sz="1600" baseline="0" dirty="0">
                          <a:latin typeface="+mn-lt"/>
                          <a:ea typeface="微軟正黑體" panose="020B0604030504040204" pitchFamily="34" charset="-120"/>
                        </a:rPr>
                        <a:t>=1.5</a:t>
                      </a:r>
                      <a:endParaRPr lang="en-US" altLang="zh-TW" sz="1600" baseline="0" dirty="0">
                        <a:latin typeface="+mn-lt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zh-TW" sz="1600" dirty="0"/>
                        <a:t>29.9033 ± 0.5373</a:t>
                      </a:r>
                    </a:p>
                  </a:txBody>
                  <a:tcPr marL="45804" marR="45804" marT="22902" marB="22902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zh-TW" sz="1600" dirty="0"/>
                        <a:t>6.8644 ± 0.0249</a:t>
                      </a:r>
                    </a:p>
                  </a:txBody>
                  <a:tcPr marL="45804" marR="45804" marT="22902" marB="22902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zh-TW" sz="1600" b="0" dirty="0">
                          <a:solidFill>
                            <a:schemeClr val="tx1"/>
                          </a:solidFill>
                        </a:rPr>
                        <a:t>0.0215 ± 0.0049</a:t>
                      </a:r>
                      <a:endParaRPr lang="zh-TW" altLang="en-US" sz="1600" b="0" dirty="0">
                        <a:solidFill>
                          <a:schemeClr val="tx1"/>
                        </a:solidFill>
                      </a:endParaRPr>
                    </a:p>
                  </a:txBody>
                  <a:tcPr marL="45804" marR="45804" marT="22902" marB="22902" anchor="ctr"/>
                </a:tc>
                <a:extLst>
                  <a:ext uri="{0D108BD9-81ED-4DB2-BD59-A6C34878D82A}">
                    <a16:rowId xmlns:a16="http://schemas.microsoft.com/office/drawing/2014/main" val="1309331485"/>
                  </a:ext>
                </a:extLst>
              </a:tr>
              <a:tr h="403999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600" dirty="0">
                          <a:latin typeface="+mn-lt"/>
                          <a:ea typeface="微軟正黑體" panose="020B0604030504040204" pitchFamily="34" charset="-120"/>
                        </a:rPr>
                        <a:t>S</a:t>
                      </a:r>
                      <a:r>
                        <a:rPr lang="en-US" altLang="zh-TW" sz="1600" baseline="-25000" dirty="0">
                          <a:latin typeface="+mn-lt"/>
                          <a:ea typeface="微軟正黑體" panose="020B0604030504040204" pitchFamily="34" charset="-120"/>
                        </a:rPr>
                        <a:t>W</a:t>
                      </a:r>
                      <a:r>
                        <a:rPr lang="en-US" altLang="zh-TW" sz="1600" baseline="0" dirty="0">
                          <a:latin typeface="+mn-lt"/>
                          <a:ea typeface="微軟正黑體" panose="020B0604030504040204" pitchFamily="34" charset="-120"/>
                        </a:rPr>
                        <a:t>=1.0,</a:t>
                      </a:r>
                      <a:r>
                        <a:rPr lang="el-GR" altLang="zh-TW" sz="1600" dirty="0">
                          <a:latin typeface="+mn-lt"/>
                        </a:rPr>
                        <a:t> τ</a:t>
                      </a:r>
                      <a:r>
                        <a:rPr lang="en-US" altLang="zh-TW" sz="1600" dirty="0">
                          <a:latin typeface="+mn-lt"/>
                        </a:rPr>
                        <a:t>=0.3, </a:t>
                      </a:r>
                      <a:r>
                        <a:rPr lang="en-US" altLang="zh-TW" sz="1600" dirty="0">
                          <a:latin typeface="+mn-lt"/>
                          <a:ea typeface="微軟正黑體" panose="020B0604030504040204" pitchFamily="34" charset="-120"/>
                        </a:rPr>
                        <a:t>L</a:t>
                      </a:r>
                      <a:r>
                        <a:rPr lang="en-US" altLang="zh-TW" sz="1600" baseline="-25000" dirty="0">
                          <a:latin typeface="+mn-lt"/>
                          <a:ea typeface="微軟正黑體" panose="020B0604030504040204" pitchFamily="34" charset="-120"/>
                        </a:rPr>
                        <a:t>W</a:t>
                      </a:r>
                      <a:r>
                        <a:rPr lang="en-US" altLang="zh-TW" sz="1600" baseline="0" dirty="0">
                          <a:latin typeface="+mn-lt"/>
                          <a:ea typeface="微軟正黑體" panose="020B0604030504040204" pitchFamily="34" charset="-120"/>
                        </a:rPr>
                        <a:t>=0.5</a:t>
                      </a:r>
                      <a:endParaRPr lang="en-US" altLang="zh-TW" sz="1600" baseline="0" dirty="0">
                        <a:latin typeface="+mn-lt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zh-TW" sz="1600" b="1" dirty="0">
                          <a:solidFill>
                            <a:srgbClr val="FF0000"/>
                          </a:solidFill>
                        </a:rPr>
                        <a:t>21.4788 ± 0.0773</a:t>
                      </a:r>
                      <a:endParaRPr lang="zh-TW" altLang="en-US" sz="1600" dirty="0">
                        <a:solidFill>
                          <a:srgbClr val="FF0000"/>
                        </a:solidFill>
                      </a:endParaRPr>
                    </a:p>
                  </a:txBody>
                  <a:tcPr marL="45804" marR="45804" marT="22902" marB="22902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zh-TW" sz="1600" b="0" dirty="0">
                          <a:solidFill>
                            <a:schemeClr val="tx1"/>
                          </a:solidFill>
                        </a:rPr>
                        <a:t>6.6876 ± 0.0421</a:t>
                      </a:r>
                      <a:endParaRPr lang="zh-TW" altLang="en-US" sz="1600" b="0" dirty="0">
                        <a:solidFill>
                          <a:schemeClr val="tx1"/>
                        </a:solidFill>
                      </a:endParaRPr>
                    </a:p>
                  </a:txBody>
                  <a:tcPr marL="45804" marR="45804" marT="22902" marB="22902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zh-TW" sz="1600" dirty="0"/>
                        <a:t>0.0720 ± 0.0062</a:t>
                      </a:r>
                    </a:p>
                  </a:txBody>
                  <a:tcPr marL="45804" marR="45804" marT="22902" marB="22902" anchor="ctr"/>
                </a:tc>
                <a:extLst>
                  <a:ext uri="{0D108BD9-81ED-4DB2-BD59-A6C34878D82A}">
                    <a16:rowId xmlns:a16="http://schemas.microsoft.com/office/drawing/2014/main" val="3663042970"/>
                  </a:ext>
                </a:extLst>
              </a:tr>
              <a:tr h="403999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600" dirty="0">
                          <a:latin typeface="+mn-lt"/>
                          <a:ea typeface="微軟正黑體" panose="020B0604030504040204" pitchFamily="34" charset="-120"/>
                        </a:rPr>
                        <a:t>S</a:t>
                      </a:r>
                      <a:r>
                        <a:rPr lang="en-US" altLang="zh-TW" sz="1600" baseline="-25000" dirty="0">
                          <a:latin typeface="+mn-lt"/>
                          <a:ea typeface="微軟正黑體" panose="020B0604030504040204" pitchFamily="34" charset="-120"/>
                        </a:rPr>
                        <a:t>W</a:t>
                      </a:r>
                      <a:r>
                        <a:rPr lang="en-US" altLang="zh-TW" sz="1600" baseline="0" dirty="0">
                          <a:latin typeface="+mn-lt"/>
                          <a:ea typeface="微軟正黑體" panose="020B0604030504040204" pitchFamily="34" charset="-120"/>
                        </a:rPr>
                        <a:t>=1.0,</a:t>
                      </a:r>
                      <a:r>
                        <a:rPr lang="el-GR" altLang="zh-TW" sz="1600" dirty="0">
                          <a:latin typeface="+mn-lt"/>
                        </a:rPr>
                        <a:t> τ</a:t>
                      </a:r>
                      <a:r>
                        <a:rPr lang="en-US" altLang="zh-TW" sz="1600" dirty="0">
                          <a:latin typeface="+mn-lt"/>
                        </a:rPr>
                        <a:t>=0.3, </a:t>
                      </a:r>
                      <a:r>
                        <a:rPr lang="en-US" altLang="zh-TW" sz="1600" dirty="0">
                          <a:latin typeface="+mn-lt"/>
                          <a:ea typeface="微軟正黑體" panose="020B0604030504040204" pitchFamily="34" charset="-120"/>
                        </a:rPr>
                        <a:t>L</a:t>
                      </a:r>
                      <a:r>
                        <a:rPr lang="en-US" altLang="zh-TW" sz="1600" baseline="-25000" dirty="0">
                          <a:latin typeface="+mn-lt"/>
                          <a:ea typeface="微軟正黑體" panose="020B0604030504040204" pitchFamily="34" charset="-120"/>
                        </a:rPr>
                        <a:t>W</a:t>
                      </a:r>
                      <a:r>
                        <a:rPr lang="en-US" altLang="zh-TW" sz="1600" baseline="0" dirty="0">
                          <a:latin typeface="+mn-lt"/>
                          <a:ea typeface="微軟正黑體" panose="020B0604030504040204" pitchFamily="34" charset="-120"/>
                        </a:rPr>
                        <a:t>=1.0</a:t>
                      </a:r>
                      <a:endParaRPr lang="en-US" altLang="zh-TW" sz="1600" baseline="0" dirty="0">
                        <a:latin typeface="+mn-lt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zh-TW" sz="1600" dirty="0"/>
                        <a:t>26.3414 ± 0.3656</a:t>
                      </a:r>
                    </a:p>
                  </a:txBody>
                  <a:tcPr marL="45804" marR="45804" marT="22902" marB="22902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zh-TW" sz="1600" dirty="0"/>
                        <a:t>6.7567 ± 0.0016</a:t>
                      </a:r>
                    </a:p>
                  </a:txBody>
                  <a:tcPr marL="45804" marR="45804" marT="22902" marB="22902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zh-TW" sz="1600" dirty="0"/>
                        <a:t>0.0460 ± 0.0160</a:t>
                      </a:r>
                    </a:p>
                  </a:txBody>
                  <a:tcPr marL="45804" marR="45804" marT="22902" marB="22902" anchor="ctr"/>
                </a:tc>
                <a:extLst>
                  <a:ext uri="{0D108BD9-81ED-4DB2-BD59-A6C34878D82A}">
                    <a16:rowId xmlns:a16="http://schemas.microsoft.com/office/drawing/2014/main" val="3253892573"/>
                  </a:ext>
                </a:extLst>
              </a:tr>
              <a:tr h="403999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600" dirty="0">
                          <a:latin typeface="+mn-lt"/>
                          <a:ea typeface="微軟正黑體" panose="020B0604030504040204" pitchFamily="34" charset="-120"/>
                        </a:rPr>
                        <a:t>S</a:t>
                      </a:r>
                      <a:r>
                        <a:rPr lang="en-US" altLang="zh-TW" sz="1600" baseline="-25000" dirty="0">
                          <a:latin typeface="+mn-lt"/>
                          <a:ea typeface="微軟正黑體" panose="020B0604030504040204" pitchFamily="34" charset="-120"/>
                        </a:rPr>
                        <a:t>W</a:t>
                      </a:r>
                      <a:r>
                        <a:rPr lang="en-US" altLang="zh-TW" sz="1600" baseline="0" dirty="0">
                          <a:latin typeface="+mn-lt"/>
                          <a:ea typeface="微軟正黑體" panose="020B0604030504040204" pitchFamily="34" charset="-120"/>
                        </a:rPr>
                        <a:t>=1.5,</a:t>
                      </a:r>
                      <a:r>
                        <a:rPr lang="el-GR" altLang="zh-TW" sz="1600" dirty="0">
                          <a:latin typeface="+mn-lt"/>
                        </a:rPr>
                        <a:t> τ</a:t>
                      </a:r>
                      <a:r>
                        <a:rPr lang="en-US" altLang="zh-TW" sz="1600" dirty="0">
                          <a:latin typeface="+mn-lt"/>
                        </a:rPr>
                        <a:t>=0.3, </a:t>
                      </a:r>
                      <a:r>
                        <a:rPr lang="en-US" altLang="zh-TW" sz="1600" dirty="0">
                          <a:latin typeface="+mn-lt"/>
                          <a:ea typeface="微軟正黑體" panose="020B0604030504040204" pitchFamily="34" charset="-120"/>
                        </a:rPr>
                        <a:t>L</a:t>
                      </a:r>
                      <a:r>
                        <a:rPr lang="en-US" altLang="zh-TW" sz="1600" baseline="-25000" dirty="0">
                          <a:latin typeface="+mn-lt"/>
                          <a:ea typeface="微軟正黑體" panose="020B0604030504040204" pitchFamily="34" charset="-120"/>
                        </a:rPr>
                        <a:t>W</a:t>
                      </a:r>
                      <a:r>
                        <a:rPr lang="en-US" altLang="zh-TW" sz="1600" baseline="0" dirty="0">
                          <a:latin typeface="+mn-lt"/>
                          <a:ea typeface="微軟正黑體" panose="020B0604030504040204" pitchFamily="34" charset="-120"/>
                        </a:rPr>
                        <a:t>=1.0</a:t>
                      </a:r>
                      <a:endParaRPr lang="en-US" altLang="zh-TW" sz="1600" baseline="0" dirty="0">
                        <a:latin typeface="+mn-lt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zh-TW" sz="1600" dirty="0"/>
                        <a:t>25.7832 ± 1.6338</a:t>
                      </a:r>
                    </a:p>
                  </a:txBody>
                  <a:tcPr marL="45804" marR="45804" marT="22902" marB="22902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zh-TW" sz="1600" dirty="0"/>
                        <a:t>6.7177 ± 0.0455</a:t>
                      </a:r>
                    </a:p>
                  </a:txBody>
                  <a:tcPr marL="45804" marR="45804" marT="22902" marB="22902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zh-TW" sz="1600" dirty="0"/>
                        <a:t>0.0453 ± 0.0197</a:t>
                      </a:r>
                    </a:p>
                  </a:txBody>
                  <a:tcPr marL="45804" marR="45804" marT="22902" marB="22902" anchor="ctr"/>
                </a:tc>
                <a:extLst>
                  <a:ext uri="{0D108BD9-81ED-4DB2-BD59-A6C34878D82A}">
                    <a16:rowId xmlns:a16="http://schemas.microsoft.com/office/drawing/2014/main" val="2083154564"/>
                  </a:ext>
                </a:extLst>
              </a:tr>
            </a:tbl>
          </a:graphicData>
        </a:graphic>
      </p:graphicFrame>
      <p:sp>
        <p:nvSpPr>
          <p:cNvPr id="10" name="文字方塊 9">
            <a:extLst>
              <a:ext uri="{FF2B5EF4-FFF2-40B4-BE49-F238E27FC236}">
                <a16:creationId xmlns:a16="http://schemas.microsoft.com/office/drawing/2014/main" id="{D73ABA95-FB42-08EE-7487-4B52C15B0915}"/>
              </a:ext>
            </a:extLst>
          </p:cNvPr>
          <p:cNvSpPr txBox="1"/>
          <p:nvPr/>
        </p:nvSpPr>
        <p:spPr>
          <a:xfrm>
            <a:off x="347470" y="6272558"/>
            <a:ext cx="8787652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TW" sz="1600" dirty="0"/>
              <a:t>Let </a:t>
            </a:r>
            <a:r>
              <a:rPr lang="en-US" altLang="zh-TW" sz="1600" dirty="0">
                <a:ea typeface="微軟正黑體" panose="020B0604030504040204" pitchFamily="34" charset="-120"/>
              </a:rPr>
              <a:t>S</a:t>
            </a:r>
            <a:r>
              <a:rPr lang="en-US" altLang="zh-TW" sz="1600" baseline="-25000" dirty="0">
                <a:ea typeface="微軟正黑體" panose="020B0604030504040204" pitchFamily="34" charset="-120"/>
              </a:rPr>
              <a:t>W</a:t>
            </a:r>
            <a:r>
              <a:rPr lang="en-US" altLang="zh-TW" sz="1600" dirty="0">
                <a:ea typeface="微軟正黑體" panose="020B0604030504040204" pitchFamily="34" charset="-120"/>
              </a:rPr>
              <a:t>, </a:t>
            </a:r>
            <a:r>
              <a:rPr lang="el-GR" altLang="zh-TW" sz="1600" dirty="0"/>
              <a:t>τ</a:t>
            </a:r>
            <a:r>
              <a:rPr lang="en-US" altLang="zh-TW" sz="1600" dirty="0"/>
              <a:t>, and </a:t>
            </a:r>
            <a:r>
              <a:rPr lang="en-US" altLang="zh-TW" sz="1600" dirty="0">
                <a:ea typeface="微軟正黑體" panose="020B0604030504040204" pitchFamily="34" charset="-120"/>
              </a:rPr>
              <a:t>L</a:t>
            </a:r>
            <a:r>
              <a:rPr lang="en-US" altLang="zh-TW" sz="1600" baseline="-25000" dirty="0">
                <a:ea typeface="微軟正黑體" panose="020B0604030504040204" pitchFamily="34" charset="-120"/>
              </a:rPr>
              <a:t>W</a:t>
            </a:r>
            <a:r>
              <a:rPr lang="en-US" altLang="zh-TW" sz="1600" dirty="0">
                <a:ea typeface="微軟正黑體" panose="020B0604030504040204" pitchFamily="34" charset="-120"/>
              </a:rPr>
              <a:t> </a:t>
            </a:r>
            <a:r>
              <a:rPr lang="en-US" altLang="zh-TW" sz="1600" dirty="0"/>
              <a:t>denote the SDC term weight, confidence threshold, and LCM term weight, respectively.</a:t>
            </a:r>
            <a:endParaRPr lang="zh-TW" altLang="en-US" sz="1600" dirty="0">
              <a:ea typeface="微軟正黑體" panose="020B0604030504040204" pitchFamily="34" charset="-120"/>
            </a:endParaRPr>
          </a:p>
        </p:txBody>
      </p:sp>
      <p:sp>
        <p:nvSpPr>
          <p:cNvPr id="3" name="文字方塊 2">
            <a:extLst>
              <a:ext uri="{FF2B5EF4-FFF2-40B4-BE49-F238E27FC236}">
                <a16:creationId xmlns:a16="http://schemas.microsoft.com/office/drawing/2014/main" id="{A50A8D5C-F453-56CA-6858-C41E410160A4}"/>
              </a:ext>
            </a:extLst>
          </p:cNvPr>
          <p:cNvSpPr txBox="1"/>
          <p:nvPr/>
        </p:nvSpPr>
        <p:spPr>
          <a:xfrm>
            <a:off x="9721048" y="461072"/>
            <a:ext cx="2281561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TW" sz="1400" dirty="0"/>
              <a:t>1B token for training model</a:t>
            </a:r>
            <a:endParaRPr lang="zh-TW" altLang="en-US" sz="1400" dirty="0"/>
          </a:p>
        </p:txBody>
      </p:sp>
    </p:spTree>
    <p:extLst>
      <p:ext uri="{BB962C8B-B14F-4D97-AF65-F5344CB8AC3E}">
        <p14:creationId xmlns:p14="http://schemas.microsoft.com/office/powerpoint/2010/main" val="41408499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6611112"/>
            <a:ext cx="12191695" cy="246888"/>
          </a:xfrm>
          <a:prstGeom prst="rect">
            <a:avLst/>
          </a:prstGeom>
          <a:solidFill>
            <a:srgbClr val="5B839B"/>
          </a:solidFill>
          <a:ln w="12700">
            <a:solidFill>
              <a:srgbClr val="5B839B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11629748" y="6629400"/>
            <a:ext cx="34889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200" dirty="0">
                <a:solidFill>
                  <a:srgbClr val="FFFFFF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25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0" y="2496312"/>
            <a:ext cx="12191695" cy="676656"/>
          </a:xfrm>
          <a:prstGeom prst="rect">
            <a:avLst/>
          </a:prstGeom>
          <a:solidFill>
            <a:srgbClr val="5B839B"/>
          </a:solidFill>
          <a:ln w="12700">
            <a:solidFill>
              <a:srgbClr val="5B839B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457200" y="2660904"/>
            <a:ext cx="1127455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FFFFFF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Conclusion</a:t>
            </a:r>
            <a:endParaRPr lang="en-US" sz="2000" dirty="0"/>
          </a:p>
        </p:txBody>
      </p:sp>
      <p:sp>
        <p:nvSpPr>
          <p:cNvPr id="9" name="Text 7"/>
          <p:cNvSpPr/>
          <p:nvPr/>
        </p:nvSpPr>
        <p:spPr>
          <a:xfrm>
            <a:off x="5623560" y="4361688"/>
            <a:ext cx="914400" cy="1188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540" dirty="0">
                <a:solidFill>
                  <a:srgbClr val="FFFFFF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FIVE</a:t>
            </a:r>
            <a:endParaRPr lang="en-US" sz="54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6611112"/>
            <a:ext cx="12191695" cy="246888"/>
          </a:xfrm>
          <a:prstGeom prst="rect">
            <a:avLst/>
          </a:prstGeom>
          <a:solidFill>
            <a:srgbClr val="5B839B"/>
          </a:solidFill>
          <a:ln w="12700">
            <a:solidFill>
              <a:srgbClr val="5B839B"/>
            </a:solidFill>
            <a:prstDash val="solid"/>
          </a:ln>
        </p:spPr>
        <p:txBody>
          <a:bodyPr/>
          <a:lstStyle/>
          <a:p>
            <a:endParaRPr lang="zh-TW" altLang="en-US" dirty="0"/>
          </a:p>
        </p:txBody>
      </p:sp>
      <p:sp>
        <p:nvSpPr>
          <p:cNvPr id="3" name="Text 1"/>
          <p:cNvSpPr/>
          <p:nvPr/>
        </p:nvSpPr>
        <p:spPr>
          <a:xfrm>
            <a:off x="11567160" y="6629400"/>
            <a:ext cx="4114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200" dirty="0">
                <a:solidFill>
                  <a:srgbClr val="FFFFFF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26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347472" y="274320"/>
            <a:ext cx="30175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b="1" dirty="0">
                <a:solidFill>
                  <a:srgbClr val="1B2E3A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Part5: Conclusion</a:t>
            </a:r>
            <a:endParaRPr lang="en-US" dirty="0"/>
          </a:p>
        </p:txBody>
      </p:sp>
      <p:sp>
        <p:nvSpPr>
          <p:cNvPr id="5" name="Text 3"/>
          <p:cNvSpPr/>
          <p:nvPr/>
        </p:nvSpPr>
        <p:spPr>
          <a:xfrm>
            <a:off x="347472" y="457200"/>
            <a:ext cx="79552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rgbClr val="60707A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Conclusion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347472" y="749808"/>
            <a:ext cx="11475720" cy="0"/>
          </a:xfrm>
          <a:prstGeom prst="line">
            <a:avLst/>
          </a:prstGeom>
          <a:noFill/>
          <a:ln w="12700">
            <a:solidFill>
              <a:srgbClr val="C8D6DE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914400" y="4892040"/>
            <a:ext cx="10332720" cy="502920"/>
          </a:xfrm>
          <a:prstGeom prst="rect">
            <a:avLst/>
          </a:prstGeom>
          <a:noFill/>
          <a:ln>
            <a:solidFill>
              <a:srgbClr val="C8D6DE"/>
            </a:solidFill>
          </a:ln>
        </p:spPr>
        <p:txBody>
          <a:bodyPr wrap="square" lIns="1143" tIns="1143" rIns="1143" bIns="1143" rtlCol="0" anchor="ctr">
            <a:normAutofit/>
          </a:bodyPr>
          <a:lstStyle/>
          <a:p>
            <a:pPr marL="0" indent="0">
              <a:buNone/>
            </a:pPr>
            <a:r>
              <a:rPr lang="en-US" sz="1600" dirty="0" err="1">
                <a:solidFill>
                  <a:srgbClr val="27323A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核心訊息：consistency-based</a:t>
            </a:r>
            <a:r>
              <a:rPr lang="en-US" sz="1600" dirty="0">
                <a:solidFill>
                  <a:srgbClr val="27323A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 training 能有效降低 draft heads 的分佈漂移，使 semi-autoregressive generation 更穩定。</a:t>
            </a:r>
            <a:endParaRPr lang="en-US" sz="1600" dirty="0"/>
          </a:p>
        </p:txBody>
      </p:sp>
      <p:sp>
        <p:nvSpPr>
          <p:cNvPr id="10" name="文字方塊 9">
            <a:extLst>
              <a:ext uri="{FF2B5EF4-FFF2-40B4-BE49-F238E27FC236}">
                <a16:creationId xmlns:a16="http://schemas.microsoft.com/office/drawing/2014/main" id="{518EE479-80D9-A5EC-082E-0615E26B6FFA}"/>
              </a:ext>
            </a:extLst>
          </p:cNvPr>
          <p:cNvSpPr txBox="1"/>
          <p:nvPr/>
        </p:nvSpPr>
        <p:spPr>
          <a:xfrm>
            <a:off x="905877" y="1965960"/>
            <a:ext cx="10768614" cy="107721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zh-TW" altLang="en-US" sz="1600" dirty="0"/>
              <a:t>本研究在 </a:t>
            </a:r>
            <a:r>
              <a:rPr lang="en-US" altLang="zh-TW" sz="1600" dirty="0"/>
              <a:t>MTP </a:t>
            </a:r>
            <a:r>
              <a:rPr lang="zh-TW" altLang="en-US" sz="1600" dirty="0"/>
              <a:t>架構中加入 </a:t>
            </a:r>
            <a:r>
              <a:rPr lang="en-US" altLang="zh-TW" sz="1600" dirty="0"/>
              <a:t>SDC </a:t>
            </a:r>
            <a:r>
              <a:rPr lang="zh-TW" altLang="en-US" sz="1600" dirty="0"/>
              <a:t>與 </a:t>
            </a:r>
            <a:r>
              <a:rPr lang="en-US" altLang="zh-TW" sz="1600" dirty="0"/>
              <a:t>LCM</a:t>
            </a:r>
            <a:r>
              <a:rPr lang="zh-TW" altLang="en-US" sz="1600" dirty="0"/>
              <a:t>，不改變 </a:t>
            </a:r>
            <a:r>
              <a:rPr lang="en-US" altLang="zh-TW" sz="1600" dirty="0"/>
              <a:t>backbone </a:t>
            </a:r>
            <a:r>
              <a:rPr lang="zh-TW" altLang="en-US" sz="1600" dirty="0"/>
              <a:t>即能改善 </a:t>
            </a:r>
            <a:r>
              <a:rPr lang="en-US" altLang="zh-TW" sz="1600" dirty="0"/>
              <a:t>draft head </a:t>
            </a:r>
            <a:r>
              <a:rPr lang="zh-TW" altLang="en-US" sz="1600" dirty="0"/>
              <a:t>品質。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zh-TW" altLang="en-US" sz="1600" dirty="0"/>
              <a:t>正式 </a:t>
            </a:r>
            <a:r>
              <a:rPr lang="en-US" altLang="zh-TW" sz="1600" dirty="0"/>
              <a:t>1.3B_4 </a:t>
            </a:r>
            <a:r>
              <a:rPr lang="zh-TW" altLang="en-US" sz="1600" dirty="0"/>
              <a:t>比較中，</a:t>
            </a:r>
            <a:r>
              <a:rPr lang="en-US" altLang="zh-TW" sz="1600" dirty="0"/>
              <a:t>SDC+LCM </a:t>
            </a:r>
            <a:r>
              <a:rPr lang="zh-TW" altLang="en-US" sz="1600" dirty="0"/>
              <a:t>使 </a:t>
            </a:r>
            <a:r>
              <a:rPr lang="en-US" altLang="zh-TW" sz="1600" dirty="0"/>
              <a:t>Head 1~4 PPL </a:t>
            </a:r>
            <a:r>
              <a:rPr lang="zh-TW" altLang="en-US" sz="1600" dirty="0"/>
              <a:t>全部下降，且 </a:t>
            </a:r>
            <a:r>
              <a:rPr lang="en-US" altLang="zh-TW" sz="1600" dirty="0"/>
              <a:t>Head 4 </a:t>
            </a:r>
            <a:r>
              <a:rPr lang="zh-TW" altLang="en-US" sz="1600" dirty="0"/>
              <a:t>降幅達 </a:t>
            </a:r>
            <a:r>
              <a:rPr lang="en-US" altLang="zh-TW" sz="1600" dirty="0"/>
              <a:t>5.89%</a:t>
            </a:r>
            <a:r>
              <a:rPr lang="zh-TW" altLang="en-US" sz="1600" dirty="0"/>
              <a:t>。</a:t>
            </a:r>
            <a:endParaRPr lang="en-US" altLang="zh-TW" sz="1600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altLang="zh-TW" sz="1600" dirty="0"/>
              <a:t>token accept rate </a:t>
            </a:r>
            <a:r>
              <a:rPr lang="zh-TW" altLang="en-US" sz="1600" dirty="0"/>
              <a:t>從 </a:t>
            </a:r>
            <a:r>
              <a:rPr lang="en-US" altLang="zh-TW" sz="1600" dirty="0"/>
              <a:t>0.7010 </a:t>
            </a:r>
            <a:r>
              <a:rPr lang="zh-TW" altLang="en-US" sz="1600" dirty="0"/>
              <a:t>提升到 </a:t>
            </a:r>
            <a:r>
              <a:rPr lang="en-US" altLang="zh-TW" sz="1600" dirty="0"/>
              <a:t>0.7302</a:t>
            </a:r>
            <a:r>
              <a:rPr lang="zh-TW" altLang="en-US" sz="1600" dirty="0"/>
              <a:t>，代表 </a:t>
            </a:r>
            <a:r>
              <a:rPr lang="en-US" altLang="zh-TW" sz="1600" dirty="0"/>
              <a:t>self-speculative decoding </a:t>
            </a:r>
            <a:r>
              <a:rPr lang="zh-TW" altLang="en-US" sz="1600" dirty="0"/>
              <a:t>有更好的接受潛力</a:t>
            </a:r>
            <a:r>
              <a:rPr lang="en-US" altLang="zh-TW" sz="1600" dirty="0">
                <a:solidFill>
                  <a:srgbClr val="27323A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。</a:t>
            </a:r>
            <a:endParaRPr lang="en-US" altLang="zh-TW" sz="1600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altLang="zh-TW" sz="1600" dirty="0"/>
              <a:t>Generative PPL </a:t>
            </a:r>
            <a:r>
              <a:rPr lang="zh-TW" altLang="en-US" sz="1600" dirty="0"/>
              <a:t>從 </a:t>
            </a:r>
            <a:r>
              <a:rPr lang="en-US" altLang="zh-TW" sz="1600" dirty="0"/>
              <a:t>39.5580 </a:t>
            </a:r>
            <a:r>
              <a:rPr lang="zh-TW" altLang="en-US" sz="1600" dirty="0"/>
              <a:t>大幅降至 </a:t>
            </a:r>
            <a:r>
              <a:rPr lang="en-US" altLang="zh-TW" sz="1600" dirty="0"/>
              <a:t>18.7180</a:t>
            </a:r>
            <a:r>
              <a:rPr lang="zh-TW" altLang="en-US" sz="1600" dirty="0"/>
              <a:t>，顯示生成品質改善最明顯</a:t>
            </a:r>
            <a:r>
              <a:rPr lang="en-US" altLang="zh-TW" sz="1600" dirty="0">
                <a:solidFill>
                  <a:srgbClr val="27323A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。</a:t>
            </a:r>
            <a:endParaRPr lang="zh-TW" altLang="en-US" sz="16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6611112"/>
            <a:ext cx="12191695" cy="246888"/>
          </a:xfrm>
          <a:prstGeom prst="rect">
            <a:avLst/>
          </a:prstGeom>
          <a:solidFill>
            <a:srgbClr val="5B839B"/>
          </a:solidFill>
          <a:ln w="12700">
            <a:solidFill>
              <a:srgbClr val="5B839B"/>
            </a:solidFill>
            <a:prstDash val="solid"/>
          </a:ln>
        </p:spPr>
        <p:txBody>
          <a:bodyPr/>
          <a:lstStyle/>
          <a:p>
            <a:endParaRPr lang="zh-TW" altLang="en-US" dirty="0"/>
          </a:p>
        </p:txBody>
      </p:sp>
      <p:sp>
        <p:nvSpPr>
          <p:cNvPr id="3" name="Text 1"/>
          <p:cNvSpPr/>
          <p:nvPr/>
        </p:nvSpPr>
        <p:spPr>
          <a:xfrm>
            <a:off x="11558726" y="6629400"/>
            <a:ext cx="419914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200" dirty="0">
                <a:solidFill>
                  <a:srgbClr val="FFFFFF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27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347472" y="274320"/>
            <a:ext cx="30175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b="1" dirty="0">
                <a:solidFill>
                  <a:srgbClr val="1B2E3A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Part5: Conclusion</a:t>
            </a:r>
            <a:endParaRPr lang="en-US" dirty="0"/>
          </a:p>
        </p:txBody>
      </p:sp>
      <p:sp>
        <p:nvSpPr>
          <p:cNvPr id="5" name="Text 3"/>
          <p:cNvSpPr/>
          <p:nvPr/>
        </p:nvSpPr>
        <p:spPr>
          <a:xfrm>
            <a:off x="347472" y="457200"/>
            <a:ext cx="79552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rgbClr val="60707A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Future work &amp; references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347472" y="749808"/>
            <a:ext cx="11475720" cy="0"/>
          </a:xfrm>
          <a:prstGeom prst="line">
            <a:avLst/>
          </a:prstGeom>
          <a:noFill/>
          <a:ln w="12700">
            <a:solidFill>
              <a:srgbClr val="C8D6DE"/>
            </a:solidFill>
            <a:prstDash val="solid"/>
          </a:ln>
        </p:spPr>
      </p:sp>
      <p:sp>
        <p:nvSpPr>
          <p:cNvPr id="17" name="文字方塊 16">
            <a:extLst>
              <a:ext uri="{FF2B5EF4-FFF2-40B4-BE49-F238E27FC236}">
                <a16:creationId xmlns:a16="http://schemas.microsoft.com/office/drawing/2014/main" id="{FB77CBB2-D2D3-454F-C60E-019D7B0BBAFA}"/>
              </a:ext>
            </a:extLst>
          </p:cNvPr>
          <p:cNvSpPr txBox="1"/>
          <p:nvPr/>
        </p:nvSpPr>
        <p:spPr>
          <a:xfrm>
            <a:off x="905877" y="1965960"/>
            <a:ext cx="10768614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zh-TW" altLang="en-US" sz="1600" dirty="0"/>
              <a:t>進一步測試不同模型規模、更多資料量、不同種類資料集。</a:t>
            </a:r>
            <a:endParaRPr lang="en-US" altLang="zh-TW" sz="1600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zh-TW" altLang="en-US" sz="1600" dirty="0"/>
              <a:t>繼續下一步訓練計畫如</a:t>
            </a:r>
            <a:r>
              <a:rPr lang="en-US" altLang="zh-TW" sz="1600" dirty="0"/>
              <a:t>Continue training</a:t>
            </a:r>
            <a:r>
              <a:rPr lang="zh-TW" altLang="en-US" sz="1600" dirty="0"/>
              <a:t>、</a:t>
            </a:r>
            <a:r>
              <a:rPr lang="en-US" altLang="zh-TW" sz="1600" dirty="0"/>
              <a:t>SFT</a:t>
            </a:r>
            <a:endParaRPr lang="zh-TW" altLang="en-US" sz="1600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zh-TW" altLang="en-US" sz="1600" dirty="0"/>
              <a:t>餵進更多資料量後補上 </a:t>
            </a:r>
            <a:r>
              <a:rPr lang="en-US" altLang="zh-TW" sz="1600" dirty="0"/>
              <a:t>greedy self-speculative decoding </a:t>
            </a:r>
            <a:r>
              <a:rPr lang="zh-TW" altLang="en-US" sz="1600" dirty="0"/>
              <a:t>的實際 </a:t>
            </a:r>
            <a:r>
              <a:rPr lang="en-US" altLang="zh-TW" sz="1600" dirty="0"/>
              <a:t>speed-up </a:t>
            </a:r>
            <a:r>
              <a:rPr lang="zh-TW" altLang="en-US" sz="1600" dirty="0"/>
              <a:t>與 </a:t>
            </a:r>
            <a:r>
              <a:rPr lang="en-US" altLang="zh-TW" sz="1600" dirty="0"/>
              <a:t>oracle speed test </a:t>
            </a:r>
            <a:r>
              <a:rPr lang="zh-TW" altLang="en-US" sz="1600" dirty="0"/>
              <a:t>對照。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佈景主題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佈景主題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佈景主題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578</TotalTime>
  <Words>2581</Words>
  <Application>Microsoft Office PowerPoint</Application>
  <PresentationFormat>寬螢幕</PresentationFormat>
  <Paragraphs>641</Paragraphs>
  <Slides>27</Slides>
  <Notes>27</Notes>
  <HiddenSlides>0</HiddenSlides>
  <MMClips>0</MMClips>
  <ScaleCrop>false</ScaleCrop>
  <HeadingPairs>
    <vt:vector size="6" baseType="variant">
      <vt:variant>
        <vt:lpstr>使用字型</vt:lpstr>
      </vt:variant>
      <vt:variant>
        <vt:i4>7</vt:i4>
      </vt:variant>
      <vt:variant>
        <vt:lpstr>佈景主題</vt:lpstr>
      </vt:variant>
      <vt:variant>
        <vt:i4>1</vt:i4>
      </vt:variant>
      <vt:variant>
        <vt:lpstr>投影片標題</vt:lpstr>
      </vt:variant>
      <vt:variant>
        <vt:i4>27</vt:i4>
      </vt:variant>
    </vt:vector>
  </HeadingPairs>
  <TitlesOfParts>
    <vt:vector size="35" baseType="lpstr">
      <vt:lpstr>Noto Sans CJK TC</vt:lpstr>
      <vt:lpstr>微軟正黑體</vt:lpstr>
      <vt:lpstr>Arial</vt:lpstr>
      <vt:lpstr>Calibri</vt:lpstr>
      <vt:lpstr>Calibri Light</vt:lpstr>
      <vt:lpstr>Cambria Math</vt:lpstr>
      <vt:lpstr>Wingdings</vt:lpstr>
      <vt:lpstr>Office 佈景主題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陳 九龍</dc:creator>
  <cp:lastModifiedBy>陳 九龍</cp:lastModifiedBy>
  <cp:revision>138</cp:revision>
  <dcterms:created xsi:type="dcterms:W3CDTF">2026-07-06T10:21:07Z</dcterms:created>
  <dcterms:modified xsi:type="dcterms:W3CDTF">2026-07-09T10:27:11Z</dcterms:modified>
</cp:coreProperties>
</file>