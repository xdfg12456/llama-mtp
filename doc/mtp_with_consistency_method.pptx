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8" r:id="rId3"/>
    <p:sldId id="257" r:id="rId4"/>
    <p:sldId id="259" r:id="rId5"/>
    <p:sldId id="260" r:id="rId6"/>
    <p:sldId id="261" r:id="rId7"/>
    <p:sldId id="262" r:id="rId8"/>
    <p:sldId id="263" r:id="rId9"/>
    <p:sldId id="264" r:id="rId10"/>
    <p:sldId id="265" r:id="rId11"/>
    <p:sldId id="285" r:id="rId12"/>
    <p:sldId id="286" r:id="rId13"/>
    <p:sldId id="266" r:id="rId14"/>
    <p:sldId id="267" r:id="rId15"/>
    <p:sldId id="268" r:id="rId16"/>
    <p:sldId id="281" r:id="rId17"/>
    <p:sldId id="269" r:id="rId18"/>
    <p:sldId id="284" r:id="rId19"/>
    <p:sldId id="271" r:id="rId20"/>
    <p:sldId id="272" r:id="rId21"/>
    <p:sldId id="273" r:id="rId22"/>
    <p:sldId id="274" r:id="rId23"/>
    <p:sldId id="275" r:id="rId24"/>
    <p:sldId id="276" r:id="rId25"/>
    <p:sldId id="277" r:id="rId26"/>
    <p:sldId id="278" r:id="rId27"/>
    <p:sldId id="279" r:id="rId28"/>
    <p:sldId id="280" r:id="rId29"/>
    <p:sldId id="282" r:id="rId30"/>
    <p:sldId id="283" r:id="rId3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108" d="100"/>
          <a:sy n="108" d="100"/>
        </p:scale>
        <p:origin x="76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工作表1!$B$1</c:f>
              <c:strCache>
                <c:ptCount val="1"/>
                <c:pt idx="0">
                  <c:v>Teacher latent</c:v>
                </c:pt>
              </c:strCache>
            </c:strRef>
          </c:tx>
          <c:spPr>
            <a:ln w="19050" cap="rnd">
              <a:noFill/>
              <a:round/>
            </a:ln>
            <a:effectLst/>
          </c:spPr>
          <c:marker>
            <c:symbol val="circle"/>
            <c:size val="5"/>
            <c:spPr>
              <a:solidFill>
                <a:schemeClr val="accent1"/>
              </a:solidFill>
              <a:ln w="9525">
                <a:solidFill>
                  <a:schemeClr val="accent1"/>
                </a:solidFill>
              </a:ln>
              <a:effectLst/>
            </c:spPr>
          </c:marker>
          <c:xVal>
            <c:strRef>
              <c:f>工作表1!$A$2:$A$4</c:f>
              <c:strCache>
                <c:ptCount val="2"/>
                <c:pt idx="0">
                  <c:v>0.7</c:v>
                </c:pt>
                <c:pt idx="1">
                  <c:v>0,4</c:v>
                </c:pt>
              </c:strCache>
            </c:strRef>
          </c:xVal>
          <c:yVal>
            <c:numRef>
              <c:f>工作表1!$B$2:$B$4</c:f>
              <c:numCache>
                <c:formatCode>General</c:formatCode>
                <c:ptCount val="3"/>
                <c:pt idx="0">
                  <c:v>2.7</c:v>
                </c:pt>
              </c:numCache>
            </c:numRef>
          </c:yVal>
          <c:smooth val="0"/>
          <c:extLst>
            <c:ext xmlns:c16="http://schemas.microsoft.com/office/drawing/2014/chart" uri="{C3380CC4-5D6E-409C-BE32-E72D297353CC}">
              <c16:uniqueId val="{00000000-1746-4C86-AF2C-9D1E5E7E2210}"/>
            </c:ext>
          </c:extLst>
        </c:ser>
        <c:ser>
          <c:idx val="1"/>
          <c:order val="1"/>
          <c:tx>
            <c:strRef>
              <c:f>工作表1!$C$1</c:f>
              <c:strCache>
                <c:ptCount val="1"/>
                <c:pt idx="0">
                  <c:v>Student latent</c:v>
                </c:pt>
              </c:strCache>
            </c:strRef>
          </c:tx>
          <c:spPr>
            <a:ln w="25400" cap="rnd">
              <a:noFill/>
              <a:round/>
            </a:ln>
            <a:effectLst/>
          </c:spPr>
          <c:marker>
            <c:symbol val="circle"/>
            <c:size val="5"/>
            <c:spPr>
              <a:solidFill>
                <a:schemeClr val="accent2"/>
              </a:solidFill>
              <a:ln w="9525">
                <a:solidFill>
                  <a:schemeClr val="accent2"/>
                </a:solidFill>
              </a:ln>
              <a:effectLst/>
            </c:spPr>
          </c:marker>
          <c:xVal>
            <c:strRef>
              <c:f>工作表1!$A$2:$A$4</c:f>
              <c:strCache>
                <c:ptCount val="2"/>
                <c:pt idx="0">
                  <c:v>0.7</c:v>
                </c:pt>
                <c:pt idx="1">
                  <c:v>0,4</c:v>
                </c:pt>
              </c:strCache>
            </c:strRef>
          </c:xVal>
          <c:yVal>
            <c:numRef>
              <c:f>工作表1!$C$2:$C$4</c:f>
              <c:numCache>
                <c:formatCode>General</c:formatCode>
                <c:ptCount val="3"/>
                <c:pt idx="1">
                  <c:v>3</c:v>
                </c:pt>
              </c:numCache>
            </c:numRef>
          </c:yVal>
          <c:smooth val="0"/>
          <c:extLst>
            <c:ext xmlns:c16="http://schemas.microsoft.com/office/drawing/2014/chart" uri="{C3380CC4-5D6E-409C-BE32-E72D297353CC}">
              <c16:uniqueId val="{00000001-1746-4C86-AF2C-9D1E5E7E2210}"/>
            </c:ext>
          </c:extLst>
        </c:ser>
        <c:dLbls>
          <c:showLegendKey val="0"/>
          <c:showVal val="0"/>
          <c:showCatName val="0"/>
          <c:showSerName val="0"/>
          <c:showPercent val="0"/>
          <c:showBubbleSize val="0"/>
        </c:dLbls>
        <c:axId val="716585256"/>
        <c:axId val="716586696"/>
      </c:scatterChart>
      <c:valAx>
        <c:axId val="716585256"/>
        <c:scaling>
          <c:orientation val="minMax"/>
        </c:scaling>
        <c:delete val="1"/>
        <c:axPos val="b"/>
        <c:numFmt formatCode="General" sourceLinked="1"/>
        <c:majorTickMark val="none"/>
        <c:minorTickMark val="none"/>
        <c:tickLblPos val="nextTo"/>
        <c:crossAx val="716586696"/>
        <c:crosses val="autoZero"/>
        <c:crossBetween val="midCat"/>
      </c:valAx>
      <c:valAx>
        <c:axId val="716586696"/>
        <c:scaling>
          <c:orientation val="minMax"/>
        </c:scaling>
        <c:delete val="1"/>
        <c:axPos val="l"/>
        <c:numFmt formatCode="General" sourceLinked="1"/>
        <c:majorTickMark val="none"/>
        <c:minorTickMark val="none"/>
        <c:tickLblPos val="nextTo"/>
        <c:crossAx val="71658525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79ACA5-036C-4CBB-B511-6278A555603E}" type="datetimeFigureOut">
              <a:rPr lang="zh-TW" altLang="en-US" smtClean="0"/>
              <a:t>2026/8/19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B4CFE7-FE35-48A1-A28D-BD14B3B1F5D0}" type="slidenum">
              <a:rPr lang="zh-TW" altLang="en-US" smtClean="0"/>
              <a:t>‹#›</a:t>
            </a:fld>
            <a:endParaRPr lang="zh-TW" altLang="en-US"/>
          </a:p>
        </p:txBody>
      </p:sp>
    </p:spTree>
    <p:extLst>
      <p:ext uri="{BB962C8B-B14F-4D97-AF65-F5344CB8AC3E}">
        <p14:creationId xmlns:p14="http://schemas.microsoft.com/office/powerpoint/2010/main" val="3672317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1B4CFE7-FE35-48A1-A28D-BD14B3B1F5D0}" type="slidenum">
              <a:rPr lang="zh-TW" altLang="en-US" smtClean="0"/>
              <a:t>23</a:t>
            </a:fld>
            <a:endParaRPr lang="zh-TW" altLang="en-US"/>
          </a:p>
        </p:txBody>
      </p:sp>
    </p:spTree>
    <p:extLst>
      <p:ext uri="{BB962C8B-B14F-4D97-AF65-F5344CB8AC3E}">
        <p14:creationId xmlns:p14="http://schemas.microsoft.com/office/powerpoint/2010/main" val="1042085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205453-120E-B62A-8C6E-11782EF88F2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60D732A-7FC5-4FA4-F6E5-675824B787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1440D8A-0214-9740-5454-F37CC0CD6F82}"/>
              </a:ext>
            </a:extLst>
          </p:cNvPr>
          <p:cNvSpPr>
            <a:spLocks noGrp="1"/>
          </p:cNvSpPr>
          <p:nvPr>
            <p:ph type="dt" sz="half" idx="10"/>
          </p:nvPr>
        </p:nvSpPr>
        <p:spPr/>
        <p:txBody>
          <a:bodyPr/>
          <a:lstStyle/>
          <a:p>
            <a:fld id="{B77FA20A-AED8-411F-8362-4F08F634AD13}" type="datetime1">
              <a:rPr lang="zh-TW" altLang="en-US" smtClean="0"/>
              <a:t>2026/8/19</a:t>
            </a:fld>
            <a:endParaRPr lang="zh-TW" altLang="en-US"/>
          </a:p>
        </p:txBody>
      </p:sp>
      <p:sp>
        <p:nvSpPr>
          <p:cNvPr id="5" name="頁尾版面配置區 4">
            <a:extLst>
              <a:ext uri="{FF2B5EF4-FFF2-40B4-BE49-F238E27FC236}">
                <a16:creationId xmlns:a16="http://schemas.microsoft.com/office/drawing/2014/main" id="{9EADA05F-4D1E-1FE8-6DA7-D7B7409AFED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12EDD09-E120-56C0-59FC-A04F55BE1FA0}"/>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3681255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7BA8EB-CFA6-9283-40FB-B48F7F56D54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39DF2B1-95CB-281D-2453-AF76011E56B7}"/>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72D0A76-3B18-05AB-DCC6-1F56AB38C57E}"/>
              </a:ext>
            </a:extLst>
          </p:cNvPr>
          <p:cNvSpPr>
            <a:spLocks noGrp="1"/>
          </p:cNvSpPr>
          <p:nvPr>
            <p:ph type="dt" sz="half" idx="10"/>
          </p:nvPr>
        </p:nvSpPr>
        <p:spPr/>
        <p:txBody>
          <a:bodyPr/>
          <a:lstStyle/>
          <a:p>
            <a:fld id="{37C2809C-5694-4ADE-A195-81F49E6CD71C}" type="datetime1">
              <a:rPr lang="zh-TW" altLang="en-US" smtClean="0"/>
              <a:t>2026/8/19</a:t>
            </a:fld>
            <a:endParaRPr lang="zh-TW" altLang="en-US"/>
          </a:p>
        </p:txBody>
      </p:sp>
      <p:sp>
        <p:nvSpPr>
          <p:cNvPr id="5" name="頁尾版面配置區 4">
            <a:extLst>
              <a:ext uri="{FF2B5EF4-FFF2-40B4-BE49-F238E27FC236}">
                <a16:creationId xmlns:a16="http://schemas.microsoft.com/office/drawing/2014/main" id="{FC3134FC-D89F-C825-D1C0-00BD62E5E03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3B40F05-6822-5C54-E755-01100611B697}"/>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168319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B08E6C-CDD2-50B8-AB5F-539F9492F79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7802F37-170D-6E59-F57D-922A074DD4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6894C0AF-3EED-7BE1-0976-C677B37E2435}"/>
              </a:ext>
            </a:extLst>
          </p:cNvPr>
          <p:cNvSpPr>
            <a:spLocks noGrp="1"/>
          </p:cNvSpPr>
          <p:nvPr>
            <p:ph type="dt" sz="half" idx="10"/>
          </p:nvPr>
        </p:nvSpPr>
        <p:spPr/>
        <p:txBody>
          <a:bodyPr/>
          <a:lstStyle/>
          <a:p>
            <a:fld id="{69DD4B31-F13D-4F82-B0AC-ED9396B0F174}" type="datetime1">
              <a:rPr lang="zh-TW" altLang="en-US" smtClean="0"/>
              <a:t>2026/8/19</a:t>
            </a:fld>
            <a:endParaRPr lang="zh-TW" altLang="en-US"/>
          </a:p>
        </p:txBody>
      </p:sp>
      <p:sp>
        <p:nvSpPr>
          <p:cNvPr id="5" name="頁尾版面配置區 4">
            <a:extLst>
              <a:ext uri="{FF2B5EF4-FFF2-40B4-BE49-F238E27FC236}">
                <a16:creationId xmlns:a16="http://schemas.microsoft.com/office/drawing/2014/main" id="{F1D1E8EE-A731-69F8-5AC5-2D07AC7489E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7A2A35A-F070-7B63-E79F-5882DD8FB3F5}"/>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437954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0C8A4C-297C-663E-25A2-6B922E6F7A5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1451EB7-0FA8-188A-2F37-387723BD144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262EEB57-1FEB-D902-CE79-9536550809E8}"/>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AF0ECC5-0145-1FAE-8D3E-E96723923D22}"/>
              </a:ext>
            </a:extLst>
          </p:cNvPr>
          <p:cNvSpPr>
            <a:spLocks noGrp="1"/>
          </p:cNvSpPr>
          <p:nvPr>
            <p:ph type="dt" sz="half" idx="10"/>
          </p:nvPr>
        </p:nvSpPr>
        <p:spPr/>
        <p:txBody>
          <a:bodyPr/>
          <a:lstStyle/>
          <a:p>
            <a:fld id="{9474DB4A-D224-408E-93AF-7640A6CD6C9E}" type="datetime1">
              <a:rPr lang="zh-TW" altLang="en-US" smtClean="0"/>
              <a:t>2026/8/19</a:t>
            </a:fld>
            <a:endParaRPr lang="zh-TW" altLang="en-US"/>
          </a:p>
        </p:txBody>
      </p:sp>
      <p:sp>
        <p:nvSpPr>
          <p:cNvPr id="6" name="頁尾版面配置區 5">
            <a:extLst>
              <a:ext uri="{FF2B5EF4-FFF2-40B4-BE49-F238E27FC236}">
                <a16:creationId xmlns:a16="http://schemas.microsoft.com/office/drawing/2014/main" id="{2DF4FD0B-3958-F349-BDDB-D024614D167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EF2A39D-DF82-3DFB-0799-3EC341907B6F}"/>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226172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BF1739-DCE6-04DE-03F4-9E8AFF235D43}"/>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400BE40-1D76-849D-C8F3-7CD164AA6C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C163CB68-42DC-14AC-8783-98C466DDFED0}"/>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9C448FE-3FB0-ECFD-4405-17DACDDED9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C99A6F9D-7707-929A-6FFE-AC1AB893F47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C65D084-486F-3E16-7258-B8D0DBFF19F7}"/>
              </a:ext>
            </a:extLst>
          </p:cNvPr>
          <p:cNvSpPr>
            <a:spLocks noGrp="1"/>
          </p:cNvSpPr>
          <p:nvPr>
            <p:ph type="dt" sz="half" idx="10"/>
          </p:nvPr>
        </p:nvSpPr>
        <p:spPr/>
        <p:txBody>
          <a:bodyPr/>
          <a:lstStyle/>
          <a:p>
            <a:fld id="{0648B68F-C8CE-4182-AD4D-6A41CE773149}" type="datetime1">
              <a:rPr lang="zh-TW" altLang="en-US" smtClean="0"/>
              <a:t>2026/8/19</a:t>
            </a:fld>
            <a:endParaRPr lang="zh-TW" altLang="en-US"/>
          </a:p>
        </p:txBody>
      </p:sp>
      <p:sp>
        <p:nvSpPr>
          <p:cNvPr id="8" name="頁尾版面配置區 7">
            <a:extLst>
              <a:ext uri="{FF2B5EF4-FFF2-40B4-BE49-F238E27FC236}">
                <a16:creationId xmlns:a16="http://schemas.microsoft.com/office/drawing/2014/main" id="{15810BC7-D2EF-14D8-543F-C1DC820C8D15}"/>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2CC8F4-6BDC-3EBA-A67E-B5BF9AB90ACB}"/>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2946981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475704-81B1-D898-E07C-3E4C2A57D9BB}"/>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09E9AAF1-96AB-606B-28A1-847554BBB4AF}"/>
              </a:ext>
            </a:extLst>
          </p:cNvPr>
          <p:cNvSpPr>
            <a:spLocks noGrp="1"/>
          </p:cNvSpPr>
          <p:nvPr>
            <p:ph type="dt" sz="half" idx="10"/>
          </p:nvPr>
        </p:nvSpPr>
        <p:spPr/>
        <p:txBody>
          <a:bodyPr/>
          <a:lstStyle/>
          <a:p>
            <a:fld id="{3C61DB16-EF1C-4119-8174-C5B39ACBC5EC}" type="datetime1">
              <a:rPr lang="zh-TW" altLang="en-US" smtClean="0"/>
              <a:t>2026/8/19</a:t>
            </a:fld>
            <a:endParaRPr lang="zh-TW" altLang="en-US"/>
          </a:p>
        </p:txBody>
      </p:sp>
      <p:sp>
        <p:nvSpPr>
          <p:cNvPr id="4" name="頁尾版面配置區 3">
            <a:extLst>
              <a:ext uri="{FF2B5EF4-FFF2-40B4-BE49-F238E27FC236}">
                <a16:creationId xmlns:a16="http://schemas.microsoft.com/office/drawing/2014/main" id="{DC126988-D822-CD82-7BD0-28A26CF01D75}"/>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4144CF17-3FA3-CC9C-D9DA-2C3D20757ADC}"/>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2358077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FFEC46EB-ED34-F0B4-3D53-5F1E92F33AB3}"/>
              </a:ext>
            </a:extLst>
          </p:cNvPr>
          <p:cNvSpPr>
            <a:spLocks noGrp="1"/>
          </p:cNvSpPr>
          <p:nvPr>
            <p:ph type="dt" sz="half" idx="10"/>
          </p:nvPr>
        </p:nvSpPr>
        <p:spPr/>
        <p:txBody>
          <a:bodyPr/>
          <a:lstStyle/>
          <a:p>
            <a:fld id="{3550C75B-D794-4B33-9008-BE85F7E8298A}" type="datetime1">
              <a:rPr lang="zh-TW" altLang="en-US" smtClean="0"/>
              <a:t>2026/8/19</a:t>
            </a:fld>
            <a:endParaRPr lang="zh-TW" altLang="en-US"/>
          </a:p>
        </p:txBody>
      </p:sp>
      <p:sp>
        <p:nvSpPr>
          <p:cNvPr id="3" name="頁尾版面配置區 2">
            <a:extLst>
              <a:ext uri="{FF2B5EF4-FFF2-40B4-BE49-F238E27FC236}">
                <a16:creationId xmlns:a16="http://schemas.microsoft.com/office/drawing/2014/main" id="{6158791E-E2DF-6728-78E5-30C5B826DAE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86656C5C-3CD6-8DCF-F1B8-977376D6D726}"/>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3398580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EC0274-A733-4F03-88B5-2F0B94CAA99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943E46C-ADBA-D61C-44B7-10586550FD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C308E044-261E-C39E-67FB-2841876B3A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B76DBDA-E524-1A1B-FD84-F6E55A44165E}"/>
              </a:ext>
            </a:extLst>
          </p:cNvPr>
          <p:cNvSpPr>
            <a:spLocks noGrp="1"/>
          </p:cNvSpPr>
          <p:nvPr>
            <p:ph type="dt" sz="half" idx="10"/>
          </p:nvPr>
        </p:nvSpPr>
        <p:spPr/>
        <p:txBody>
          <a:bodyPr/>
          <a:lstStyle/>
          <a:p>
            <a:fld id="{DDDD30AD-8DDE-43B1-992C-B21FDC46B221}" type="datetime1">
              <a:rPr lang="zh-TW" altLang="en-US" smtClean="0"/>
              <a:t>2026/8/19</a:t>
            </a:fld>
            <a:endParaRPr lang="zh-TW" altLang="en-US"/>
          </a:p>
        </p:txBody>
      </p:sp>
      <p:sp>
        <p:nvSpPr>
          <p:cNvPr id="6" name="頁尾版面配置區 5">
            <a:extLst>
              <a:ext uri="{FF2B5EF4-FFF2-40B4-BE49-F238E27FC236}">
                <a16:creationId xmlns:a16="http://schemas.microsoft.com/office/drawing/2014/main" id="{9D000D65-7526-E9ED-0C49-FBC8EBCFC01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F3DCB23-5B42-78B8-7FC4-0A4BAD40EECA}"/>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1970118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4F41FB-60B1-FF7B-3F2D-2C95D86A0BC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BBC5D3E-43F5-B137-6E48-D433DF65C7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C2FD2C3-A8DC-D6FE-C3BC-8F57B498A6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636DCFD-C092-B900-CC7D-010F369014A9}"/>
              </a:ext>
            </a:extLst>
          </p:cNvPr>
          <p:cNvSpPr>
            <a:spLocks noGrp="1"/>
          </p:cNvSpPr>
          <p:nvPr>
            <p:ph type="dt" sz="half" idx="10"/>
          </p:nvPr>
        </p:nvSpPr>
        <p:spPr/>
        <p:txBody>
          <a:bodyPr/>
          <a:lstStyle/>
          <a:p>
            <a:fld id="{DFCDA636-6424-4643-98FF-F3C5490949A2}" type="datetime1">
              <a:rPr lang="zh-TW" altLang="en-US" smtClean="0"/>
              <a:t>2026/8/19</a:t>
            </a:fld>
            <a:endParaRPr lang="zh-TW" altLang="en-US"/>
          </a:p>
        </p:txBody>
      </p:sp>
      <p:sp>
        <p:nvSpPr>
          <p:cNvPr id="6" name="頁尾版面配置區 5">
            <a:extLst>
              <a:ext uri="{FF2B5EF4-FFF2-40B4-BE49-F238E27FC236}">
                <a16:creationId xmlns:a16="http://schemas.microsoft.com/office/drawing/2014/main" id="{1CA433C7-4C32-5AE7-2FD7-086AF14944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7AC1295-3F40-451F-DE2D-ADFB2C1DCBF6}"/>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51294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F9A010-4E6F-471C-B88B-34C572CE8D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995280E-C968-B697-9D10-E8EEEC00A95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01000EE-B34F-184E-AA3C-964E374D7B74}"/>
              </a:ext>
            </a:extLst>
          </p:cNvPr>
          <p:cNvSpPr>
            <a:spLocks noGrp="1"/>
          </p:cNvSpPr>
          <p:nvPr>
            <p:ph type="dt" sz="half" idx="10"/>
          </p:nvPr>
        </p:nvSpPr>
        <p:spPr/>
        <p:txBody>
          <a:bodyPr/>
          <a:lstStyle/>
          <a:p>
            <a:fld id="{1868CC40-9425-4E64-AAA4-82535E935151}" type="datetime1">
              <a:rPr lang="zh-TW" altLang="en-US" smtClean="0"/>
              <a:t>2026/8/19</a:t>
            </a:fld>
            <a:endParaRPr lang="zh-TW" altLang="en-US"/>
          </a:p>
        </p:txBody>
      </p:sp>
      <p:sp>
        <p:nvSpPr>
          <p:cNvPr id="5" name="頁尾版面配置區 4">
            <a:extLst>
              <a:ext uri="{FF2B5EF4-FFF2-40B4-BE49-F238E27FC236}">
                <a16:creationId xmlns:a16="http://schemas.microsoft.com/office/drawing/2014/main" id="{2743F59D-669C-1C7D-2D08-43D7889049E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6126CFC-8141-AA80-9141-682DD46183E4}"/>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169980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2EC0529-D926-D85E-6FF6-3F1B93D8541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F0DD41D-077F-C79A-C568-5F90D047AF4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2D2EC17-29C3-54CD-F141-327AF30D7943}"/>
              </a:ext>
            </a:extLst>
          </p:cNvPr>
          <p:cNvSpPr>
            <a:spLocks noGrp="1"/>
          </p:cNvSpPr>
          <p:nvPr>
            <p:ph type="dt" sz="half" idx="10"/>
          </p:nvPr>
        </p:nvSpPr>
        <p:spPr/>
        <p:txBody>
          <a:bodyPr/>
          <a:lstStyle/>
          <a:p>
            <a:fld id="{6E8EA640-B2FF-4BA9-9C86-A049658D2DA6}" type="datetime1">
              <a:rPr lang="zh-TW" altLang="en-US" smtClean="0"/>
              <a:t>2026/8/19</a:t>
            </a:fld>
            <a:endParaRPr lang="zh-TW" altLang="en-US"/>
          </a:p>
        </p:txBody>
      </p:sp>
      <p:sp>
        <p:nvSpPr>
          <p:cNvPr id="5" name="頁尾版面配置區 4">
            <a:extLst>
              <a:ext uri="{FF2B5EF4-FFF2-40B4-BE49-F238E27FC236}">
                <a16:creationId xmlns:a16="http://schemas.microsoft.com/office/drawing/2014/main" id="{C274C610-41D1-A62B-59D0-0B9379E609B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EB3784E-A85C-505B-801D-29935939D8E9}"/>
              </a:ext>
            </a:extLst>
          </p:cNvPr>
          <p:cNvSpPr>
            <a:spLocks noGrp="1"/>
          </p:cNvSpPr>
          <p:nvPr>
            <p:ph type="sldNum" sz="quarter" idx="12"/>
          </p:nvPr>
        </p:nvSpPr>
        <p:spPr/>
        <p:txBody>
          <a:body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1920239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B1F9BC2-85A4-58B6-D8E2-F7FDE28F37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B552726-F39D-3021-153C-1171BBC5C3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D67C3B-AF1F-8DD9-F07B-29A728E8A6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203A9E-DDF2-4F1E-94E6-D0F53021B384}" type="datetime1">
              <a:rPr lang="zh-TW" altLang="en-US" smtClean="0"/>
              <a:t>2026/8/19</a:t>
            </a:fld>
            <a:endParaRPr lang="zh-TW" altLang="en-US"/>
          </a:p>
        </p:txBody>
      </p:sp>
      <p:sp>
        <p:nvSpPr>
          <p:cNvPr id="5" name="頁尾版面配置區 4">
            <a:extLst>
              <a:ext uri="{FF2B5EF4-FFF2-40B4-BE49-F238E27FC236}">
                <a16:creationId xmlns:a16="http://schemas.microsoft.com/office/drawing/2014/main" id="{F97736DA-E4D6-9610-0FD3-8EF028CCA0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51E0767-E991-77C6-0DD1-F9ABCEB159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8399F2-4B7C-4808-8B27-A13C76E6A9FD}" type="slidenum">
              <a:rPr lang="zh-TW" altLang="en-US" smtClean="0"/>
              <a:t>‹#›</a:t>
            </a:fld>
            <a:endParaRPr lang="zh-TW" altLang="en-US"/>
          </a:p>
        </p:txBody>
      </p:sp>
    </p:spTree>
    <p:extLst>
      <p:ext uri="{BB962C8B-B14F-4D97-AF65-F5344CB8AC3E}">
        <p14:creationId xmlns:p14="http://schemas.microsoft.com/office/powerpoint/2010/main" val="1778183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9CFAC8C9-7590-0200-DCFE-3DFA301CFCBA}"/>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6" name="Shape 4">
            <a:extLst>
              <a:ext uri="{FF2B5EF4-FFF2-40B4-BE49-F238E27FC236}">
                <a16:creationId xmlns:a16="http://schemas.microsoft.com/office/drawing/2014/main" id="{67265BD0-73DF-9CEB-5699-353C3412408D}"/>
              </a:ext>
            </a:extLst>
          </p:cNvPr>
          <p:cNvSpPr/>
          <p:nvPr/>
        </p:nvSpPr>
        <p:spPr>
          <a:xfrm>
            <a:off x="0" y="1544715"/>
            <a:ext cx="12191695" cy="1289925"/>
          </a:xfrm>
          <a:prstGeom prst="rect">
            <a:avLst/>
          </a:prstGeom>
          <a:solidFill>
            <a:srgbClr val="5B839B"/>
          </a:solidFill>
          <a:ln w="12700">
            <a:solidFill>
              <a:srgbClr val="5B839B"/>
            </a:solidFill>
            <a:prstDash val="solid"/>
          </a:ln>
        </p:spPr>
        <p:txBody>
          <a:bodyPr/>
          <a:lstStyle/>
          <a:p>
            <a:endParaRPr lang="zh-TW" altLang="en-US"/>
          </a:p>
        </p:txBody>
      </p:sp>
      <p:sp>
        <p:nvSpPr>
          <p:cNvPr id="7" name="Text 5">
            <a:extLst>
              <a:ext uri="{FF2B5EF4-FFF2-40B4-BE49-F238E27FC236}">
                <a16:creationId xmlns:a16="http://schemas.microsoft.com/office/drawing/2014/main" id="{ECE6E196-A03F-AD9B-8D03-CF735C90E220}"/>
              </a:ext>
            </a:extLst>
          </p:cNvPr>
          <p:cNvSpPr/>
          <p:nvPr/>
        </p:nvSpPr>
        <p:spPr>
          <a:xfrm>
            <a:off x="722376" y="1759910"/>
            <a:ext cx="10744200" cy="256032"/>
          </a:xfrm>
          <a:prstGeom prst="rect">
            <a:avLst/>
          </a:prstGeom>
          <a:noFill/>
          <a:ln/>
        </p:spPr>
        <p:txBody>
          <a:bodyPr wrap="square" lIns="0" tIns="0" rIns="0" bIns="0" rtlCol="0" anchor="ctr"/>
          <a:lstStyle/>
          <a:p>
            <a:pPr marL="0" indent="0" algn="ctr">
              <a:buNone/>
            </a:pPr>
            <a:r>
              <a:rPr lang="en-US" sz="2000" b="1" dirty="0">
                <a:solidFill>
                  <a:srgbClr val="FFFFFF"/>
                </a:solidFill>
                <a:latin typeface="微軟正黑體" panose="020B0604030504040204" pitchFamily="34" charset="-120"/>
                <a:ea typeface="微軟正黑體" panose="020B0604030504040204" pitchFamily="34" charset="-120"/>
                <a:cs typeface="Noto Sans CJK TC" pitchFamily="34" charset="-120"/>
              </a:rPr>
              <a:t>Multi-Token Prediction with Consistency Methods</a:t>
            </a:r>
            <a:endParaRPr lang="en-US" sz="2000" dirty="0">
              <a:latin typeface="微軟正黑體" panose="020B0604030504040204" pitchFamily="34" charset="-120"/>
              <a:ea typeface="微軟正黑體" panose="020B0604030504040204" pitchFamily="34" charset="-120"/>
            </a:endParaRPr>
          </a:p>
        </p:txBody>
      </p:sp>
      <p:sp>
        <p:nvSpPr>
          <p:cNvPr id="8" name="Text 6">
            <a:extLst>
              <a:ext uri="{FF2B5EF4-FFF2-40B4-BE49-F238E27FC236}">
                <a16:creationId xmlns:a16="http://schemas.microsoft.com/office/drawing/2014/main" id="{F676DD37-D6E1-7CE9-2B4D-08F12897688D}"/>
              </a:ext>
            </a:extLst>
          </p:cNvPr>
          <p:cNvSpPr/>
          <p:nvPr/>
        </p:nvSpPr>
        <p:spPr>
          <a:xfrm>
            <a:off x="928116" y="2358841"/>
            <a:ext cx="10332720" cy="182880"/>
          </a:xfrm>
          <a:prstGeom prst="rect">
            <a:avLst/>
          </a:prstGeom>
          <a:noFill/>
          <a:ln/>
        </p:spPr>
        <p:txBody>
          <a:bodyPr wrap="square" lIns="0" tIns="0" rIns="0" bIns="0" rtlCol="0" anchor="ctr"/>
          <a:lstStyle/>
          <a:p>
            <a:pPr marL="0" indent="0" algn="ctr">
              <a:buNone/>
            </a:pPr>
            <a:r>
              <a:rPr lang="en-US" sz="1600" dirty="0">
                <a:solidFill>
                  <a:srgbClr val="FFFFFF"/>
                </a:solidFill>
                <a:latin typeface="微軟正黑體" panose="020B0604030504040204" pitchFamily="34" charset="-120"/>
                <a:ea typeface="微軟正黑體" panose="020B0604030504040204" pitchFamily="34" charset="-120"/>
                <a:cs typeface="Noto Sans CJK TC" pitchFamily="34" charset="-120"/>
              </a:rPr>
              <a:t>Selective Distribution Consistency + Latent </a:t>
            </a:r>
            <a:r>
              <a:rPr lang="en-US" sz="1600">
                <a:solidFill>
                  <a:srgbClr val="FFFFFF"/>
                </a:solidFill>
                <a:latin typeface="微軟正黑體" panose="020B0604030504040204" pitchFamily="34" charset="-120"/>
                <a:ea typeface="微軟正黑體" panose="020B0604030504040204" pitchFamily="34" charset="-120"/>
                <a:cs typeface="Noto Sans CJK TC" pitchFamily="34" charset="-120"/>
              </a:rPr>
              <a:t>Consistency Matching</a:t>
            </a:r>
            <a:endParaRPr lang="en-US" sz="1600" dirty="0">
              <a:latin typeface="微軟正黑體" panose="020B0604030504040204" pitchFamily="34" charset="-120"/>
              <a:ea typeface="微軟正黑體" panose="020B0604030504040204" pitchFamily="34" charset="-120"/>
            </a:endParaRPr>
          </a:p>
        </p:txBody>
      </p:sp>
      <p:sp>
        <p:nvSpPr>
          <p:cNvPr id="9" name="Shape 7">
            <a:extLst>
              <a:ext uri="{FF2B5EF4-FFF2-40B4-BE49-F238E27FC236}">
                <a16:creationId xmlns:a16="http://schemas.microsoft.com/office/drawing/2014/main" id="{0A0583E1-C259-C9C0-A177-42AE46BD1764}"/>
              </a:ext>
            </a:extLst>
          </p:cNvPr>
          <p:cNvSpPr/>
          <p:nvPr/>
        </p:nvSpPr>
        <p:spPr>
          <a:xfrm>
            <a:off x="4334256" y="3703319"/>
            <a:ext cx="3520440" cy="868679"/>
          </a:xfrm>
          <a:prstGeom prst="rect">
            <a:avLst/>
          </a:prstGeom>
          <a:solidFill>
            <a:srgbClr val="5B839B"/>
          </a:solidFill>
          <a:ln w="12700">
            <a:solidFill>
              <a:srgbClr val="5B839B"/>
            </a:solidFill>
            <a:prstDash val="solid"/>
          </a:ln>
        </p:spPr>
        <p:txBody>
          <a:bodyPr/>
          <a:lstStyle/>
          <a:p>
            <a:endParaRPr lang="zh-TW" altLang="en-US"/>
          </a:p>
        </p:txBody>
      </p:sp>
      <p:sp>
        <p:nvSpPr>
          <p:cNvPr id="10" name="Text 8">
            <a:extLst>
              <a:ext uri="{FF2B5EF4-FFF2-40B4-BE49-F238E27FC236}">
                <a16:creationId xmlns:a16="http://schemas.microsoft.com/office/drawing/2014/main" id="{88BB2ADE-B693-01EA-8BB3-C589692A379E}"/>
              </a:ext>
            </a:extLst>
          </p:cNvPr>
          <p:cNvSpPr/>
          <p:nvPr/>
        </p:nvSpPr>
        <p:spPr>
          <a:xfrm>
            <a:off x="4334256" y="3703318"/>
            <a:ext cx="3520440" cy="868680"/>
          </a:xfrm>
          <a:prstGeom prst="rect">
            <a:avLst/>
          </a:prstGeom>
          <a:noFill/>
          <a:ln/>
        </p:spPr>
        <p:txBody>
          <a:bodyPr wrap="square" lIns="0" tIns="0" rIns="0" bIns="0" rtlCol="0" anchor="ctr"/>
          <a:lstStyle/>
          <a:p>
            <a:pPr marL="0" indent="0" algn="ctr">
              <a:buNone/>
            </a:pPr>
            <a:r>
              <a:rPr lang="en-US" dirty="0">
                <a:solidFill>
                  <a:srgbClr val="FFFFFF"/>
                </a:solidFill>
                <a:latin typeface="微軟正黑體" panose="020B0604030504040204" pitchFamily="34" charset="-120"/>
                <a:ea typeface="微軟正黑體" panose="020B0604030504040204" pitchFamily="34" charset="-120"/>
                <a:cs typeface="Noto Sans CJK TC" pitchFamily="34" charset="-120"/>
              </a:rPr>
              <a:t>Presenter</a:t>
            </a:r>
            <a:r>
              <a:rPr lang="en-US" altLang="zh-TW" dirty="0">
                <a:solidFill>
                  <a:srgbClr val="FFFFFF"/>
                </a:solidFill>
                <a:latin typeface="微軟正黑體" panose="020B0604030504040204" pitchFamily="34" charset="-120"/>
                <a:ea typeface="微軟正黑體" panose="020B0604030504040204" pitchFamily="34" charset="-120"/>
                <a:cs typeface="Noto Sans CJK TC" pitchFamily="34" charset="-120"/>
              </a:rPr>
              <a:t>:</a:t>
            </a:r>
            <a:r>
              <a:rPr lang="zh-TW" altLang="en-US" dirty="0">
                <a:solidFill>
                  <a:srgbClr val="FFFFFF"/>
                </a:solidFill>
                <a:latin typeface="微軟正黑體" panose="020B0604030504040204" pitchFamily="34" charset="-120"/>
                <a:ea typeface="微軟正黑體" panose="020B0604030504040204" pitchFamily="34" charset="-120"/>
                <a:cs typeface="Noto Sans CJK TC" pitchFamily="34" charset="-120"/>
              </a:rPr>
              <a:t> 陳九龍</a:t>
            </a:r>
            <a:endParaRPr lang="en-US" dirty="0">
              <a:latin typeface="微軟正黑體" panose="020B0604030504040204" pitchFamily="34" charset="-120"/>
              <a:ea typeface="微軟正黑體" panose="020B0604030504040204" pitchFamily="34" charset="-120"/>
            </a:endParaRPr>
          </a:p>
        </p:txBody>
      </p:sp>
      <p:sp>
        <p:nvSpPr>
          <p:cNvPr id="11" name="投影片編號版面配置區 10">
            <a:extLst>
              <a:ext uri="{FF2B5EF4-FFF2-40B4-BE49-F238E27FC236}">
                <a16:creationId xmlns:a16="http://schemas.microsoft.com/office/drawing/2014/main" id="{11F3EFDC-DE25-6FD7-C144-F88D3692E269}"/>
              </a:ext>
            </a:extLst>
          </p:cNvPr>
          <p:cNvSpPr>
            <a:spLocks noGrp="1"/>
          </p:cNvSpPr>
          <p:nvPr>
            <p:ph type="sldNum" sz="quarter" idx="12"/>
          </p:nvPr>
        </p:nvSpPr>
        <p:spPr>
          <a:xfrm>
            <a:off x="9448800" y="6611112"/>
            <a:ext cx="2743200" cy="246888"/>
          </a:xfrm>
        </p:spPr>
        <p:txBody>
          <a:bodyPr/>
          <a:lstStyle/>
          <a:p>
            <a:fld id="{A98399F2-4B7C-4808-8B27-A13C76E6A9FD}" type="slidenum">
              <a:rPr lang="zh-TW" altLang="en-US" smtClean="0">
                <a:solidFill>
                  <a:schemeClr val="bg1"/>
                </a:solidFill>
              </a:rPr>
              <a:t>1</a:t>
            </a:fld>
            <a:endParaRPr lang="zh-TW" altLang="en-US" dirty="0">
              <a:solidFill>
                <a:schemeClr val="bg1"/>
              </a:solidFill>
            </a:endParaRPr>
          </a:p>
        </p:txBody>
      </p:sp>
    </p:spTree>
    <p:extLst>
      <p:ext uri="{BB962C8B-B14F-4D97-AF65-F5344CB8AC3E}">
        <p14:creationId xmlns:p14="http://schemas.microsoft.com/office/powerpoint/2010/main" val="3651314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2329A6FC-C1A7-775E-A743-27DDEBC52046}"/>
              </a:ext>
            </a:extLst>
          </p:cNvPr>
          <p:cNvSpPr/>
          <p:nvPr/>
        </p:nvSpPr>
        <p:spPr>
          <a:xfrm>
            <a:off x="-1" y="6642171"/>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16074C62-AEEB-9427-7079-E732850B5AC4}"/>
              </a:ext>
            </a:extLst>
          </p:cNvPr>
          <p:cNvSpPr>
            <a:spLocks noGrp="1"/>
          </p:cNvSpPr>
          <p:nvPr>
            <p:ph type="sldNum" sz="quarter" idx="12"/>
          </p:nvPr>
        </p:nvSpPr>
        <p:spPr>
          <a:xfrm>
            <a:off x="9448800" y="6642171"/>
            <a:ext cx="2743200" cy="246888"/>
          </a:xfrm>
        </p:spPr>
        <p:txBody>
          <a:bodyPr/>
          <a:lstStyle/>
          <a:p>
            <a:fld id="{A98399F2-4B7C-4808-8B27-A13C76E6A9FD}" type="slidenum">
              <a:rPr lang="zh-TW" altLang="en-US" smtClean="0">
                <a:solidFill>
                  <a:schemeClr val="bg1"/>
                </a:solidFill>
                <a:latin typeface="微軟正黑體" panose="020B0604030504040204" pitchFamily="34" charset="-120"/>
                <a:ea typeface="微軟正黑體" panose="020B0604030504040204" pitchFamily="34" charset="-120"/>
              </a:rPr>
              <a:t>2</a:t>
            </a:fld>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7" name="Shape 2">
            <a:extLst>
              <a:ext uri="{FF2B5EF4-FFF2-40B4-BE49-F238E27FC236}">
                <a16:creationId xmlns:a16="http://schemas.microsoft.com/office/drawing/2014/main" id="{E72C0951-7906-ABE6-C805-821600186804}"/>
              </a:ext>
            </a:extLst>
          </p:cNvPr>
          <p:cNvSpPr/>
          <p:nvPr/>
        </p:nvSpPr>
        <p:spPr>
          <a:xfrm>
            <a:off x="-1" y="320040"/>
            <a:ext cx="12192001" cy="411480"/>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71FEBC55-E661-59C0-AEE4-3A2F99FA2D10}"/>
              </a:ext>
            </a:extLst>
          </p:cNvPr>
          <p:cNvSpPr/>
          <p:nvPr/>
        </p:nvSpPr>
        <p:spPr>
          <a:xfrm>
            <a:off x="320040" y="411480"/>
            <a:ext cx="11291952" cy="246888"/>
          </a:xfrm>
          <a:prstGeom prst="rect">
            <a:avLst/>
          </a:prstGeom>
          <a:noFill/>
          <a:ln/>
        </p:spPr>
        <p:txBody>
          <a:bodyPr wrap="square" lIns="0" tIns="0" rIns="0" bIns="0" rtlCol="0" anchor="ctr"/>
          <a:lstStyle/>
          <a:p>
            <a:pPr marL="0" indent="0">
              <a:buNone/>
            </a:pPr>
            <a:r>
              <a:rPr lang="en-US" sz="1600" b="1" dirty="0">
                <a:solidFill>
                  <a:srgbClr val="FFFFFF"/>
                </a:solidFill>
                <a:latin typeface="微軟正黑體" panose="020B0604030504040204" pitchFamily="34" charset="-120"/>
                <a:ea typeface="微軟正黑體" panose="020B0604030504040204" pitchFamily="34" charset="-120"/>
                <a:cs typeface="Noto Sans CJK TC" pitchFamily="34" charset="-120"/>
              </a:rPr>
              <a:t>CONTENTS</a:t>
            </a:r>
            <a:endParaRPr lang="en-US" sz="1600" dirty="0">
              <a:latin typeface="微軟正黑體" panose="020B0604030504040204" pitchFamily="34" charset="-120"/>
              <a:ea typeface="微軟正黑體" panose="020B0604030504040204" pitchFamily="34" charset="-120"/>
            </a:endParaRPr>
          </a:p>
        </p:txBody>
      </p:sp>
      <p:grpSp>
        <p:nvGrpSpPr>
          <p:cNvPr id="9" name="群組 8">
            <a:extLst>
              <a:ext uri="{FF2B5EF4-FFF2-40B4-BE49-F238E27FC236}">
                <a16:creationId xmlns:a16="http://schemas.microsoft.com/office/drawing/2014/main" id="{077846D7-6381-1407-8F0F-8609E64624B3}"/>
              </a:ext>
            </a:extLst>
          </p:cNvPr>
          <p:cNvGrpSpPr/>
          <p:nvPr/>
        </p:nvGrpSpPr>
        <p:grpSpPr>
          <a:xfrm>
            <a:off x="1097280" y="1397367"/>
            <a:ext cx="2910543" cy="720000"/>
            <a:chOff x="1097280" y="1397367"/>
            <a:chExt cx="2910543" cy="720000"/>
          </a:xfrm>
        </p:grpSpPr>
        <p:sp>
          <p:nvSpPr>
            <p:cNvPr id="10" name="Text 4">
              <a:extLst>
                <a:ext uri="{FF2B5EF4-FFF2-40B4-BE49-F238E27FC236}">
                  <a16:creationId xmlns:a16="http://schemas.microsoft.com/office/drawing/2014/main" id="{2C29625E-714D-E4BB-E545-EEC2DE82C16B}"/>
                </a:ext>
              </a:extLst>
            </p:cNvPr>
            <p:cNvSpPr/>
            <p:nvPr/>
          </p:nvSpPr>
          <p:spPr>
            <a:xfrm>
              <a:off x="1097280" y="1397367"/>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01</a:t>
              </a:r>
              <a:endParaRPr lang="en-US" sz="1400" dirty="0">
                <a:latin typeface="微軟正黑體" panose="020B0604030504040204" pitchFamily="34" charset="-120"/>
                <a:ea typeface="微軟正黑體" panose="020B0604030504040204" pitchFamily="34" charset="-120"/>
              </a:endParaRPr>
            </a:p>
          </p:txBody>
        </p:sp>
        <p:grpSp>
          <p:nvGrpSpPr>
            <p:cNvPr id="11" name="群組 10">
              <a:extLst>
                <a:ext uri="{FF2B5EF4-FFF2-40B4-BE49-F238E27FC236}">
                  <a16:creationId xmlns:a16="http://schemas.microsoft.com/office/drawing/2014/main" id="{431787C7-CA81-1006-4925-B56BE9618C47}"/>
                </a:ext>
              </a:extLst>
            </p:cNvPr>
            <p:cNvGrpSpPr/>
            <p:nvPr/>
          </p:nvGrpSpPr>
          <p:grpSpPr>
            <a:xfrm>
              <a:off x="1996143" y="1577340"/>
              <a:ext cx="2011680" cy="338328"/>
              <a:chOff x="1783080" y="1572768"/>
              <a:chExt cx="2011680" cy="338328"/>
            </a:xfrm>
          </p:grpSpPr>
          <p:sp>
            <p:nvSpPr>
              <p:cNvPr id="12" name="Text 5">
                <a:extLst>
                  <a:ext uri="{FF2B5EF4-FFF2-40B4-BE49-F238E27FC236}">
                    <a16:creationId xmlns:a16="http://schemas.microsoft.com/office/drawing/2014/main" id="{D212872F-958B-0EEF-0610-236C9EACE7D6}"/>
                  </a:ext>
                </a:extLst>
              </p:cNvPr>
              <p:cNvSpPr/>
              <p:nvPr/>
            </p:nvSpPr>
            <p:spPr>
              <a:xfrm>
                <a:off x="1783080" y="1572768"/>
                <a:ext cx="2011680" cy="182880"/>
              </a:xfrm>
              <a:prstGeom prst="rect">
                <a:avLst/>
              </a:prstGeom>
              <a:noFill/>
              <a:ln/>
            </p:spPr>
            <p:txBody>
              <a:bodyPr wrap="square" lIns="0" tIns="0" rIns="0" bIns="0" rtlCol="0" anchor="ctr"/>
              <a:lstStyle/>
              <a:p>
                <a:pPr marL="0" indent="0">
                  <a:buNone/>
                </a:pPr>
                <a:r>
                  <a:rPr lang="en-US" sz="1600" b="1" dirty="0">
                    <a:solidFill>
                      <a:srgbClr val="1B2E3A"/>
                    </a:solidFill>
                    <a:latin typeface="微軟正黑體" panose="020B0604030504040204" pitchFamily="34" charset="-120"/>
                    <a:ea typeface="微軟正黑體" panose="020B0604030504040204" pitchFamily="34" charset="-120"/>
                    <a:cs typeface="Noto Sans CJK TC" pitchFamily="34" charset="-120"/>
                  </a:rPr>
                  <a:t>Introduction</a:t>
                </a:r>
                <a:endParaRPr lang="en-US" sz="1600" dirty="0">
                  <a:latin typeface="微軟正黑體" panose="020B0604030504040204" pitchFamily="34" charset="-120"/>
                  <a:ea typeface="微軟正黑體" panose="020B0604030504040204" pitchFamily="34" charset="-120"/>
                </a:endParaRPr>
              </a:p>
            </p:txBody>
          </p:sp>
          <p:sp>
            <p:nvSpPr>
              <p:cNvPr id="13" name="Text 6">
                <a:extLst>
                  <a:ext uri="{FF2B5EF4-FFF2-40B4-BE49-F238E27FC236}">
                    <a16:creationId xmlns:a16="http://schemas.microsoft.com/office/drawing/2014/main" id="{0015DCED-0E7A-12AA-213D-5E8323B5CAC9}"/>
                  </a:ext>
                </a:extLst>
              </p:cNvPr>
              <p:cNvSpPr/>
              <p:nvPr/>
            </p:nvSpPr>
            <p:spPr>
              <a:xfrm>
                <a:off x="1783080" y="1783080"/>
                <a:ext cx="2011680" cy="128016"/>
              </a:xfrm>
              <a:prstGeom prst="rect">
                <a:avLst/>
              </a:prstGeom>
              <a:noFill/>
              <a:ln/>
            </p:spPr>
            <p:txBody>
              <a:bodyPr wrap="square" lIns="0" tIns="0" rIns="0" bIns="0" rtlCol="0" anchor="ctr"/>
              <a:lstStyle/>
              <a:p>
                <a:pPr marL="0" indent="0">
                  <a:buNone/>
                </a:pPr>
                <a:r>
                  <a:rPr lang="en-US" sz="1400" dirty="0">
                    <a:solidFill>
                      <a:srgbClr val="60707A"/>
                    </a:solidFill>
                    <a:latin typeface="微軟正黑體" panose="020B0604030504040204" pitchFamily="34" charset="-120"/>
                    <a:ea typeface="微軟正黑體" panose="020B0604030504040204" pitchFamily="34" charset="-120"/>
                    <a:cs typeface="Noto Sans CJK TC" pitchFamily="34" charset="-120"/>
                  </a:rPr>
                  <a:t>Pages 4–7</a:t>
                </a:r>
                <a:endParaRPr lang="en-US" sz="1400" dirty="0">
                  <a:latin typeface="微軟正黑體" panose="020B0604030504040204" pitchFamily="34" charset="-120"/>
                  <a:ea typeface="微軟正黑體" panose="020B0604030504040204" pitchFamily="34" charset="-120"/>
                </a:endParaRPr>
              </a:p>
            </p:txBody>
          </p:sp>
        </p:grpSp>
      </p:grpSp>
      <p:grpSp>
        <p:nvGrpSpPr>
          <p:cNvPr id="14" name="群組 13">
            <a:extLst>
              <a:ext uri="{FF2B5EF4-FFF2-40B4-BE49-F238E27FC236}">
                <a16:creationId xmlns:a16="http://schemas.microsoft.com/office/drawing/2014/main" id="{8ED14A1A-D53F-8BF7-E955-187437DE2540}"/>
              </a:ext>
            </a:extLst>
          </p:cNvPr>
          <p:cNvGrpSpPr/>
          <p:nvPr/>
        </p:nvGrpSpPr>
        <p:grpSpPr>
          <a:xfrm>
            <a:off x="1097280" y="3055428"/>
            <a:ext cx="3084103" cy="720000"/>
            <a:chOff x="1097280" y="3055428"/>
            <a:chExt cx="2910543" cy="720000"/>
          </a:xfrm>
        </p:grpSpPr>
        <p:sp>
          <p:nvSpPr>
            <p:cNvPr id="15" name="Text 7">
              <a:extLst>
                <a:ext uri="{FF2B5EF4-FFF2-40B4-BE49-F238E27FC236}">
                  <a16:creationId xmlns:a16="http://schemas.microsoft.com/office/drawing/2014/main" id="{C0A6E5F1-7141-BE3B-6C2C-674C30C5BC8C}"/>
                </a:ext>
              </a:extLst>
            </p:cNvPr>
            <p:cNvSpPr/>
            <p:nvPr/>
          </p:nvSpPr>
          <p:spPr>
            <a:xfrm>
              <a:off x="1097280" y="3055428"/>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02</a:t>
              </a:r>
              <a:endParaRPr lang="en-US" sz="1400" dirty="0">
                <a:latin typeface="微軟正黑體" panose="020B0604030504040204" pitchFamily="34" charset="-120"/>
                <a:ea typeface="微軟正黑體" panose="020B0604030504040204" pitchFamily="34" charset="-120"/>
              </a:endParaRPr>
            </a:p>
          </p:txBody>
        </p:sp>
        <p:grpSp>
          <p:nvGrpSpPr>
            <p:cNvPr id="16" name="群組 15">
              <a:extLst>
                <a:ext uri="{FF2B5EF4-FFF2-40B4-BE49-F238E27FC236}">
                  <a16:creationId xmlns:a16="http://schemas.microsoft.com/office/drawing/2014/main" id="{CCC1EB03-62E5-2D79-B131-8ACDF97FF41C}"/>
                </a:ext>
              </a:extLst>
            </p:cNvPr>
            <p:cNvGrpSpPr/>
            <p:nvPr/>
          </p:nvGrpSpPr>
          <p:grpSpPr>
            <a:xfrm>
              <a:off x="1996143" y="3180681"/>
              <a:ext cx="2011680" cy="338328"/>
              <a:chOff x="6995160" y="1572768"/>
              <a:chExt cx="2011680" cy="338328"/>
            </a:xfrm>
          </p:grpSpPr>
          <p:sp>
            <p:nvSpPr>
              <p:cNvPr id="17" name="Text 8">
                <a:extLst>
                  <a:ext uri="{FF2B5EF4-FFF2-40B4-BE49-F238E27FC236}">
                    <a16:creationId xmlns:a16="http://schemas.microsoft.com/office/drawing/2014/main" id="{8061B861-5832-0DE5-53B7-92BC747642D6}"/>
                  </a:ext>
                </a:extLst>
              </p:cNvPr>
              <p:cNvSpPr/>
              <p:nvPr/>
            </p:nvSpPr>
            <p:spPr>
              <a:xfrm>
                <a:off x="6995160" y="1572768"/>
                <a:ext cx="2011680" cy="182880"/>
              </a:xfrm>
              <a:prstGeom prst="rect">
                <a:avLst/>
              </a:prstGeom>
              <a:noFill/>
              <a:ln/>
            </p:spPr>
            <p:txBody>
              <a:bodyPr wrap="square" lIns="0" tIns="0" rIns="0" bIns="0" rtlCol="0" anchor="ctr"/>
              <a:lstStyle/>
              <a:p>
                <a:pPr marL="0" indent="0">
                  <a:buNone/>
                </a:pPr>
                <a:r>
                  <a:rPr lang="en-US" sz="1600" b="1" dirty="0">
                    <a:solidFill>
                      <a:srgbClr val="1B2E3A"/>
                    </a:solidFill>
                    <a:latin typeface="微軟正黑體" panose="020B0604030504040204" pitchFamily="34" charset="-120"/>
                    <a:ea typeface="微軟正黑體" panose="020B0604030504040204" pitchFamily="34" charset="-120"/>
                    <a:cs typeface="Noto Sans CJK TC" pitchFamily="34" charset="-120"/>
                  </a:rPr>
                  <a:t>Related Work</a:t>
                </a:r>
                <a:endParaRPr lang="en-US" sz="1600" dirty="0">
                  <a:latin typeface="微軟正黑體" panose="020B0604030504040204" pitchFamily="34" charset="-120"/>
                  <a:ea typeface="微軟正黑體" panose="020B0604030504040204" pitchFamily="34" charset="-120"/>
                </a:endParaRPr>
              </a:p>
            </p:txBody>
          </p:sp>
          <p:sp>
            <p:nvSpPr>
              <p:cNvPr id="18" name="Text 9">
                <a:extLst>
                  <a:ext uri="{FF2B5EF4-FFF2-40B4-BE49-F238E27FC236}">
                    <a16:creationId xmlns:a16="http://schemas.microsoft.com/office/drawing/2014/main" id="{0861138A-3B26-55EB-2D58-821001938493}"/>
                  </a:ext>
                </a:extLst>
              </p:cNvPr>
              <p:cNvSpPr/>
              <p:nvPr/>
            </p:nvSpPr>
            <p:spPr>
              <a:xfrm>
                <a:off x="6995160" y="1783080"/>
                <a:ext cx="2011680" cy="128016"/>
              </a:xfrm>
              <a:prstGeom prst="rect">
                <a:avLst/>
              </a:prstGeom>
              <a:noFill/>
              <a:ln/>
            </p:spPr>
            <p:txBody>
              <a:bodyPr wrap="square" lIns="0" tIns="0" rIns="0" bIns="0" rtlCol="0" anchor="ctr"/>
              <a:lstStyle/>
              <a:p>
                <a:r>
                  <a:rPr lang="en-US" sz="1400" dirty="0">
                    <a:solidFill>
                      <a:srgbClr val="60707A"/>
                    </a:solidFill>
                    <a:latin typeface="微軟正黑體" panose="020B0604030504040204" pitchFamily="34" charset="-120"/>
                    <a:ea typeface="微軟正黑體" panose="020B0604030504040204" pitchFamily="34" charset="-120"/>
                    <a:cs typeface="Noto Sans CJK TC" pitchFamily="34" charset="-120"/>
                  </a:rPr>
                  <a:t>Pages 9–12</a:t>
                </a:r>
                <a:endParaRPr lang="en-US" sz="1400" dirty="0">
                  <a:latin typeface="微軟正黑體" panose="020B0604030504040204" pitchFamily="34" charset="-120"/>
                  <a:ea typeface="微軟正黑體" panose="020B0604030504040204" pitchFamily="34" charset="-120"/>
                </a:endParaRPr>
              </a:p>
            </p:txBody>
          </p:sp>
        </p:grpSp>
      </p:grpSp>
      <p:grpSp>
        <p:nvGrpSpPr>
          <p:cNvPr id="19" name="群組 18">
            <a:extLst>
              <a:ext uri="{FF2B5EF4-FFF2-40B4-BE49-F238E27FC236}">
                <a16:creationId xmlns:a16="http://schemas.microsoft.com/office/drawing/2014/main" id="{F670485D-049A-B8C8-7F89-26EC12828DCA}"/>
              </a:ext>
            </a:extLst>
          </p:cNvPr>
          <p:cNvGrpSpPr/>
          <p:nvPr/>
        </p:nvGrpSpPr>
        <p:grpSpPr>
          <a:xfrm>
            <a:off x="1087737" y="4745736"/>
            <a:ext cx="2920086" cy="720000"/>
            <a:chOff x="1087737" y="4745736"/>
            <a:chExt cx="2920086" cy="720000"/>
          </a:xfrm>
        </p:grpSpPr>
        <p:sp>
          <p:nvSpPr>
            <p:cNvPr id="20" name="Text 10">
              <a:extLst>
                <a:ext uri="{FF2B5EF4-FFF2-40B4-BE49-F238E27FC236}">
                  <a16:creationId xmlns:a16="http://schemas.microsoft.com/office/drawing/2014/main" id="{E7B38074-BB04-954C-54E3-5969C1475B71}"/>
                </a:ext>
              </a:extLst>
            </p:cNvPr>
            <p:cNvSpPr/>
            <p:nvPr/>
          </p:nvSpPr>
          <p:spPr>
            <a:xfrm>
              <a:off x="1087737" y="4745736"/>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03</a:t>
              </a:r>
              <a:endParaRPr lang="en-US" sz="1400" dirty="0">
                <a:latin typeface="微軟正黑體" panose="020B0604030504040204" pitchFamily="34" charset="-120"/>
                <a:ea typeface="微軟正黑體" panose="020B0604030504040204" pitchFamily="34" charset="-120"/>
              </a:endParaRPr>
            </a:p>
          </p:txBody>
        </p:sp>
        <p:grpSp>
          <p:nvGrpSpPr>
            <p:cNvPr id="21" name="群組 20">
              <a:extLst>
                <a:ext uri="{FF2B5EF4-FFF2-40B4-BE49-F238E27FC236}">
                  <a16:creationId xmlns:a16="http://schemas.microsoft.com/office/drawing/2014/main" id="{0C95E397-2A87-A0EB-E5B5-61C07AF9CC14}"/>
                </a:ext>
              </a:extLst>
            </p:cNvPr>
            <p:cNvGrpSpPr/>
            <p:nvPr/>
          </p:nvGrpSpPr>
          <p:grpSpPr>
            <a:xfrm>
              <a:off x="1996143" y="4942332"/>
              <a:ext cx="2011680" cy="338328"/>
              <a:chOff x="1783080" y="3081528"/>
              <a:chExt cx="2011680" cy="338328"/>
            </a:xfrm>
          </p:grpSpPr>
          <p:sp>
            <p:nvSpPr>
              <p:cNvPr id="22" name="Text 11">
                <a:extLst>
                  <a:ext uri="{FF2B5EF4-FFF2-40B4-BE49-F238E27FC236}">
                    <a16:creationId xmlns:a16="http://schemas.microsoft.com/office/drawing/2014/main" id="{3A0B1129-0F08-E966-44A8-55A76AAB698D}"/>
                  </a:ext>
                </a:extLst>
              </p:cNvPr>
              <p:cNvSpPr/>
              <p:nvPr/>
            </p:nvSpPr>
            <p:spPr>
              <a:xfrm>
                <a:off x="1783080" y="3081528"/>
                <a:ext cx="2011680" cy="182880"/>
              </a:xfrm>
              <a:prstGeom prst="rect">
                <a:avLst/>
              </a:prstGeom>
              <a:noFill/>
              <a:ln/>
            </p:spPr>
            <p:txBody>
              <a:bodyPr wrap="square" lIns="0" tIns="0" rIns="0" bIns="0" rtlCol="0" anchor="ctr"/>
              <a:lstStyle/>
              <a:p>
                <a:pPr marL="0" indent="0">
                  <a:buNone/>
                </a:pPr>
                <a:r>
                  <a:rPr lang="en-US" sz="1600" b="1" dirty="0">
                    <a:solidFill>
                      <a:srgbClr val="1B2E3A"/>
                    </a:solidFill>
                    <a:latin typeface="微軟正黑體" panose="020B0604030504040204" pitchFamily="34" charset="-120"/>
                    <a:ea typeface="微軟正黑體" panose="020B0604030504040204" pitchFamily="34" charset="-120"/>
                    <a:cs typeface="Noto Sans CJK TC" pitchFamily="34" charset="-120"/>
                  </a:rPr>
                  <a:t>Proposed Method</a:t>
                </a:r>
                <a:endParaRPr lang="en-US" sz="1600" dirty="0">
                  <a:latin typeface="微軟正黑體" panose="020B0604030504040204" pitchFamily="34" charset="-120"/>
                  <a:ea typeface="微軟正黑體" panose="020B0604030504040204" pitchFamily="34" charset="-120"/>
                </a:endParaRPr>
              </a:p>
            </p:txBody>
          </p:sp>
          <p:sp>
            <p:nvSpPr>
              <p:cNvPr id="23" name="Text 12">
                <a:extLst>
                  <a:ext uri="{FF2B5EF4-FFF2-40B4-BE49-F238E27FC236}">
                    <a16:creationId xmlns:a16="http://schemas.microsoft.com/office/drawing/2014/main" id="{603FE6B0-AE64-F9AD-AB71-DA7D4965941C}"/>
                  </a:ext>
                </a:extLst>
              </p:cNvPr>
              <p:cNvSpPr/>
              <p:nvPr/>
            </p:nvSpPr>
            <p:spPr>
              <a:xfrm>
                <a:off x="1783080" y="3291840"/>
                <a:ext cx="2011680" cy="128016"/>
              </a:xfrm>
              <a:prstGeom prst="rect">
                <a:avLst/>
              </a:prstGeom>
              <a:noFill/>
              <a:ln/>
            </p:spPr>
            <p:txBody>
              <a:bodyPr wrap="square" lIns="0" tIns="0" rIns="0" bIns="0" rtlCol="0" anchor="ctr"/>
              <a:lstStyle/>
              <a:p>
                <a:pPr marL="0" indent="0">
                  <a:buNone/>
                </a:pPr>
                <a:r>
                  <a:rPr lang="en-US" sz="1400" dirty="0">
                    <a:solidFill>
                      <a:srgbClr val="60707A"/>
                    </a:solidFill>
                    <a:latin typeface="微軟正黑體" panose="020B0604030504040204" pitchFamily="34" charset="-120"/>
                    <a:ea typeface="微軟正黑體" panose="020B0604030504040204" pitchFamily="34" charset="-120"/>
                    <a:cs typeface="Noto Sans CJK TC" pitchFamily="34" charset="-120"/>
                  </a:rPr>
                  <a:t>Pages 14–16</a:t>
                </a:r>
                <a:endParaRPr lang="en-US" sz="1400" dirty="0">
                  <a:latin typeface="微軟正黑體" panose="020B0604030504040204" pitchFamily="34" charset="-120"/>
                  <a:ea typeface="微軟正黑體" panose="020B0604030504040204" pitchFamily="34" charset="-120"/>
                </a:endParaRPr>
              </a:p>
            </p:txBody>
          </p:sp>
        </p:grpSp>
      </p:grpSp>
      <p:grpSp>
        <p:nvGrpSpPr>
          <p:cNvPr id="24" name="群組 23">
            <a:extLst>
              <a:ext uri="{FF2B5EF4-FFF2-40B4-BE49-F238E27FC236}">
                <a16:creationId xmlns:a16="http://schemas.microsoft.com/office/drawing/2014/main" id="{D1A6A8B3-ECE6-74B1-B5C1-87650D0C126C}"/>
              </a:ext>
            </a:extLst>
          </p:cNvPr>
          <p:cNvGrpSpPr/>
          <p:nvPr/>
        </p:nvGrpSpPr>
        <p:grpSpPr>
          <a:xfrm>
            <a:off x="6365289" y="1429784"/>
            <a:ext cx="2916759" cy="720000"/>
            <a:chOff x="6365289" y="1540365"/>
            <a:chExt cx="2916759" cy="720000"/>
          </a:xfrm>
        </p:grpSpPr>
        <p:sp>
          <p:nvSpPr>
            <p:cNvPr id="25" name="Text 13">
              <a:extLst>
                <a:ext uri="{FF2B5EF4-FFF2-40B4-BE49-F238E27FC236}">
                  <a16:creationId xmlns:a16="http://schemas.microsoft.com/office/drawing/2014/main" id="{562A25ED-0423-9AF2-5C2E-B56C406E85B8}"/>
                </a:ext>
              </a:extLst>
            </p:cNvPr>
            <p:cNvSpPr/>
            <p:nvPr/>
          </p:nvSpPr>
          <p:spPr>
            <a:xfrm>
              <a:off x="6365289" y="1540365"/>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04</a:t>
              </a:r>
              <a:endParaRPr lang="en-US" sz="1400" dirty="0">
                <a:latin typeface="微軟正黑體" panose="020B0604030504040204" pitchFamily="34" charset="-120"/>
                <a:ea typeface="微軟正黑體" panose="020B0604030504040204" pitchFamily="34" charset="-120"/>
              </a:endParaRPr>
            </a:p>
          </p:txBody>
        </p:sp>
        <p:grpSp>
          <p:nvGrpSpPr>
            <p:cNvPr id="26" name="群組 25">
              <a:extLst>
                <a:ext uri="{FF2B5EF4-FFF2-40B4-BE49-F238E27FC236}">
                  <a16:creationId xmlns:a16="http://schemas.microsoft.com/office/drawing/2014/main" id="{A9CCE95C-CA71-89A3-5867-1E876A223C5E}"/>
                </a:ext>
              </a:extLst>
            </p:cNvPr>
            <p:cNvGrpSpPr/>
            <p:nvPr/>
          </p:nvGrpSpPr>
          <p:grpSpPr>
            <a:xfrm>
              <a:off x="7270368" y="1744951"/>
              <a:ext cx="2011680" cy="338328"/>
              <a:chOff x="6995160" y="3081528"/>
              <a:chExt cx="2011680" cy="338328"/>
            </a:xfrm>
          </p:grpSpPr>
          <p:sp>
            <p:nvSpPr>
              <p:cNvPr id="27" name="Text 14">
                <a:extLst>
                  <a:ext uri="{FF2B5EF4-FFF2-40B4-BE49-F238E27FC236}">
                    <a16:creationId xmlns:a16="http://schemas.microsoft.com/office/drawing/2014/main" id="{D017DC80-8D4B-E2E5-57A9-F6ED86558D4B}"/>
                  </a:ext>
                </a:extLst>
              </p:cNvPr>
              <p:cNvSpPr/>
              <p:nvPr/>
            </p:nvSpPr>
            <p:spPr>
              <a:xfrm>
                <a:off x="6995160" y="3081528"/>
                <a:ext cx="2011680" cy="182880"/>
              </a:xfrm>
              <a:prstGeom prst="rect">
                <a:avLst/>
              </a:prstGeom>
              <a:noFill/>
              <a:ln/>
            </p:spPr>
            <p:txBody>
              <a:bodyPr wrap="square" lIns="0" tIns="0" rIns="0" bIns="0" rtlCol="0" anchor="ctr"/>
              <a:lstStyle/>
              <a:p>
                <a:pPr marL="0" indent="0">
                  <a:buNone/>
                </a:pPr>
                <a:r>
                  <a:rPr lang="en-US" sz="1600" b="1" dirty="0">
                    <a:solidFill>
                      <a:srgbClr val="1B2E3A"/>
                    </a:solidFill>
                    <a:latin typeface="微軟正黑體" panose="020B0604030504040204" pitchFamily="34" charset="-120"/>
                    <a:ea typeface="微軟正黑體" panose="020B0604030504040204" pitchFamily="34" charset="-120"/>
                    <a:cs typeface="Noto Sans CJK TC" pitchFamily="34" charset="-120"/>
                  </a:rPr>
                  <a:t>Experiment Results</a:t>
                </a:r>
                <a:endParaRPr lang="en-US" sz="1600" dirty="0">
                  <a:latin typeface="微軟正黑體" panose="020B0604030504040204" pitchFamily="34" charset="-120"/>
                  <a:ea typeface="微軟正黑體" panose="020B0604030504040204" pitchFamily="34" charset="-120"/>
                </a:endParaRPr>
              </a:p>
            </p:txBody>
          </p:sp>
          <p:sp>
            <p:nvSpPr>
              <p:cNvPr id="28" name="Text 15">
                <a:extLst>
                  <a:ext uri="{FF2B5EF4-FFF2-40B4-BE49-F238E27FC236}">
                    <a16:creationId xmlns:a16="http://schemas.microsoft.com/office/drawing/2014/main" id="{A3EBCB74-918C-B734-A10C-206195712713}"/>
                  </a:ext>
                </a:extLst>
              </p:cNvPr>
              <p:cNvSpPr/>
              <p:nvPr/>
            </p:nvSpPr>
            <p:spPr>
              <a:xfrm>
                <a:off x="6995160" y="3291840"/>
                <a:ext cx="2011680" cy="128016"/>
              </a:xfrm>
              <a:prstGeom prst="rect">
                <a:avLst/>
              </a:prstGeom>
              <a:noFill/>
              <a:ln/>
            </p:spPr>
            <p:txBody>
              <a:bodyPr wrap="square" lIns="0" tIns="0" rIns="0" bIns="0" rtlCol="0" anchor="ctr"/>
              <a:lstStyle/>
              <a:p>
                <a:pPr marL="0" indent="0">
                  <a:buNone/>
                </a:pPr>
                <a:r>
                  <a:rPr lang="en-US" sz="1400" dirty="0">
                    <a:solidFill>
                      <a:srgbClr val="60707A"/>
                    </a:solidFill>
                    <a:latin typeface="微軟正黑體" panose="020B0604030504040204" pitchFamily="34" charset="-120"/>
                    <a:ea typeface="微軟正黑體" panose="020B0604030504040204" pitchFamily="34" charset="-120"/>
                    <a:cs typeface="Noto Sans CJK TC" pitchFamily="34" charset="-120"/>
                  </a:rPr>
                  <a:t>Pages 18–25</a:t>
                </a:r>
                <a:endParaRPr lang="en-US" sz="1400" dirty="0">
                  <a:latin typeface="微軟正黑體" panose="020B0604030504040204" pitchFamily="34" charset="-120"/>
                  <a:ea typeface="微軟正黑體" panose="020B0604030504040204" pitchFamily="34" charset="-120"/>
                </a:endParaRPr>
              </a:p>
            </p:txBody>
          </p:sp>
        </p:grpSp>
      </p:grpSp>
      <p:grpSp>
        <p:nvGrpSpPr>
          <p:cNvPr id="29" name="群組 28">
            <a:extLst>
              <a:ext uri="{FF2B5EF4-FFF2-40B4-BE49-F238E27FC236}">
                <a16:creationId xmlns:a16="http://schemas.microsoft.com/office/drawing/2014/main" id="{1C934879-3578-D0A8-AA90-E7C8DD7C988E}"/>
              </a:ext>
            </a:extLst>
          </p:cNvPr>
          <p:cNvGrpSpPr/>
          <p:nvPr/>
        </p:nvGrpSpPr>
        <p:grpSpPr>
          <a:xfrm>
            <a:off x="6365289" y="2912121"/>
            <a:ext cx="3551067" cy="720000"/>
            <a:chOff x="6365289" y="2995326"/>
            <a:chExt cx="3551067" cy="720000"/>
          </a:xfrm>
        </p:grpSpPr>
        <p:sp>
          <p:nvSpPr>
            <p:cNvPr id="30" name="Text 16">
              <a:extLst>
                <a:ext uri="{FF2B5EF4-FFF2-40B4-BE49-F238E27FC236}">
                  <a16:creationId xmlns:a16="http://schemas.microsoft.com/office/drawing/2014/main" id="{2FFBCAE1-3AE1-A72A-64D7-757469E86026}"/>
                </a:ext>
              </a:extLst>
            </p:cNvPr>
            <p:cNvSpPr/>
            <p:nvPr/>
          </p:nvSpPr>
          <p:spPr>
            <a:xfrm>
              <a:off x="6365289" y="2995326"/>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05</a:t>
              </a:r>
              <a:endParaRPr lang="en-US" sz="1400" dirty="0">
                <a:latin typeface="微軟正黑體" panose="020B0604030504040204" pitchFamily="34" charset="-120"/>
                <a:ea typeface="微軟正黑體" panose="020B0604030504040204" pitchFamily="34" charset="-120"/>
              </a:endParaRPr>
            </a:p>
          </p:txBody>
        </p:sp>
        <p:grpSp>
          <p:nvGrpSpPr>
            <p:cNvPr id="31" name="群組 30">
              <a:extLst>
                <a:ext uri="{FF2B5EF4-FFF2-40B4-BE49-F238E27FC236}">
                  <a16:creationId xmlns:a16="http://schemas.microsoft.com/office/drawing/2014/main" id="{36293574-CA90-7414-98E4-56BAF96C0991}"/>
                </a:ext>
              </a:extLst>
            </p:cNvPr>
            <p:cNvGrpSpPr/>
            <p:nvPr/>
          </p:nvGrpSpPr>
          <p:grpSpPr>
            <a:xfrm>
              <a:off x="7270367" y="3215826"/>
              <a:ext cx="2645989" cy="411480"/>
              <a:chOff x="4389119" y="4773168"/>
              <a:chExt cx="2645989" cy="411480"/>
            </a:xfrm>
          </p:grpSpPr>
          <p:sp>
            <p:nvSpPr>
              <p:cNvPr id="32" name="Text 17">
                <a:extLst>
                  <a:ext uri="{FF2B5EF4-FFF2-40B4-BE49-F238E27FC236}">
                    <a16:creationId xmlns:a16="http://schemas.microsoft.com/office/drawing/2014/main" id="{0ACB1F84-B88B-3B42-4599-3E8CFDA868C8}"/>
                  </a:ext>
                </a:extLst>
              </p:cNvPr>
              <p:cNvSpPr/>
              <p:nvPr/>
            </p:nvSpPr>
            <p:spPr>
              <a:xfrm>
                <a:off x="4389119" y="4773168"/>
                <a:ext cx="2645989" cy="411480"/>
              </a:xfrm>
              <a:prstGeom prst="rect">
                <a:avLst/>
              </a:prstGeom>
              <a:noFill/>
              <a:ln/>
            </p:spPr>
            <p:txBody>
              <a:bodyPr wrap="square" lIns="0" tIns="0" rIns="0" bIns="0" rtlCol="0" anchor="ctr"/>
              <a:lstStyle/>
              <a:p>
                <a:pPr marL="0" indent="0">
                  <a:buNone/>
                </a:pPr>
                <a:r>
                  <a:rPr lang="en-US" sz="1600" b="1" dirty="0">
                    <a:solidFill>
                      <a:srgbClr val="1B2E3A"/>
                    </a:solidFill>
                    <a:latin typeface="微軟正黑體" panose="020B0604030504040204" pitchFamily="34" charset="-120"/>
                    <a:ea typeface="微軟正黑體" panose="020B0604030504040204" pitchFamily="34" charset="-120"/>
                    <a:cs typeface="Noto Sans CJK TC" pitchFamily="34" charset="-120"/>
                  </a:rPr>
                  <a:t>Conclusion &amp;</a:t>
                </a:r>
                <a:r>
                  <a:rPr lang="zh-TW" altLang="en-US" sz="1600"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sz="1600" b="1" dirty="0">
                    <a:solidFill>
                      <a:srgbClr val="1B2E3A"/>
                    </a:solidFill>
                    <a:latin typeface="微軟正黑體" panose="020B0604030504040204" pitchFamily="34" charset="-120"/>
                    <a:ea typeface="微軟正黑體" panose="020B0604030504040204" pitchFamily="34" charset="-120"/>
                    <a:cs typeface="Noto Sans CJK TC" pitchFamily="34" charset="-120"/>
                  </a:rPr>
                  <a:t>Future Work</a:t>
                </a:r>
              </a:p>
              <a:p>
                <a:pPr marL="0" indent="0">
                  <a:buNone/>
                </a:pPr>
                <a:r>
                  <a:rPr lang="en-US" sz="1600"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p>
            </p:txBody>
          </p:sp>
          <p:sp>
            <p:nvSpPr>
              <p:cNvPr id="33" name="Text 18">
                <a:extLst>
                  <a:ext uri="{FF2B5EF4-FFF2-40B4-BE49-F238E27FC236}">
                    <a16:creationId xmlns:a16="http://schemas.microsoft.com/office/drawing/2014/main" id="{34D6F485-B800-906F-0C6F-EA2D7831E1C1}"/>
                  </a:ext>
                </a:extLst>
              </p:cNvPr>
              <p:cNvSpPr/>
              <p:nvPr/>
            </p:nvSpPr>
            <p:spPr>
              <a:xfrm>
                <a:off x="4389120" y="4983480"/>
                <a:ext cx="2011680" cy="128016"/>
              </a:xfrm>
              <a:prstGeom prst="rect">
                <a:avLst/>
              </a:prstGeom>
              <a:noFill/>
              <a:ln/>
            </p:spPr>
            <p:txBody>
              <a:bodyPr wrap="square" lIns="0" tIns="0" rIns="0" bIns="0" rtlCol="0" anchor="ctr"/>
              <a:lstStyle/>
              <a:p>
                <a:pPr marL="0" indent="0">
                  <a:buNone/>
                </a:pPr>
                <a:r>
                  <a:rPr lang="en-US" sz="1400">
                    <a:solidFill>
                      <a:srgbClr val="60707A"/>
                    </a:solidFill>
                    <a:latin typeface="微軟正黑體" panose="020B0604030504040204" pitchFamily="34" charset="-120"/>
                    <a:ea typeface="微軟正黑體" panose="020B0604030504040204" pitchFamily="34" charset="-120"/>
                    <a:cs typeface="Noto Sans CJK TC" pitchFamily="34" charset="-120"/>
                  </a:rPr>
                  <a:t>Pages 27–28</a:t>
                </a:r>
                <a:endParaRPr lang="en-US" sz="1400" dirty="0">
                  <a:latin typeface="微軟正黑體" panose="020B0604030504040204" pitchFamily="34" charset="-120"/>
                  <a:ea typeface="微軟正黑體" panose="020B0604030504040204" pitchFamily="34" charset="-120"/>
                </a:endParaRPr>
              </a:p>
            </p:txBody>
          </p:sp>
        </p:grpSp>
      </p:grpSp>
    </p:spTree>
    <p:extLst>
      <p:ext uri="{BB962C8B-B14F-4D97-AF65-F5344CB8AC3E}">
        <p14:creationId xmlns:p14="http://schemas.microsoft.com/office/powerpoint/2010/main" val="805124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6D5CB305-C0B7-ECDE-65CB-934184EAC564}"/>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p>
        </p:txBody>
      </p:sp>
      <p:sp>
        <p:nvSpPr>
          <p:cNvPr id="4" name="投影片編號版面配置區 3">
            <a:extLst>
              <a:ext uri="{FF2B5EF4-FFF2-40B4-BE49-F238E27FC236}">
                <a16:creationId xmlns:a16="http://schemas.microsoft.com/office/drawing/2014/main" id="{FF6C51D5-D508-7D8A-315B-25B3B75384B2}"/>
              </a:ext>
            </a:extLst>
          </p:cNvPr>
          <p:cNvSpPr>
            <a:spLocks noGrp="1"/>
          </p:cNvSpPr>
          <p:nvPr>
            <p:ph type="sldNum" sz="quarter" idx="12"/>
          </p:nvPr>
        </p:nvSpPr>
        <p:spPr>
          <a:xfrm>
            <a:off x="9448800" y="6611112"/>
            <a:ext cx="2743200" cy="246888"/>
          </a:xfrm>
        </p:spPr>
        <p:txBody>
          <a:bodyPr/>
          <a:lstStyle/>
          <a:p>
            <a:fld id="{A98399F2-4B7C-4808-8B27-A13C76E6A9FD}" type="slidenum">
              <a:rPr lang="zh-TW" altLang="en-US" smtClean="0">
                <a:solidFill>
                  <a:schemeClr val="bg1"/>
                </a:solidFill>
              </a:rPr>
              <a:t>3</a:t>
            </a:fld>
            <a:endParaRPr lang="zh-TW" altLang="en-US" dirty="0">
              <a:solidFill>
                <a:schemeClr val="bg1"/>
              </a:solidFill>
            </a:endParaRPr>
          </a:p>
        </p:txBody>
      </p:sp>
      <p:sp>
        <p:nvSpPr>
          <p:cNvPr id="7" name="Shape 4">
            <a:extLst>
              <a:ext uri="{FF2B5EF4-FFF2-40B4-BE49-F238E27FC236}">
                <a16:creationId xmlns:a16="http://schemas.microsoft.com/office/drawing/2014/main" id="{FB825AD1-FDE7-4076-EB04-1B612A3368E0}"/>
              </a:ext>
            </a:extLst>
          </p:cNvPr>
          <p:cNvSpPr/>
          <p:nvPr/>
        </p:nvSpPr>
        <p:spPr>
          <a:xfrm>
            <a:off x="0" y="2496312"/>
            <a:ext cx="12191695" cy="676656"/>
          </a:xfrm>
          <a:prstGeom prst="rect">
            <a:avLst/>
          </a:prstGeom>
          <a:solidFill>
            <a:srgbClr val="5B839B"/>
          </a:solidFill>
          <a:ln w="12700">
            <a:solidFill>
              <a:srgbClr val="5B839B"/>
            </a:solidFill>
            <a:prstDash val="solid"/>
          </a:ln>
        </p:spPr>
        <p:txBody>
          <a:bodyPr/>
          <a:lstStyle/>
          <a:p>
            <a:endParaRPr lang="zh-TW" altLang="en-US"/>
          </a:p>
        </p:txBody>
      </p:sp>
      <p:sp>
        <p:nvSpPr>
          <p:cNvPr id="8" name="Text 5">
            <a:extLst>
              <a:ext uri="{FF2B5EF4-FFF2-40B4-BE49-F238E27FC236}">
                <a16:creationId xmlns:a16="http://schemas.microsoft.com/office/drawing/2014/main" id="{3440E5B8-AF42-1C83-A684-DAE2C362DF4F}"/>
              </a:ext>
            </a:extLst>
          </p:cNvPr>
          <p:cNvSpPr/>
          <p:nvPr/>
        </p:nvSpPr>
        <p:spPr>
          <a:xfrm>
            <a:off x="457200" y="2660904"/>
            <a:ext cx="11274552" cy="292608"/>
          </a:xfrm>
          <a:prstGeom prst="rect">
            <a:avLst/>
          </a:prstGeom>
          <a:noFill/>
          <a:ln/>
        </p:spPr>
        <p:txBody>
          <a:bodyPr wrap="square" lIns="0" tIns="0" rIns="0" bIns="0" rtlCol="0" anchor="ctr"/>
          <a:lstStyle/>
          <a:p>
            <a:pPr marL="0" indent="0" algn="ctr">
              <a:buNone/>
            </a:pPr>
            <a:r>
              <a:rPr lang="en-US" sz="2000" b="1" dirty="0">
                <a:solidFill>
                  <a:srgbClr val="FFFFFF"/>
                </a:solidFill>
                <a:latin typeface="微軟正黑體" panose="020B0604030504040204" pitchFamily="34" charset="-120"/>
                <a:ea typeface="微軟正黑體" panose="020B0604030504040204" pitchFamily="34" charset="-120"/>
                <a:cs typeface="Noto Sans CJK TC" pitchFamily="34" charset="-120"/>
              </a:rPr>
              <a:t>Introduction</a:t>
            </a:r>
            <a:endParaRPr lang="en-US" sz="2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441503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50524C61-136F-4B3F-630C-1224A5DE96CF}"/>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A98F9592-AD71-8253-D2E4-BD701C8B3195}"/>
              </a:ext>
            </a:extLst>
          </p:cNvPr>
          <p:cNvSpPr>
            <a:spLocks noGrp="1"/>
          </p:cNvSpPr>
          <p:nvPr>
            <p:ph type="sldNum" sz="quarter" idx="12"/>
          </p:nvPr>
        </p:nvSpPr>
        <p:spPr>
          <a:xfrm>
            <a:off x="9448495" y="6610795"/>
            <a:ext cx="2743200" cy="246888"/>
          </a:xfrm>
        </p:spPr>
        <p:txBody>
          <a:bodyPr/>
          <a:lstStyle/>
          <a:p>
            <a:fld id="{A98399F2-4B7C-4808-8B27-A13C76E6A9FD}" type="slidenum">
              <a:rPr lang="zh-TW" altLang="en-US" smtClean="0">
                <a:solidFill>
                  <a:schemeClr val="bg1"/>
                </a:solidFill>
                <a:latin typeface="微軟正黑體" panose="020B0604030504040204" pitchFamily="34" charset="-120"/>
                <a:ea typeface="微軟正黑體" panose="020B0604030504040204" pitchFamily="34" charset="-120"/>
              </a:rPr>
              <a:t>4</a:t>
            </a:fld>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ED16DC88-3FEE-E262-16AE-B4EDFB1337CD}"/>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1: Introduction</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F4CDAB86-9282-046C-57E9-7B895B8E2E18}"/>
              </a:ext>
            </a:extLst>
          </p:cNvPr>
          <p:cNvSpPr/>
          <p:nvPr/>
        </p:nvSpPr>
        <p:spPr>
          <a:xfrm>
            <a:off x="347472" y="457200"/>
            <a:ext cx="7955280" cy="228600"/>
          </a:xfrm>
          <a:prstGeom prst="rect">
            <a:avLst/>
          </a:prstGeom>
          <a:noFill/>
          <a:ln/>
        </p:spPr>
        <p:txBody>
          <a:bodyPr wrap="square" lIns="0" tIns="0" rIns="0" bIns="0" rtlCol="0" anchor="ctr"/>
          <a:lstStyle/>
          <a:p>
            <a:pPr marL="0" indent="0">
              <a:buNone/>
            </a:pP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Background — Multi-Token Prediction for Faster Generation</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8537571F-7A16-42E5-F69A-462FD00B5BE7}"/>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0" name="Text 6">
            <a:extLst>
              <a:ext uri="{FF2B5EF4-FFF2-40B4-BE49-F238E27FC236}">
                <a16:creationId xmlns:a16="http://schemas.microsoft.com/office/drawing/2014/main" id="{2DED8431-4931-F0CC-B1A1-46001C652552}"/>
              </a:ext>
            </a:extLst>
          </p:cNvPr>
          <p:cNvSpPr/>
          <p:nvPr/>
        </p:nvSpPr>
        <p:spPr>
          <a:xfrm>
            <a:off x="502920" y="960119"/>
            <a:ext cx="11155680" cy="448905"/>
          </a:xfrm>
          <a:prstGeom prst="rect">
            <a:avLst/>
          </a:prstGeom>
          <a:noFill/>
          <a:ln/>
        </p:spPr>
        <p:txBody>
          <a:bodyPr wrap="square" lIns="0" tIns="0" rIns="0" bIns="0" rtlCol="0" anchor="ctr"/>
          <a:lstStyle/>
          <a:p>
            <a:r>
              <a:rPr lang="en-US" altLang="zh-TW" sz="1600" b="1" dirty="0">
                <a:latin typeface="微軟正黑體" panose="020B0604030504040204" pitchFamily="34" charset="-120"/>
                <a:ea typeface="微軟正黑體" panose="020B0604030504040204" pitchFamily="34" charset="-120"/>
              </a:rPr>
              <a:t>The goal of Multi-token prediction (MTP)[1] is to predict not only the next token in a single forward pass, but also future tokens at farther positions using multiple prediction heads.</a:t>
            </a:r>
          </a:p>
        </p:txBody>
      </p:sp>
      <p:sp>
        <p:nvSpPr>
          <p:cNvPr id="15" name="Text 16">
            <a:extLst>
              <a:ext uri="{FF2B5EF4-FFF2-40B4-BE49-F238E27FC236}">
                <a16:creationId xmlns:a16="http://schemas.microsoft.com/office/drawing/2014/main" id="{45E2F5F3-E290-5966-C2E4-C199B3417298}"/>
              </a:ext>
            </a:extLst>
          </p:cNvPr>
          <p:cNvSpPr/>
          <p:nvPr/>
        </p:nvSpPr>
        <p:spPr>
          <a:xfrm>
            <a:off x="502921" y="4692814"/>
            <a:ext cx="11402034" cy="502920"/>
          </a:xfrm>
          <a:prstGeom prst="rect">
            <a:avLst/>
          </a:prstGeom>
          <a:noFill/>
          <a:ln>
            <a:noFill/>
          </a:ln>
        </p:spPr>
        <p:txBody>
          <a:bodyPr wrap="square" lIns="1143" tIns="1143" rIns="1143" bIns="1143" rtlCol="0" anchor="ctr">
            <a:normAutofit/>
          </a:bodyPr>
          <a:lstStyle/>
          <a:p>
            <a:r>
              <a:rPr lang="en-US" altLang="zh-TW" sz="1600" dirty="0">
                <a:latin typeface="微軟正黑體" panose="020B0604030504040204" pitchFamily="34" charset="-120"/>
                <a:ea typeface="微軟正黑體" panose="020B0604030504040204" pitchFamily="34" charset="-120"/>
              </a:rPr>
              <a:t>If the next-token prediction head (Head 1) produces predictions consistent with the other prediction heads, multiple tokens can be accepted at once, reducing inference cost and accelerating decoding.</a:t>
            </a:r>
          </a:p>
        </p:txBody>
      </p:sp>
      <p:grpSp>
        <p:nvGrpSpPr>
          <p:cNvPr id="2" name="群組 1">
            <a:extLst>
              <a:ext uri="{FF2B5EF4-FFF2-40B4-BE49-F238E27FC236}">
                <a16:creationId xmlns:a16="http://schemas.microsoft.com/office/drawing/2014/main" id="{91F28A17-C89B-11A2-E672-6A81182DCB87}"/>
              </a:ext>
            </a:extLst>
          </p:cNvPr>
          <p:cNvGrpSpPr/>
          <p:nvPr/>
        </p:nvGrpSpPr>
        <p:grpSpPr>
          <a:xfrm>
            <a:off x="2556115" y="2328968"/>
            <a:ext cx="7049290" cy="957875"/>
            <a:chOff x="1008585" y="2264650"/>
            <a:chExt cx="7049290" cy="957875"/>
          </a:xfrm>
        </p:grpSpPr>
        <p:sp>
          <p:nvSpPr>
            <p:cNvPr id="11" name="Shape 8">
              <a:extLst>
                <a:ext uri="{FF2B5EF4-FFF2-40B4-BE49-F238E27FC236}">
                  <a16:creationId xmlns:a16="http://schemas.microsoft.com/office/drawing/2014/main" id="{BE2123A7-5657-506C-0440-C41A37A7C777}"/>
                </a:ext>
              </a:extLst>
            </p:cNvPr>
            <p:cNvSpPr/>
            <p:nvPr/>
          </p:nvSpPr>
          <p:spPr>
            <a:xfrm flipV="1">
              <a:off x="2297883" y="2752364"/>
              <a:ext cx="1080000" cy="5504"/>
            </a:xfrm>
            <a:prstGeom prst="line">
              <a:avLst/>
            </a:prstGeom>
            <a:noFill/>
            <a:ln w="12700">
              <a:solidFill>
                <a:srgbClr val="5B839B"/>
              </a:solidFill>
              <a:prstDash val="solid"/>
              <a:headEnd type="none"/>
              <a:tailEnd type="triangle"/>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2" name="Text 11">
              <a:extLst>
                <a:ext uri="{FF2B5EF4-FFF2-40B4-BE49-F238E27FC236}">
                  <a16:creationId xmlns:a16="http://schemas.microsoft.com/office/drawing/2014/main" id="{610B4AEF-9601-8981-AF8D-0A367E00D703}"/>
                </a:ext>
              </a:extLst>
            </p:cNvPr>
            <p:cNvSpPr/>
            <p:nvPr/>
          </p:nvSpPr>
          <p:spPr>
            <a:xfrm>
              <a:off x="1008585" y="2277973"/>
              <a:ext cx="1285240" cy="900000"/>
            </a:xfrm>
            <a:prstGeom prst="rect">
              <a:avLst/>
            </a:prstGeom>
            <a:noFill/>
            <a:ln>
              <a:noFill/>
            </a:ln>
          </p:spPr>
          <p:txBody>
            <a:bodyPr wrap="square" lIns="635" tIns="635" rIns="635" bIns="635" rtlCol="0" anchor="ctr">
              <a:normAutofit/>
            </a:bodyPr>
            <a:lstStyle/>
            <a:p>
              <a:pPr marL="0" indent="0" algn="ctr">
                <a:buNone/>
              </a:pPr>
              <a:r>
                <a:rPr lang="en-US" sz="1600" b="1" dirty="0">
                  <a:solidFill>
                    <a:srgbClr val="27323A"/>
                  </a:solidFill>
                  <a:latin typeface="微軟正黑體" panose="020B0604030504040204" pitchFamily="34" charset="-120"/>
                  <a:ea typeface="微軟正黑體" panose="020B0604030504040204" pitchFamily="34" charset="-120"/>
                  <a:cs typeface="Noto Sans CJK TC" pitchFamily="34" charset="-120"/>
                </a:rPr>
                <a:t>Input</a:t>
              </a:r>
              <a:r>
                <a:rPr lang="en-US" sz="1600" dirty="0">
                  <a:latin typeface="微軟正黑體" panose="020B0604030504040204" pitchFamily="34" charset="-120"/>
                  <a:ea typeface="微軟正黑體" panose="020B0604030504040204" pitchFamily="34" charset="-120"/>
                </a:rPr>
                <a:t>: </a:t>
              </a:r>
              <a:r>
                <a:rPr lang="en-US" sz="1600" b="1" dirty="0">
                  <a:solidFill>
                    <a:srgbClr val="27323A"/>
                  </a:solidFill>
                  <a:latin typeface="微軟正黑體" panose="020B0604030504040204" pitchFamily="34" charset="-120"/>
                  <a:ea typeface="微軟正黑體" panose="020B0604030504040204" pitchFamily="34" charset="-120"/>
                  <a:cs typeface="Noto Sans CJK TC" pitchFamily="34" charset="-120"/>
                </a:rPr>
                <a:t>t₀</a:t>
              </a:r>
              <a:endParaRPr lang="en-US" sz="1600" dirty="0">
                <a:latin typeface="微軟正黑體" panose="020B0604030504040204" pitchFamily="34" charset="-120"/>
                <a:ea typeface="微軟正黑體" panose="020B0604030504040204" pitchFamily="34" charset="-120"/>
              </a:endParaRPr>
            </a:p>
          </p:txBody>
        </p:sp>
        <p:sp>
          <p:nvSpPr>
            <p:cNvPr id="13" name="Text 13">
              <a:extLst>
                <a:ext uri="{FF2B5EF4-FFF2-40B4-BE49-F238E27FC236}">
                  <a16:creationId xmlns:a16="http://schemas.microsoft.com/office/drawing/2014/main" id="{78320403-216C-E725-4CC6-A86BC60C4514}"/>
                </a:ext>
              </a:extLst>
            </p:cNvPr>
            <p:cNvSpPr/>
            <p:nvPr/>
          </p:nvSpPr>
          <p:spPr>
            <a:xfrm>
              <a:off x="3377879" y="2322525"/>
              <a:ext cx="1800000" cy="900000"/>
            </a:xfrm>
            <a:prstGeom prst="rect">
              <a:avLst/>
            </a:prstGeom>
            <a:solidFill>
              <a:srgbClr val="FFF3C8"/>
            </a:solidFill>
            <a:ln>
              <a:solidFill>
                <a:srgbClr val="C8D6DE"/>
              </a:solidFill>
            </a:ln>
          </p:spPr>
          <p:txBody>
            <a:bodyPr wrap="square" lIns="635" tIns="635" rIns="635" bIns="635" rtlCol="0" anchor="ctr">
              <a:normAutofit/>
            </a:bodyPr>
            <a:lstStyle/>
            <a:p>
              <a:pPr marL="0" indent="0" algn="ctr">
                <a:buNone/>
              </a:pPr>
              <a:r>
                <a:rPr lang="en-US" sz="1600" dirty="0">
                  <a:solidFill>
                    <a:srgbClr val="27323A"/>
                  </a:solidFill>
                  <a:latin typeface="微軟正黑體" panose="020B0604030504040204" pitchFamily="34" charset="-120"/>
                  <a:ea typeface="微軟正黑體" panose="020B0604030504040204" pitchFamily="34" charset="-120"/>
                  <a:cs typeface="Noto Sans CJK TC" pitchFamily="34" charset="-120"/>
                </a:rPr>
                <a:t>Model</a:t>
              </a:r>
            </a:p>
            <a:p>
              <a:pPr marL="0" indent="0" algn="ctr">
                <a:buNone/>
              </a:pPr>
              <a:r>
                <a:rPr lang="en-US" sz="1600" dirty="0">
                  <a:solidFill>
                    <a:srgbClr val="27323A"/>
                  </a:solidFill>
                  <a:latin typeface="微軟正黑體" panose="020B0604030504040204" pitchFamily="34" charset="-120"/>
                  <a:ea typeface="微軟正黑體" panose="020B0604030504040204" pitchFamily="34" charset="-120"/>
                  <a:cs typeface="Noto Sans CJK TC" pitchFamily="34" charset="-120"/>
                </a:rPr>
                <a:t>(Head 1–k)</a:t>
              </a:r>
            </a:p>
          </p:txBody>
        </p:sp>
        <p:sp>
          <p:nvSpPr>
            <p:cNvPr id="14" name="Text 15">
              <a:extLst>
                <a:ext uri="{FF2B5EF4-FFF2-40B4-BE49-F238E27FC236}">
                  <a16:creationId xmlns:a16="http://schemas.microsoft.com/office/drawing/2014/main" id="{655F93E8-79DA-8CA5-012E-0FEA8456961F}"/>
                </a:ext>
              </a:extLst>
            </p:cNvPr>
            <p:cNvSpPr/>
            <p:nvPr/>
          </p:nvSpPr>
          <p:spPr>
            <a:xfrm>
              <a:off x="6257875" y="2264650"/>
              <a:ext cx="1800000" cy="900000"/>
            </a:xfrm>
            <a:prstGeom prst="rect">
              <a:avLst/>
            </a:prstGeom>
            <a:noFill/>
            <a:ln>
              <a:noFill/>
            </a:ln>
          </p:spPr>
          <p:txBody>
            <a:bodyPr wrap="square" lIns="635" tIns="635" rIns="635" bIns="635" rtlCol="0" anchor="ctr">
              <a:normAutofit/>
            </a:bodyPr>
            <a:lstStyle/>
            <a:p>
              <a:pPr algn="ctr"/>
              <a:r>
                <a:rPr lang="en-US" sz="1600" b="1" dirty="0">
                  <a:solidFill>
                    <a:srgbClr val="27323A"/>
                  </a:solidFill>
                  <a:latin typeface="微軟正黑體" panose="020B0604030504040204" pitchFamily="34" charset="-120"/>
                  <a:ea typeface="微軟正黑體" panose="020B0604030504040204" pitchFamily="34" charset="-120"/>
                  <a:cs typeface="Noto Sans CJK TC" pitchFamily="34" charset="-120"/>
                </a:rPr>
                <a:t>Output: </a:t>
              </a:r>
              <a:r>
                <a:rPr lang="en-US" altLang="zh-TW" sz="1600" b="1" dirty="0">
                  <a:solidFill>
                    <a:srgbClr val="27323A"/>
                  </a:solidFill>
                  <a:latin typeface="微軟正黑體" panose="020B0604030504040204" pitchFamily="34" charset="-120"/>
                  <a:ea typeface="微軟正黑體" panose="020B0604030504040204" pitchFamily="34" charset="-120"/>
                  <a:cs typeface="Noto Sans CJK TC" pitchFamily="34" charset="-120"/>
                </a:rPr>
                <a:t>t</a:t>
              </a:r>
              <a:r>
                <a:rPr lang="en-US" altLang="zh-TW" sz="1600" b="1" baseline="-25000" dirty="0">
                  <a:solidFill>
                    <a:srgbClr val="27323A"/>
                  </a:solidFill>
                  <a:latin typeface="微軟正黑體" panose="020B0604030504040204" pitchFamily="34" charset="-120"/>
                  <a:ea typeface="微軟正黑體" panose="020B0604030504040204" pitchFamily="34" charset="-120"/>
                  <a:cs typeface="Noto Sans CJK TC" pitchFamily="34" charset="-120"/>
                </a:rPr>
                <a:t>1</a:t>
              </a:r>
              <a:r>
                <a:rPr lang="en-US" altLang="zh-TW" sz="1600" b="1" dirty="0">
                  <a:solidFill>
                    <a:srgbClr val="27323A"/>
                  </a:solidFill>
                  <a:latin typeface="微軟正黑體" panose="020B0604030504040204" pitchFamily="34" charset="-120"/>
                  <a:ea typeface="微軟正黑體" panose="020B0604030504040204" pitchFamily="34" charset="-120"/>
                  <a:cs typeface="Noto Sans CJK TC" pitchFamily="34" charset="-120"/>
                </a:rPr>
                <a:t>… </a:t>
              </a:r>
              <a:r>
                <a:rPr lang="en-US" altLang="zh-TW" sz="1600" b="1" dirty="0" err="1">
                  <a:solidFill>
                    <a:srgbClr val="27323A"/>
                  </a:solidFill>
                  <a:latin typeface="微軟正黑體" panose="020B0604030504040204" pitchFamily="34" charset="-120"/>
                  <a:ea typeface="微軟正黑體" panose="020B0604030504040204" pitchFamily="34" charset="-120"/>
                  <a:cs typeface="Noto Sans CJK TC" pitchFamily="34" charset="-120"/>
                </a:rPr>
                <a:t>t</a:t>
              </a:r>
              <a:r>
                <a:rPr lang="en-US" altLang="zh-TW" sz="1600" b="1" baseline="-25000" dirty="0" err="1">
                  <a:solidFill>
                    <a:srgbClr val="27323A"/>
                  </a:solidFill>
                  <a:latin typeface="微軟正黑體" panose="020B0604030504040204" pitchFamily="34" charset="-120"/>
                  <a:ea typeface="微軟正黑體" panose="020B0604030504040204" pitchFamily="34" charset="-120"/>
                  <a:cs typeface="Noto Sans CJK TC" pitchFamily="34" charset="-120"/>
                </a:rPr>
                <a:t>k</a:t>
              </a:r>
              <a:endParaRPr lang="en-US" sz="1600" baseline="-25000" dirty="0">
                <a:latin typeface="微軟正黑體" panose="020B0604030504040204" pitchFamily="34" charset="-120"/>
                <a:ea typeface="微軟正黑體" panose="020B0604030504040204" pitchFamily="34" charset="-120"/>
              </a:endParaRPr>
            </a:p>
          </p:txBody>
        </p:sp>
        <p:sp>
          <p:nvSpPr>
            <p:cNvPr id="18" name="Shape 8">
              <a:extLst>
                <a:ext uri="{FF2B5EF4-FFF2-40B4-BE49-F238E27FC236}">
                  <a16:creationId xmlns:a16="http://schemas.microsoft.com/office/drawing/2014/main" id="{D60F4829-8322-075A-A3AC-A78060E7551B}"/>
                </a:ext>
              </a:extLst>
            </p:cNvPr>
            <p:cNvSpPr/>
            <p:nvPr/>
          </p:nvSpPr>
          <p:spPr>
            <a:xfrm flipV="1">
              <a:off x="5177875" y="2718559"/>
              <a:ext cx="1080000" cy="5504"/>
            </a:xfrm>
            <a:prstGeom prst="line">
              <a:avLst/>
            </a:prstGeom>
            <a:noFill/>
            <a:ln w="12700">
              <a:solidFill>
                <a:srgbClr val="5B839B"/>
              </a:solidFill>
              <a:prstDash val="solid"/>
              <a:headEnd type="none"/>
              <a:tailEnd type="triangle"/>
            </a:ln>
          </p:spPr>
          <p:txBody>
            <a:bodyPr/>
            <a:lstStyle/>
            <a:p>
              <a:endParaRPr lang="zh-TW" altLang="en-US">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257944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A643A838-C983-CA9D-3C89-2EB04FD40E34}"/>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D68D712A-BB1D-6FD7-776C-B4E0DA207F56}"/>
              </a:ext>
            </a:extLst>
          </p:cNvPr>
          <p:cNvSpPr>
            <a:spLocks noGrp="1"/>
          </p:cNvSpPr>
          <p:nvPr>
            <p:ph type="sldNum" sz="quarter" idx="12"/>
          </p:nvPr>
        </p:nvSpPr>
        <p:spPr>
          <a:xfrm>
            <a:off x="9448495" y="6610795"/>
            <a:ext cx="2743200" cy="246888"/>
          </a:xfrm>
        </p:spPr>
        <p:txBody>
          <a:bodyPr/>
          <a:lstStyle/>
          <a:p>
            <a:fld id="{A98399F2-4B7C-4808-8B27-A13C76E6A9FD}" type="slidenum">
              <a:rPr lang="zh-TW" altLang="en-US" smtClean="0">
                <a:solidFill>
                  <a:schemeClr val="bg1"/>
                </a:solidFill>
                <a:latin typeface="微軟正黑體" panose="020B0604030504040204" pitchFamily="34" charset="-120"/>
                <a:ea typeface="微軟正黑體" panose="020B0604030504040204" pitchFamily="34" charset="-120"/>
              </a:rPr>
              <a:t>5</a:t>
            </a:fld>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962EB79B-9B1A-E8E7-435D-831B5691E819}"/>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1: Introduction</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28AB1546-5B66-7847-E65F-E7C9D92FFC5E}"/>
              </a:ext>
            </a:extLst>
          </p:cNvPr>
          <p:cNvSpPr/>
          <p:nvPr/>
        </p:nvSpPr>
        <p:spPr>
          <a:xfrm>
            <a:off x="347472" y="457200"/>
            <a:ext cx="7955280" cy="228600"/>
          </a:xfrm>
          <a:prstGeom prst="rect">
            <a:avLst/>
          </a:prstGeom>
          <a:noFill/>
          <a:ln/>
        </p:spPr>
        <p:txBody>
          <a:bodyPr wrap="square" lIns="0" tIns="0" rIns="0" bIns="0" rtlCol="0" anchor="ctr"/>
          <a:lstStyle/>
          <a:p>
            <a:pPr marL="0" indent="0">
              <a:buNone/>
            </a:pP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Motivation — Future-Token Prediction Heads Are Harder to Optimize </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FF39F71A-8AFD-2D32-76C7-BAE554EECD52}"/>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0" name="Text 6">
            <a:extLst>
              <a:ext uri="{FF2B5EF4-FFF2-40B4-BE49-F238E27FC236}">
                <a16:creationId xmlns:a16="http://schemas.microsoft.com/office/drawing/2014/main" id="{B4265185-E37F-8978-2945-1BD5B7960B70}"/>
              </a:ext>
            </a:extLst>
          </p:cNvPr>
          <p:cNvSpPr/>
          <p:nvPr/>
        </p:nvSpPr>
        <p:spPr>
          <a:xfrm>
            <a:off x="502920" y="932687"/>
            <a:ext cx="10972800" cy="548349"/>
          </a:xfrm>
          <a:prstGeom prst="rect">
            <a:avLst/>
          </a:prstGeom>
          <a:noFill/>
          <a:ln/>
        </p:spPr>
        <p:txBody>
          <a:bodyPr wrap="square" lIns="0" tIns="0" rIns="0" bIns="0" rtlCol="0" anchor="ctr"/>
          <a:lstStyle/>
          <a:p>
            <a:r>
              <a:rPr lang="en-US" altLang="zh-TW" sz="1600" b="1" dirty="0">
                <a:latin typeface="微軟正黑體" panose="020B0604030504040204" pitchFamily="34" charset="-120"/>
                <a:ea typeface="微軟正黑體" panose="020B0604030504040204" pitchFamily="34" charset="-120"/>
              </a:rPr>
              <a:t>Standard MTP trains each prediction head independently using only CE loss, but it lacks an explicit consistency constraint across heads.</a:t>
            </a:r>
          </a:p>
        </p:txBody>
      </p:sp>
      <p:sp>
        <p:nvSpPr>
          <p:cNvPr id="13" name="Text 17">
            <a:extLst>
              <a:ext uri="{FF2B5EF4-FFF2-40B4-BE49-F238E27FC236}">
                <a16:creationId xmlns:a16="http://schemas.microsoft.com/office/drawing/2014/main" id="{D63BF917-9F12-7410-B10C-13A62A1DE237}"/>
              </a:ext>
            </a:extLst>
          </p:cNvPr>
          <p:cNvSpPr/>
          <p:nvPr/>
        </p:nvSpPr>
        <p:spPr>
          <a:xfrm>
            <a:off x="502920" y="4714241"/>
            <a:ext cx="10972800" cy="548353"/>
          </a:xfrm>
          <a:prstGeom prst="rect">
            <a:avLst/>
          </a:prstGeom>
          <a:noFill/>
          <a:ln>
            <a:noFill/>
          </a:ln>
        </p:spPr>
        <p:txBody>
          <a:bodyPr wrap="square" lIns="1143" tIns="1143" rIns="1143" bIns="1143" rtlCol="0" anchor="ctr">
            <a:normAutofit/>
          </a:bodyPr>
          <a:lstStyle/>
          <a:p>
            <a:r>
              <a:rPr lang="en-US" altLang="zh-TW" sz="1600" dirty="0">
                <a:latin typeface="微軟正黑體" panose="020B0604030504040204" pitchFamily="34" charset="-120"/>
                <a:ea typeface="微軟正黑體" panose="020B0604030504040204" pitchFamily="34" charset="-120"/>
              </a:rPr>
              <a:t>During pre-training, this study adds consistency regularization to the loss function without changing the MTP model architecture, aiming to improve model performance.</a:t>
            </a:r>
          </a:p>
        </p:txBody>
      </p:sp>
      <p:grpSp>
        <p:nvGrpSpPr>
          <p:cNvPr id="17" name="群組 16">
            <a:extLst>
              <a:ext uri="{FF2B5EF4-FFF2-40B4-BE49-F238E27FC236}">
                <a16:creationId xmlns:a16="http://schemas.microsoft.com/office/drawing/2014/main" id="{8A39A0D6-F77F-BB9B-F9E0-9998245F2D06}"/>
              </a:ext>
            </a:extLst>
          </p:cNvPr>
          <p:cNvGrpSpPr/>
          <p:nvPr/>
        </p:nvGrpSpPr>
        <p:grpSpPr>
          <a:xfrm>
            <a:off x="1402361" y="2453262"/>
            <a:ext cx="9365941" cy="1218856"/>
            <a:chOff x="3191211" y="2318759"/>
            <a:chExt cx="5788241" cy="1529753"/>
          </a:xfrm>
        </p:grpSpPr>
        <p:sp>
          <p:nvSpPr>
            <p:cNvPr id="15" name="文字方塊 14">
              <a:extLst>
                <a:ext uri="{FF2B5EF4-FFF2-40B4-BE49-F238E27FC236}">
                  <a16:creationId xmlns:a16="http://schemas.microsoft.com/office/drawing/2014/main" id="{85F22F32-9F79-1900-9200-E3279BC2B37E}"/>
                </a:ext>
              </a:extLst>
            </p:cNvPr>
            <p:cNvSpPr txBox="1"/>
            <p:nvPr/>
          </p:nvSpPr>
          <p:spPr>
            <a:xfrm>
              <a:off x="3191211" y="2771294"/>
              <a:ext cx="5788241" cy="1077218"/>
            </a:xfrm>
            <a:prstGeom prst="rect">
              <a:avLst/>
            </a:prstGeom>
            <a:noFill/>
          </p:spPr>
          <p:txBody>
            <a:bodyPr wrap="square" rtlCol="0">
              <a:spAutoFit/>
            </a:bodyPr>
            <a:lstStyle/>
            <a:p>
              <a:pPr marL="342900" indent="-342900">
                <a:buFont typeface="+mj-lt"/>
                <a:buAutoNum type="arabicPeriod"/>
              </a:pPr>
              <a:r>
                <a:rPr lang="en-US" altLang="zh-TW" sz="1600" dirty="0">
                  <a:latin typeface="微軟正黑體" panose="020B0604030504040204" pitchFamily="34" charset="-120"/>
                  <a:ea typeface="微軟正黑體" panose="020B0604030504040204" pitchFamily="34" charset="-120"/>
                </a:rPr>
                <a:t>The farther the position predicted by a prediction head, the lower its prediction accuracy.</a:t>
              </a:r>
            </a:p>
            <a:p>
              <a:pPr marL="342900" indent="-342900">
                <a:buFont typeface="+mj-lt"/>
                <a:buAutoNum type="arabicPeriod"/>
              </a:pPr>
              <a:r>
                <a:rPr lang="en-US" altLang="zh-TW" sz="1600" dirty="0">
                  <a:latin typeface="微軟正黑體" panose="020B0604030504040204" pitchFamily="34" charset="-120"/>
                  <a:ea typeface="微軟正黑體" panose="020B0604030504040204" pitchFamily="34" charset="-120"/>
                </a:rPr>
                <a:t>The farther the position predicted by a prediction head, the more difficult the optimization becomes.</a:t>
              </a:r>
            </a:p>
          </p:txBody>
        </p:sp>
        <p:sp>
          <p:nvSpPr>
            <p:cNvPr id="16" name="文字方塊 15">
              <a:extLst>
                <a:ext uri="{FF2B5EF4-FFF2-40B4-BE49-F238E27FC236}">
                  <a16:creationId xmlns:a16="http://schemas.microsoft.com/office/drawing/2014/main" id="{63703468-D680-15E2-2897-20BBEB579369}"/>
                </a:ext>
              </a:extLst>
            </p:cNvPr>
            <p:cNvSpPr txBox="1"/>
            <p:nvPr/>
          </p:nvSpPr>
          <p:spPr>
            <a:xfrm>
              <a:off x="3201726" y="2318759"/>
              <a:ext cx="3515557" cy="463539"/>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Problem</a:t>
              </a:r>
            </a:p>
          </p:txBody>
        </p:sp>
      </p:grpSp>
    </p:spTree>
    <p:extLst>
      <p:ext uri="{BB962C8B-B14F-4D97-AF65-F5344CB8AC3E}">
        <p14:creationId xmlns:p14="http://schemas.microsoft.com/office/powerpoint/2010/main" val="3815655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865E28B4-0C42-4B0F-4F86-AE8438520E8E}"/>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D3329D13-8C2D-8A01-F830-8A416748FEF8}"/>
              </a:ext>
            </a:extLst>
          </p:cNvPr>
          <p:cNvSpPr>
            <a:spLocks noGrp="1"/>
          </p:cNvSpPr>
          <p:nvPr>
            <p:ph type="sldNum" sz="quarter" idx="12"/>
          </p:nvPr>
        </p:nvSpPr>
        <p:spPr>
          <a:xfrm>
            <a:off x="9448495" y="6611112"/>
            <a:ext cx="2743200" cy="273521"/>
          </a:xfrm>
        </p:spPr>
        <p:txBody>
          <a:bodyPr/>
          <a:lstStyle/>
          <a:p>
            <a:fld id="{A98399F2-4B7C-4808-8B27-A13C76E6A9FD}" type="slidenum">
              <a:rPr lang="zh-TW" altLang="en-US" smtClean="0">
                <a:solidFill>
                  <a:schemeClr val="bg1"/>
                </a:solidFill>
                <a:latin typeface="微軟正黑體" panose="020B0604030504040204" pitchFamily="34" charset="-120"/>
                <a:ea typeface="微軟正黑體" panose="020B0604030504040204" pitchFamily="34" charset="-120"/>
              </a:rPr>
              <a:t>6</a:t>
            </a:fld>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7EF7A3E8-8B39-2EF4-6B54-19403A1020E4}"/>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1: Introduction</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B26A3816-AB75-DBA0-C23C-78CB2C7AACC4}"/>
              </a:ext>
            </a:extLst>
          </p:cNvPr>
          <p:cNvSpPr/>
          <p:nvPr/>
        </p:nvSpPr>
        <p:spPr>
          <a:xfrm>
            <a:off x="347472" y="457200"/>
            <a:ext cx="7955280" cy="228600"/>
          </a:xfrm>
          <a:prstGeom prst="rect">
            <a:avLst/>
          </a:prstGeom>
          <a:noFill/>
          <a:ln/>
        </p:spPr>
        <p:txBody>
          <a:bodyPr wrap="square" lIns="0" tIns="0" rIns="0" bIns="0" rtlCol="0" anchor="ctr"/>
          <a:lstStyle/>
          <a:p>
            <a:r>
              <a:rPr lang="en-US" altLang="zh-TW"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Research Methods</a:t>
            </a:r>
            <a:endParaRPr lang="en-US" altLang="zh-TW"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BD144E7B-5822-E055-0D48-449ADCC4D321}"/>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0" name="Text 6">
            <a:extLst>
              <a:ext uri="{FF2B5EF4-FFF2-40B4-BE49-F238E27FC236}">
                <a16:creationId xmlns:a16="http://schemas.microsoft.com/office/drawing/2014/main" id="{840EEC3D-0ACD-3683-9F97-DAB6B9377848}"/>
              </a:ext>
            </a:extLst>
          </p:cNvPr>
          <p:cNvSpPr/>
          <p:nvPr/>
        </p:nvSpPr>
        <p:spPr>
          <a:xfrm>
            <a:off x="502920" y="932688"/>
            <a:ext cx="11320272" cy="548352"/>
          </a:xfrm>
          <a:prstGeom prst="rect">
            <a:avLst/>
          </a:prstGeom>
          <a:noFill/>
          <a:ln/>
        </p:spPr>
        <p:txBody>
          <a:bodyPr wrap="square" lIns="0" tIns="0" rIns="0" bIns="0" rtlCol="0" anchor="ctr"/>
          <a:lstStyle/>
          <a:p>
            <a:r>
              <a:rPr lang="en-US" altLang="zh-TW" sz="1400" b="1" dirty="0">
                <a:latin typeface="微軟正黑體" panose="020B0604030504040204" pitchFamily="34" charset="-120"/>
                <a:ea typeface="微軟正黑體" panose="020B0604030504040204" pitchFamily="34" charset="-120"/>
              </a:rPr>
              <a:t>This experiment uses two consistency methods: Selective Distribution Consistency (SDC) and Latent Consistency Matching (LCM)[2].</a:t>
            </a:r>
          </a:p>
        </p:txBody>
      </p:sp>
      <p:grpSp>
        <p:nvGrpSpPr>
          <p:cNvPr id="37" name="群組 36">
            <a:extLst>
              <a:ext uri="{FF2B5EF4-FFF2-40B4-BE49-F238E27FC236}">
                <a16:creationId xmlns:a16="http://schemas.microsoft.com/office/drawing/2014/main" id="{6C7BC155-EFA9-40E4-8CF6-302F3F7F8958}"/>
              </a:ext>
            </a:extLst>
          </p:cNvPr>
          <p:cNvGrpSpPr/>
          <p:nvPr/>
        </p:nvGrpSpPr>
        <p:grpSpPr>
          <a:xfrm>
            <a:off x="573942" y="2660812"/>
            <a:ext cx="3207671" cy="1799425"/>
            <a:chOff x="801019" y="1982462"/>
            <a:chExt cx="3207671" cy="1799425"/>
          </a:xfrm>
        </p:grpSpPr>
        <p:pic>
          <p:nvPicPr>
            <p:cNvPr id="33" name="圖片 32">
              <a:extLst>
                <a:ext uri="{FF2B5EF4-FFF2-40B4-BE49-F238E27FC236}">
                  <a16:creationId xmlns:a16="http://schemas.microsoft.com/office/drawing/2014/main" id="{CE1FB8D8-D542-FE83-3886-59460AA744B0}"/>
                </a:ext>
              </a:extLst>
            </p:cNvPr>
            <p:cNvPicPr>
              <a:picLocks noChangeAspect="1"/>
            </p:cNvPicPr>
            <p:nvPr/>
          </p:nvPicPr>
          <p:blipFill>
            <a:blip r:embed="rId2"/>
            <a:stretch>
              <a:fillRect/>
            </a:stretch>
          </p:blipFill>
          <p:spPr>
            <a:xfrm>
              <a:off x="801019" y="1982462"/>
              <a:ext cx="3207671" cy="1799425"/>
            </a:xfrm>
            <a:prstGeom prst="rect">
              <a:avLst/>
            </a:prstGeom>
          </p:spPr>
        </p:pic>
        <p:cxnSp>
          <p:nvCxnSpPr>
            <p:cNvPr id="35" name="直線單箭頭接點 34">
              <a:extLst>
                <a:ext uri="{FF2B5EF4-FFF2-40B4-BE49-F238E27FC236}">
                  <a16:creationId xmlns:a16="http://schemas.microsoft.com/office/drawing/2014/main" id="{2D7EF52F-F99D-4A4D-793A-DAEA230A32EF}"/>
                </a:ext>
              </a:extLst>
            </p:cNvPr>
            <p:cNvCxnSpPr/>
            <p:nvPr/>
          </p:nvCxnSpPr>
          <p:spPr>
            <a:xfrm flipH="1">
              <a:off x="1961965" y="3098307"/>
              <a:ext cx="692458" cy="0"/>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657EDE27-1640-D95F-B719-540AA23B1D85}"/>
                </a:ext>
              </a:extLst>
            </p:cNvPr>
            <p:cNvSpPr txBox="1"/>
            <p:nvPr/>
          </p:nvSpPr>
          <p:spPr>
            <a:xfrm>
              <a:off x="1575671" y="2839644"/>
              <a:ext cx="2158085" cy="276999"/>
            </a:xfrm>
            <a:prstGeom prst="rect">
              <a:avLst/>
            </a:prstGeom>
            <a:noFill/>
          </p:spPr>
          <p:txBody>
            <a:bodyPr wrap="square" rtlCol="0">
              <a:spAutoFit/>
            </a:bodyPr>
            <a:lstStyle/>
            <a:p>
              <a:r>
                <a:rPr lang="en-US" altLang="zh-TW" sz="1200" dirty="0">
                  <a:solidFill>
                    <a:srgbClr val="FF0000"/>
                  </a:solidFill>
                  <a:latin typeface="微軟正黑體" panose="020B0604030504040204" pitchFamily="34" charset="-120"/>
                  <a:ea typeface="微軟正黑體" panose="020B0604030504040204" pitchFamily="34" charset="-120"/>
                </a:rPr>
                <a:t>Distribution Alignment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grpSp>
      <p:sp>
        <p:nvSpPr>
          <p:cNvPr id="38" name="文字方塊 37">
            <a:extLst>
              <a:ext uri="{FF2B5EF4-FFF2-40B4-BE49-F238E27FC236}">
                <a16:creationId xmlns:a16="http://schemas.microsoft.com/office/drawing/2014/main" id="{A8FC2147-B8B0-1AB4-1690-F17AA96C0A72}"/>
              </a:ext>
            </a:extLst>
          </p:cNvPr>
          <p:cNvSpPr txBox="1"/>
          <p:nvPr/>
        </p:nvSpPr>
        <p:spPr>
          <a:xfrm>
            <a:off x="502919" y="1494551"/>
            <a:ext cx="5755837" cy="1231106"/>
          </a:xfrm>
          <a:prstGeom prst="rect">
            <a:avLst/>
          </a:prstGeom>
          <a:noFill/>
        </p:spPr>
        <p:txBody>
          <a:bodyPr wrap="square" rtlCol="0">
            <a:spAutoFit/>
          </a:bodyPr>
          <a:lstStyle/>
          <a:p>
            <a:r>
              <a:rPr lang="en-US" altLang="zh-TW" sz="1600" b="1" dirty="0">
                <a:latin typeface="微軟正黑體" panose="020B0604030504040204" pitchFamily="34" charset="-120"/>
                <a:ea typeface="微軟正黑體" panose="020B0604030504040204" pitchFamily="34" charset="-120"/>
              </a:rPr>
              <a:t>SDC</a:t>
            </a:r>
          </a:p>
          <a:p>
            <a:endParaRPr lang="en-US" altLang="zh-TW" sz="1600" dirty="0">
              <a:latin typeface="微軟正黑體" panose="020B0604030504040204" pitchFamily="34" charset="-120"/>
              <a:ea typeface="微軟正黑體" panose="020B0604030504040204" pitchFamily="34" charset="-120"/>
            </a:endParaRPr>
          </a:p>
          <a:p>
            <a:r>
              <a:rPr lang="en-US" altLang="zh-TW" sz="1400" dirty="0">
                <a:latin typeface="微軟正黑體" panose="020B0604030504040204" pitchFamily="34" charset="-120"/>
                <a:ea typeface="微軟正黑體" panose="020B0604030504040204" pitchFamily="34" charset="-120"/>
              </a:rPr>
              <a:t>SDC is proposed in this study to align the output probability distributions of the student heads (Heads 2–K) with the teacher head (Head 1).</a:t>
            </a:r>
          </a:p>
        </p:txBody>
      </p:sp>
      <p:pic>
        <p:nvPicPr>
          <p:cNvPr id="40" name="圖片 39">
            <a:extLst>
              <a:ext uri="{FF2B5EF4-FFF2-40B4-BE49-F238E27FC236}">
                <a16:creationId xmlns:a16="http://schemas.microsoft.com/office/drawing/2014/main" id="{4FCB0A22-76B0-2E1F-05AE-595EC8FB8D59}"/>
              </a:ext>
            </a:extLst>
          </p:cNvPr>
          <p:cNvPicPr>
            <a:picLocks noChangeAspect="1"/>
          </p:cNvPicPr>
          <p:nvPr/>
        </p:nvPicPr>
        <p:blipFill>
          <a:blip r:embed="rId3"/>
          <a:stretch>
            <a:fillRect/>
          </a:stretch>
        </p:blipFill>
        <p:spPr>
          <a:xfrm>
            <a:off x="573942" y="5212791"/>
            <a:ext cx="2586395" cy="1314196"/>
          </a:xfrm>
          <a:prstGeom prst="rect">
            <a:avLst/>
          </a:prstGeom>
          <a:ln>
            <a:solidFill>
              <a:schemeClr val="tx1"/>
            </a:solidFill>
          </a:ln>
        </p:spPr>
      </p:pic>
      <p:sp>
        <p:nvSpPr>
          <p:cNvPr id="41" name="文字方塊 40">
            <a:extLst>
              <a:ext uri="{FF2B5EF4-FFF2-40B4-BE49-F238E27FC236}">
                <a16:creationId xmlns:a16="http://schemas.microsoft.com/office/drawing/2014/main" id="{86080F3B-F863-D9AE-864E-DF6914A77CE9}"/>
              </a:ext>
            </a:extLst>
          </p:cNvPr>
          <p:cNvSpPr txBox="1"/>
          <p:nvPr/>
        </p:nvSpPr>
        <p:spPr>
          <a:xfrm>
            <a:off x="502920" y="4474127"/>
            <a:ext cx="5853492" cy="738664"/>
          </a:xfrm>
          <a:prstGeom prst="rect">
            <a:avLst/>
          </a:prstGeom>
          <a:noFill/>
        </p:spPr>
        <p:txBody>
          <a:bodyPr wrap="square" rtlCol="0">
            <a:spAutoFit/>
          </a:bodyPr>
          <a:lstStyle/>
          <a:p>
            <a:r>
              <a:rPr lang="en-US" altLang="zh-TW" sz="1400" dirty="0">
                <a:latin typeface="微軟正黑體" panose="020B0604030504040204" pitchFamily="34" charset="-120"/>
                <a:ea typeface="微軟正黑體" panose="020B0604030504040204" pitchFamily="34" charset="-120"/>
              </a:rPr>
              <a:t>In addition, SDC masks low-confidence tokens from the teacher head (as shown below) and ignores these positions when computing the SDC loss.</a:t>
            </a:r>
          </a:p>
        </p:txBody>
      </p:sp>
      <p:sp>
        <p:nvSpPr>
          <p:cNvPr id="42" name="文字方塊 41">
            <a:extLst>
              <a:ext uri="{FF2B5EF4-FFF2-40B4-BE49-F238E27FC236}">
                <a16:creationId xmlns:a16="http://schemas.microsoft.com/office/drawing/2014/main" id="{AFB4FEDA-7E7E-B165-DFB7-D5C9891A38DC}"/>
              </a:ext>
            </a:extLst>
          </p:cNvPr>
          <p:cNvSpPr txBox="1"/>
          <p:nvPr/>
        </p:nvSpPr>
        <p:spPr>
          <a:xfrm>
            <a:off x="6356412" y="1481040"/>
            <a:ext cx="5119308" cy="2092881"/>
          </a:xfrm>
          <a:prstGeom prst="rect">
            <a:avLst/>
          </a:prstGeom>
          <a:noFill/>
        </p:spPr>
        <p:txBody>
          <a:bodyPr wrap="square" rtlCol="0">
            <a:spAutoFit/>
          </a:bodyPr>
          <a:lstStyle/>
          <a:p>
            <a:r>
              <a:rPr lang="en-US" altLang="zh-TW" sz="1600" b="1" dirty="0">
                <a:latin typeface="微軟正黑體" panose="020B0604030504040204" pitchFamily="34" charset="-120"/>
                <a:ea typeface="微軟正黑體" panose="020B0604030504040204" pitchFamily="34" charset="-120"/>
              </a:rPr>
              <a:t>LCM [2]</a:t>
            </a:r>
          </a:p>
          <a:p>
            <a:endParaRPr lang="en-US" altLang="zh-TW" sz="1600" dirty="0">
              <a:latin typeface="微軟正黑體" panose="020B0604030504040204" pitchFamily="34" charset="-120"/>
              <a:ea typeface="微軟正黑體" panose="020B0604030504040204" pitchFamily="34" charset="-120"/>
            </a:endParaRPr>
          </a:p>
          <a:p>
            <a:r>
              <a:rPr lang="en-US" altLang="zh-TW" sz="1400" dirty="0">
                <a:latin typeface="微軟正黑體" panose="020B0604030504040204" pitchFamily="34" charset="-120"/>
                <a:ea typeface="微軟正黑體" panose="020B0604030504040204" pitchFamily="34" charset="-120"/>
              </a:rPr>
              <a:t>Besides probability distribution alignment, LCM reduces the distance between student heads and the teacher head at the latent representation level.</a:t>
            </a:r>
          </a:p>
          <a:p>
            <a:endParaRPr lang="en-US" altLang="zh-TW" sz="1400" dirty="0">
              <a:latin typeface="微軟正黑體" panose="020B0604030504040204" pitchFamily="34" charset="-120"/>
              <a:ea typeface="微軟正黑體" panose="020B0604030504040204" pitchFamily="34" charset="-120"/>
            </a:endParaRPr>
          </a:p>
          <a:p>
            <a:r>
              <a:rPr lang="en-US" altLang="zh-TW" sz="1400" dirty="0">
                <a:latin typeface="微軟正黑體" panose="020B0604030504040204" pitchFamily="34" charset="-120"/>
                <a:ea typeface="微軟正黑體" panose="020B0604030504040204" pitchFamily="34" charset="-120"/>
              </a:rPr>
              <a:t>The figure below projects high-dimensional latent representations into 2D to visualize teacher–student distances.</a:t>
            </a:r>
          </a:p>
        </p:txBody>
      </p:sp>
      <p:grpSp>
        <p:nvGrpSpPr>
          <p:cNvPr id="54" name="群組 53">
            <a:extLst>
              <a:ext uri="{FF2B5EF4-FFF2-40B4-BE49-F238E27FC236}">
                <a16:creationId xmlns:a16="http://schemas.microsoft.com/office/drawing/2014/main" id="{3B086969-918B-03A6-C18F-5E4B727871FD}"/>
              </a:ext>
            </a:extLst>
          </p:cNvPr>
          <p:cNvGrpSpPr/>
          <p:nvPr/>
        </p:nvGrpSpPr>
        <p:grpSpPr>
          <a:xfrm>
            <a:off x="6523104" y="3599968"/>
            <a:ext cx="3559296" cy="1942574"/>
            <a:chOff x="6369726" y="3090762"/>
            <a:chExt cx="3559296" cy="1942574"/>
          </a:xfrm>
        </p:grpSpPr>
        <p:graphicFrame>
          <p:nvGraphicFramePr>
            <p:cNvPr id="49" name="圖表 48">
              <a:extLst>
                <a:ext uri="{FF2B5EF4-FFF2-40B4-BE49-F238E27FC236}">
                  <a16:creationId xmlns:a16="http://schemas.microsoft.com/office/drawing/2014/main" id="{2C4969CF-8390-C9C1-10E9-4EB4AEC73F8B}"/>
                </a:ext>
              </a:extLst>
            </p:cNvPr>
            <p:cNvGraphicFramePr/>
            <p:nvPr>
              <p:extLst>
                <p:ext uri="{D42A27DB-BD31-4B8C-83A1-F6EECF244321}">
                  <p14:modId xmlns:p14="http://schemas.microsoft.com/office/powerpoint/2010/main" val="414314006"/>
                </p:ext>
              </p:extLst>
            </p:nvPr>
          </p:nvGraphicFramePr>
          <p:xfrm>
            <a:off x="6369726" y="3090762"/>
            <a:ext cx="3559296" cy="1942574"/>
          </p:xfrm>
          <a:graphic>
            <a:graphicData uri="http://schemas.openxmlformats.org/drawingml/2006/chart">
              <c:chart xmlns:c="http://schemas.openxmlformats.org/drawingml/2006/chart" xmlns:r="http://schemas.openxmlformats.org/officeDocument/2006/relationships" r:id="rId4"/>
            </a:graphicData>
          </a:graphic>
        </p:graphicFrame>
        <p:grpSp>
          <p:nvGrpSpPr>
            <p:cNvPr id="53" name="群組 52">
              <a:extLst>
                <a:ext uri="{FF2B5EF4-FFF2-40B4-BE49-F238E27FC236}">
                  <a16:creationId xmlns:a16="http://schemas.microsoft.com/office/drawing/2014/main" id="{4F5C9862-200E-4746-6DAC-A9DE397FDCE0}"/>
                </a:ext>
              </a:extLst>
            </p:cNvPr>
            <p:cNvGrpSpPr/>
            <p:nvPr/>
          </p:nvGrpSpPr>
          <p:grpSpPr>
            <a:xfrm>
              <a:off x="7208814" y="3584437"/>
              <a:ext cx="1679700" cy="923277"/>
              <a:chOff x="7190913" y="3346882"/>
              <a:chExt cx="1679700" cy="923277"/>
            </a:xfrm>
          </p:grpSpPr>
          <p:cxnSp>
            <p:nvCxnSpPr>
              <p:cNvPr id="51" name="直線單箭頭接點 50">
                <a:extLst>
                  <a:ext uri="{FF2B5EF4-FFF2-40B4-BE49-F238E27FC236}">
                    <a16:creationId xmlns:a16="http://schemas.microsoft.com/office/drawing/2014/main" id="{57FE0909-9229-6CAA-E7A7-2139EF6C66F9}"/>
                  </a:ext>
                </a:extLst>
              </p:cNvPr>
              <p:cNvCxnSpPr/>
              <p:nvPr/>
            </p:nvCxnSpPr>
            <p:spPr>
              <a:xfrm flipH="1">
                <a:off x="7190913" y="3346882"/>
                <a:ext cx="639192" cy="9232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1A947D1A-8AAF-ED7B-66C1-44862306DBA1}"/>
                  </a:ext>
                </a:extLst>
              </p:cNvPr>
              <p:cNvSpPr txBox="1"/>
              <p:nvPr/>
            </p:nvSpPr>
            <p:spPr>
              <a:xfrm>
                <a:off x="7392207" y="3812987"/>
                <a:ext cx="1478406" cy="276999"/>
              </a:xfrm>
              <a:prstGeom prst="rect">
                <a:avLst/>
              </a:prstGeom>
              <a:noFill/>
            </p:spPr>
            <p:txBody>
              <a:bodyPr wrap="square" rtlCol="0">
                <a:spAutoFit/>
              </a:bodyPr>
              <a:lstStyle/>
              <a:p>
                <a:r>
                  <a:rPr lang="en-US" altLang="zh-TW" sz="1200" dirty="0">
                    <a:solidFill>
                      <a:srgbClr val="FF0000"/>
                    </a:solidFill>
                    <a:latin typeface="微軟正黑體" panose="020B0604030504040204" pitchFamily="34" charset="-120"/>
                    <a:ea typeface="微軟正黑體" panose="020B0604030504040204" pitchFamily="34" charset="-120"/>
                  </a:rPr>
                  <a:t>Latent Alignment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grpSp>
      </p:grpSp>
    </p:spTree>
    <p:extLst>
      <p:ext uri="{BB962C8B-B14F-4D97-AF65-F5344CB8AC3E}">
        <p14:creationId xmlns:p14="http://schemas.microsoft.com/office/powerpoint/2010/main" val="2183537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80F98701-068A-E34A-3621-B0B2FC9A63AA}"/>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F0C4C60D-4673-68F8-2672-0C165C17947A}"/>
              </a:ext>
            </a:extLst>
          </p:cNvPr>
          <p:cNvSpPr>
            <a:spLocks noGrp="1"/>
          </p:cNvSpPr>
          <p:nvPr>
            <p:ph type="sldNum" sz="quarter" idx="12"/>
          </p:nvPr>
        </p:nvSpPr>
        <p:spPr>
          <a:xfrm>
            <a:off x="9448495" y="6611112"/>
            <a:ext cx="2743200" cy="246888"/>
          </a:xfrm>
        </p:spPr>
        <p:txBody>
          <a:bodyPr/>
          <a:lstStyle/>
          <a:p>
            <a:fld id="{A98399F2-4B7C-4808-8B27-A13C76E6A9FD}" type="slidenum">
              <a:rPr lang="zh-TW" altLang="en-US" smtClean="0">
                <a:solidFill>
                  <a:schemeClr val="bg1"/>
                </a:solidFill>
                <a:latin typeface="微軟正黑體" panose="020B0604030504040204" pitchFamily="34" charset="-120"/>
                <a:ea typeface="微軟正黑體" panose="020B0604030504040204" pitchFamily="34" charset="-120"/>
              </a:rPr>
              <a:t>7</a:t>
            </a:fld>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A87E6918-D099-288F-7D25-B66039C42B20}"/>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1: Introduction</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B7B5D365-1A43-9398-0370-DF4CA660DAA9}"/>
              </a:ext>
            </a:extLst>
          </p:cNvPr>
          <p:cNvSpPr/>
          <p:nvPr/>
        </p:nvSpPr>
        <p:spPr>
          <a:xfrm>
            <a:off x="347472" y="457200"/>
            <a:ext cx="7955280" cy="228600"/>
          </a:xfrm>
          <a:prstGeom prst="rect">
            <a:avLst/>
          </a:prstGeom>
          <a:noFill/>
          <a:ln/>
        </p:spPr>
        <p:txBody>
          <a:bodyPr wrap="square" lIns="0" tIns="0" rIns="0" bIns="0" rtlCol="0" anchor="ctr"/>
          <a:lstStyle/>
          <a:p>
            <a:pPr marL="0" indent="0">
              <a:buNone/>
            </a:pP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Contributions</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7301E497-C61C-F8E2-EE67-81FE46D3664F}"/>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grpSp>
        <p:nvGrpSpPr>
          <p:cNvPr id="20" name="群組 19">
            <a:extLst>
              <a:ext uri="{FF2B5EF4-FFF2-40B4-BE49-F238E27FC236}">
                <a16:creationId xmlns:a16="http://schemas.microsoft.com/office/drawing/2014/main" id="{EACF03F9-6510-7E2D-FCD0-2D3774770E79}"/>
              </a:ext>
            </a:extLst>
          </p:cNvPr>
          <p:cNvGrpSpPr/>
          <p:nvPr/>
        </p:nvGrpSpPr>
        <p:grpSpPr>
          <a:xfrm>
            <a:off x="653396" y="1099656"/>
            <a:ext cx="10885208" cy="787392"/>
            <a:chOff x="653396" y="1099656"/>
            <a:chExt cx="10885208" cy="787392"/>
          </a:xfrm>
        </p:grpSpPr>
        <p:sp>
          <p:nvSpPr>
            <p:cNvPr id="10" name="Text 7">
              <a:extLst>
                <a:ext uri="{FF2B5EF4-FFF2-40B4-BE49-F238E27FC236}">
                  <a16:creationId xmlns:a16="http://schemas.microsoft.com/office/drawing/2014/main" id="{A27EBE22-AA8C-4952-CFF5-96FC7B524D01}"/>
                </a:ext>
              </a:extLst>
            </p:cNvPr>
            <p:cNvSpPr/>
            <p:nvPr/>
          </p:nvSpPr>
          <p:spPr>
            <a:xfrm>
              <a:off x="1600200" y="1252728"/>
              <a:ext cx="3840480" cy="182880"/>
            </a:xfrm>
            <a:prstGeom prst="rect">
              <a:avLst/>
            </a:prstGeom>
            <a:noFill/>
            <a:ln/>
          </p:spPr>
          <p:txBody>
            <a:bodyPr wrap="square" lIns="0" tIns="0" rIns="0" bIns="0" rtlCol="0" anchor="ctr"/>
            <a:lstStyle/>
            <a:p>
              <a:pPr marL="0" indent="0">
                <a:buNone/>
              </a:pPr>
              <a:r>
                <a:rPr lang="en-US" sz="1400" b="1" dirty="0">
                  <a:solidFill>
                    <a:srgbClr val="1B2E3A"/>
                  </a:solidFill>
                  <a:latin typeface="微軟正黑體" panose="020B0604030504040204" pitchFamily="34" charset="-120"/>
                  <a:ea typeface="微軟正黑體" panose="020B0604030504040204" pitchFamily="34" charset="-120"/>
                  <a:cs typeface="Noto Sans CJK TC" pitchFamily="34" charset="-120"/>
                </a:rPr>
                <a:t>Selective Distribution Consistency</a:t>
              </a:r>
              <a:endParaRPr lang="en-US" sz="1400" dirty="0">
                <a:latin typeface="微軟正黑體" panose="020B0604030504040204" pitchFamily="34" charset="-120"/>
                <a:ea typeface="微軟正黑體" panose="020B0604030504040204" pitchFamily="34" charset="-120"/>
              </a:endParaRPr>
            </a:p>
          </p:txBody>
        </p:sp>
        <p:sp>
          <p:nvSpPr>
            <p:cNvPr id="11" name="Text 8">
              <a:extLst>
                <a:ext uri="{FF2B5EF4-FFF2-40B4-BE49-F238E27FC236}">
                  <a16:creationId xmlns:a16="http://schemas.microsoft.com/office/drawing/2014/main" id="{A2E32A38-D527-508E-4DDA-0E61271BAB22}"/>
                </a:ext>
              </a:extLst>
            </p:cNvPr>
            <p:cNvSpPr/>
            <p:nvPr/>
          </p:nvSpPr>
          <p:spPr>
            <a:xfrm>
              <a:off x="1600200" y="1527048"/>
              <a:ext cx="9938404" cy="360000"/>
            </a:xfrm>
            <a:prstGeom prst="rect">
              <a:avLst/>
            </a:prstGeom>
            <a:noFill/>
            <a:ln/>
          </p:spPr>
          <p:txBody>
            <a:bodyPr wrap="square" lIns="0" tIns="0" rIns="0" bIns="0" rtlCol="0" anchor="ctr">
              <a:noAutofit/>
            </a:bodyPr>
            <a:lstStyle/>
            <a:p>
              <a:r>
                <a:rPr lang="en-US" altLang="zh-TW" sz="1200" dirty="0">
                  <a:latin typeface="微軟正黑體" panose="020B0604030504040204" pitchFamily="34" charset="-120"/>
                  <a:ea typeface="微軟正黑體" panose="020B0604030504040204" pitchFamily="34" charset="-120"/>
                </a:rPr>
                <a:t>During pre-training, this study introduces SDC as a consistency regularization term. The teacher head's prediction distribution is used to supervise the student heads, improving consistency between their predictions.</a:t>
              </a:r>
            </a:p>
          </p:txBody>
        </p:sp>
        <p:sp>
          <p:nvSpPr>
            <p:cNvPr id="16" name="Text 4">
              <a:extLst>
                <a:ext uri="{FF2B5EF4-FFF2-40B4-BE49-F238E27FC236}">
                  <a16:creationId xmlns:a16="http://schemas.microsoft.com/office/drawing/2014/main" id="{5FE1590C-67F9-253A-7DF6-3E0F4F14DBEC}"/>
                </a:ext>
              </a:extLst>
            </p:cNvPr>
            <p:cNvSpPr/>
            <p:nvPr/>
          </p:nvSpPr>
          <p:spPr>
            <a:xfrm>
              <a:off x="653396" y="1099656"/>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01</a:t>
              </a:r>
              <a:endParaRPr lang="en-US" sz="1400" dirty="0">
                <a:latin typeface="微軟正黑體" panose="020B0604030504040204" pitchFamily="34" charset="-120"/>
                <a:ea typeface="微軟正黑體" panose="020B0604030504040204" pitchFamily="34" charset="-120"/>
              </a:endParaRPr>
            </a:p>
          </p:txBody>
        </p:sp>
      </p:grpSp>
      <p:grpSp>
        <p:nvGrpSpPr>
          <p:cNvPr id="19" name="群組 18">
            <a:extLst>
              <a:ext uri="{FF2B5EF4-FFF2-40B4-BE49-F238E27FC236}">
                <a16:creationId xmlns:a16="http://schemas.microsoft.com/office/drawing/2014/main" id="{6CD3D477-0CA5-62CF-F2B9-775538188776}"/>
              </a:ext>
            </a:extLst>
          </p:cNvPr>
          <p:cNvGrpSpPr/>
          <p:nvPr/>
        </p:nvGrpSpPr>
        <p:grpSpPr>
          <a:xfrm>
            <a:off x="653396" y="2401488"/>
            <a:ext cx="10730884" cy="720000"/>
            <a:chOff x="653396" y="2401488"/>
            <a:chExt cx="10730884" cy="720000"/>
          </a:xfrm>
        </p:grpSpPr>
        <p:sp>
          <p:nvSpPr>
            <p:cNvPr id="12" name="Text 10">
              <a:extLst>
                <a:ext uri="{FF2B5EF4-FFF2-40B4-BE49-F238E27FC236}">
                  <a16:creationId xmlns:a16="http://schemas.microsoft.com/office/drawing/2014/main" id="{799F9D62-A68A-EBD4-AE7A-652C6E39F37A}"/>
                </a:ext>
              </a:extLst>
            </p:cNvPr>
            <p:cNvSpPr/>
            <p:nvPr/>
          </p:nvSpPr>
          <p:spPr>
            <a:xfrm>
              <a:off x="1600200" y="2487168"/>
              <a:ext cx="4464000" cy="182880"/>
            </a:xfrm>
            <a:prstGeom prst="rect">
              <a:avLst/>
            </a:prstGeom>
            <a:noFill/>
            <a:ln/>
          </p:spPr>
          <p:txBody>
            <a:bodyPr wrap="square" lIns="0" tIns="0" rIns="0" bIns="0" rtlCol="0" anchor="ctr"/>
            <a:lstStyle/>
            <a:p>
              <a:pPr marL="0" indent="0">
                <a:buNone/>
              </a:pPr>
              <a:r>
                <a:rPr lang="en-US" sz="1400" b="1" dirty="0">
                  <a:solidFill>
                    <a:srgbClr val="1B2E3A"/>
                  </a:solidFill>
                  <a:latin typeface="微軟正黑體" panose="020B0604030504040204" pitchFamily="34" charset="-120"/>
                  <a:ea typeface="微軟正黑體" panose="020B0604030504040204" pitchFamily="34" charset="-120"/>
                  <a:cs typeface="Noto Sans CJK TC" pitchFamily="34" charset="-120"/>
                </a:rPr>
                <a:t>Improved Head PPL and Draft Acceptance</a:t>
              </a:r>
              <a:endParaRPr lang="en-US" sz="1400" dirty="0">
                <a:latin typeface="微軟正黑體" panose="020B0604030504040204" pitchFamily="34" charset="-120"/>
                <a:ea typeface="微軟正黑體" panose="020B0604030504040204" pitchFamily="34" charset="-120"/>
              </a:endParaRPr>
            </a:p>
          </p:txBody>
        </p:sp>
        <p:sp>
          <p:nvSpPr>
            <p:cNvPr id="13" name="Text 11">
              <a:extLst>
                <a:ext uri="{FF2B5EF4-FFF2-40B4-BE49-F238E27FC236}">
                  <a16:creationId xmlns:a16="http://schemas.microsoft.com/office/drawing/2014/main" id="{975B3921-78D2-F7CD-2557-9D9C5160C67E}"/>
                </a:ext>
              </a:extLst>
            </p:cNvPr>
            <p:cNvSpPr/>
            <p:nvPr/>
          </p:nvSpPr>
          <p:spPr>
            <a:xfrm>
              <a:off x="1600200" y="2761488"/>
              <a:ext cx="9784080" cy="360000"/>
            </a:xfrm>
            <a:prstGeom prst="rect">
              <a:avLst/>
            </a:prstGeom>
            <a:noFill/>
            <a:ln/>
          </p:spPr>
          <p:txBody>
            <a:bodyPr wrap="square" lIns="0" tIns="0" rIns="0" bIns="0" rtlCol="0" anchor="ctr">
              <a:normAutofit lnSpcReduction="10000"/>
            </a:bodyPr>
            <a:lstStyle/>
            <a:p>
              <a:r>
                <a:rPr lang="en-US" altLang="zh-TW" sz="1200" dirty="0">
                  <a:latin typeface="微軟正黑體" panose="020B0604030504040204" pitchFamily="34" charset="-120"/>
                  <a:ea typeface="微軟正黑體" panose="020B0604030504040204" pitchFamily="34" charset="-120"/>
                </a:rPr>
                <a:t>This study evaluates the proposed method against the baseline using metrics such as Oracle PPL, Average Draft Tokens Accepted, and Generative PPL. Among them, Generative PPL is reduced by about 52%, showing the largest improvement.</a:t>
              </a:r>
            </a:p>
          </p:txBody>
        </p:sp>
        <p:sp>
          <p:nvSpPr>
            <p:cNvPr id="17" name="Text 4">
              <a:extLst>
                <a:ext uri="{FF2B5EF4-FFF2-40B4-BE49-F238E27FC236}">
                  <a16:creationId xmlns:a16="http://schemas.microsoft.com/office/drawing/2014/main" id="{6071DD21-283D-8125-2F68-557C651DB9C4}"/>
                </a:ext>
              </a:extLst>
            </p:cNvPr>
            <p:cNvSpPr/>
            <p:nvPr/>
          </p:nvSpPr>
          <p:spPr>
            <a:xfrm>
              <a:off x="653396" y="2401488"/>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02</a:t>
              </a:r>
              <a:endParaRPr lang="en-US" sz="1400" dirty="0">
                <a:latin typeface="微軟正黑體" panose="020B0604030504040204" pitchFamily="34" charset="-120"/>
                <a:ea typeface="微軟正黑體" panose="020B0604030504040204" pitchFamily="34" charset="-120"/>
              </a:endParaRPr>
            </a:p>
          </p:txBody>
        </p:sp>
      </p:grpSp>
      <p:grpSp>
        <p:nvGrpSpPr>
          <p:cNvPr id="21" name="群組 20">
            <a:extLst>
              <a:ext uri="{FF2B5EF4-FFF2-40B4-BE49-F238E27FC236}">
                <a16:creationId xmlns:a16="http://schemas.microsoft.com/office/drawing/2014/main" id="{0FFC557E-7866-5266-820D-B4C44FA922C3}"/>
              </a:ext>
            </a:extLst>
          </p:cNvPr>
          <p:cNvGrpSpPr/>
          <p:nvPr/>
        </p:nvGrpSpPr>
        <p:grpSpPr>
          <a:xfrm>
            <a:off x="664493" y="3635928"/>
            <a:ext cx="10719787" cy="720000"/>
            <a:chOff x="664493" y="3635928"/>
            <a:chExt cx="10719787" cy="720000"/>
          </a:xfrm>
        </p:grpSpPr>
        <p:sp>
          <p:nvSpPr>
            <p:cNvPr id="14" name="Text 13">
              <a:extLst>
                <a:ext uri="{FF2B5EF4-FFF2-40B4-BE49-F238E27FC236}">
                  <a16:creationId xmlns:a16="http://schemas.microsoft.com/office/drawing/2014/main" id="{370B4A7F-846C-967B-592B-95E668A5EAEA}"/>
                </a:ext>
              </a:extLst>
            </p:cNvPr>
            <p:cNvSpPr/>
            <p:nvPr/>
          </p:nvSpPr>
          <p:spPr>
            <a:xfrm>
              <a:off x="1600200" y="3721608"/>
              <a:ext cx="3840480" cy="182880"/>
            </a:xfrm>
            <a:prstGeom prst="rect">
              <a:avLst/>
            </a:prstGeom>
            <a:noFill/>
            <a:ln/>
          </p:spPr>
          <p:txBody>
            <a:bodyPr wrap="square" lIns="0" tIns="0" rIns="0" bIns="0" rtlCol="0" anchor="ctr"/>
            <a:lstStyle/>
            <a:p>
              <a:pPr marL="0" indent="0">
                <a:buNone/>
              </a:pPr>
              <a:r>
                <a:rPr lang="en-US" sz="1400" b="1" dirty="0">
                  <a:latin typeface="微軟正黑體" panose="020B0604030504040204" pitchFamily="34" charset="-120"/>
                  <a:ea typeface="微軟正黑體" panose="020B0604030504040204" pitchFamily="34" charset="-120"/>
                </a:rPr>
                <a:t>Joint Training of SDC and LCM</a:t>
              </a:r>
            </a:p>
          </p:txBody>
        </p:sp>
        <p:sp>
          <p:nvSpPr>
            <p:cNvPr id="15" name="Text 14">
              <a:extLst>
                <a:ext uri="{FF2B5EF4-FFF2-40B4-BE49-F238E27FC236}">
                  <a16:creationId xmlns:a16="http://schemas.microsoft.com/office/drawing/2014/main" id="{B8D34A56-7707-8C04-263A-2A589FD8A9A7}"/>
                </a:ext>
              </a:extLst>
            </p:cNvPr>
            <p:cNvSpPr/>
            <p:nvPr/>
          </p:nvSpPr>
          <p:spPr>
            <a:xfrm>
              <a:off x="1600200" y="3995928"/>
              <a:ext cx="9784080" cy="292608"/>
            </a:xfrm>
            <a:prstGeom prst="rect">
              <a:avLst/>
            </a:prstGeom>
            <a:noFill/>
            <a:ln/>
          </p:spPr>
          <p:txBody>
            <a:bodyPr wrap="square" lIns="0" tIns="0" rIns="0" bIns="0" rtlCol="0" anchor="ctr">
              <a:normAutofit fontScale="92500" lnSpcReduction="20000"/>
            </a:bodyPr>
            <a:lstStyle/>
            <a:p>
              <a:r>
                <a:rPr lang="en-US" altLang="zh-TW" sz="1200" dirty="0">
                  <a:latin typeface="微軟正黑體" panose="020B0604030504040204" pitchFamily="34" charset="-120"/>
                  <a:ea typeface="微軟正黑體" panose="020B0604030504040204" pitchFamily="34" charset="-120"/>
                </a:rPr>
                <a:t>The experimental results show that SDC and LCM can be jointly trained, and no negative effects caused by conflicts between the two methods were observed.</a:t>
              </a:r>
            </a:p>
          </p:txBody>
        </p:sp>
        <p:sp>
          <p:nvSpPr>
            <p:cNvPr id="18" name="Text 4">
              <a:extLst>
                <a:ext uri="{FF2B5EF4-FFF2-40B4-BE49-F238E27FC236}">
                  <a16:creationId xmlns:a16="http://schemas.microsoft.com/office/drawing/2014/main" id="{BEA795F7-A9CE-4A56-E505-726CBE92E948}"/>
                </a:ext>
              </a:extLst>
            </p:cNvPr>
            <p:cNvSpPr/>
            <p:nvPr/>
          </p:nvSpPr>
          <p:spPr>
            <a:xfrm>
              <a:off x="664493" y="3635928"/>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03</a:t>
              </a:r>
              <a:endParaRPr lang="en-US" sz="14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2518118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5B21BCF0-A647-C109-D387-4A9D7395A017}"/>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p>
        </p:txBody>
      </p:sp>
      <p:sp>
        <p:nvSpPr>
          <p:cNvPr id="4" name="投影片編號版面配置區 3">
            <a:extLst>
              <a:ext uri="{FF2B5EF4-FFF2-40B4-BE49-F238E27FC236}">
                <a16:creationId xmlns:a16="http://schemas.microsoft.com/office/drawing/2014/main" id="{5ADC25B2-F585-BC47-76CD-31E6708518AB}"/>
              </a:ext>
            </a:extLst>
          </p:cNvPr>
          <p:cNvSpPr>
            <a:spLocks noGrp="1"/>
          </p:cNvSpPr>
          <p:nvPr>
            <p:ph type="sldNum" sz="quarter" idx="12"/>
          </p:nvPr>
        </p:nvSpPr>
        <p:spPr>
          <a:xfrm>
            <a:off x="9448495" y="6611112"/>
            <a:ext cx="2743200" cy="246888"/>
          </a:xfrm>
        </p:spPr>
        <p:txBody>
          <a:bodyPr/>
          <a:lstStyle/>
          <a:p>
            <a:fld id="{A98399F2-4B7C-4808-8B27-A13C76E6A9FD}" type="slidenum">
              <a:rPr lang="zh-TW" altLang="en-US" smtClean="0">
                <a:solidFill>
                  <a:schemeClr val="bg1"/>
                </a:solidFill>
              </a:rPr>
              <a:t>8</a:t>
            </a:fld>
            <a:endParaRPr lang="zh-TW" altLang="en-US" dirty="0">
              <a:solidFill>
                <a:schemeClr val="bg1"/>
              </a:solidFill>
            </a:endParaRPr>
          </a:p>
        </p:txBody>
      </p:sp>
      <p:sp>
        <p:nvSpPr>
          <p:cNvPr id="7" name="Shape 4">
            <a:extLst>
              <a:ext uri="{FF2B5EF4-FFF2-40B4-BE49-F238E27FC236}">
                <a16:creationId xmlns:a16="http://schemas.microsoft.com/office/drawing/2014/main" id="{83C2D4A6-B8DE-7882-B445-1E98D3F9012A}"/>
              </a:ext>
            </a:extLst>
          </p:cNvPr>
          <p:cNvSpPr/>
          <p:nvPr/>
        </p:nvSpPr>
        <p:spPr>
          <a:xfrm>
            <a:off x="0" y="2496312"/>
            <a:ext cx="12191695" cy="676656"/>
          </a:xfrm>
          <a:prstGeom prst="rect">
            <a:avLst/>
          </a:prstGeom>
          <a:solidFill>
            <a:srgbClr val="5B839B"/>
          </a:solidFill>
          <a:ln w="12700">
            <a:solidFill>
              <a:srgbClr val="5B839B"/>
            </a:solidFill>
            <a:prstDash val="solid"/>
          </a:ln>
        </p:spPr>
        <p:txBody>
          <a:bodyPr/>
          <a:lstStyle/>
          <a:p>
            <a:endParaRPr lang="zh-TW" altLang="en-US"/>
          </a:p>
        </p:txBody>
      </p:sp>
      <p:sp>
        <p:nvSpPr>
          <p:cNvPr id="8" name="Text 5">
            <a:extLst>
              <a:ext uri="{FF2B5EF4-FFF2-40B4-BE49-F238E27FC236}">
                <a16:creationId xmlns:a16="http://schemas.microsoft.com/office/drawing/2014/main" id="{271432B8-DA5C-3121-008A-6E42332920F9}"/>
              </a:ext>
            </a:extLst>
          </p:cNvPr>
          <p:cNvSpPr/>
          <p:nvPr/>
        </p:nvSpPr>
        <p:spPr>
          <a:xfrm>
            <a:off x="457200" y="2660904"/>
            <a:ext cx="11274552" cy="292608"/>
          </a:xfrm>
          <a:prstGeom prst="rect">
            <a:avLst/>
          </a:prstGeom>
          <a:noFill/>
          <a:ln/>
        </p:spPr>
        <p:txBody>
          <a:bodyPr wrap="square" lIns="0" tIns="0" rIns="0" bIns="0" rtlCol="0" anchor="ctr"/>
          <a:lstStyle/>
          <a:p>
            <a:pPr marL="0" indent="0" algn="ctr">
              <a:buNone/>
            </a:pPr>
            <a:r>
              <a:rPr lang="en-US" sz="2000" b="1" dirty="0">
                <a:solidFill>
                  <a:srgbClr val="FFFFFF"/>
                </a:solidFill>
                <a:latin typeface="Noto Sans CJK TC" pitchFamily="34" charset="0"/>
                <a:ea typeface="Noto Sans CJK TC" pitchFamily="34" charset="-122"/>
                <a:cs typeface="Noto Sans CJK TC" pitchFamily="34" charset="-120"/>
              </a:rPr>
              <a:t>Related Work</a:t>
            </a:r>
            <a:endParaRPr lang="en-US" sz="2000" dirty="0"/>
          </a:p>
        </p:txBody>
      </p:sp>
    </p:spTree>
    <p:extLst>
      <p:ext uri="{BB962C8B-B14F-4D97-AF65-F5344CB8AC3E}">
        <p14:creationId xmlns:p14="http://schemas.microsoft.com/office/powerpoint/2010/main" val="2334359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3675573D-71A7-C7E7-6353-46A18FE27AFF}"/>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88B18D6C-2B4A-5323-DAAB-0DBDE22E8A66}"/>
              </a:ext>
            </a:extLst>
          </p:cNvPr>
          <p:cNvSpPr>
            <a:spLocks noGrp="1"/>
          </p:cNvSpPr>
          <p:nvPr>
            <p:ph type="sldNum" sz="quarter" idx="12"/>
          </p:nvPr>
        </p:nvSpPr>
        <p:spPr>
          <a:xfrm>
            <a:off x="9448495" y="6608392"/>
            <a:ext cx="2743200" cy="246889"/>
          </a:xfrm>
        </p:spPr>
        <p:txBody>
          <a:bodyPr/>
          <a:lstStyle/>
          <a:p>
            <a:fld id="{A98399F2-4B7C-4808-8B27-A13C76E6A9FD}" type="slidenum">
              <a:rPr lang="zh-TW" altLang="en-US" smtClean="0">
                <a:solidFill>
                  <a:schemeClr val="bg1"/>
                </a:solidFill>
                <a:latin typeface="微軟正黑體" panose="020B0604030504040204" pitchFamily="34" charset="-120"/>
                <a:ea typeface="微軟正黑體" panose="020B0604030504040204" pitchFamily="34" charset="-120"/>
              </a:rPr>
              <a:t>9</a:t>
            </a:fld>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6CC896F1-DC32-0CE9-E6CB-64C1DEBD2727}"/>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latin typeface="微軟正黑體" panose="020B0604030504040204" pitchFamily="34" charset="-120"/>
                <a:ea typeface="微軟正黑體" panose="020B0604030504040204" pitchFamily="34" charset="-120"/>
              </a:rPr>
              <a:t>Part</a:t>
            </a:r>
            <a:r>
              <a:rPr lang="zh-TW" altLang="en-US" b="1" dirty="0">
                <a:latin typeface="微軟正黑體" panose="020B0604030504040204" pitchFamily="34" charset="-120"/>
                <a:ea typeface="微軟正黑體" panose="020B0604030504040204" pitchFamily="34" charset="-120"/>
              </a:rPr>
              <a:t> </a:t>
            </a:r>
            <a:r>
              <a:rPr lang="en-US" b="1" dirty="0">
                <a:latin typeface="微軟正黑體" panose="020B0604030504040204" pitchFamily="34" charset="-120"/>
                <a:ea typeface="微軟正黑體" panose="020B0604030504040204" pitchFamily="34" charset="-120"/>
              </a:rPr>
              <a:t>2: Related Work</a:t>
            </a:r>
          </a:p>
        </p:txBody>
      </p:sp>
      <p:sp>
        <p:nvSpPr>
          <p:cNvPr id="9" name="Shape 5">
            <a:extLst>
              <a:ext uri="{FF2B5EF4-FFF2-40B4-BE49-F238E27FC236}">
                <a16:creationId xmlns:a16="http://schemas.microsoft.com/office/drawing/2014/main" id="{780453E2-05FB-EBC7-249B-38DCDACA493C}"/>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grpSp>
        <p:nvGrpSpPr>
          <p:cNvPr id="226" name="群組 225">
            <a:extLst>
              <a:ext uri="{FF2B5EF4-FFF2-40B4-BE49-F238E27FC236}">
                <a16:creationId xmlns:a16="http://schemas.microsoft.com/office/drawing/2014/main" id="{134E8218-33DF-0B08-A698-76A1D867F740}"/>
              </a:ext>
            </a:extLst>
          </p:cNvPr>
          <p:cNvGrpSpPr/>
          <p:nvPr/>
        </p:nvGrpSpPr>
        <p:grpSpPr>
          <a:xfrm>
            <a:off x="1970845" y="991942"/>
            <a:ext cx="7118716" cy="4338267"/>
            <a:chOff x="287394" y="1001355"/>
            <a:chExt cx="7118716" cy="4338267"/>
          </a:xfrm>
        </p:grpSpPr>
        <p:grpSp>
          <p:nvGrpSpPr>
            <p:cNvPr id="222" name="群組 221">
              <a:extLst>
                <a:ext uri="{FF2B5EF4-FFF2-40B4-BE49-F238E27FC236}">
                  <a16:creationId xmlns:a16="http://schemas.microsoft.com/office/drawing/2014/main" id="{8A43683A-69A1-344F-4AFE-EE79E83272D3}"/>
                </a:ext>
              </a:extLst>
            </p:cNvPr>
            <p:cNvGrpSpPr/>
            <p:nvPr/>
          </p:nvGrpSpPr>
          <p:grpSpPr>
            <a:xfrm>
              <a:off x="1244114" y="1001355"/>
              <a:ext cx="6161996" cy="4338267"/>
              <a:chOff x="621346" y="1223297"/>
              <a:chExt cx="6161996" cy="4338267"/>
            </a:xfrm>
          </p:grpSpPr>
          <p:grpSp>
            <p:nvGrpSpPr>
              <p:cNvPr id="211" name="群組 210">
                <a:extLst>
                  <a:ext uri="{FF2B5EF4-FFF2-40B4-BE49-F238E27FC236}">
                    <a16:creationId xmlns:a16="http://schemas.microsoft.com/office/drawing/2014/main" id="{9123B5F6-9E81-4280-1AFE-6FF288C4422B}"/>
                  </a:ext>
                </a:extLst>
              </p:cNvPr>
              <p:cNvGrpSpPr/>
              <p:nvPr/>
            </p:nvGrpSpPr>
            <p:grpSpPr>
              <a:xfrm>
                <a:off x="621346" y="1223297"/>
                <a:ext cx="6161996" cy="3648720"/>
                <a:chOff x="347472" y="956968"/>
                <a:chExt cx="6161996" cy="3648720"/>
              </a:xfrm>
            </p:grpSpPr>
            <p:sp>
              <p:nvSpPr>
                <p:cNvPr id="69" name="矩形: 圓角 68">
                  <a:extLst>
                    <a:ext uri="{FF2B5EF4-FFF2-40B4-BE49-F238E27FC236}">
                      <a16:creationId xmlns:a16="http://schemas.microsoft.com/office/drawing/2014/main" id="{508D12DD-5A5E-A8A3-F8F5-422D6BAF4C86}"/>
                    </a:ext>
                  </a:extLst>
                </p:cNvPr>
                <p:cNvSpPr/>
                <p:nvPr/>
              </p:nvSpPr>
              <p:spPr>
                <a:xfrm>
                  <a:off x="410353" y="3664655"/>
                  <a:ext cx="6099115" cy="941033"/>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Shared</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nvGrpSpPr>
                <p:cNvPr id="162" name="群組 161">
                  <a:extLst>
                    <a:ext uri="{FF2B5EF4-FFF2-40B4-BE49-F238E27FC236}">
                      <a16:creationId xmlns:a16="http://schemas.microsoft.com/office/drawing/2014/main" id="{A4256F97-B0DF-7DE8-7602-F01198911C9A}"/>
                    </a:ext>
                  </a:extLst>
                </p:cNvPr>
                <p:cNvGrpSpPr/>
                <p:nvPr/>
              </p:nvGrpSpPr>
              <p:grpSpPr>
                <a:xfrm>
                  <a:off x="347472" y="956968"/>
                  <a:ext cx="6099117" cy="1942700"/>
                  <a:chOff x="712043" y="925926"/>
                  <a:chExt cx="6099117" cy="1942700"/>
                </a:xfrm>
              </p:grpSpPr>
              <p:grpSp>
                <p:nvGrpSpPr>
                  <p:cNvPr id="123" name="群組 122">
                    <a:extLst>
                      <a:ext uri="{FF2B5EF4-FFF2-40B4-BE49-F238E27FC236}">
                        <a16:creationId xmlns:a16="http://schemas.microsoft.com/office/drawing/2014/main" id="{F55C8E27-84BD-38A1-6485-590D058BEE7F}"/>
                      </a:ext>
                    </a:extLst>
                  </p:cNvPr>
                  <p:cNvGrpSpPr/>
                  <p:nvPr/>
                </p:nvGrpSpPr>
                <p:grpSpPr>
                  <a:xfrm>
                    <a:off x="2238870" y="925926"/>
                    <a:ext cx="1425794" cy="1337094"/>
                    <a:chOff x="783802" y="925926"/>
                    <a:chExt cx="1425794" cy="1337094"/>
                  </a:xfrm>
                </p:grpSpPr>
                <p:grpSp>
                  <p:nvGrpSpPr>
                    <p:cNvPr id="124" name="群組 123">
                      <a:extLst>
                        <a:ext uri="{FF2B5EF4-FFF2-40B4-BE49-F238E27FC236}">
                          <a16:creationId xmlns:a16="http://schemas.microsoft.com/office/drawing/2014/main" id="{BD87DE83-AD80-EC17-524E-3E6252B830BB}"/>
                        </a:ext>
                      </a:extLst>
                    </p:cNvPr>
                    <p:cNvGrpSpPr/>
                    <p:nvPr/>
                  </p:nvGrpSpPr>
                  <p:grpSpPr>
                    <a:xfrm>
                      <a:off x="1849596" y="1359080"/>
                      <a:ext cx="360000" cy="903940"/>
                      <a:chOff x="4750107" y="1127508"/>
                      <a:chExt cx="360000" cy="903940"/>
                    </a:xfrm>
                  </p:grpSpPr>
                  <p:cxnSp>
                    <p:nvCxnSpPr>
                      <p:cNvPr id="134" name="直線接點 133">
                        <a:extLst>
                          <a:ext uri="{FF2B5EF4-FFF2-40B4-BE49-F238E27FC236}">
                            <a16:creationId xmlns:a16="http://schemas.microsoft.com/office/drawing/2014/main" id="{6CDA87EB-CC8E-1A03-F1B0-79964F1E506F}"/>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5" name="橢圓 134">
                        <a:extLst>
                          <a:ext uri="{FF2B5EF4-FFF2-40B4-BE49-F238E27FC236}">
                            <a16:creationId xmlns:a16="http://schemas.microsoft.com/office/drawing/2014/main" id="{33103602-F3AD-CA6A-3CE1-A52138BCB6B9}"/>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6</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25" name="群組 124">
                      <a:extLst>
                        <a:ext uri="{FF2B5EF4-FFF2-40B4-BE49-F238E27FC236}">
                          <a16:creationId xmlns:a16="http://schemas.microsoft.com/office/drawing/2014/main" id="{6E0BA7F8-192E-E277-EEE4-268E5DE7C5EC}"/>
                        </a:ext>
                      </a:extLst>
                    </p:cNvPr>
                    <p:cNvGrpSpPr/>
                    <p:nvPr/>
                  </p:nvGrpSpPr>
                  <p:grpSpPr>
                    <a:xfrm>
                      <a:off x="1486739" y="1232154"/>
                      <a:ext cx="360000" cy="903940"/>
                      <a:chOff x="4750107" y="1127508"/>
                      <a:chExt cx="360000" cy="903940"/>
                    </a:xfrm>
                  </p:grpSpPr>
                  <p:cxnSp>
                    <p:nvCxnSpPr>
                      <p:cNvPr id="132" name="直線接點 131">
                        <a:extLst>
                          <a:ext uri="{FF2B5EF4-FFF2-40B4-BE49-F238E27FC236}">
                            <a16:creationId xmlns:a16="http://schemas.microsoft.com/office/drawing/2014/main" id="{B2C04BC8-BF74-8D92-2D06-546AF1CAADD5}"/>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3" name="橢圓 132">
                        <a:extLst>
                          <a:ext uri="{FF2B5EF4-FFF2-40B4-BE49-F238E27FC236}">
                            <a16:creationId xmlns:a16="http://schemas.microsoft.com/office/drawing/2014/main" id="{101C5920-AB7B-DFD6-7223-097F9FD36C5A}"/>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5</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26" name="群組 125">
                      <a:extLst>
                        <a:ext uri="{FF2B5EF4-FFF2-40B4-BE49-F238E27FC236}">
                          <a16:creationId xmlns:a16="http://schemas.microsoft.com/office/drawing/2014/main" id="{A223D9B4-E897-9E7D-82D7-ACEE7E4CC9F9}"/>
                        </a:ext>
                      </a:extLst>
                    </p:cNvPr>
                    <p:cNvGrpSpPr/>
                    <p:nvPr/>
                  </p:nvGrpSpPr>
                  <p:grpSpPr>
                    <a:xfrm>
                      <a:off x="1125129" y="1101397"/>
                      <a:ext cx="360000" cy="903940"/>
                      <a:chOff x="4750107" y="1127508"/>
                      <a:chExt cx="360000" cy="903940"/>
                    </a:xfrm>
                  </p:grpSpPr>
                  <p:cxnSp>
                    <p:nvCxnSpPr>
                      <p:cNvPr id="130" name="直線接點 129">
                        <a:extLst>
                          <a:ext uri="{FF2B5EF4-FFF2-40B4-BE49-F238E27FC236}">
                            <a16:creationId xmlns:a16="http://schemas.microsoft.com/office/drawing/2014/main" id="{84A33B36-8AD3-5138-C37D-CBA9B26E581C}"/>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1" name="橢圓 130">
                        <a:extLst>
                          <a:ext uri="{FF2B5EF4-FFF2-40B4-BE49-F238E27FC236}">
                            <a16:creationId xmlns:a16="http://schemas.microsoft.com/office/drawing/2014/main" id="{F6E86E89-2319-12AD-8455-DE1375667045}"/>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4</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27" name="群組 126">
                      <a:extLst>
                        <a:ext uri="{FF2B5EF4-FFF2-40B4-BE49-F238E27FC236}">
                          <a16:creationId xmlns:a16="http://schemas.microsoft.com/office/drawing/2014/main" id="{255B5515-0123-D8A3-CCC1-6427505BBCD1}"/>
                        </a:ext>
                      </a:extLst>
                    </p:cNvPr>
                    <p:cNvGrpSpPr/>
                    <p:nvPr/>
                  </p:nvGrpSpPr>
                  <p:grpSpPr>
                    <a:xfrm>
                      <a:off x="783802" y="925926"/>
                      <a:ext cx="360000" cy="903940"/>
                      <a:chOff x="4750107" y="1127508"/>
                      <a:chExt cx="360000" cy="903940"/>
                    </a:xfrm>
                  </p:grpSpPr>
                  <p:cxnSp>
                    <p:nvCxnSpPr>
                      <p:cNvPr id="128" name="直線接點 127">
                        <a:extLst>
                          <a:ext uri="{FF2B5EF4-FFF2-40B4-BE49-F238E27FC236}">
                            <a16:creationId xmlns:a16="http://schemas.microsoft.com/office/drawing/2014/main" id="{0A3E48E6-8587-B63C-764D-AD6F6F0D60FA}"/>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9" name="橢圓 128">
                        <a:extLst>
                          <a:ext uri="{FF2B5EF4-FFF2-40B4-BE49-F238E27FC236}">
                            <a16:creationId xmlns:a16="http://schemas.microsoft.com/office/drawing/2014/main" id="{E5FFF0B7-313F-7347-B102-3C88C835AC3C}"/>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3</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grpSp>
                <p:nvGrpSpPr>
                  <p:cNvPr id="136" name="群組 135">
                    <a:extLst>
                      <a:ext uri="{FF2B5EF4-FFF2-40B4-BE49-F238E27FC236}">
                        <a16:creationId xmlns:a16="http://schemas.microsoft.com/office/drawing/2014/main" id="{07C4A287-BF52-215D-11CE-E05E7D87EB72}"/>
                      </a:ext>
                    </a:extLst>
                  </p:cNvPr>
                  <p:cNvGrpSpPr/>
                  <p:nvPr/>
                </p:nvGrpSpPr>
                <p:grpSpPr>
                  <a:xfrm>
                    <a:off x="3716884" y="933729"/>
                    <a:ext cx="1425794" cy="1337094"/>
                    <a:chOff x="783802" y="925926"/>
                    <a:chExt cx="1425794" cy="1337094"/>
                  </a:xfrm>
                </p:grpSpPr>
                <p:grpSp>
                  <p:nvGrpSpPr>
                    <p:cNvPr id="137" name="群組 136">
                      <a:extLst>
                        <a:ext uri="{FF2B5EF4-FFF2-40B4-BE49-F238E27FC236}">
                          <a16:creationId xmlns:a16="http://schemas.microsoft.com/office/drawing/2014/main" id="{BB4E6736-EE96-F21A-B55F-3C31F00E07C2}"/>
                        </a:ext>
                      </a:extLst>
                    </p:cNvPr>
                    <p:cNvGrpSpPr/>
                    <p:nvPr/>
                  </p:nvGrpSpPr>
                  <p:grpSpPr>
                    <a:xfrm>
                      <a:off x="1849596" y="1359080"/>
                      <a:ext cx="360000" cy="903940"/>
                      <a:chOff x="4750107" y="1127508"/>
                      <a:chExt cx="360000" cy="903940"/>
                    </a:xfrm>
                  </p:grpSpPr>
                  <p:cxnSp>
                    <p:nvCxnSpPr>
                      <p:cNvPr id="147" name="直線接點 146">
                        <a:extLst>
                          <a:ext uri="{FF2B5EF4-FFF2-40B4-BE49-F238E27FC236}">
                            <a16:creationId xmlns:a16="http://schemas.microsoft.com/office/drawing/2014/main" id="{EE7A651B-10A5-D513-16D7-342FDA549C2B}"/>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8" name="橢圓 147">
                        <a:extLst>
                          <a:ext uri="{FF2B5EF4-FFF2-40B4-BE49-F238E27FC236}">
                            <a16:creationId xmlns:a16="http://schemas.microsoft.com/office/drawing/2014/main" id="{D0920339-8B99-DB0F-52B2-18E8CF60EBA0}"/>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7</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38" name="群組 137">
                      <a:extLst>
                        <a:ext uri="{FF2B5EF4-FFF2-40B4-BE49-F238E27FC236}">
                          <a16:creationId xmlns:a16="http://schemas.microsoft.com/office/drawing/2014/main" id="{C08B9242-C69A-8A88-4008-B999176C1FB2}"/>
                        </a:ext>
                      </a:extLst>
                    </p:cNvPr>
                    <p:cNvGrpSpPr/>
                    <p:nvPr/>
                  </p:nvGrpSpPr>
                  <p:grpSpPr>
                    <a:xfrm>
                      <a:off x="1486739" y="1232154"/>
                      <a:ext cx="360000" cy="903940"/>
                      <a:chOff x="4750107" y="1127508"/>
                      <a:chExt cx="360000" cy="903940"/>
                    </a:xfrm>
                  </p:grpSpPr>
                  <p:cxnSp>
                    <p:nvCxnSpPr>
                      <p:cNvPr id="145" name="直線接點 144">
                        <a:extLst>
                          <a:ext uri="{FF2B5EF4-FFF2-40B4-BE49-F238E27FC236}">
                            <a16:creationId xmlns:a16="http://schemas.microsoft.com/office/drawing/2014/main" id="{45DED895-5F69-83D8-3632-D03ACEC6F21E}"/>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6" name="橢圓 145">
                        <a:extLst>
                          <a:ext uri="{FF2B5EF4-FFF2-40B4-BE49-F238E27FC236}">
                            <a16:creationId xmlns:a16="http://schemas.microsoft.com/office/drawing/2014/main" id="{7D96C37D-F4CC-1872-82AE-636C43036B0F}"/>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6</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39" name="群組 138">
                      <a:extLst>
                        <a:ext uri="{FF2B5EF4-FFF2-40B4-BE49-F238E27FC236}">
                          <a16:creationId xmlns:a16="http://schemas.microsoft.com/office/drawing/2014/main" id="{4D87C621-4C58-71BE-E534-EA20C35690ED}"/>
                        </a:ext>
                      </a:extLst>
                    </p:cNvPr>
                    <p:cNvGrpSpPr/>
                    <p:nvPr/>
                  </p:nvGrpSpPr>
                  <p:grpSpPr>
                    <a:xfrm>
                      <a:off x="1125129" y="1101397"/>
                      <a:ext cx="360000" cy="903940"/>
                      <a:chOff x="4750107" y="1127508"/>
                      <a:chExt cx="360000" cy="903940"/>
                    </a:xfrm>
                  </p:grpSpPr>
                  <p:cxnSp>
                    <p:nvCxnSpPr>
                      <p:cNvPr id="143" name="直線接點 142">
                        <a:extLst>
                          <a:ext uri="{FF2B5EF4-FFF2-40B4-BE49-F238E27FC236}">
                            <a16:creationId xmlns:a16="http://schemas.microsoft.com/office/drawing/2014/main" id="{FF3FF954-7CBF-E5BE-F9ED-433D2A9C3C0B}"/>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4" name="橢圓 143">
                        <a:extLst>
                          <a:ext uri="{FF2B5EF4-FFF2-40B4-BE49-F238E27FC236}">
                            <a16:creationId xmlns:a16="http://schemas.microsoft.com/office/drawing/2014/main" id="{85086A87-F95A-772C-1755-84788473ED2D}"/>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5</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40" name="群組 139">
                      <a:extLst>
                        <a:ext uri="{FF2B5EF4-FFF2-40B4-BE49-F238E27FC236}">
                          <a16:creationId xmlns:a16="http://schemas.microsoft.com/office/drawing/2014/main" id="{F91D267B-2F4E-B2D4-49F4-6ECBFEC0DBBC}"/>
                        </a:ext>
                      </a:extLst>
                    </p:cNvPr>
                    <p:cNvGrpSpPr/>
                    <p:nvPr/>
                  </p:nvGrpSpPr>
                  <p:grpSpPr>
                    <a:xfrm>
                      <a:off x="783802" y="925926"/>
                      <a:ext cx="360000" cy="903940"/>
                      <a:chOff x="4750107" y="1127508"/>
                      <a:chExt cx="360000" cy="903940"/>
                    </a:xfrm>
                  </p:grpSpPr>
                  <p:cxnSp>
                    <p:nvCxnSpPr>
                      <p:cNvPr id="141" name="直線接點 140">
                        <a:extLst>
                          <a:ext uri="{FF2B5EF4-FFF2-40B4-BE49-F238E27FC236}">
                            <a16:creationId xmlns:a16="http://schemas.microsoft.com/office/drawing/2014/main" id="{461D8BC0-1B73-0448-450A-88583EBE81E8}"/>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2" name="橢圓 141">
                        <a:extLst>
                          <a:ext uri="{FF2B5EF4-FFF2-40B4-BE49-F238E27FC236}">
                            <a16:creationId xmlns:a16="http://schemas.microsoft.com/office/drawing/2014/main" id="{391F0763-0928-B491-D352-CDC26C138D24}"/>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4</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grpSp>
                <p:nvGrpSpPr>
                  <p:cNvPr id="122" name="群組 121">
                    <a:extLst>
                      <a:ext uri="{FF2B5EF4-FFF2-40B4-BE49-F238E27FC236}">
                        <a16:creationId xmlns:a16="http://schemas.microsoft.com/office/drawing/2014/main" id="{7EFBDC6C-5346-34AF-10A8-8378612F616E}"/>
                      </a:ext>
                    </a:extLst>
                  </p:cNvPr>
                  <p:cNvGrpSpPr/>
                  <p:nvPr/>
                </p:nvGrpSpPr>
                <p:grpSpPr>
                  <a:xfrm>
                    <a:off x="783802" y="925926"/>
                    <a:ext cx="1425794" cy="1337094"/>
                    <a:chOff x="783802" y="925926"/>
                    <a:chExt cx="1425794" cy="1337094"/>
                  </a:xfrm>
                </p:grpSpPr>
                <p:grpSp>
                  <p:nvGrpSpPr>
                    <p:cNvPr id="99" name="群組 98">
                      <a:extLst>
                        <a:ext uri="{FF2B5EF4-FFF2-40B4-BE49-F238E27FC236}">
                          <a16:creationId xmlns:a16="http://schemas.microsoft.com/office/drawing/2014/main" id="{302BF107-CB0D-1AE9-C312-D059D25B36EA}"/>
                        </a:ext>
                      </a:extLst>
                    </p:cNvPr>
                    <p:cNvGrpSpPr/>
                    <p:nvPr/>
                  </p:nvGrpSpPr>
                  <p:grpSpPr>
                    <a:xfrm>
                      <a:off x="1849596" y="1359080"/>
                      <a:ext cx="360000" cy="903940"/>
                      <a:chOff x="4750107" y="1127508"/>
                      <a:chExt cx="360000" cy="903940"/>
                    </a:xfrm>
                  </p:grpSpPr>
                  <p:cxnSp>
                    <p:nvCxnSpPr>
                      <p:cNvPr id="103" name="直線接點 102">
                        <a:extLst>
                          <a:ext uri="{FF2B5EF4-FFF2-40B4-BE49-F238E27FC236}">
                            <a16:creationId xmlns:a16="http://schemas.microsoft.com/office/drawing/2014/main" id="{466722F8-1B5E-9D3F-78E1-DCB2D8397C56}"/>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4" name="橢圓 103">
                        <a:extLst>
                          <a:ext uri="{FF2B5EF4-FFF2-40B4-BE49-F238E27FC236}">
                            <a16:creationId xmlns:a16="http://schemas.microsoft.com/office/drawing/2014/main" id="{902EBA94-0178-EC73-1255-5467BCF5C7A2}"/>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5</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00" name="群組 99">
                      <a:extLst>
                        <a:ext uri="{FF2B5EF4-FFF2-40B4-BE49-F238E27FC236}">
                          <a16:creationId xmlns:a16="http://schemas.microsoft.com/office/drawing/2014/main" id="{BF50610C-307C-7D7B-4609-65ACA0759131}"/>
                        </a:ext>
                      </a:extLst>
                    </p:cNvPr>
                    <p:cNvGrpSpPr/>
                    <p:nvPr/>
                  </p:nvGrpSpPr>
                  <p:grpSpPr>
                    <a:xfrm>
                      <a:off x="1486739" y="1232154"/>
                      <a:ext cx="360000" cy="903940"/>
                      <a:chOff x="4750107" y="1127508"/>
                      <a:chExt cx="360000" cy="903940"/>
                    </a:xfrm>
                  </p:grpSpPr>
                  <p:cxnSp>
                    <p:nvCxnSpPr>
                      <p:cNvPr id="101" name="直線接點 100">
                        <a:extLst>
                          <a:ext uri="{FF2B5EF4-FFF2-40B4-BE49-F238E27FC236}">
                            <a16:creationId xmlns:a16="http://schemas.microsoft.com/office/drawing/2014/main" id="{66657AD4-3C95-8538-744C-E90BB072BDF7}"/>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2" name="橢圓 101">
                        <a:extLst>
                          <a:ext uri="{FF2B5EF4-FFF2-40B4-BE49-F238E27FC236}">
                            <a16:creationId xmlns:a16="http://schemas.microsoft.com/office/drawing/2014/main" id="{D57BACA5-7304-B369-99FC-1AFEEBEB59A4}"/>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4</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98" name="群組 97">
                      <a:extLst>
                        <a:ext uri="{FF2B5EF4-FFF2-40B4-BE49-F238E27FC236}">
                          <a16:creationId xmlns:a16="http://schemas.microsoft.com/office/drawing/2014/main" id="{22695A71-542F-821E-7F71-8057CE9AF336}"/>
                        </a:ext>
                      </a:extLst>
                    </p:cNvPr>
                    <p:cNvGrpSpPr/>
                    <p:nvPr/>
                  </p:nvGrpSpPr>
                  <p:grpSpPr>
                    <a:xfrm>
                      <a:off x="1125129" y="1101397"/>
                      <a:ext cx="360000" cy="903940"/>
                      <a:chOff x="4750107" y="1127508"/>
                      <a:chExt cx="360000" cy="903940"/>
                    </a:xfrm>
                  </p:grpSpPr>
                  <p:cxnSp>
                    <p:nvCxnSpPr>
                      <p:cNvPr id="105" name="直線接點 104">
                        <a:extLst>
                          <a:ext uri="{FF2B5EF4-FFF2-40B4-BE49-F238E27FC236}">
                            <a16:creationId xmlns:a16="http://schemas.microsoft.com/office/drawing/2014/main" id="{65A501D5-54EF-7610-C403-0B4D704BCA7A}"/>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6" name="橢圓 105">
                        <a:extLst>
                          <a:ext uri="{FF2B5EF4-FFF2-40B4-BE49-F238E27FC236}">
                            <a16:creationId xmlns:a16="http://schemas.microsoft.com/office/drawing/2014/main" id="{20E4B4EB-8405-39F3-DFBB-91895BC4A15B}"/>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3</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97" name="群組 96">
                      <a:extLst>
                        <a:ext uri="{FF2B5EF4-FFF2-40B4-BE49-F238E27FC236}">
                          <a16:creationId xmlns:a16="http://schemas.microsoft.com/office/drawing/2014/main" id="{122C298E-4821-61D8-607F-77568AB840AC}"/>
                        </a:ext>
                      </a:extLst>
                    </p:cNvPr>
                    <p:cNvGrpSpPr/>
                    <p:nvPr/>
                  </p:nvGrpSpPr>
                  <p:grpSpPr>
                    <a:xfrm>
                      <a:off x="783802" y="925926"/>
                      <a:ext cx="360000" cy="903940"/>
                      <a:chOff x="4750107" y="1127508"/>
                      <a:chExt cx="360000" cy="903940"/>
                    </a:xfrm>
                  </p:grpSpPr>
                  <p:cxnSp>
                    <p:nvCxnSpPr>
                      <p:cNvPr id="107" name="直線接點 106">
                        <a:extLst>
                          <a:ext uri="{FF2B5EF4-FFF2-40B4-BE49-F238E27FC236}">
                            <a16:creationId xmlns:a16="http://schemas.microsoft.com/office/drawing/2014/main" id="{36A3DE4D-7434-7BB2-E067-13469EC51B1C}"/>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8" name="橢圓 107">
                        <a:extLst>
                          <a:ext uri="{FF2B5EF4-FFF2-40B4-BE49-F238E27FC236}">
                            <a16:creationId xmlns:a16="http://schemas.microsoft.com/office/drawing/2014/main" id="{D2799BDC-7AD9-861C-F971-4ADBC6F657EA}"/>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2</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grpSp>
                <p:nvGrpSpPr>
                  <p:cNvPr id="74" name="群組 73">
                    <a:extLst>
                      <a:ext uri="{FF2B5EF4-FFF2-40B4-BE49-F238E27FC236}">
                        <a16:creationId xmlns:a16="http://schemas.microsoft.com/office/drawing/2014/main" id="{39F464F3-7BB8-D188-C91B-D18F7453A10C}"/>
                      </a:ext>
                    </a:extLst>
                  </p:cNvPr>
                  <p:cNvGrpSpPr/>
                  <p:nvPr/>
                </p:nvGrpSpPr>
                <p:grpSpPr>
                  <a:xfrm>
                    <a:off x="712043" y="1831111"/>
                    <a:ext cx="6099117" cy="1037515"/>
                    <a:chOff x="1897599" y="1994704"/>
                    <a:chExt cx="5494904" cy="1037515"/>
                  </a:xfrm>
                </p:grpSpPr>
                <p:sp>
                  <p:nvSpPr>
                    <p:cNvPr id="72" name="矩形: 圓角 71">
                      <a:extLst>
                        <a:ext uri="{FF2B5EF4-FFF2-40B4-BE49-F238E27FC236}">
                          <a16:creationId xmlns:a16="http://schemas.microsoft.com/office/drawing/2014/main" id="{E6A49323-101D-CF52-4200-A88C77128629}"/>
                        </a:ext>
                      </a:extLst>
                    </p:cNvPr>
                    <p:cNvSpPr/>
                    <p:nvPr/>
                  </p:nvSpPr>
                  <p:spPr>
                    <a:xfrm>
                      <a:off x="2784992" y="2428538"/>
                      <a:ext cx="4607511" cy="603681"/>
                    </a:xfrm>
                    <a:prstGeom prst="roundRect">
                      <a:avLst/>
                    </a:prstGeom>
                    <a:solidFill>
                      <a:schemeClr val="accent1">
                        <a:lumMod val="60000"/>
                        <a:lumOff val="4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TW" dirty="0">
                          <a:solidFill>
                            <a:schemeClr val="tx1"/>
                          </a:solidFill>
                          <a:latin typeface="微軟正黑體" panose="020B0604030504040204" pitchFamily="34" charset="-120"/>
                          <a:ea typeface="微軟正黑體" panose="020B0604030504040204" pitchFamily="34" charset="-120"/>
                        </a:rPr>
                        <a:t>4</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73" name="矩形: 圓角 72">
                      <a:extLst>
                        <a:ext uri="{FF2B5EF4-FFF2-40B4-BE49-F238E27FC236}">
                          <a16:creationId xmlns:a16="http://schemas.microsoft.com/office/drawing/2014/main" id="{98A9219D-F807-623A-491D-73EFE0E324D9}"/>
                        </a:ext>
                      </a:extLst>
                    </p:cNvPr>
                    <p:cNvSpPr/>
                    <p:nvPr/>
                  </p:nvSpPr>
                  <p:spPr>
                    <a:xfrm>
                      <a:off x="2469271" y="2290821"/>
                      <a:ext cx="4607511" cy="603681"/>
                    </a:xfrm>
                    <a:prstGeom prst="roundRect">
                      <a:avLst/>
                    </a:prstGeom>
                    <a:solidFill>
                      <a:schemeClr val="accent1">
                        <a:lumMod val="60000"/>
                        <a:lumOff val="4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TW" dirty="0">
                          <a:solidFill>
                            <a:schemeClr val="tx1"/>
                          </a:solidFill>
                          <a:latin typeface="微軟正黑體" panose="020B0604030504040204" pitchFamily="34" charset="-120"/>
                          <a:ea typeface="微軟正黑體" panose="020B0604030504040204" pitchFamily="34" charset="-120"/>
                        </a:rPr>
                        <a:t>3</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71" name="矩形: 圓角 70">
                      <a:extLst>
                        <a:ext uri="{FF2B5EF4-FFF2-40B4-BE49-F238E27FC236}">
                          <a16:creationId xmlns:a16="http://schemas.microsoft.com/office/drawing/2014/main" id="{9760FEDF-6E46-BA00-7565-551C6D56BF6B}"/>
                        </a:ext>
                      </a:extLst>
                    </p:cNvPr>
                    <p:cNvSpPr/>
                    <p:nvPr/>
                  </p:nvSpPr>
                  <p:spPr>
                    <a:xfrm>
                      <a:off x="2183435" y="2158828"/>
                      <a:ext cx="4607511" cy="603681"/>
                    </a:xfrm>
                    <a:prstGeom prst="roundRect">
                      <a:avLst/>
                    </a:prstGeom>
                    <a:solidFill>
                      <a:schemeClr val="accent1">
                        <a:lumMod val="60000"/>
                        <a:lumOff val="4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TW" dirty="0">
                          <a:solidFill>
                            <a:schemeClr val="tx1"/>
                          </a:solidFill>
                          <a:latin typeface="微軟正黑體" panose="020B0604030504040204" pitchFamily="34" charset="-120"/>
                          <a:ea typeface="微軟正黑體" panose="020B0604030504040204" pitchFamily="34" charset="-120"/>
                        </a:rPr>
                        <a:t>2</a:t>
                      </a:r>
                    </a:p>
                  </p:txBody>
                </p:sp>
                <p:sp>
                  <p:nvSpPr>
                    <p:cNvPr id="70" name="矩形: 圓角 69">
                      <a:extLst>
                        <a:ext uri="{FF2B5EF4-FFF2-40B4-BE49-F238E27FC236}">
                          <a16:creationId xmlns:a16="http://schemas.microsoft.com/office/drawing/2014/main" id="{603D58DD-B1F1-3186-DC57-F766CA46ED0D}"/>
                        </a:ext>
                      </a:extLst>
                    </p:cNvPr>
                    <p:cNvSpPr/>
                    <p:nvPr/>
                  </p:nvSpPr>
                  <p:spPr>
                    <a:xfrm>
                      <a:off x="1897599" y="1994704"/>
                      <a:ext cx="4607511" cy="603681"/>
                    </a:xfrm>
                    <a:prstGeom prst="roundRect">
                      <a:avLst/>
                    </a:prstGeom>
                    <a:solidFill>
                      <a:schemeClr val="accent1">
                        <a:lumMod val="60000"/>
                        <a:lumOff val="4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TW" dirty="0">
                          <a:solidFill>
                            <a:schemeClr val="tx1"/>
                          </a:solidFill>
                          <a:latin typeface="微軟正黑體" panose="020B0604030504040204" pitchFamily="34" charset="-120"/>
                          <a:ea typeface="微軟正黑體" panose="020B0604030504040204" pitchFamily="34" charset="-120"/>
                        </a:rPr>
                        <a:t>Head 1</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49" name="群組 148">
                    <a:extLst>
                      <a:ext uri="{FF2B5EF4-FFF2-40B4-BE49-F238E27FC236}">
                        <a16:creationId xmlns:a16="http://schemas.microsoft.com/office/drawing/2014/main" id="{F2D7F6F8-865E-DCF4-4F28-64EEC0A88708}"/>
                      </a:ext>
                    </a:extLst>
                  </p:cNvPr>
                  <p:cNvGrpSpPr/>
                  <p:nvPr/>
                </p:nvGrpSpPr>
                <p:grpSpPr>
                  <a:xfrm>
                    <a:off x="5376254" y="925926"/>
                    <a:ext cx="1425794" cy="1337094"/>
                    <a:chOff x="783802" y="925926"/>
                    <a:chExt cx="1425794" cy="1337094"/>
                  </a:xfrm>
                </p:grpSpPr>
                <p:grpSp>
                  <p:nvGrpSpPr>
                    <p:cNvPr id="150" name="群組 149">
                      <a:extLst>
                        <a:ext uri="{FF2B5EF4-FFF2-40B4-BE49-F238E27FC236}">
                          <a16:creationId xmlns:a16="http://schemas.microsoft.com/office/drawing/2014/main" id="{BE904228-A454-D35C-95F7-91793509BDF8}"/>
                        </a:ext>
                      </a:extLst>
                    </p:cNvPr>
                    <p:cNvGrpSpPr/>
                    <p:nvPr/>
                  </p:nvGrpSpPr>
                  <p:grpSpPr>
                    <a:xfrm>
                      <a:off x="1849596" y="1359080"/>
                      <a:ext cx="360000" cy="903940"/>
                      <a:chOff x="4750107" y="1127508"/>
                      <a:chExt cx="360000" cy="903940"/>
                    </a:xfrm>
                  </p:grpSpPr>
                  <p:cxnSp>
                    <p:nvCxnSpPr>
                      <p:cNvPr id="160" name="直線接點 159">
                        <a:extLst>
                          <a:ext uri="{FF2B5EF4-FFF2-40B4-BE49-F238E27FC236}">
                            <a16:creationId xmlns:a16="http://schemas.microsoft.com/office/drawing/2014/main" id="{22224128-BE10-0E23-CFA5-3E3438A5A990}"/>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1" name="橢圓 160">
                        <a:extLst>
                          <a:ext uri="{FF2B5EF4-FFF2-40B4-BE49-F238E27FC236}">
                            <a16:creationId xmlns:a16="http://schemas.microsoft.com/office/drawing/2014/main" id="{50C2AE3A-1335-DE73-E61B-17BB7F97921E}"/>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8</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51" name="群組 150">
                      <a:extLst>
                        <a:ext uri="{FF2B5EF4-FFF2-40B4-BE49-F238E27FC236}">
                          <a16:creationId xmlns:a16="http://schemas.microsoft.com/office/drawing/2014/main" id="{DAF0A728-3DD2-E2EF-557A-CA1829AE4AD9}"/>
                        </a:ext>
                      </a:extLst>
                    </p:cNvPr>
                    <p:cNvGrpSpPr/>
                    <p:nvPr/>
                  </p:nvGrpSpPr>
                  <p:grpSpPr>
                    <a:xfrm>
                      <a:off x="1486739" y="1232154"/>
                      <a:ext cx="360000" cy="903940"/>
                      <a:chOff x="4750107" y="1127508"/>
                      <a:chExt cx="360000" cy="903940"/>
                    </a:xfrm>
                  </p:grpSpPr>
                  <p:cxnSp>
                    <p:nvCxnSpPr>
                      <p:cNvPr id="158" name="直線接點 157">
                        <a:extLst>
                          <a:ext uri="{FF2B5EF4-FFF2-40B4-BE49-F238E27FC236}">
                            <a16:creationId xmlns:a16="http://schemas.microsoft.com/office/drawing/2014/main" id="{4031D07D-18B9-7687-C999-BE382230871C}"/>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9" name="橢圓 158">
                        <a:extLst>
                          <a:ext uri="{FF2B5EF4-FFF2-40B4-BE49-F238E27FC236}">
                            <a16:creationId xmlns:a16="http://schemas.microsoft.com/office/drawing/2014/main" id="{309FCE1C-D8F5-2624-E2C6-AE825F0CC3F6}"/>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7</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52" name="群組 151">
                      <a:extLst>
                        <a:ext uri="{FF2B5EF4-FFF2-40B4-BE49-F238E27FC236}">
                          <a16:creationId xmlns:a16="http://schemas.microsoft.com/office/drawing/2014/main" id="{D31E1631-8C7A-25D5-71EB-505E52452DFE}"/>
                        </a:ext>
                      </a:extLst>
                    </p:cNvPr>
                    <p:cNvGrpSpPr/>
                    <p:nvPr/>
                  </p:nvGrpSpPr>
                  <p:grpSpPr>
                    <a:xfrm>
                      <a:off x="1125129" y="1101397"/>
                      <a:ext cx="360000" cy="903940"/>
                      <a:chOff x="4750107" y="1127508"/>
                      <a:chExt cx="360000" cy="903940"/>
                    </a:xfrm>
                  </p:grpSpPr>
                  <p:cxnSp>
                    <p:nvCxnSpPr>
                      <p:cNvPr id="156" name="直線接點 155">
                        <a:extLst>
                          <a:ext uri="{FF2B5EF4-FFF2-40B4-BE49-F238E27FC236}">
                            <a16:creationId xmlns:a16="http://schemas.microsoft.com/office/drawing/2014/main" id="{398EB0FE-54AA-6853-5B51-6FB52FF0E6ED}"/>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7" name="橢圓 156">
                        <a:extLst>
                          <a:ext uri="{FF2B5EF4-FFF2-40B4-BE49-F238E27FC236}">
                            <a16:creationId xmlns:a16="http://schemas.microsoft.com/office/drawing/2014/main" id="{CC512B09-A885-85B2-389B-DA0EBA909889}"/>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6</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nvGrpSpPr>
                    <p:cNvPr id="153" name="群組 152">
                      <a:extLst>
                        <a:ext uri="{FF2B5EF4-FFF2-40B4-BE49-F238E27FC236}">
                          <a16:creationId xmlns:a16="http://schemas.microsoft.com/office/drawing/2014/main" id="{8D3F4E6E-D646-0EDD-5B93-87228D68303E}"/>
                        </a:ext>
                      </a:extLst>
                    </p:cNvPr>
                    <p:cNvGrpSpPr/>
                    <p:nvPr/>
                  </p:nvGrpSpPr>
                  <p:grpSpPr>
                    <a:xfrm>
                      <a:off x="783802" y="925926"/>
                      <a:ext cx="360000" cy="903940"/>
                      <a:chOff x="4750107" y="1127508"/>
                      <a:chExt cx="360000" cy="903940"/>
                    </a:xfrm>
                  </p:grpSpPr>
                  <p:cxnSp>
                    <p:nvCxnSpPr>
                      <p:cNvPr id="154" name="直線接點 153">
                        <a:extLst>
                          <a:ext uri="{FF2B5EF4-FFF2-40B4-BE49-F238E27FC236}">
                            <a16:creationId xmlns:a16="http://schemas.microsoft.com/office/drawing/2014/main" id="{66FA895D-0CDE-5094-9A1C-B64301FD9F7F}"/>
                          </a:ext>
                        </a:extLst>
                      </p:cNvPr>
                      <p:cNvCxnSpPr>
                        <a:cxnSpLocks/>
                      </p:cNvCxnSpPr>
                      <p:nvPr/>
                    </p:nvCxnSpPr>
                    <p:spPr>
                      <a:xfrm flipV="1">
                        <a:off x="4939565" y="1491448"/>
                        <a:ext cx="0" cy="54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5" name="橢圓 154">
                        <a:extLst>
                          <a:ext uri="{FF2B5EF4-FFF2-40B4-BE49-F238E27FC236}">
                            <a16:creationId xmlns:a16="http://schemas.microsoft.com/office/drawing/2014/main" id="{4A5A02D9-FFE8-8369-DABE-BB7067F0FD11}"/>
                          </a:ext>
                        </a:extLst>
                      </p:cNvPr>
                      <p:cNvSpPr/>
                      <p:nvPr/>
                    </p:nvSpPr>
                    <p:spPr>
                      <a:xfrm>
                        <a:off x="4750107" y="1127508"/>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5</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grpSp>
            </p:grpSp>
            <p:grpSp>
              <p:nvGrpSpPr>
                <p:cNvPr id="189" name="群組 188">
                  <a:extLst>
                    <a:ext uri="{FF2B5EF4-FFF2-40B4-BE49-F238E27FC236}">
                      <a16:creationId xmlns:a16="http://schemas.microsoft.com/office/drawing/2014/main" id="{938B6926-FC97-FB82-25A4-CB9B764440E4}"/>
                    </a:ext>
                  </a:extLst>
                </p:cNvPr>
                <p:cNvGrpSpPr/>
                <p:nvPr/>
              </p:nvGrpSpPr>
              <p:grpSpPr>
                <a:xfrm>
                  <a:off x="775053" y="2472563"/>
                  <a:ext cx="707115" cy="1202792"/>
                  <a:chOff x="775053" y="2472563"/>
                  <a:chExt cx="707115" cy="1202792"/>
                </a:xfrm>
              </p:grpSpPr>
              <p:grpSp>
                <p:nvGrpSpPr>
                  <p:cNvPr id="186" name="群組 185">
                    <a:extLst>
                      <a:ext uri="{FF2B5EF4-FFF2-40B4-BE49-F238E27FC236}">
                        <a16:creationId xmlns:a16="http://schemas.microsoft.com/office/drawing/2014/main" id="{8AF1BBAB-47FC-148C-98EF-F8647FD89768}"/>
                      </a:ext>
                    </a:extLst>
                  </p:cNvPr>
                  <p:cNvGrpSpPr/>
                  <p:nvPr/>
                </p:nvGrpSpPr>
                <p:grpSpPr>
                  <a:xfrm>
                    <a:off x="775053" y="2472563"/>
                    <a:ext cx="707115" cy="857632"/>
                    <a:chOff x="775053" y="2472563"/>
                    <a:chExt cx="707115" cy="857632"/>
                  </a:xfrm>
                </p:grpSpPr>
                <p:cxnSp>
                  <p:nvCxnSpPr>
                    <p:cNvPr id="179" name="直線接點 178">
                      <a:extLst>
                        <a:ext uri="{FF2B5EF4-FFF2-40B4-BE49-F238E27FC236}">
                          <a16:creationId xmlns:a16="http://schemas.microsoft.com/office/drawing/2014/main" id="{BCC1BA2D-F7FD-CA43-17B2-06F0DD9B0E09}"/>
                        </a:ext>
                      </a:extLst>
                    </p:cNvPr>
                    <p:cNvCxnSpPr>
                      <a:cxnSpLocks/>
                    </p:cNvCxnSpPr>
                    <p:nvPr/>
                  </p:nvCxnSpPr>
                  <p:spPr>
                    <a:xfrm flipV="1">
                      <a:off x="1193426" y="2888408"/>
                      <a:ext cx="288742" cy="441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線接點 175">
                      <a:extLst>
                        <a:ext uri="{FF2B5EF4-FFF2-40B4-BE49-F238E27FC236}">
                          <a16:creationId xmlns:a16="http://schemas.microsoft.com/office/drawing/2014/main" id="{EEF08F4F-C876-E979-AD39-01153196F8CF}"/>
                        </a:ext>
                      </a:extLst>
                    </p:cNvPr>
                    <p:cNvCxnSpPr>
                      <a:cxnSpLocks/>
                    </p:cNvCxnSpPr>
                    <p:nvPr/>
                  </p:nvCxnSpPr>
                  <p:spPr>
                    <a:xfrm flipH="1" flipV="1">
                      <a:off x="775053" y="2472563"/>
                      <a:ext cx="418373" cy="8576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線接點 176">
                      <a:extLst>
                        <a:ext uri="{FF2B5EF4-FFF2-40B4-BE49-F238E27FC236}">
                          <a16:creationId xmlns:a16="http://schemas.microsoft.com/office/drawing/2014/main" id="{5184DCA8-0036-1EE6-9FD6-AF7D0CA0D391}"/>
                        </a:ext>
                      </a:extLst>
                    </p:cNvPr>
                    <p:cNvCxnSpPr>
                      <a:cxnSpLocks/>
                    </p:cNvCxnSpPr>
                    <p:nvPr/>
                  </p:nvCxnSpPr>
                  <p:spPr>
                    <a:xfrm flipH="1" flipV="1">
                      <a:off x="937298" y="2629076"/>
                      <a:ext cx="256128" cy="7011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線接點 177">
                      <a:extLst>
                        <a:ext uri="{FF2B5EF4-FFF2-40B4-BE49-F238E27FC236}">
                          <a16:creationId xmlns:a16="http://schemas.microsoft.com/office/drawing/2014/main" id="{D8738012-4B3A-1366-50A7-28C17A75BD6A}"/>
                        </a:ext>
                      </a:extLst>
                    </p:cNvPr>
                    <p:cNvCxnSpPr>
                      <a:cxnSpLocks/>
                    </p:cNvCxnSpPr>
                    <p:nvPr/>
                  </p:nvCxnSpPr>
                  <p:spPr>
                    <a:xfrm flipH="1" flipV="1">
                      <a:off x="1120558" y="2761359"/>
                      <a:ext cx="72868" cy="5688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7" name="直線接點 186">
                    <a:extLst>
                      <a:ext uri="{FF2B5EF4-FFF2-40B4-BE49-F238E27FC236}">
                        <a16:creationId xmlns:a16="http://schemas.microsoft.com/office/drawing/2014/main" id="{0D1E40BB-61E0-433C-6F05-3EAA82C388C0}"/>
                      </a:ext>
                    </a:extLst>
                  </p:cNvPr>
                  <p:cNvCxnSpPr>
                    <a:cxnSpLocks/>
                  </p:cNvCxnSpPr>
                  <p:nvPr/>
                </p:nvCxnSpPr>
                <p:spPr>
                  <a:xfrm flipV="1">
                    <a:off x="1193426" y="3330195"/>
                    <a:ext cx="0" cy="3451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0" name="群組 189">
                  <a:extLst>
                    <a:ext uri="{FF2B5EF4-FFF2-40B4-BE49-F238E27FC236}">
                      <a16:creationId xmlns:a16="http://schemas.microsoft.com/office/drawing/2014/main" id="{C2B00D14-2EE6-8EA0-EBE1-1959AF90ABD4}"/>
                    </a:ext>
                  </a:extLst>
                </p:cNvPr>
                <p:cNvGrpSpPr/>
                <p:nvPr/>
              </p:nvGrpSpPr>
              <p:grpSpPr>
                <a:xfrm>
                  <a:off x="2054299" y="2460110"/>
                  <a:ext cx="707115" cy="1202792"/>
                  <a:chOff x="775053" y="2472563"/>
                  <a:chExt cx="707115" cy="1202792"/>
                </a:xfrm>
              </p:grpSpPr>
              <p:grpSp>
                <p:nvGrpSpPr>
                  <p:cNvPr id="191" name="群組 190">
                    <a:extLst>
                      <a:ext uri="{FF2B5EF4-FFF2-40B4-BE49-F238E27FC236}">
                        <a16:creationId xmlns:a16="http://schemas.microsoft.com/office/drawing/2014/main" id="{5E260B19-BCD6-ED27-3935-EE5DDCFBBB19}"/>
                      </a:ext>
                    </a:extLst>
                  </p:cNvPr>
                  <p:cNvGrpSpPr/>
                  <p:nvPr/>
                </p:nvGrpSpPr>
                <p:grpSpPr>
                  <a:xfrm>
                    <a:off x="775053" y="2472563"/>
                    <a:ext cx="707115" cy="857632"/>
                    <a:chOff x="775053" y="2472563"/>
                    <a:chExt cx="707115" cy="857632"/>
                  </a:xfrm>
                </p:grpSpPr>
                <p:cxnSp>
                  <p:nvCxnSpPr>
                    <p:cNvPr id="193" name="直線接點 192">
                      <a:extLst>
                        <a:ext uri="{FF2B5EF4-FFF2-40B4-BE49-F238E27FC236}">
                          <a16:creationId xmlns:a16="http://schemas.microsoft.com/office/drawing/2014/main" id="{A7CC6EAA-EF82-9BA6-B79C-3A1959A07C42}"/>
                        </a:ext>
                      </a:extLst>
                    </p:cNvPr>
                    <p:cNvCxnSpPr>
                      <a:cxnSpLocks/>
                    </p:cNvCxnSpPr>
                    <p:nvPr/>
                  </p:nvCxnSpPr>
                  <p:spPr>
                    <a:xfrm flipV="1">
                      <a:off x="1193426" y="2888408"/>
                      <a:ext cx="288742" cy="441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線接點 193">
                      <a:extLst>
                        <a:ext uri="{FF2B5EF4-FFF2-40B4-BE49-F238E27FC236}">
                          <a16:creationId xmlns:a16="http://schemas.microsoft.com/office/drawing/2014/main" id="{6640FAD1-73F9-EE5D-8EEB-BA24176A5BDB}"/>
                        </a:ext>
                      </a:extLst>
                    </p:cNvPr>
                    <p:cNvCxnSpPr>
                      <a:cxnSpLocks/>
                    </p:cNvCxnSpPr>
                    <p:nvPr/>
                  </p:nvCxnSpPr>
                  <p:spPr>
                    <a:xfrm flipH="1" flipV="1">
                      <a:off x="775053" y="2472563"/>
                      <a:ext cx="418373" cy="8576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直線接點 194">
                      <a:extLst>
                        <a:ext uri="{FF2B5EF4-FFF2-40B4-BE49-F238E27FC236}">
                          <a16:creationId xmlns:a16="http://schemas.microsoft.com/office/drawing/2014/main" id="{BFB681C8-9251-0199-45B4-83CB04C43D2B}"/>
                        </a:ext>
                      </a:extLst>
                    </p:cNvPr>
                    <p:cNvCxnSpPr>
                      <a:cxnSpLocks/>
                    </p:cNvCxnSpPr>
                    <p:nvPr/>
                  </p:nvCxnSpPr>
                  <p:spPr>
                    <a:xfrm flipH="1" flipV="1">
                      <a:off x="937298" y="2629076"/>
                      <a:ext cx="256128" cy="7011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直線接點 195">
                      <a:extLst>
                        <a:ext uri="{FF2B5EF4-FFF2-40B4-BE49-F238E27FC236}">
                          <a16:creationId xmlns:a16="http://schemas.microsoft.com/office/drawing/2014/main" id="{31F78B31-121C-5554-F540-E1B3ED637ADD}"/>
                        </a:ext>
                      </a:extLst>
                    </p:cNvPr>
                    <p:cNvCxnSpPr>
                      <a:cxnSpLocks/>
                    </p:cNvCxnSpPr>
                    <p:nvPr/>
                  </p:nvCxnSpPr>
                  <p:spPr>
                    <a:xfrm flipH="1" flipV="1">
                      <a:off x="1120558" y="2761359"/>
                      <a:ext cx="72868" cy="5688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2" name="直線接點 191">
                    <a:extLst>
                      <a:ext uri="{FF2B5EF4-FFF2-40B4-BE49-F238E27FC236}">
                        <a16:creationId xmlns:a16="http://schemas.microsoft.com/office/drawing/2014/main" id="{D89E8FC3-0E14-8B29-43EF-695522C205FC}"/>
                      </a:ext>
                    </a:extLst>
                  </p:cNvPr>
                  <p:cNvCxnSpPr>
                    <a:cxnSpLocks/>
                  </p:cNvCxnSpPr>
                  <p:nvPr/>
                </p:nvCxnSpPr>
                <p:spPr>
                  <a:xfrm flipV="1">
                    <a:off x="1193426" y="3330195"/>
                    <a:ext cx="0" cy="3451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7" name="群組 196">
                  <a:extLst>
                    <a:ext uri="{FF2B5EF4-FFF2-40B4-BE49-F238E27FC236}">
                      <a16:creationId xmlns:a16="http://schemas.microsoft.com/office/drawing/2014/main" id="{F182CF94-D991-26C4-C408-3111BE742579}"/>
                    </a:ext>
                  </a:extLst>
                </p:cNvPr>
                <p:cNvGrpSpPr/>
                <p:nvPr/>
              </p:nvGrpSpPr>
              <p:grpSpPr>
                <a:xfrm>
                  <a:off x="3535957" y="2467079"/>
                  <a:ext cx="707115" cy="1202792"/>
                  <a:chOff x="775053" y="2472563"/>
                  <a:chExt cx="707115" cy="1202792"/>
                </a:xfrm>
              </p:grpSpPr>
              <p:grpSp>
                <p:nvGrpSpPr>
                  <p:cNvPr id="198" name="群組 197">
                    <a:extLst>
                      <a:ext uri="{FF2B5EF4-FFF2-40B4-BE49-F238E27FC236}">
                        <a16:creationId xmlns:a16="http://schemas.microsoft.com/office/drawing/2014/main" id="{BC53B6D2-E975-0B65-B4AC-41670172D2CF}"/>
                      </a:ext>
                    </a:extLst>
                  </p:cNvPr>
                  <p:cNvGrpSpPr/>
                  <p:nvPr/>
                </p:nvGrpSpPr>
                <p:grpSpPr>
                  <a:xfrm>
                    <a:off x="775053" y="2472563"/>
                    <a:ext cx="707115" cy="857632"/>
                    <a:chOff x="775053" y="2472563"/>
                    <a:chExt cx="707115" cy="857632"/>
                  </a:xfrm>
                </p:grpSpPr>
                <p:cxnSp>
                  <p:nvCxnSpPr>
                    <p:cNvPr id="200" name="直線接點 199">
                      <a:extLst>
                        <a:ext uri="{FF2B5EF4-FFF2-40B4-BE49-F238E27FC236}">
                          <a16:creationId xmlns:a16="http://schemas.microsoft.com/office/drawing/2014/main" id="{D0ADA5F3-2E2E-FFD8-7FD2-68DFD8E61501}"/>
                        </a:ext>
                      </a:extLst>
                    </p:cNvPr>
                    <p:cNvCxnSpPr>
                      <a:cxnSpLocks/>
                    </p:cNvCxnSpPr>
                    <p:nvPr/>
                  </p:nvCxnSpPr>
                  <p:spPr>
                    <a:xfrm flipV="1">
                      <a:off x="1193426" y="2888408"/>
                      <a:ext cx="288742" cy="441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直線接點 200">
                      <a:extLst>
                        <a:ext uri="{FF2B5EF4-FFF2-40B4-BE49-F238E27FC236}">
                          <a16:creationId xmlns:a16="http://schemas.microsoft.com/office/drawing/2014/main" id="{AEFCAD0A-9D74-A515-44FB-FB0BD292236A}"/>
                        </a:ext>
                      </a:extLst>
                    </p:cNvPr>
                    <p:cNvCxnSpPr>
                      <a:cxnSpLocks/>
                    </p:cNvCxnSpPr>
                    <p:nvPr/>
                  </p:nvCxnSpPr>
                  <p:spPr>
                    <a:xfrm flipH="1" flipV="1">
                      <a:off x="775053" y="2472563"/>
                      <a:ext cx="418373" cy="8576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直線接點 201">
                      <a:extLst>
                        <a:ext uri="{FF2B5EF4-FFF2-40B4-BE49-F238E27FC236}">
                          <a16:creationId xmlns:a16="http://schemas.microsoft.com/office/drawing/2014/main" id="{1ABAFB35-4146-26DF-17AD-6F57B905B3B4}"/>
                        </a:ext>
                      </a:extLst>
                    </p:cNvPr>
                    <p:cNvCxnSpPr>
                      <a:cxnSpLocks/>
                    </p:cNvCxnSpPr>
                    <p:nvPr/>
                  </p:nvCxnSpPr>
                  <p:spPr>
                    <a:xfrm flipH="1" flipV="1">
                      <a:off x="937298" y="2629076"/>
                      <a:ext cx="256128" cy="7011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線接點 202">
                      <a:extLst>
                        <a:ext uri="{FF2B5EF4-FFF2-40B4-BE49-F238E27FC236}">
                          <a16:creationId xmlns:a16="http://schemas.microsoft.com/office/drawing/2014/main" id="{31AE0891-5340-C2AF-8F67-ADFF5E4C6938}"/>
                        </a:ext>
                      </a:extLst>
                    </p:cNvPr>
                    <p:cNvCxnSpPr>
                      <a:cxnSpLocks/>
                    </p:cNvCxnSpPr>
                    <p:nvPr/>
                  </p:nvCxnSpPr>
                  <p:spPr>
                    <a:xfrm flipH="1" flipV="1">
                      <a:off x="1120558" y="2761359"/>
                      <a:ext cx="72868" cy="5688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9" name="直線接點 198">
                    <a:extLst>
                      <a:ext uri="{FF2B5EF4-FFF2-40B4-BE49-F238E27FC236}">
                        <a16:creationId xmlns:a16="http://schemas.microsoft.com/office/drawing/2014/main" id="{28034BCB-4E26-22C7-7B92-9EFFAEBB83D6}"/>
                      </a:ext>
                    </a:extLst>
                  </p:cNvPr>
                  <p:cNvCxnSpPr>
                    <a:cxnSpLocks/>
                  </p:cNvCxnSpPr>
                  <p:nvPr/>
                </p:nvCxnSpPr>
                <p:spPr>
                  <a:xfrm flipV="1">
                    <a:off x="1193426" y="3330195"/>
                    <a:ext cx="0" cy="3451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4" name="群組 203">
                  <a:extLst>
                    <a:ext uri="{FF2B5EF4-FFF2-40B4-BE49-F238E27FC236}">
                      <a16:creationId xmlns:a16="http://schemas.microsoft.com/office/drawing/2014/main" id="{CA777EBC-8139-5EC2-FC3B-A9A2624AF58C}"/>
                    </a:ext>
                  </a:extLst>
                </p:cNvPr>
                <p:cNvGrpSpPr/>
                <p:nvPr/>
              </p:nvGrpSpPr>
              <p:grpSpPr>
                <a:xfrm>
                  <a:off x="5194377" y="2460110"/>
                  <a:ext cx="707115" cy="1202792"/>
                  <a:chOff x="775053" y="2472563"/>
                  <a:chExt cx="707115" cy="1202792"/>
                </a:xfrm>
              </p:grpSpPr>
              <p:grpSp>
                <p:nvGrpSpPr>
                  <p:cNvPr id="205" name="群組 204">
                    <a:extLst>
                      <a:ext uri="{FF2B5EF4-FFF2-40B4-BE49-F238E27FC236}">
                        <a16:creationId xmlns:a16="http://schemas.microsoft.com/office/drawing/2014/main" id="{7E7F5D3F-8BFE-5E71-F092-95683FB31127}"/>
                      </a:ext>
                    </a:extLst>
                  </p:cNvPr>
                  <p:cNvGrpSpPr/>
                  <p:nvPr/>
                </p:nvGrpSpPr>
                <p:grpSpPr>
                  <a:xfrm>
                    <a:off x="775053" y="2472563"/>
                    <a:ext cx="707115" cy="857632"/>
                    <a:chOff x="775053" y="2472563"/>
                    <a:chExt cx="707115" cy="857632"/>
                  </a:xfrm>
                </p:grpSpPr>
                <p:cxnSp>
                  <p:nvCxnSpPr>
                    <p:cNvPr id="207" name="直線接點 206">
                      <a:extLst>
                        <a:ext uri="{FF2B5EF4-FFF2-40B4-BE49-F238E27FC236}">
                          <a16:creationId xmlns:a16="http://schemas.microsoft.com/office/drawing/2014/main" id="{1FBF7DCF-EA44-E945-7B0F-6CEA2D736F9B}"/>
                        </a:ext>
                      </a:extLst>
                    </p:cNvPr>
                    <p:cNvCxnSpPr>
                      <a:cxnSpLocks/>
                    </p:cNvCxnSpPr>
                    <p:nvPr/>
                  </p:nvCxnSpPr>
                  <p:spPr>
                    <a:xfrm flipV="1">
                      <a:off x="1193426" y="2888408"/>
                      <a:ext cx="288742" cy="441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直線接點 207">
                      <a:extLst>
                        <a:ext uri="{FF2B5EF4-FFF2-40B4-BE49-F238E27FC236}">
                          <a16:creationId xmlns:a16="http://schemas.microsoft.com/office/drawing/2014/main" id="{F5519612-BD62-973E-844E-28D26CA688A6}"/>
                        </a:ext>
                      </a:extLst>
                    </p:cNvPr>
                    <p:cNvCxnSpPr>
                      <a:cxnSpLocks/>
                    </p:cNvCxnSpPr>
                    <p:nvPr/>
                  </p:nvCxnSpPr>
                  <p:spPr>
                    <a:xfrm flipH="1" flipV="1">
                      <a:off x="775053" y="2472563"/>
                      <a:ext cx="418373" cy="8576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直線接點 208">
                      <a:extLst>
                        <a:ext uri="{FF2B5EF4-FFF2-40B4-BE49-F238E27FC236}">
                          <a16:creationId xmlns:a16="http://schemas.microsoft.com/office/drawing/2014/main" id="{DD154046-BC3B-5D59-E7D9-D2C33CA93D0E}"/>
                        </a:ext>
                      </a:extLst>
                    </p:cNvPr>
                    <p:cNvCxnSpPr>
                      <a:cxnSpLocks/>
                    </p:cNvCxnSpPr>
                    <p:nvPr/>
                  </p:nvCxnSpPr>
                  <p:spPr>
                    <a:xfrm flipH="1" flipV="1">
                      <a:off x="937298" y="2629076"/>
                      <a:ext cx="256128" cy="7011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直線接點 209">
                      <a:extLst>
                        <a:ext uri="{FF2B5EF4-FFF2-40B4-BE49-F238E27FC236}">
                          <a16:creationId xmlns:a16="http://schemas.microsoft.com/office/drawing/2014/main" id="{EA6F9447-8F29-72E6-1374-D27245F29098}"/>
                        </a:ext>
                      </a:extLst>
                    </p:cNvPr>
                    <p:cNvCxnSpPr>
                      <a:cxnSpLocks/>
                    </p:cNvCxnSpPr>
                    <p:nvPr/>
                  </p:nvCxnSpPr>
                  <p:spPr>
                    <a:xfrm flipH="1" flipV="1">
                      <a:off x="1120558" y="2761359"/>
                      <a:ext cx="72868" cy="5688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6" name="直線接點 205">
                    <a:extLst>
                      <a:ext uri="{FF2B5EF4-FFF2-40B4-BE49-F238E27FC236}">
                        <a16:creationId xmlns:a16="http://schemas.microsoft.com/office/drawing/2014/main" id="{E563166B-2BB7-8E9A-A6D0-67115051C82E}"/>
                      </a:ext>
                    </a:extLst>
                  </p:cNvPr>
                  <p:cNvCxnSpPr>
                    <a:cxnSpLocks/>
                  </p:cNvCxnSpPr>
                  <p:nvPr/>
                </p:nvCxnSpPr>
                <p:spPr>
                  <a:xfrm flipV="1">
                    <a:off x="1193426" y="3330195"/>
                    <a:ext cx="0" cy="3451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1" name="群組 220">
                <a:extLst>
                  <a:ext uri="{FF2B5EF4-FFF2-40B4-BE49-F238E27FC236}">
                    <a16:creationId xmlns:a16="http://schemas.microsoft.com/office/drawing/2014/main" id="{1AB4927E-B8BA-86E9-1A7C-8ED9F0D45B55}"/>
                  </a:ext>
                </a:extLst>
              </p:cNvPr>
              <p:cNvGrpSpPr/>
              <p:nvPr/>
            </p:nvGrpSpPr>
            <p:grpSpPr>
              <a:xfrm>
                <a:off x="1255878" y="4872017"/>
                <a:ext cx="4839969" cy="689547"/>
                <a:chOff x="1255878" y="4872017"/>
                <a:chExt cx="4839969" cy="689547"/>
              </a:xfrm>
            </p:grpSpPr>
            <p:sp>
              <p:nvSpPr>
                <p:cNvPr id="212" name="橢圓 211">
                  <a:extLst>
                    <a:ext uri="{FF2B5EF4-FFF2-40B4-BE49-F238E27FC236}">
                      <a16:creationId xmlns:a16="http://schemas.microsoft.com/office/drawing/2014/main" id="{11431317-B349-36BE-4903-99EFB1C85867}"/>
                    </a:ext>
                  </a:extLst>
                </p:cNvPr>
                <p:cNvSpPr/>
                <p:nvPr/>
              </p:nvSpPr>
              <p:spPr>
                <a:xfrm>
                  <a:off x="1255878" y="5199363"/>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1</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213" name="橢圓 212">
                  <a:extLst>
                    <a:ext uri="{FF2B5EF4-FFF2-40B4-BE49-F238E27FC236}">
                      <a16:creationId xmlns:a16="http://schemas.microsoft.com/office/drawing/2014/main" id="{3049E11F-3207-EDE5-EAFE-D95C3AF1D429}"/>
                    </a:ext>
                  </a:extLst>
                </p:cNvPr>
                <p:cNvSpPr/>
                <p:nvPr/>
              </p:nvSpPr>
              <p:spPr>
                <a:xfrm>
                  <a:off x="2525607" y="5199363"/>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2</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214" name="橢圓 213">
                  <a:extLst>
                    <a:ext uri="{FF2B5EF4-FFF2-40B4-BE49-F238E27FC236}">
                      <a16:creationId xmlns:a16="http://schemas.microsoft.com/office/drawing/2014/main" id="{01B20321-1A1B-0AAE-1CB3-072935AAE254}"/>
                    </a:ext>
                  </a:extLst>
                </p:cNvPr>
                <p:cNvSpPr/>
                <p:nvPr/>
              </p:nvSpPr>
              <p:spPr>
                <a:xfrm>
                  <a:off x="5735847" y="5201564"/>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4</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215" name="橢圓 214">
                  <a:extLst>
                    <a:ext uri="{FF2B5EF4-FFF2-40B4-BE49-F238E27FC236}">
                      <a16:creationId xmlns:a16="http://schemas.microsoft.com/office/drawing/2014/main" id="{C184DB9B-43F6-EAEF-9C18-A8349673F21C}"/>
                    </a:ext>
                  </a:extLst>
                </p:cNvPr>
                <p:cNvSpPr/>
                <p:nvPr/>
              </p:nvSpPr>
              <p:spPr>
                <a:xfrm>
                  <a:off x="4155336" y="5201564"/>
                  <a:ext cx="360000" cy="36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3</a:t>
                  </a:r>
                  <a:endParaRPr lang="zh-TW" altLang="en-US" dirty="0">
                    <a:solidFill>
                      <a:schemeClr val="tx1"/>
                    </a:solidFill>
                    <a:latin typeface="微軟正黑體" panose="020B0604030504040204" pitchFamily="34" charset="-120"/>
                    <a:ea typeface="微軟正黑體" panose="020B0604030504040204" pitchFamily="34" charset="-120"/>
                  </a:endParaRPr>
                </a:p>
              </p:txBody>
            </p:sp>
            <p:cxnSp>
              <p:nvCxnSpPr>
                <p:cNvPr id="216" name="直線接點 215">
                  <a:extLst>
                    <a:ext uri="{FF2B5EF4-FFF2-40B4-BE49-F238E27FC236}">
                      <a16:creationId xmlns:a16="http://schemas.microsoft.com/office/drawing/2014/main" id="{E542C5D8-956D-31AA-6D44-54AF636531CC}"/>
                    </a:ext>
                  </a:extLst>
                </p:cNvPr>
                <p:cNvCxnSpPr>
                  <a:cxnSpLocks/>
                </p:cNvCxnSpPr>
                <p:nvPr/>
              </p:nvCxnSpPr>
              <p:spPr>
                <a:xfrm flipV="1">
                  <a:off x="1430866" y="4872017"/>
                  <a:ext cx="0" cy="3273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直線接點 217">
                  <a:extLst>
                    <a:ext uri="{FF2B5EF4-FFF2-40B4-BE49-F238E27FC236}">
                      <a16:creationId xmlns:a16="http://schemas.microsoft.com/office/drawing/2014/main" id="{0914FE01-D405-5639-561D-DAFCCBCFD2F4}"/>
                    </a:ext>
                  </a:extLst>
                </p:cNvPr>
                <p:cNvCxnSpPr>
                  <a:cxnSpLocks/>
                </p:cNvCxnSpPr>
                <p:nvPr/>
              </p:nvCxnSpPr>
              <p:spPr>
                <a:xfrm flipV="1">
                  <a:off x="2705607" y="4872017"/>
                  <a:ext cx="0" cy="3273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直線接點 218">
                  <a:extLst>
                    <a:ext uri="{FF2B5EF4-FFF2-40B4-BE49-F238E27FC236}">
                      <a16:creationId xmlns:a16="http://schemas.microsoft.com/office/drawing/2014/main" id="{D168BC7B-6B0C-F04C-FB79-73EEA64ACD32}"/>
                    </a:ext>
                  </a:extLst>
                </p:cNvPr>
                <p:cNvCxnSpPr>
                  <a:cxnSpLocks/>
                </p:cNvCxnSpPr>
                <p:nvPr/>
              </p:nvCxnSpPr>
              <p:spPr>
                <a:xfrm flipV="1">
                  <a:off x="4335336" y="4872017"/>
                  <a:ext cx="0" cy="3273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線接點 219">
                  <a:extLst>
                    <a:ext uri="{FF2B5EF4-FFF2-40B4-BE49-F238E27FC236}">
                      <a16:creationId xmlns:a16="http://schemas.microsoft.com/office/drawing/2014/main" id="{0251D039-58CD-8965-849D-CFF26EB16029}"/>
                    </a:ext>
                  </a:extLst>
                </p:cNvPr>
                <p:cNvCxnSpPr>
                  <a:cxnSpLocks/>
                </p:cNvCxnSpPr>
                <p:nvPr/>
              </p:nvCxnSpPr>
              <p:spPr>
                <a:xfrm flipV="1">
                  <a:off x="5915847" y="4872017"/>
                  <a:ext cx="0" cy="3273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5" name="群組 224">
              <a:extLst>
                <a:ext uri="{FF2B5EF4-FFF2-40B4-BE49-F238E27FC236}">
                  <a16:creationId xmlns:a16="http://schemas.microsoft.com/office/drawing/2014/main" id="{F0BB29CE-5103-B12E-1B6A-36EBE208B524}"/>
                </a:ext>
              </a:extLst>
            </p:cNvPr>
            <p:cNvGrpSpPr/>
            <p:nvPr/>
          </p:nvGrpSpPr>
          <p:grpSpPr>
            <a:xfrm>
              <a:off x="287394" y="1161561"/>
              <a:ext cx="1109328" cy="4175860"/>
              <a:chOff x="287394" y="1161561"/>
              <a:chExt cx="1109328" cy="4175860"/>
            </a:xfrm>
          </p:grpSpPr>
          <p:sp>
            <p:nvSpPr>
              <p:cNvPr id="223" name="文字方塊 222">
                <a:extLst>
                  <a:ext uri="{FF2B5EF4-FFF2-40B4-BE49-F238E27FC236}">
                    <a16:creationId xmlns:a16="http://schemas.microsoft.com/office/drawing/2014/main" id="{D7F00A91-289B-D2A1-E4FE-60A7FC2B4195}"/>
                  </a:ext>
                </a:extLst>
              </p:cNvPr>
              <p:cNvSpPr txBox="1"/>
              <p:nvPr/>
            </p:nvSpPr>
            <p:spPr>
              <a:xfrm>
                <a:off x="421109" y="4968089"/>
                <a:ext cx="885886" cy="369332"/>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Inputs:</a:t>
                </a:r>
                <a:endParaRPr lang="zh-TW" altLang="en-US" dirty="0">
                  <a:latin typeface="微軟正黑體" panose="020B0604030504040204" pitchFamily="34" charset="-120"/>
                  <a:ea typeface="微軟正黑體" panose="020B0604030504040204" pitchFamily="34" charset="-120"/>
                </a:endParaRPr>
              </a:p>
            </p:txBody>
          </p:sp>
          <p:sp>
            <p:nvSpPr>
              <p:cNvPr id="224" name="文字方塊 223">
                <a:extLst>
                  <a:ext uri="{FF2B5EF4-FFF2-40B4-BE49-F238E27FC236}">
                    <a16:creationId xmlns:a16="http://schemas.microsoft.com/office/drawing/2014/main" id="{FBF99730-01F8-C895-9C6A-89E0B0010547}"/>
                  </a:ext>
                </a:extLst>
              </p:cNvPr>
              <p:cNvSpPr txBox="1"/>
              <p:nvPr/>
            </p:nvSpPr>
            <p:spPr>
              <a:xfrm>
                <a:off x="287394" y="1161561"/>
                <a:ext cx="1109328" cy="369332"/>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outputs:</a:t>
                </a:r>
                <a:endParaRPr lang="zh-TW" altLang="en-US" dirty="0">
                  <a:latin typeface="微軟正黑體" panose="020B0604030504040204" pitchFamily="34" charset="-120"/>
                  <a:ea typeface="微軟正黑體" panose="020B0604030504040204" pitchFamily="34" charset="-120"/>
                </a:endParaRPr>
              </a:p>
            </p:txBody>
          </p:sp>
        </p:grpSp>
      </p:grpSp>
      <p:sp>
        <p:nvSpPr>
          <p:cNvPr id="227" name="文字方塊 226">
            <a:extLst>
              <a:ext uri="{FF2B5EF4-FFF2-40B4-BE49-F238E27FC236}">
                <a16:creationId xmlns:a16="http://schemas.microsoft.com/office/drawing/2014/main" id="{2CECFF8A-4FE6-61B0-20C2-0CF6610D5910}"/>
              </a:ext>
            </a:extLst>
          </p:cNvPr>
          <p:cNvSpPr txBox="1"/>
          <p:nvPr/>
        </p:nvSpPr>
        <p:spPr>
          <a:xfrm>
            <a:off x="350282" y="5572343"/>
            <a:ext cx="11472910" cy="954107"/>
          </a:xfrm>
          <a:prstGeom prst="rect">
            <a:avLst/>
          </a:prstGeom>
          <a:noFill/>
        </p:spPr>
        <p:txBody>
          <a:bodyPr wrap="square" rtlCol="0">
            <a:spAutoFit/>
          </a:bodyPr>
          <a:lstStyle/>
          <a:p>
            <a:pPr marL="285750" indent="-285750">
              <a:buFont typeface="Arial" panose="020B0604020202020204" pitchFamily="34" charset="0"/>
              <a:buChar char="•"/>
            </a:pPr>
            <a:r>
              <a:rPr lang="en-US" altLang="zh-TW" sz="1400" dirty="0">
                <a:latin typeface="微軟正黑體" panose="020B0604030504040204" pitchFamily="34" charset="-120"/>
                <a:ea typeface="微軟正黑體" panose="020B0604030504040204" pitchFamily="34" charset="-120"/>
              </a:rPr>
              <a:t>Head 1 corresponds to standard next-token prediction.</a:t>
            </a:r>
          </a:p>
          <a:p>
            <a:pPr marL="285750" indent="-285750">
              <a:buFont typeface="Arial" panose="020B0604020202020204" pitchFamily="34" charset="0"/>
              <a:buChar char="•"/>
            </a:pPr>
            <a:r>
              <a:rPr lang="en-US" altLang="zh-TW" sz="1400" dirty="0">
                <a:latin typeface="微軟正黑體" panose="020B0604030504040204" pitchFamily="34" charset="-120"/>
                <a:ea typeface="微軟正黑體" panose="020B0604030504040204" pitchFamily="34" charset="-120"/>
              </a:rPr>
              <a:t>The computational cost mainly comes from the shared trunk, while the additional cost of multiple prediction heads is relatively limited. Therefore, decoding can be accelerated by predicting multiple future tokens in a single pass.</a:t>
            </a:r>
          </a:p>
          <a:p>
            <a:endParaRPr lang="en-US" altLang="zh-TW" sz="1400" dirty="0">
              <a:latin typeface="微軟正黑體" panose="020B0604030504040204" pitchFamily="34" charset="-120"/>
              <a:ea typeface="微軟正黑體" panose="020B0604030504040204" pitchFamily="34" charset="-120"/>
            </a:endParaRPr>
          </a:p>
        </p:txBody>
      </p:sp>
      <p:sp>
        <p:nvSpPr>
          <p:cNvPr id="2" name="Text 3">
            <a:extLst>
              <a:ext uri="{FF2B5EF4-FFF2-40B4-BE49-F238E27FC236}">
                <a16:creationId xmlns:a16="http://schemas.microsoft.com/office/drawing/2014/main" id="{0CB4890D-89D9-301A-3313-F16F05FC3CD0}"/>
              </a:ext>
            </a:extLst>
          </p:cNvPr>
          <p:cNvSpPr/>
          <p:nvPr/>
        </p:nvSpPr>
        <p:spPr>
          <a:xfrm>
            <a:off x="347472" y="474979"/>
            <a:ext cx="7955280" cy="228600"/>
          </a:xfrm>
          <a:prstGeom prst="rect">
            <a:avLst/>
          </a:prstGeom>
          <a:noFill/>
          <a:ln/>
        </p:spPr>
        <p:txBody>
          <a:bodyPr wrap="square" lIns="0" tIns="0" rIns="0" bIns="0" rtlCol="0" anchor="ctr"/>
          <a:lstStyle/>
          <a:p>
            <a:r>
              <a:rPr lang="en-US" sz="1600" dirty="0">
                <a:solidFill>
                  <a:srgbClr val="60707A"/>
                </a:solidFill>
                <a:latin typeface="微軟正黑體" panose="020B0604030504040204" pitchFamily="34" charset="-120"/>
                <a:ea typeface="微軟正黑體" panose="020B0604030504040204" pitchFamily="34" charset="-120"/>
              </a:rPr>
              <a:t>Multi-Token Prediction Architecture</a:t>
            </a:r>
          </a:p>
        </p:txBody>
      </p:sp>
    </p:spTree>
    <p:extLst>
      <p:ext uri="{BB962C8B-B14F-4D97-AF65-F5344CB8AC3E}">
        <p14:creationId xmlns:p14="http://schemas.microsoft.com/office/powerpoint/2010/main" val="986810388"/>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5EDE07AD-13A0-2A8E-3C07-2F85A1FA04F6}"/>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52C52477-F705-FD06-FEC3-A0873DE68E3E}"/>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2: Related Work</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A17979C9-87ED-7BE5-4E5E-D7FF91BCD99C}"/>
              </a:ext>
            </a:extLst>
          </p:cNvPr>
          <p:cNvSpPr/>
          <p:nvPr/>
        </p:nvSpPr>
        <p:spPr>
          <a:xfrm>
            <a:off x="347472" y="457200"/>
            <a:ext cx="7955280" cy="228600"/>
          </a:xfrm>
          <a:prstGeom prst="rect">
            <a:avLst/>
          </a:prstGeom>
          <a:noFill/>
          <a:ln/>
        </p:spPr>
        <p:txBody>
          <a:bodyPr wrap="square" lIns="0" tIns="0" rIns="0" bIns="0" rtlCol="0" anchor="ctr"/>
          <a:lstStyle/>
          <a:p>
            <a:r>
              <a:rPr lang="en-US" sz="1600" dirty="0">
                <a:solidFill>
                  <a:srgbClr val="60707A"/>
                </a:solidFill>
                <a:latin typeface="微軟正黑體" panose="020B0604030504040204" pitchFamily="34" charset="-120"/>
                <a:ea typeface="微軟正黑體" panose="020B0604030504040204" pitchFamily="34" charset="-120"/>
              </a:rPr>
              <a:t>Baseline Training</a:t>
            </a:r>
          </a:p>
        </p:txBody>
      </p:sp>
      <p:sp>
        <p:nvSpPr>
          <p:cNvPr id="9" name="Shape 5">
            <a:extLst>
              <a:ext uri="{FF2B5EF4-FFF2-40B4-BE49-F238E27FC236}">
                <a16:creationId xmlns:a16="http://schemas.microsoft.com/office/drawing/2014/main" id="{DE8C5B00-025E-1617-CD8C-31F3167B97CD}"/>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0" name="Text 6">
            <a:extLst>
              <a:ext uri="{FF2B5EF4-FFF2-40B4-BE49-F238E27FC236}">
                <a16:creationId xmlns:a16="http://schemas.microsoft.com/office/drawing/2014/main" id="{9E713648-263A-2A5F-5E28-13D213A06B89}"/>
              </a:ext>
            </a:extLst>
          </p:cNvPr>
          <p:cNvSpPr/>
          <p:nvPr/>
        </p:nvSpPr>
        <p:spPr>
          <a:xfrm>
            <a:off x="685800" y="868680"/>
            <a:ext cx="10789920" cy="329184"/>
          </a:xfrm>
          <a:prstGeom prst="rect">
            <a:avLst/>
          </a:prstGeom>
          <a:solidFill>
            <a:srgbClr val="FFFFFF"/>
          </a:solidFill>
          <a:ln>
            <a:noFill/>
          </a:ln>
        </p:spPr>
        <p:txBody>
          <a:bodyPr wrap="square" lIns="1143" tIns="1143" rIns="1143" bIns="1143" rtlCol="0" anchor="ctr">
            <a:normAutofit/>
          </a:bodyPr>
          <a:lstStyle/>
          <a:p>
            <a:r>
              <a:rPr lang="en-US" altLang="zh-TW" sz="1400" b="1" dirty="0">
                <a:latin typeface="微軟正黑體" panose="020B0604030504040204" pitchFamily="34" charset="-120"/>
                <a:ea typeface="微軟正黑體" panose="020B0604030504040204" pitchFamily="34" charset="-120"/>
              </a:rPr>
              <a:t>Without consistency, each head independently computes CE loss only against its corresponding ground-truth token.</a:t>
            </a:r>
          </a:p>
        </p:txBody>
      </p:sp>
      <p:sp>
        <p:nvSpPr>
          <p:cNvPr id="11" name="文字方塊 10">
            <a:extLst>
              <a:ext uri="{FF2B5EF4-FFF2-40B4-BE49-F238E27FC236}">
                <a16:creationId xmlns:a16="http://schemas.microsoft.com/office/drawing/2014/main" id="{43F953AE-D463-A63B-D541-D8DDDED1AC4A}"/>
              </a:ext>
            </a:extLst>
          </p:cNvPr>
          <p:cNvSpPr txBox="1"/>
          <p:nvPr/>
        </p:nvSpPr>
        <p:spPr>
          <a:xfrm>
            <a:off x="685800" y="5653884"/>
            <a:ext cx="9756559" cy="523220"/>
          </a:xfrm>
          <a:prstGeom prst="rect">
            <a:avLst/>
          </a:prstGeom>
          <a:noFill/>
        </p:spPr>
        <p:txBody>
          <a:bodyPr wrap="square" rtlCol="0">
            <a:spAutoFit/>
          </a:bodyPr>
          <a:lstStyle/>
          <a:p>
            <a:r>
              <a:rPr lang="en-US" altLang="zh-TW" sz="1400" dirty="0">
                <a:latin typeface="微軟正黑體" panose="020B0604030504040204" pitchFamily="34" charset="-120"/>
                <a:ea typeface="微軟正黑體" panose="020B0604030504040204" pitchFamily="34" charset="-120"/>
              </a:rPr>
              <a:t>Advantage: Simple architecture and compatible with the standard LM training workflow.</a:t>
            </a:r>
          </a:p>
          <a:p>
            <a:r>
              <a:rPr lang="en-US" altLang="zh-TW" sz="1400" dirty="0">
                <a:latin typeface="微軟正黑體" panose="020B0604030504040204" pitchFamily="34" charset="-120"/>
                <a:ea typeface="微軟正黑體" panose="020B0604030504040204" pitchFamily="34" charset="-120"/>
              </a:rPr>
              <a:t>Limitation: The prediction distributions of Heads 2–K may be inconsistent with the more reliable Head 1.</a:t>
            </a:r>
          </a:p>
        </p:txBody>
      </p:sp>
      <p:grpSp>
        <p:nvGrpSpPr>
          <p:cNvPr id="12" name="群組 11">
            <a:extLst>
              <a:ext uri="{FF2B5EF4-FFF2-40B4-BE49-F238E27FC236}">
                <a16:creationId xmlns:a16="http://schemas.microsoft.com/office/drawing/2014/main" id="{EE5BC8D6-A272-14A8-0DC0-D6539CA32A7A}"/>
              </a:ext>
            </a:extLst>
          </p:cNvPr>
          <p:cNvGrpSpPr/>
          <p:nvPr/>
        </p:nvGrpSpPr>
        <p:grpSpPr>
          <a:xfrm>
            <a:off x="793461" y="2538360"/>
            <a:ext cx="3756816" cy="2416292"/>
            <a:chOff x="997647" y="1979066"/>
            <a:chExt cx="3756816" cy="2416292"/>
          </a:xfrm>
        </p:grpSpPr>
        <p:sp>
          <p:nvSpPr>
            <p:cNvPr id="13" name="矩形: 圓角 12">
              <a:extLst>
                <a:ext uri="{FF2B5EF4-FFF2-40B4-BE49-F238E27FC236}">
                  <a16:creationId xmlns:a16="http://schemas.microsoft.com/office/drawing/2014/main" id="{EEEB34FA-2893-8F34-5B86-60AC2D5F2369}"/>
                </a:ext>
              </a:extLst>
            </p:cNvPr>
            <p:cNvSpPr/>
            <p:nvPr/>
          </p:nvSpPr>
          <p:spPr>
            <a:xfrm>
              <a:off x="997647" y="3738410"/>
              <a:ext cx="3756816" cy="656948"/>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Shared</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nvGrpSpPr>
            <p:cNvPr id="14" name="群組 13">
              <a:extLst>
                <a:ext uri="{FF2B5EF4-FFF2-40B4-BE49-F238E27FC236}">
                  <a16:creationId xmlns:a16="http://schemas.microsoft.com/office/drawing/2014/main" id="{F25EA1F2-8DAC-339C-A2D6-1A2C0679D00D}"/>
                </a:ext>
              </a:extLst>
            </p:cNvPr>
            <p:cNvGrpSpPr/>
            <p:nvPr/>
          </p:nvGrpSpPr>
          <p:grpSpPr>
            <a:xfrm>
              <a:off x="997647" y="1979066"/>
              <a:ext cx="3756816" cy="1662999"/>
              <a:chOff x="997647" y="1979066"/>
              <a:chExt cx="3756816" cy="1662999"/>
            </a:xfrm>
          </p:grpSpPr>
          <p:grpSp>
            <p:nvGrpSpPr>
              <p:cNvPr id="15" name="群組 14">
                <a:extLst>
                  <a:ext uri="{FF2B5EF4-FFF2-40B4-BE49-F238E27FC236}">
                    <a16:creationId xmlns:a16="http://schemas.microsoft.com/office/drawing/2014/main" id="{8327126C-F05C-6139-F352-2A1E33C8C764}"/>
                  </a:ext>
                </a:extLst>
              </p:cNvPr>
              <p:cNvGrpSpPr/>
              <p:nvPr/>
            </p:nvGrpSpPr>
            <p:grpSpPr>
              <a:xfrm>
                <a:off x="997647" y="1979066"/>
                <a:ext cx="3756816" cy="1662999"/>
                <a:chOff x="1189606" y="2346774"/>
                <a:chExt cx="3756816" cy="1662999"/>
              </a:xfrm>
            </p:grpSpPr>
            <p:grpSp>
              <p:nvGrpSpPr>
                <p:cNvPr id="17" name="群組 16">
                  <a:extLst>
                    <a:ext uri="{FF2B5EF4-FFF2-40B4-BE49-F238E27FC236}">
                      <a16:creationId xmlns:a16="http://schemas.microsoft.com/office/drawing/2014/main" id="{7B2EC2A7-1768-8B1D-1FBC-399795A83D3D}"/>
                    </a:ext>
                  </a:extLst>
                </p:cNvPr>
                <p:cNvGrpSpPr/>
                <p:nvPr/>
              </p:nvGrpSpPr>
              <p:grpSpPr>
                <a:xfrm>
                  <a:off x="1189606" y="2346774"/>
                  <a:ext cx="3756816" cy="1081720"/>
                  <a:chOff x="1189606" y="2560345"/>
                  <a:chExt cx="3756816" cy="1081720"/>
                </a:xfrm>
              </p:grpSpPr>
              <p:sp>
                <p:nvSpPr>
                  <p:cNvPr id="24" name="矩形: 圓角 23">
                    <a:extLst>
                      <a:ext uri="{FF2B5EF4-FFF2-40B4-BE49-F238E27FC236}">
                        <a16:creationId xmlns:a16="http://schemas.microsoft.com/office/drawing/2014/main" id="{B173B7A4-8000-C810-1398-F89860E722FF}"/>
                      </a:ext>
                    </a:extLst>
                  </p:cNvPr>
                  <p:cNvSpPr/>
                  <p:nvPr/>
                </p:nvSpPr>
                <p:spPr>
                  <a:xfrm>
                    <a:off x="1189606" y="2654423"/>
                    <a:ext cx="1020934" cy="601586"/>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Head 1</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25" name="矩形: 圓角 24">
                    <a:extLst>
                      <a:ext uri="{FF2B5EF4-FFF2-40B4-BE49-F238E27FC236}">
                        <a16:creationId xmlns:a16="http://schemas.microsoft.com/office/drawing/2014/main" id="{619F46DE-D676-1C33-B286-39B225C931E8}"/>
                      </a:ext>
                    </a:extLst>
                  </p:cNvPr>
                  <p:cNvSpPr/>
                  <p:nvPr/>
                </p:nvSpPr>
                <p:spPr>
                  <a:xfrm>
                    <a:off x="2336303" y="2648089"/>
                    <a:ext cx="1020934" cy="601586"/>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Head 2</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26" name="文字方塊 25">
                    <a:extLst>
                      <a:ext uri="{FF2B5EF4-FFF2-40B4-BE49-F238E27FC236}">
                        <a16:creationId xmlns:a16="http://schemas.microsoft.com/office/drawing/2014/main" id="{6046C5E0-BCC3-CA6D-7CC1-1BF47A9731D9}"/>
                      </a:ext>
                    </a:extLst>
                  </p:cNvPr>
                  <p:cNvSpPr txBox="1"/>
                  <p:nvPr/>
                </p:nvSpPr>
                <p:spPr>
                  <a:xfrm>
                    <a:off x="3357237" y="2560345"/>
                    <a:ext cx="568251" cy="646331"/>
                  </a:xfrm>
                  <a:prstGeom prst="rect">
                    <a:avLst/>
                  </a:prstGeom>
                  <a:noFill/>
                </p:spPr>
                <p:txBody>
                  <a:bodyPr wrap="square" rtlCol="0" anchor="ctr">
                    <a:spAutoFit/>
                  </a:bodyPr>
                  <a:lstStyle/>
                  <a:p>
                    <a:pPr algn="ctr"/>
                    <a:r>
                      <a:rPr lang="en-US" altLang="zh-TW" dirty="0">
                        <a:latin typeface="微軟正黑體" panose="020B0604030504040204" pitchFamily="34" charset="-120"/>
                        <a:ea typeface="微軟正黑體" panose="020B0604030504040204" pitchFamily="34" charset="-120"/>
                      </a:rPr>
                      <a:t>… …</a:t>
                    </a:r>
                    <a:endParaRPr lang="zh-TW" altLang="en-US" dirty="0">
                      <a:latin typeface="微軟正黑體" panose="020B0604030504040204" pitchFamily="34" charset="-120"/>
                      <a:ea typeface="微軟正黑體" panose="020B0604030504040204" pitchFamily="34" charset="-120"/>
                    </a:endParaRPr>
                  </a:p>
                </p:txBody>
              </p:sp>
              <p:sp>
                <p:nvSpPr>
                  <p:cNvPr id="27" name="矩形: 圓角 26">
                    <a:extLst>
                      <a:ext uri="{FF2B5EF4-FFF2-40B4-BE49-F238E27FC236}">
                        <a16:creationId xmlns:a16="http://schemas.microsoft.com/office/drawing/2014/main" id="{6A293CB9-0883-B24B-BEB6-CD5DD3AF81B0}"/>
                      </a:ext>
                    </a:extLst>
                  </p:cNvPr>
                  <p:cNvSpPr/>
                  <p:nvPr/>
                </p:nvSpPr>
                <p:spPr>
                  <a:xfrm>
                    <a:off x="3925488" y="2646026"/>
                    <a:ext cx="1020934" cy="601586"/>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Head K</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28" name="箭號: 上彎 27">
                    <a:extLst>
                      <a:ext uri="{FF2B5EF4-FFF2-40B4-BE49-F238E27FC236}">
                        <a16:creationId xmlns:a16="http://schemas.microsoft.com/office/drawing/2014/main" id="{FD61E278-2EA3-EA08-3AD8-A2C0549A8BC1}"/>
                      </a:ext>
                    </a:extLst>
                  </p:cNvPr>
                  <p:cNvSpPr/>
                  <p:nvPr/>
                </p:nvSpPr>
                <p:spPr>
                  <a:xfrm>
                    <a:off x="2210540" y="3256009"/>
                    <a:ext cx="602206" cy="386056"/>
                  </a:xfrm>
                  <a:prstGeom prst="ben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9" name="箭號: 上彎 28">
                    <a:extLst>
                      <a:ext uri="{FF2B5EF4-FFF2-40B4-BE49-F238E27FC236}">
                        <a16:creationId xmlns:a16="http://schemas.microsoft.com/office/drawing/2014/main" id="{0D3C8C67-9A4D-6DEF-5A63-977BE7FEEA07}"/>
                      </a:ext>
                    </a:extLst>
                  </p:cNvPr>
                  <p:cNvSpPr/>
                  <p:nvPr/>
                </p:nvSpPr>
                <p:spPr>
                  <a:xfrm>
                    <a:off x="2548322" y="3256009"/>
                    <a:ext cx="1871282" cy="386056"/>
                  </a:xfrm>
                  <a:prstGeom prst="ben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30" name="箭號: 上彎 29">
                    <a:extLst>
                      <a:ext uri="{FF2B5EF4-FFF2-40B4-BE49-F238E27FC236}">
                        <a16:creationId xmlns:a16="http://schemas.microsoft.com/office/drawing/2014/main" id="{309908DF-928A-44E2-F350-7DD4F4646E29}"/>
                      </a:ext>
                    </a:extLst>
                  </p:cNvPr>
                  <p:cNvSpPr/>
                  <p:nvPr/>
                </p:nvSpPr>
                <p:spPr>
                  <a:xfrm flipH="1">
                    <a:off x="1454462" y="3256009"/>
                    <a:ext cx="862088" cy="386056"/>
                  </a:xfrm>
                  <a:prstGeom prst="ben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nvGrpSpPr>
                <p:cNvPr id="18" name="群組 17">
                  <a:extLst>
                    <a:ext uri="{FF2B5EF4-FFF2-40B4-BE49-F238E27FC236}">
                      <a16:creationId xmlns:a16="http://schemas.microsoft.com/office/drawing/2014/main" id="{862D8634-4B05-C00E-7C28-29BFD742C411}"/>
                    </a:ext>
                  </a:extLst>
                </p:cNvPr>
                <p:cNvGrpSpPr/>
                <p:nvPr/>
              </p:nvGrpSpPr>
              <p:grpSpPr>
                <a:xfrm>
                  <a:off x="1733345" y="3068176"/>
                  <a:ext cx="2902647" cy="941597"/>
                  <a:chOff x="1653159" y="2701033"/>
                  <a:chExt cx="2902647" cy="941597"/>
                </a:xfrm>
              </p:grpSpPr>
              <p:sp>
                <p:nvSpPr>
                  <p:cNvPr id="19" name="矩形 18">
                    <a:extLst>
                      <a:ext uri="{FF2B5EF4-FFF2-40B4-BE49-F238E27FC236}">
                        <a16:creationId xmlns:a16="http://schemas.microsoft.com/office/drawing/2014/main" id="{7EFD04CA-935A-5775-973E-7A07CA80CC9F}"/>
                      </a:ext>
                    </a:extLst>
                  </p:cNvPr>
                  <p:cNvSpPr/>
                  <p:nvPr/>
                </p:nvSpPr>
                <p:spPr>
                  <a:xfrm>
                    <a:off x="1653159" y="2701033"/>
                    <a:ext cx="125767" cy="6569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0" name="矩形 19">
                    <a:extLst>
                      <a:ext uri="{FF2B5EF4-FFF2-40B4-BE49-F238E27FC236}">
                        <a16:creationId xmlns:a16="http://schemas.microsoft.com/office/drawing/2014/main" id="{F791B0EA-285F-F9AD-5704-157CE644FDA3}"/>
                      </a:ext>
                    </a:extLst>
                  </p:cNvPr>
                  <p:cNvSpPr/>
                  <p:nvPr/>
                </p:nvSpPr>
                <p:spPr>
                  <a:xfrm>
                    <a:off x="2849206" y="2701033"/>
                    <a:ext cx="125767" cy="6569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1" name="矩形 20">
                    <a:extLst>
                      <a:ext uri="{FF2B5EF4-FFF2-40B4-BE49-F238E27FC236}">
                        <a16:creationId xmlns:a16="http://schemas.microsoft.com/office/drawing/2014/main" id="{73B1DDA4-808F-230D-9AA2-D39F2B6E7902}"/>
                      </a:ext>
                    </a:extLst>
                  </p:cNvPr>
                  <p:cNvSpPr/>
                  <p:nvPr/>
                </p:nvSpPr>
                <p:spPr>
                  <a:xfrm>
                    <a:off x="4430039" y="2701033"/>
                    <a:ext cx="125767" cy="6569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2" name="矩形 21">
                    <a:extLst>
                      <a:ext uri="{FF2B5EF4-FFF2-40B4-BE49-F238E27FC236}">
                        <a16:creationId xmlns:a16="http://schemas.microsoft.com/office/drawing/2014/main" id="{BDC62DA5-8AE3-5A36-3901-EADC980912E7}"/>
                      </a:ext>
                    </a:extLst>
                  </p:cNvPr>
                  <p:cNvSpPr/>
                  <p:nvPr/>
                </p:nvSpPr>
                <p:spPr>
                  <a:xfrm rot="5400000">
                    <a:off x="2972039" y="1899981"/>
                    <a:ext cx="144000" cy="277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23" name="箭號: 向下 22">
                    <a:extLst>
                      <a:ext uri="{FF2B5EF4-FFF2-40B4-BE49-F238E27FC236}">
                        <a16:creationId xmlns:a16="http://schemas.microsoft.com/office/drawing/2014/main" id="{9F8662B1-484F-49DB-2891-BB9F91B1B154}"/>
                      </a:ext>
                    </a:extLst>
                  </p:cNvPr>
                  <p:cNvSpPr/>
                  <p:nvPr/>
                </p:nvSpPr>
                <p:spPr>
                  <a:xfrm>
                    <a:off x="2431366" y="3227138"/>
                    <a:ext cx="190347" cy="41549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grpSp>
          <p:sp>
            <p:nvSpPr>
              <p:cNvPr id="16" name="矩形 15">
                <a:extLst>
                  <a:ext uri="{FF2B5EF4-FFF2-40B4-BE49-F238E27FC236}">
                    <a16:creationId xmlns:a16="http://schemas.microsoft.com/office/drawing/2014/main" id="{C64C7616-92D2-7F7C-5687-95055867C59C}"/>
                  </a:ext>
                </a:extLst>
              </p:cNvPr>
              <p:cNvSpPr/>
              <p:nvPr/>
            </p:nvSpPr>
            <p:spPr>
              <a:xfrm>
                <a:off x="2124589" y="3008203"/>
                <a:ext cx="125767" cy="61200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grpSp>
        <p:nvGrpSpPr>
          <p:cNvPr id="31" name="群組 30">
            <a:extLst>
              <a:ext uri="{FF2B5EF4-FFF2-40B4-BE49-F238E27FC236}">
                <a16:creationId xmlns:a16="http://schemas.microsoft.com/office/drawing/2014/main" id="{13D76BE9-0FE7-0261-9583-71484387C7FE}"/>
              </a:ext>
            </a:extLst>
          </p:cNvPr>
          <p:cNvGrpSpPr/>
          <p:nvPr/>
        </p:nvGrpSpPr>
        <p:grpSpPr>
          <a:xfrm>
            <a:off x="661764" y="1439177"/>
            <a:ext cx="3994520" cy="1152699"/>
            <a:chOff x="661764" y="1439177"/>
            <a:chExt cx="3994520" cy="1152699"/>
          </a:xfrm>
        </p:grpSpPr>
        <p:sp>
          <p:nvSpPr>
            <p:cNvPr id="32" name="矩形: 圓角 31">
              <a:extLst>
                <a:ext uri="{FF2B5EF4-FFF2-40B4-BE49-F238E27FC236}">
                  <a16:creationId xmlns:a16="http://schemas.microsoft.com/office/drawing/2014/main" id="{65EA22F7-442C-2F9C-57CB-552699B66B86}"/>
                </a:ext>
              </a:extLst>
            </p:cNvPr>
            <p:cNvSpPr/>
            <p:nvPr/>
          </p:nvSpPr>
          <p:spPr>
            <a:xfrm>
              <a:off x="661764" y="1526922"/>
              <a:ext cx="1143293" cy="6015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TW" sz="1600" dirty="0">
                  <a:solidFill>
                    <a:schemeClr val="tx1"/>
                  </a:solidFill>
                  <a:latin typeface="微軟正黑體" panose="020B0604030504040204" pitchFamily="34" charset="-120"/>
                  <a:ea typeface="微軟正黑體" panose="020B0604030504040204" pitchFamily="34" charset="-120"/>
                </a:rPr>
                <a:t>CE</a:t>
              </a:r>
              <a:r>
                <a:rPr lang="zh-TW" altLang="en-US" sz="1600" dirty="0">
                  <a:solidFill>
                    <a:schemeClr val="tx1"/>
                  </a:solidFill>
                  <a:latin typeface="微軟正黑體" panose="020B0604030504040204" pitchFamily="34" charset="-120"/>
                  <a:ea typeface="微軟正黑體" panose="020B0604030504040204" pitchFamily="34" charset="-120"/>
                </a:rPr>
                <a:t> </a:t>
              </a:r>
              <a:r>
                <a:rPr lang="en-US" altLang="zh-TW" sz="1600" dirty="0">
                  <a:solidFill>
                    <a:schemeClr val="tx1"/>
                  </a:solidFill>
                  <a:latin typeface="微軟正黑體" panose="020B0604030504040204" pitchFamily="34" charset="-120"/>
                  <a:ea typeface="微軟正黑體" panose="020B0604030504040204" pitchFamily="34" charset="-120"/>
                </a:rPr>
                <a:t>Loss 1</a:t>
              </a:r>
              <a:endParaRPr lang="zh-TW" altLang="en-US" sz="1600" dirty="0">
                <a:solidFill>
                  <a:schemeClr val="tx1"/>
                </a:solidFill>
                <a:latin typeface="微軟正黑體" panose="020B0604030504040204" pitchFamily="34" charset="-120"/>
                <a:ea typeface="微軟正黑體" panose="020B0604030504040204" pitchFamily="34" charset="-120"/>
              </a:endParaRPr>
            </a:p>
          </p:txBody>
        </p:sp>
        <p:sp>
          <p:nvSpPr>
            <p:cNvPr id="33" name="矩形: 圓角 32">
              <a:extLst>
                <a:ext uri="{FF2B5EF4-FFF2-40B4-BE49-F238E27FC236}">
                  <a16:creationId xmlns:a16="http://schemas.microsoft.com/office/drawing/2014/main" id="{505EA2DC-C2D1-FE0A-88F7-BE18740E4005}"/>
                </a:ext>
              </a:extLst>
            </p:cNvPr>
            <p:cNvSpPr/>
            <p:nvPr/>
          </p:nvSpPr>
          <p:spPr>
            <a:xfrm>
              <a:off x="1895754" y="1524859"/>
              <a:ext cx="1143292" cy="6015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TW" sz="1600" dirty="0">
                  <a:solidFill>
                    <a:schemeClr val="tx1"/>
                  </a:solidFill>
                  <a:latin typeface="微軟正黑體" panose="020B0604030504040204" pitchFamily="34" charset="-120"/>
                  <a:ea typeface="微軟正黑體" panose="020B0604030504040204" pitchFamily="34" charset="-120"/>
                </a:rPr>
                <a:t>CE</a:t>
              </a:r>
              <a:r>
                <a:rPr lang="zh-TW" altLang="en-US" sz="1600" dirty="0">
                  <a:solidFill>
                    <a:schemeClr val="tx1"/>
                  </a:solidFill>
                  <a:latin typeface="微軟正黑體" panose="020B0604030504040204" pitchFamily="34" charset="-120"/>
                  <a:ea typeface="微軟正黑體" panose="020B0604030504040204" pitchFamily="34" charset="-120"/>
                </a:rPr>
                <a:t> </a:t>
              </a:r>
              <a:r>
                <a:rPr lang="en-US" altLang="zh-TW" sz="1600" dirty="0">
                  <a:solidFill>
                    <a:schemeClr val="tx1"/>
                  </a:solidFill>
                  <a:latin typeface="微軟正黑體" panose="020B0604030504040204" pitchFamily="34" charset="-120"/>
                  <a:ea typeface="微軟正黑體" panose="020B0604030504040204" pitchFamily="34" charset="-120"/>
                </a:rPr>
                <a:t>Loss 2</a:t>
              </a:r>
              <a:endParaRPr lang="zh-TW" altLang="en-US" sz="1600" dirty="0">
                <a:solidFill>
                  <a:schemeClr val="tx1"/>
                </a:solidFill>
                <a:latin typeface="微軟正黑體" panose="020B0604030504040204" pitchFamily="34" charset="-120"/>
                <a:ea typeface="微軟正黑體" panose="020B0604030504040204" pitchFamily="34" charset="-120"/>
              </a:endParaRPr>
            </a:p>
          </p:txBody>
        </p:sp>
        <p:sp>
          <p:nvSpPr>
            <p:cNvPr id="34" name="文字方塊 33">
              <a:extLst>
                <a:ext uri="{FF2B5EF4-FFF2-40B4-BE49-F238E27FC236}">
                  <a16:creationId xmlns:a16="http://schemas.microsoft.com/office/drawing/2014/main" id="{7F6E45B6-37AF-45B1-B793-2AB3359CBEBF}"/>
                </a:ext>
              </a:extLst>
            </p:cNvPr>
            <p:cNvSpPr txBox="1"/>
            <p:nvPr/>
          </p:nvSpPr>
          <p:spPr>
            <a:xfrm>
              <a:off x="2983065" y="1439177"/>
              <a:ext cx="568251" cy="646331"/>
            </a:xfrm>
            <a:prstGeom prst="rect">
              <a:avLst/>
            </a:prstGeom>
            <a:noFill/>
          </p:spPr>
          <p:txBody>
            <a:bodyPr wrap="square" rtlCol="0" anchor="ctr">
              <a:spAutoFit/>
            </a:bodyPr>
            <a:lstStyle/>
            <a:p>
              <a:pPr algn="ctr"/>
              <a:r>
                <a:rPr lang="en-US" altLang="zh-TW" dirty="0">
                  <a:latin typeface="微軟正黑體" panose="020B0604030504040204" pitchFamily="34" charset="-120"/>
                  <a:ea typeface="微軟正黑體" panose="020B0604030504040204" pitchFamily="34" charset="-120"/>
                </a:rPr>
                <a:t>… …</a:t>
              </a:r>
              <a:endParaRPr lang="zh-TW" altLang="en-US" dirty="0">
                <a:latin typeface="微軟正黑體" panose="020B0604030504040204" pitchFamily="34" charset="-120"/>
                <a:ea typeface="微軟正黑體" panose="020B0604030504040204" pitchFamily="34" charset="-120"/>
              </a:endParaRPr>
            </a:p>
          </p:txBody>
        </p:sp>
        <p:sp>
          <p:nvSpPr>
            <p:cNvPr id="35" name="矩形: 圓角 34">
              <a:extLst>
                <a:ext uri="{FF2B5EF4-FFF2-40B4-BE49-F238E27FC236}">
                  <a16:creationId xmlns:a16="http://schemas.microsoft.com/office/drawing/2014/main" id="{A81DBE75-D33A-0DFE-BF8A-1D4C16C3502E}"/>
                </a:ext>
              </a:extLst>
            </p:cNvPr>
            <p:cNvSpPr/>
            <p:nvPr/>
          </p:nvSpPr>
          <p:spPr>
            <a:xfrm>
              <a:off x="3512992" y="1524859"/>
              <a:ext cx="1143292" cy="6015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TW" sz="1600" dirty="0">
                  <a:solidFill>
                    <a:schemeClr val="tx1"/>
                  </a:solidFill>
                  <a:latin typeface="微軟正黑體" panose="020B0604030504040204" pitchFamily="34" charset="-120"/>
                  <a:ea typeface="微軟正黑體" panose="020B0604030504040204" pitchFamily="34" charset="-120"/>
                </a:rPr>
                <a:t>CE</a:t>
              </a:r>
              <a:r>
                <a:rPr lang="zh-TW" altLang="en-US" sz="1600" dirty="0">
                  <a:solidFill>
                    <a:schemeClr val="tx1"/>
                  </a:solidFill>
                  <a:latin typeface="微軟正黑體" panose="020B0604030504040204" pitchFamily="34" charset="-120"/>
                  <a:ea typeface="微軟正黑體" panose="020B0604030504040204" pitchFamily="34" charset="-120"/>
                </a:rPr>
                <a:t> </a:t>
              </a:r>
              <a:r>
                <a:rPr lang="en-US" altLang="zh-TW" sz="1600" dirty="0">
                  <a:solidFill>
                    <a:schemeClr val="tx1"/>
                  </a:solidFill>
                  <a:latin typeface="微軟正黑體" panose="020B0604030504040204" pitchFamily="34" charset="-120"/>
                  <a:ea typeface="微軟正黑體" panose="020B0604030504040204" pitchFamily="34" charset="-120"/>
                </a:rPr>
                <a:t>Loss K</a:t>
              </a:r>
              <a:endParaRPr lang="zh-TW" altLang="en-US" sz="1600" dirty="0">
                <a:solidFill>
                  <a:schemeClr val="tx1"/>
                </a:solidFill>
                <a:latin typeface="微軟正黑體" panose="020B0604030504040204" pitchFamily="34" charset="-120"/>
                <a:ea typeface="微軟正黑體" panose="020B0604030504040204" pitchFamily="34" charset="-120"/>
              </a:endParaRPr>
            </a:p>
          </p:txBody>
        </p:sp>
        <p:grpSp>
          <p:nvGrpSpPr>
            <p:cNvPr id="36" name="群組 35">
              <a:extLst>
                <a:ext uri="{FF2B5EF4-FFF2-40B4-BE49-F238E27FC236}">
                  <a16:creationId xmlns:a16="http://schemas.microsoft.com/office/drawing/2014/main" id="{54D837D7-DCA7-F910-A693-EEDD0D295477}"/>
                </a:ext>
              </a:extLst>
            </p:cNvPr>
            <p:cNvGrpSpPr/>
            <p:nvPr/>
          </p:nvGrpSpPr>
          <p:grpSpPr>
            <a:xfrm>
              <a:off x="1064954" y="2205820"/>
              <a:ext cx="408075" cy="386056"/>
              <a:chOff x="1064954" y="2205820"/>
              <a:chExt cx="408075" cy="386056"/>
            </a:xfrm>
          </p:grpSpPr>
          <p:sp>
            <p:nvSpPr>
              <p:cNvPr id="43" name="箭號: 向上 42">
                <a:extLst>
                  <a:ext uri="{FF2B5EF4-FFF2-40B4-BE49-F238E27FC236}">
                    <a16:creationId xmlns:a16="http://schemas.microsoft.com/office/drawing/2014/main" id="{FEC7BD18-E720-D70F-AFDF-60548FF14174}"/>
                  </a:ext>
                </a:extLst>
              </p:cNvPr>
              <p:cNvSpPr/>
              <p:nvPr/>
            </p:nvSpPr>
            <p:spPr>
              <a:xfrm>
                <a:off x="1064954" y="2205820"/>
                <a:ext cx="144000" cy="386056"/>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4" name="箭號: 向上 43">
                <a:extLst>
                  <a:ext uri="{FF2B5EF4-FFF2-40B4-BE49-F238E27FC236}">
                    <a16:creationId xmlns:a16="http://schemas.microsoft.com/office/drawing/2014/main" id="{9680672D-4AB8-E922-B110-7D75E774E36D}"/>
                  </a:ext>
                </a:extLst>
              </p:cNvPr>
              <p:cNvSpPr/>
              <p:nvPr/>
            </p:nvSpPr>
            <p:spPr>
              <a:xfrm flipV="1">
                <a:off x="1329029" y="2205820"/>
                <a:ext cx="144000" cy="386056"/>
              </a:xfrm>
              <a:prstGeom prs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nvGrpSpPr>
            <p:cNvPr id="37" name="群組 36">
              <a:extLst>
                <a:ext uri="{FF2B5EF4-FFF2-40B4-BE49-F238E27FC236}">
                  <a16:creationId xmlns:a16="http://schemas.microsoft.com/office/drawing/2014/main" id="{72F289FD-26C5-E706-5894-952AAC7CD54E}"/>
                </a:ext>
              </a:extLst>
            </p:cNvPr>
            <p:cNvGrpSpPr/>
            <p:nvPr/>
          </p:nvGrpSpPr>
          <p:grpSpPr>
            <a:xfrm>
              <a:off x="2250939" y="2205820"/>
              <a:ext cx="408075" cy="386056"/>
              <a:chOff x="1064954" y="2205820"/>
              <a:chExt cx="408075" cy="386056"/>
            </a:xfrm>
          </p:grpSpPr>
          <p:sp>
            <p:nvSpPr>
              <p:cNvPr id="41" name="箭號: 向上 40">
                <a:extLst>
                  <a:ext uri="{FF2B5EF4-FFF2-40B4-BE49-F238E27FC236}">
                    <a16:creationId xmlns:a16="http://schemas.microsoft.com/office/drawing/2014/main" id="{443D3998-6FE4-37C9-2B80-CCB1650B7F08}"/>
                  </a:ext>
                </a:extLst>
              </p:cNvPr>
              <p:cNvSpPr/>
              <p:nvPr/>
            </p:nvSpPr>
            <p:spPr>
              <a:xfrm>
                <a:off x="1064954" y="2205820"/>
                <a:ext cx="144000" cy="386056"/>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2" name="箭號: 向上 41">
                <a:extLst>
                  <a:ext uri="{FF2B5EF4-FFF2-40B4-BE49-F238E27FC236}">
                    <a16:creationId xmlns:a16="http://schemas.microsoft.com/office/drawing/2014/main" id="{2663853C-C3D1-FD9F-F005-EF522E23CD6A}"/>
                  </a:ext>
                </a:extLst>
              </p:cNvPr>
              <p:cNvSpPr/>
              <p:nvPr/>
            </p:nvSpPr>
            <p:spPr>
              <a:xfrm flipV="1">
                <a:off x="1329029" y="2205820"/>
                <a:ext cx="144000" cy="386056"/>
              </a:xfrm>
              <a:prstGeom prs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nvGrpSpPr>
            <p:cNvPr id="38" name="群組 37">
              <a:extLst>
                <a:ext uri="{FF2B5EF4-FFF2-40B4-BE49-F238E27FC236}">
                  <a16:creationId xmlns:a16="http://schemas.microsoft.com/office/drawing/2014/main" id="{463A5FD0-5EEB-A66E-2930-C6B6DF801E6E}"/>
                </a:ext>
              </a:extLst>
            </p:cNvPr>
            <p:cNvGrpSpPr/>
            <p:nvPr/>
          </p:nvGrpSpPr>
          <p:grpSpPr>
            <a:xfrm>
              <a:off x="3910042" y="2182215"/>
              <a:ext cx="408075" cy="386056"/>
              <a:chOff x="1064954" y="2205820"/>
              <a:chExt cx="408075" cy="386056"/>
            </a:xfrm>
          </p:grpSpPr>
          <p:sp>
            <p:nvSpPr>
              <p:cNvPr id="39" name="箭號: 向上 38">
                <a:extLst>
                  <a:ext uri="{FF2B5EF4-FFF2-40B4-BE49-F238E27FC236}">
                    <a16:creationId xmlns:a16="http://schemas.microsoft.com/office/drawing/2014/main" id="{EE5611D3-FCC3-9C4B-5CA6-93F51C27918A}"/>
                  </a:ext>
                </a:extLst>
              </p:cNvPr>
              <p:cNvSpPr/>
              <p:nvPr/>
            </p:nvSpPr>
            <p:spPr>
              <a:xfrm>
                <a:off x="1064954" y="2205820"/>
                <a:ext cx="144000" cy="386056"/>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0" name="箭號: 向上 39">
                <a:extLst>
                  <a:ext uri="{FF2B5EF4-FFF2-40B4-BE49-F238E27FC236}">
                    <a16:creationId xmlns:a16="http://schemas.microsoft.com/office/drawing/2014/main" id="{1687B27C-A8CD-8E73-4F2F-1264259F7EC1}"/>
                  </a:ext>
                </a:extLst>
              </p:cNvPr>
              <p:cNvSpPr/>
              <p:nvPr/>
            </p:nvSpPr>
            <p:spPr>
              <a:xfrm flipV="1">
                <a:off x="1329029" y="2205820"/>
                <a:ext cx="144000" cy="386056"/>
              </a:xfrm>
              <a:prstGeom prs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grpSp>
        <p:nvGrpSpPr>
          <p:cNvPr id="45" name="群組 44">
            <a:extLst>
              <a:ext uri="{FF2B5EF4-FFF2-40B4-BE49-F238E27FC236}">
                <a16:creationId xmlns:a16="http://schemas.microsoft.com/office/drawing/2014/main" id="{7D097BA6-9A0F-90AB-2319-26C147C59566}"/>
              </a:ext>
            </a:extLst>
          </p:cNvPr>
          <p:cNvGrpSpPr/>
          <p:nvPr/>
        </p:nvGrpSpPr>
        <p:grpSpPr>
          <a:xfrm>
            <a:off x="4729325" y="1162178"/>
            <a:ext cx="2441359" cy="1200329"/>
            <a:chOff x="4831952" y="1346844"/>
            <a:chExt cx="2441359" cy="1200329"/>
          </a:xfrm>
        </p:grpSpPr>
        <p:sp>
          <p:nvSpPr>
            <p:cNvPr id="46" name="文字方塊 45">
              <a:extLst>
                <a:ext uri="{FF2B5EF4-FFF2-40B4-BE49-F238E27FC236}">
                  <a16:creationId xmlns:a16="http://schemas.microsoft.com/office/drawing/2014/main" id="{373B616B-0AC5-5E9D-DDC0-AEE7A0E5554C}"/>
                </a:ext>
              </a:extLst>
            </p:cNvPr>
            <p:cNvSpPr txBox="1"/>
            <p:nvPr/>
          </p:nvSpPr>
          <p:spPr>
            <a:xfrm>
              <a:off x="4831952" y="1346844"/>
              <a:ext cx="2441359" cy="1200329"/>
            </a:xfrm>
            <a:prstGeom prst="rect">
              <a:avLst/>
            </a:prstGeom>
            <a:noFill/>
          </p:spPr>
          <p:txBody>
            <a:bodyPr wrap="square" rtlCol="0">
              <a:spAutoFit/>
            </a:bodyPr>
            <a:lstStyle/>
            <a:p>
              <a:pPr marL="285750" indent="-285750">
                <a:lnSpc>
                  <a:spcPct val="300000"/>
                </a:lnSpc>
                <a:buFont typeface="Arial" panose="020B0604020202020204" pitchFamily="34" charset="0"/>
                <a:buChar char="•"/>
              </a:pPr>
              <a:r>
                <a:rPr lang="en-US" altLang="zh-TW" dirty="0">
                  <a:latin typeface="微軟正黑體" panose="020B0604030504040204" pitchFamily="34" charset="-120"/>
                  <a:ea typeface="微軟正黑體" panose="020B0604030504040204" pitchFamily="34" charset="-120"/>
                </a:rPr>
                <a:t>Forward</a:t>
              </a:r>
            </a:p>
            <a:p>
              <a:pPr marL="285750" indent="-285750">
                <a:buFont typeface="Arial" panose="020B0604020202020204" pitchFamily="34" charset="0"/>
                <a:buChar char="•"/>
              </a:pPr>
              <a:r>
                <a:rPr lang="en-US" altLang="zh-TW" dirty="0">
                  <a:latin typeface="微軟正黑體" panose="020B0604030504040204" pitchFamily="34" charset="-120"/>
                  <a:ea typeface="微軟正黑體" panose="020B0604030504040204" pitchFamily="34" charset="-120"/>
                </a:rPr>
                <a:t>Backward</a:t>
              </a:r>
            </a:p>
          </p:txBody>
        </p:sp>
        <p:sp>
          <p:nvSpPr>
            <p:cNvPr id="47" name="箭號: 向上 46">
              <a:extLst>
                <a:ext uri="{FF2B5EF4-FFF2-40B4-BE49-F238E27FC236}">
                  <a16:creationId xmlns:a16="http://schemas.microsoft.com/office/drawing/2014/main" id="{1CA5CDD3-E55D-02F4-368B-1D7450E7C482}"/>
                </a:ext>
              </a:extLst>
            </p:cNvPr>
            <p:cNvSpPr/>
            <p:nvPr/>
          </p:nvSpPr>
          <p:spPr>
            <a:xfrm>
              <a:off x="4879090" y="1688203"/>
              <a:ext cx="215809" cy="386056"/>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8" name="箭號: 向上 47">
              <a:extLst>
                <a:ext uri="{FF2B5EF4-FFF2-40B4-BE49-F238E27FC236}">
                  <a16:creationId xmlns:a16="http://schemas.microsoft.com/office/drawing/2014/main" id="{4437B719-3AB2-6CE3-EA5D-4B318D7BF182}"/>
                </a:ext>
              </a:extLst>
            </p:cNvPr>
            <p:cNvSpPr/>
            <p:nvPr/>
          </p:nvSpPr>
          <p:spPr>
            <a:xfrm>
              <a:off x="4880218" y="2131127"/>
              <a:ext cx="215809" cy="386056"/>
            </a:xfrm>
            <a:prstGeom prs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sp>
        <p:nvSpPr>
          <p:cNvPr id="49" name="矩形: 圓角 48">
            <a:extLst>
              <a:ext uri="{FF2B5EF4-FFF2-40B4-BE49-F238E27FC236}">
                <a16:creationId xmlns:a16="http://schemas.microsoft.com/office/drawing/2014/main" id="{7B90194D-DCB9-8D91-AFB9-EFC5E82628A7}"/>
              </a:ext>
            </a:extLst>
          </p:cNvPr>
          <p:cNvSpPr/>
          <p:nvPr/>
        </p:nvSpPr>
        <p:spPr>
          <a:xfrm>
            <a:off x="6541363" y="1497284"/>
            <a:ext cx="4279037" cy="2991957"/>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r>
              <a:rPr lang="en-US" altLang="zh-TW" dirty="0">
                <a:latin typeface="微軟正黑體" panose="020B0604030504040204" pitchFamily="34" charset="-120"/>
                <a:ea typeface="微軟正黑體" panose="020B0604030504040204" pitchFamily="34" charset="-120"/>
              </a:rPr>
              <a:t>z = </a:t>
            </a:r>
            <a:r>
              <a:rPr lang="en-US" altLang="zh-TW" dirty="0" err="1">
                <a:latin typeface="微軟正黑體" panose="020B0604030504040204" pitchFamily="34" charset="-120"/>
                <a:ea typeface="微軟正黑體" panose="020B0604030504040204" pitchFamily="34" charset="-120"/>
              </a:rPr>
              <a:t>model.shared</a:t>
            </a:r>
            <a:r>
              <a:rPr lang="en-US" altLang="zh-TW" dirty="0">
                <a:latin typeface="微軟正黑體" panose="020B0604030504040204" pitchFamily="34" charset="-120"/>
                <a:ea typeface="微軟正黑體" panose="020B0604030504040204" pitchFamily="34" charset="-120"/>
              </a:rPr>
              <a:t>(x)</a:t>
            </a:r>
          </a:p>
          <a:p>
            <a:r>
              <a:rPr lang="en-US" altLang="zh-TW" dirty="0">
                <a:latin typeface="微軟正黑體" panose="020B0604030504040204" pitchFamily="34" charset="-120"/>
                <a:ea typeface="微軟正黑體" panose="020B0604030504040204" pitchFamily="34" charset="-120"/>
              </a:rPr>
              <a:t>d = </a:t>
            </a:r>
            <a:r>
              <a:rPr lang="en-US" altLang="zh-TW" dirty="0" err="1">
                <a:latin typeface="微軟正黑體" panose="020B0604030504040204" pitchFamily="34" charset="-120"/>
                <a:ea typeface="微軟正黑體" panose="020B0604030504040204" pitchFamily="34" charset="-120"/>
              </a:rPr>
              <a:t>z.detach</a:t>
            </a:r>
            <a:r>
              <a:rPr lang="en-US" altLang="zh-TW" dirty="0">
                <a:latin typeface="微軟正黑體" panose="020B0604030504040204" pitchFamily="34" charset="-120"/>
                <a:ea typeface="微軟正黑體" panose="020B0604030504040204" pitchFamily="34" charset="-120"/>
              </a:rPr>
              <a:t>()</a:t>
            </a:r>
          </a:p>
          <a:p>
            <a:r>
              <a:rPr lang="en-US" altLang="zh-TW" dirty="0" err="1">
                <a:latin typeface="微軟正黑體" panose="020B0604030504040204" pitchFamily="34" charset="-120"/>
                <a:ea typeface="微軟正黑體" panose="020B0604030504040204" pitchFamily="34" charset="-120"/>
              </a:rPr>
              <a:t>d.requires_grad</a:t>
            </a:r>
            <a:r>
              <a:rPr lang="en-US" altLang="zh-TW" dirty="0">
                <a:latin typeface="微軟正黑體" panose="020B0604030504040204" pitchFamily="34" charset="-120"/>
                <a:ea typeface="微軟正黑體" panose="020B0604030504040204" pitchFamily="34" charset="-120"/>
              </a:rPr>
              <a:t> = True</a:t>
            </a:r>
          </a:p>
          <a:p>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for </a:t>
            </a:r>
            <a:r>
              <a:rPr lang="en-US" altLang="zh-TW" dirty="0" err="1">
                <a:latin typeface="微軟正黑體" panose="020B0604030504040204" pitchFamily="34" charset="-120"/>
                <a:ea typeface="微軟正黑體" panose="020B0604030504040204" pitchFamily="34" charset="-120"/>
              </a:rPr>
              <a:t>i</a:t>
            </a:r>
            <a:r>
              <a:rPr lang="en-US" altLang="zh-TW" dirty="0">
                <a:latin typeface="微軟正黑體" panose="020B0604030504040204" pitchFamily="34" charset="-120"/>
                <a:ea typeface="微軟正黑體" panose="020B0604030504040204" pitchFamily="34" charset="-120"/>
              </a:rPr>
              <a:t> in range(n):</a:t>
            </a:r>
          </a:p>
          <a:p>
            <a:r>
              <a:rPr lang="en-US" altLang="zh-TW" dirty="0">
                <a:latin typeface="微軟正黑體" panose="020B0604030504040204" pitchFamily="34" charset="-120"/>
                <a:ea typeface="微軟正黑體" panose="020B0604030504040204" pitchFamily="34" charset="-120"/>
              </a:rPr>
              <a:t>    p = </a:t>
            </a:r>
            <a:r>
              <a:rPr lang="en-US" altLang="zh-TW" dirty="0" err="1">
                <a:latin typeface="微軟正黑體" panose="020B0604030504040204" pitchFamily="34" charset="-120"/>
                <a:ea typeface="微軟正黑體" panose="020B0604030504040204" pitchFamily="34" charset="-120"/>
              </a:rPr>
              <a:t>model.head</a:t>
            </a:r>
            <a:r>
              <a:rPr lang="en-US" altLang="zh-TW" dirty="0">
                <a:latin typeface="微軟正黑體" panose="020B0604030504040204" pitchFamily="34" charset="-120"/>
                <a:ea typeface="微軟正黑體" panose="020B0604030504040204" pitchFamily="34" charset="-120"/>
              </a:rPr>
              <a:t>[</a:t>
            </a:r>
            <a:r>
              <a:rPr lang="en-US" altLang="zh-TW" dirty="0" err="1">
                <a:latin typeface="微軟正黑體" panose="020B0604030504040204" pitchFamily="34" charset="-120"/>
                <a:ea typeface="微軟正黑體" panose="020B0604030504040204" pitchFamily="34" charset="-120"/>
              </a:rPr>
              <a:t>i</a:t>
            </a:r>
            <a:r>
              <a:rPr lang="en-US" altLang="zh-TW" dirty="0">
                <a:latin typeface="微軟正黑體" panose="020B0604030504040204" pitchFamily="34" charset="-120"/>
                <a:ea typeface="微軟正黑體" panose="020B0604030504040204" pitchFamily="34" charset="-120"/>
              </a:rPr>
              <a:t>](d)</a:t>
            </a:r>
          </a:p>
          <a:p>
            <a:r>
              <a:rPr lang="en-US" altLang="zh-TW" dirty="0">
                <a:latin typeface="微軟正黑體" panose="020B0604030504040204" pitchFamily="34" charset="-120"/>
                <a:ea typeface="微軟正黑體" panose="020B0604030504040204" pitchFamily="34" charset="-120"/>
              </a:rPr>
              <a:t>    loss(p, y[</a:t>
            </a:r>
            <a:r>
              <a:rPr lang="en-US" altLang="zh-TW" dirty="0" err="1">
                <a:latin typeface="微軟正黑體" panose="020B0604030504040204" pitchFamily="34" charset="-120"/>
                <a:ea typeface="微軟正黑體" panose="020B0604030504040204" pitchFamily="34" charset="-120"/>
              </a:rPr>
              <a:t>i</a:t>
            </a:r>
            <a:r>
              <a:rPr lang="en-US" altLang="zh-TW" dirty="0">
                <a:latin typeface="微軟正黑體" panose="020B0604030504040204" pitchFamily="34" charset="-120"/>
                <a:ea typeface="微軟正黑體" panose="020B0604030504040204" pitchFamily="34" charset="-120"/>
              </a:rPr>
              <a:t>]).backward()</a:t>
            </a:r>
          </a:p>
          <a:p>
            <a:r>
              <a:rPr lang="en-US" altLang="zh-TW" dirty="0">
                <a:latin typeface="微軟正黑體" panose="020B0604030504040204" pitchFamily="34" charset="-120"/>
                <a:ea typeface="微軟正黑體" panose="020B0604030504040204" pitchFamily="34" charset="-120"/>
              </a:rPr>
              <a:t> </a:t>
            </a:r>
          </a:p>
          <a:p>
            <a:r>
              <a:rPr lang="en-US" altLang="zh-TW" dirty="0" err="1">
                <a:latin typeface="微軟正黑體" panose="020B0604030504040204" pitchFamily="34" charset="-120"/>
                <a:ea typeface="微軟正黑體" panose="020B0604030504040204" pitchFamily="34" charset="-120"/>
              </a:rPr>
              <a:t>z.backward</a:t>
            </a:r>
            <a:r>
              <a:rPr lang="en-US" altLang="zh-TW" dirty="0">
                <a:latin typeface="微軟正黑體" panose="020B0604030504040204" pitchFamily="34" charset="-120"/>
                <a:ea typeface="微軟正黑體" panose="020B0604030504040204" pitchFamily="34" charset="-120"/>
              </a:rPr>
              <a:t>(gradient=</a:t>
            </a:r>
            <a:r>
              <a:rPr lang="en-US" altLang="zh-TW" dirty="0" err="1">
                <a:latin typeface="微軟正黑體" panose="020B0604030504040204" pitchFamily="34" charset="-120"/>
                <a:ea typeface="微軟正黑體" panose="020B0604030504040204" pitchFamily="34" charset="-120"/>
              </a:rPr>
              <a:t>d.grad</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0F2E8ADC-552C-60BD-F702-F6CAED0F737E}"/>
              </a:ext>
            </a:extLst>
          </p:cNvPr>
          <p:cNvSpPr>
            <a:spLocks noGrp="1"/>
          </p:cNvSpPr>
          <p:nvPr>
            <p:ph type="sldNum" sz="quarter" idx="12"/>
          </p:nvPr>
        </p:nvSpPr>
        <p:spPr>
          <a:xfrm>
            <a:off x="9448800" y="6611112"/>
            <a:ext cx="2743200" cy="265224"/>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10</a:t>
            </a:fld>
            <a:endParaRPr lang="zh-TW" altLang="en-US" dirty="0">
              <a:solidFill>
                <a:schemeClr val="bg2"/>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199979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0CCA-B2E9-D0DB-7868-A52C482E73B5}"/>
            </a:ext>
          </a:extLst>
        </p:cNvPr>
        <p:cNvGrpSpPr/>
        <p:nvPr/>
      </p:nvGrpSpPr>
      <p:grpSpPr>
        <a:xfrm>
          <a:off x="0" y="0"/>
          <a:ext cx="0" cy="0"/>
          <a:chOff x="0" y="0"/>
          <a:chExt cx="0" cy="0"/>
        </a:xfrm>
      </p:grpSpPr>
      <p:sp>
        <p:nvSpPr>
          <p:cNvPr id="5" name="Shape 0">
            <a:extLst>
              <a:ext uri="{FF2B5EF4-FFF2-40B4-BE49-F238E27FC236}">
                <a16:creationId xmlns:a16="http://schemas.microsoft.com/office/drawing/2014/main" id="{E9189FFD-81A6-0271-D330-9F0FACC96B65}"/>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18633269-B0D1-A7CC-5C0C-EDA677A9DAD8}"/>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2: Related Work</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9D33104E-11BC-3C88-CB55-BA4411BABB5B}"/>
              </a:ext>
            </a:extLst>
          </p:cNvPr>
          <p:cNvSpPr/>
          <p:nvPr/>
        </p:nvSpPr>
        <p:spPr>
          <a:xfrm>
            <a:off x="347472" y="457200"/>
            <a:ext cx="7955280" cy="228600"/>
          </a:xfrm>
          <a:prstGeom prst="rect">
            <a:avLst/>
          </a:prstGeom>
          <a:noFill/>
          <a:ln/>
        </p:spPr>
        <p:txBody>
          <a:bodyPr wrap="square" lIns="0" tIns="0" rIns="0" bIns="0" rtlCol="0" anchor="ctr"/>
          <a:lstStyle/>
          <a:p>
            <a:r>
              <a:rPr lang="en-US" altLang="zh-TW" sz="1600" dirty="0">
                <a:solidFill>
                  <a:srgbClr val="60707A"/>
                </a:solidFill>
                <a:latin typeface="微軟正黑體" panose="020B0604030504040204" pitchFamily="34" charset="-120"/>
                <a:ea typeface="微軟正黑體" panose="020B0604030504040204" pitchFamily="34" charset="-120"/>
              </a:rPr>
              <a:t>Different Forms of MTP</a:t>
            </a:r>
            <a:endParaRPr lang="en-US" sz="1600" dirty="0">
              <a:solidFill>
                <a:srgbClr val="60707A"/>
              </a:solidFill>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1DFF590B-A6F5-51B1-5B7D-AC69B98D46EA}"/>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D04E0CBC-B4BC-B89E-95C2-5A48808315DF}"/>
              </a:ext>
            </a:extLst>
          </p:cNvPr>
          <p:cNvSpPr>
            <a:spLocks noGrp="1"/>
          </p:cNvSpPr>
          <p:nvPr>
            <p:ph type="sldNum" sz="quarter" idx="12"/>
          </p:nvPr>
        </p:nvSpPr>
        <p:spPr>
          <a:xfrm>
            <a:off x="9448800" y="6611112"/>
            <a:ext cx="2743200" cy="265224"/>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11</a:t>
            </a:fld>
            <a:endParaRPr lang="zh-TW" altLang="en-US" dirty="0">
              <a:solidFill>
                <a:schemeClr val="bg2"/>
              </a:solidFill>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54B3FB8E-71F2-09C7-4A58-F3DB3FD72B89}"/>
              </a:ext>
            </a:extLst>
          </p:cNvPr>
          <p:cNvSpPr txBox="1"/>
          <p:nvPr/>
        </p:nvSpPr>
        <p:spPr>
          <a:xfrm>
            <a:off x="3046368" y="1267812"/>
            <a:ext cx="6098958" cy="923330"/>
          </a:xfrm>
          <a:prstGeom prst="rect">
            <a:avLst/>
          </a:prstGeom>
          <a:noFill/>
        </p:spPr>
        <p:txBody>
          <a:bodyPr wrap="square">
            <a:spAutoFit/>
          </a:bodyPr>
          <a:lstStyle/>
          <a:p>
            <a:r>
              <a:rPr lang="en-US" altLang="zh-TW" b="1" dirty="0">
                <a:latin typeface="微軟正黑體" panose="020B0604030504040204" pitchFamily="34" charset="-120"/>
                <a:ea typeface="微軟正黑體" panose="020B0604030504040204" pitchFamily="34" charset="-120"/>
              </a:rPr>
              <a:t>Pre-training MTP — </a:t>
            </a:r>
            <a:r>
              <a:rPr lang="en-US" altLang="zh-TW" b="1" dirty="0" err="1">
                <a:latin typeface="微軟正黑體" panose="020B0604030504040204" pitchFamily="34" charset="-120"/>
                <a:ea typeface="微軟正黑體" panose="020B0604030504040204" pitchFamily="34" charset="-120"/>
              </a:rPr>
              <a:t>Gloeckle</a:t>
            </a:r>
            <a:r>
              <a:rPr lang="en-US" altLang="zh-TW" b="1" dirty="0">
                <a:latin typeface="微軟正黑體" panose="020B0604030504040204" pitchFamily="34" charset="-120"/>
                <a:ea typeface="微軟正黑體" panose="020B0604030504040204" pitchFamily="34" charset="-120"/>
              </a:rPr>
              <a:t> et al. [1]</a:t>
            </a:r>
            <a:br>
              <a:rPr lang="en-US" altLang="zh-TW" dirty="0">
                <a:latin typeface="微軟正黑體" panose="020B0604030504040204" pitchFamily="34" charset="-120"/>
                <a:ea typeface="微軟正黑體" panose="020B0604030504040204" pitchFamily="34" charset="-120"/>
              </a:rPr>
            </a:br>
            <a:r>
              <a:rPr lang="en-US" altLang="zh-TW" sz="1600" dirty="0">
                <a:latin typeface="微軟正黑體" panose="020B0604030504040204" pitchFamily="34" charset="-120"/>
                <a:ea typeface="微軟正黑體" panose="020B0604030504040204" pitchFamily="34" charset="-120"/>
              </a:rPr>
              <a:t>Shared trunk + multiple prediction heads</a:t>
            </a:r>
            <a:br>
              <a:rPr lang="en-US" altLang="zh-TW" dirty="0">
                <a:latin typeface="微軟正黑體" panose="020B0604030504040204" pitchFamily="34" charset="-120"/>
                <a:ea typeface="微軟正黑體" panose="020B0604030504040204" pitchFamily="34" charset="-120"/>
              </a:rPr>
            </a:br>
            <a:r>
              <a:rPr lang="en-US" altLang="zh-TW" dirty="0">
                <a:latin typeface="微軟正黑體" panose="020B0604030504040204" pitchFamily="34" charset="-120"/>
                <a:ea typeface="微軟正黑體" panose="020B0604030504040204" pitchFamily="34" charset="-120"/>
              </a:rPr>
              <a:t>→ </a:t>
            </a:r>
            <a:r>
              <a:rPr lang="en-US" altLang="zh-TW" sz="1600" dirty="0">
                <a:latin typeface="微軟正黑體" panose="020B0604030504040204" pitchFamily="34" charset="-120"/>
                <a:ea typeface="微軟正黑體" panose="020B0604030504040204" pitchFamily="34" charset="-120"/>
              </a:rPr>
              <a:t>predict multiple future tokens during pre-training</a:t>
            </a:r>
            <a:endParaRPr lang="zh-TW" altLang="en-US" sz="1600" dirty="0">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989A11AD-233B-EA5F-4F7B-008E85FBEA7B}"/>
              </a:ext>
            </a:extLst>
          </p:cNvPr>
          <p:cNvSpPr txBox="1"/>
          <p:nvPr/>
        </p:nvSpPr>
        <p:spPr>
          <a:xfrm>
            <a:off x="3046368" y="2903195"/>
            <a:ext cx="8776824" cy="923330"/>
          </a:xfrm>
          <a:prstGeom prst="rect">
            <a:avLst/>
          </a:prstGeom>
          <a:noFill/>
        </p:spPr>
        <p:txBody>
          <a:bodyPr wrap="square">
            <a:spAutoFit/>
          </a:bodyPr>
          <a:lstStyle/>
          <a:p>
            <a:r>
              <a:rPr lang="en-US" altLang="zh-TW" b="1" dirty="0">
                <a:latin typeface="微軟正黑體" panose="020B0604030504040204" pitchFamily="34" charset="-120"/>
                <a:ea typeface="微軟正黑體" panose="020B0604030504040204" pitchFamily="34" charset="-120"/>
              </a:rPr>
              <a:t>Post-training MTP — </a:t>
            </a:r>
            <a:r>
              <a:rPr lang="en-US" altLang="zh-TW" b="1" dirty="0" err="1">
                <a:latin typeface="微軟正黑體" panose="020B0604030504040204" pitchFamily="34" charset="-120"/>
                <a:ea typeface="微軟正黑體" panose="020B0604030504040204" pitchFamily="34" charset="-120"/>
              </a:rPr>
              <a:t>Samragh</a:t>
            </a:r>
            <a:r>
              <a:rPr lang="en-US" altLang="zh-TW" b="1" dirty="0">
                <a:latin typeface="微軟正黑體" panose="020B0604030504040204" pitchFamily="34" charset="-120"/>
                <a:ea typeface="微軟正黑體" panose="020B0604030504040204" pitchFamily="34" charset="-120"/>
              </a:rPr>
              <a:t> et al. [2]</a:t>
            </a:r>
            <a:br>
              <a:rPr lang="en-US" altLang="zh-TW" dirty="0">
                <a:latin typeface="微軟正黑體" panose="020B0604030504040204" pitchFamily="34" charset="-120"/>
                <a:ea typeface="微軟正黑體" panose="020B0604030504040204" pitchFamily="34" charset="-120"/>
              </a:rPr>
            </a:br>
            <a:r>
              <a:rPr lang="en-US" altLang="zh-TW" sz="1600" dirty="0">
                <a:latin typeface="微軟正黑體" panose="020B0604030504040204" pitchFamily="34" charset="-120"/>
                <a:ea typeface="微軟正黑體" panose="020B0604030504040204" pitchFamily="34" charset="-120"/>
              </a:rPr>
              <a:t>Introduce MTP into pretrained LLMs through SFT and consistency objectives</a:t>
            </a:r>
            <a:br>
              <a:rPr lang="en-US" altLang="zh-TW" dirty="0">
                <a:latin typeface="微軟正黑體" panose="020B0604030504040204" pitchFamily="34" charset="-120"/>
                <a:ea typeface="微軟正黑體" panose="020B0604030504040204" pitchFamily="34" charset="-120"/>
              </a:rPr>
            </a:br>
            <a:r>
              <a:rPr lang="en-US" altLang="zh-TW" dirty="0">
                <a:latin typeface="微軟正黑體" panose="020B0604030504040204" pitchFamily="34" charset="-120"/>
                <a:ea typeface="微軟正黑體" panose="020B0604030504040204" pitchFamily="34" charset="-120"/>
              </a:rPr>
              <a:t>→ </a:t>
            </a:r>
            <a:r>
              <a:rPr lang="en-US" altLang="zh-TW" sz="1600" dirty="0">
                <a:latin typeface="微軟正黑體" panose="020B0604030504040204" pitchFamily="34" charset="-120"/>
                <a:ea typeface="微軟正黑體" panose="020B0604030504040204" pitchFamily="34" charset="-120"/>
              </a:rPr>
              <a:t>adapting existing models for multi-token prediction</a:t>
            </a:r>
            <a:endParaRPr lang="zh-TW" altLang="en-US" sz="1600" dirty="0">
              <a:latin typeface="微軟正黑體" panose="020B0604030504040204" pitchFamily="34" charset="-120"/>
              <a:ea typeface="微軟正黑體" panose="020B0604030504040204" pitchFamily="34" charset="-120"/>
            </a:endParaRPr>
          </a:p>
        </p:txBody>
      </p:sp>
      <p:sp>
        <p:nvSpPr>
          <p:cNvPr id="52" name="文字方塊 51">
            <a:extLst>
              <a:ext uri="{FF2B5EF4-FFF2-40B4-BE49-F238E27FC236}">
                <a16:creationId xmlns:a16="http://schemas.microsoft.com/office/drawing/2014/main" id="{F1151129-19A8-5571-D7C1-06F144FFBDF7}"/>
              </a:ext>
            </a:extLst>
          </p:cNvPr>
          <p:cNvSpPr txBox="1"/>
          <p:nvPr/>
        </p:nvSpPr>
        <p:spPr>
          <a:xfrm>
            <a:off x="3046368" y="4815577"/>
            <a:ext cx="7204974" cy="923330"/>
          </a:xfrm>
          <a:prstGeom prst="rect">
            <a:avLst/>
          </a:prstGeom>
          <a:noFill/>
        </p:spPr>
        <p:txBody>
          <a:bodyPr wrap="square">
            <a:spAutoFit/>
          </a:bodyPr>
          <a:lstStyle/>
          <a:p>
            <a:r>
              <a:rPr lang="en-US" altLang="zh-TW" b="1" dirty="0">
                <a:latin typeface="微軟正黑體" panose="020B0604030504040204" pitchFamily="34" charset="-120"/>
                <a:ea typeface="微軟正黑體" panose="020B0604030504040204" pitchFamily="34" charset="-120"/>
              </a:rPr>
              <a:t>Large-scale MTP — DeepSeek-V3 [11]</a:t>
            </a:r>
            <a:br>
              <a:rPr lang="en-US" altLang="zh-TW" dirty="0">
                <a:latin typeface="微軟正黑體" panose="020B0604030504040204" pitchFamily="34" charset="-120"/>
                <a:ea typeface="微軟正黑體" panose="020B0604030504040204" pitchFamily="34" charset="-120"/>
              </a:rPr>
            </a:br>
            <a:r>
              <a:rPr lang="en-US" altLang="zh-TW" sz="1600" dirty="0">
                <a:latin typeface="微軟正黑體" panose="020B0604030504040204" pitchFamily="34" charset="-120"/>
                <a:ea typeface="微軟正黑體" panose="020B0604030504040204" pitchFamily="34" charset="-120"/>
              </a:rPr>
              <a:t>MTP integrated into large-scale pre-training</a:t>
            </a:r>
            <a:br>
              <a:rPr lang="en-US" altLang="zh-TW" dirty="0">
                <a:latin typeface="微軟正黑體" panose="020B0604030504040204" pitchFamily="34" charset="-120"/>
                <a:ea typeface="微軟正黑體" panose="020B0604030504040204" pitchFamily="34" charset="-120"/>
              </a:rPr>
            </a:br>
            <a:r>
              <a:rPr lang="en-US" altLang="zh-TW" dirty="0">
                <a:latin typeface="微軟正黑體" panose="020B0604030504040204" pitchFamily="34" charset="-120"/>
                <a:ea typeface="微軟正黑體" panose="020B0604030504040204" pitchFamily="34" charset="-120"/>
              </a:rPr>
              <a:t>→ </a:t>
            </a:r>
            <a:r>
              <a:rPr lang="en-US" altLang="zh-TW" sz="1600" dirty="0">
                <a:latin typeface="微軟正黑體" panose="020B0604030504040204" pitchFamily="34" charset="-120"/>
                <a:ea typeface="微軟正黑體" panose="020B0604030504040204" pitchFamily="34" charset="-120"/>
              </a:rPr>
              <a:t>practical deployment in large-scale LLM training</a:t>
            </a:r>
            <a:endParaRPr lang="zh-TW" altLang="en-US" sz="1600" dirty="0">
              <a:latin typeface="微軟正黑體" panose="020B0604030504040204" pitchFamily="34" charset="-120"/>
              <a:ea typeface="微軟正黑體" panose="020B0604030504040204" pitchFamily="34" charset="-120"/>
            </a:endParaRPr>
          </a:p>
        </p:txBody>
      </p:sp>
      <p:sp>
        <p:nvSpPr>
          <p:cNvPr id="53" name="Text 4">
            <a:extLst>
              <a:ext uri="{FF2B5EF4-FFF2-40B4-BE49-F238E27FC236}">
                <a16:creationId xmlns:a16="http://schemas.microsoft.com/office/drawing/2014/main" id="{5D4A45B2-B827-10E4-A9C4-06DB3CDE6484}"/>
              </a:ext>
            </a:extLst>
          </p:cNvPr>
          <p:cNvSpPr/>
          <p:nvPr/>
        </p:nvSpPr>
        <p:spPr>
          <a:xfrm>
            <a:off x="1940658" y="1369477"/>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01</a:t>
            </a:r>
            <a:endParaRPr lang="en-US" sz="1400" dirty="0">
              <a:latin typeface="微軟正黑體" panose="020B0604030504040204" pitchFamily="34" charset="-120"/>
              <a:ea typeface="微軟正黑體" panose="020B0604030504040204" pitchFamily="34" charset="-120"/>
            </a:endParaRPr>
          </a:p>
        </p:txBody>
      </p:sp>
      <p:sp>
        <p:nvSpPr>
          <p:cNvPr id="54" name="Text 4">
            <a:extLst>
              <a:ext uri="{FF2B5EF4-FFF2-40B4-BE49-F238E27FC236}">
                <a16:creationId xmlns:a16="http://schemas.microsoft.com/office/drawing/2014/main" id="{42765715-209C-AD28-07A8-0A9CF50AE652}"/>
              </a:ext>
            </a:extLst>
          </p:cNvPr>
          <p:cNvSpPr/>
          <p:nvPr/>
        </p:nvSpPr>
        <p:spPr>
          <a:xfrm>
            <a:off x="1940658" y="3009563"/>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02</a:t>
            </a:r>
            <a:endParaRPr lang="en-US" sz="1400" dirty="0">
              <a:latin typeface="微軟正黑體" panose="020B0604030504040204" pitchFamily="34" charset="-120"/>
              <a:ea typeface="微軟正黑體" panose="020B0604030504040204" pitchFamily="34" charset="-120"/>
            </a:endParaRPr>
          </a:p>
        </p:txBody>
      </p:sp>
      <p:sp>
        <p:nvSpPr>
          <p:cNvPr id="55" name="Text 4">
            <a:extLst>
              <a:ext uri="{FF2B5EF4-FFF2-40B4-BE49-F238E27FC236}">
                <a16:creationId xmlns:a16="http://schemas.microsoft.com/office/drawing/2014/main" id="{0374D554-3102-D6B3-2929-58EF21FBF3E4}"/>
              </a:ext>
            </a:extLst>
          </p:cNvPr>
          <p:cNvSpPr/>
          <p:nvPr/>
        </p:nvSpPr>
        <p:spPr>
          <a:xfrm>
            <a:off x="1940658" y="4911444"/>
            <a:ext cx="720000" cy="720000"/>
          </a:xfrm>
          <a:prstGeom prst="rect">
            <a:avLst/>
          </a:prstGeom>
          <a:solidFill>
            <a:srgbClr val="5B839B"/>
          </a:solidFill>
          <a:ln>
            <a:solidFill>
              <a:srgbClr val="C8D6DE"/>
            </a:solidFill>
          </a:ln>
        </p:spPr>
        <p:txBody>
          <a:bodyPr wrap="square" lIns="635" tIns="635" rIns="635" bIns="635" rtlCol="0" anchor="ctr">
            <a:normAutofit/>
          </a:bodyPr>
          <a:lstStyle/>
          <a:p>
            <a:pPr marL="0" indent="0" algn="ctr">
              <a:buNone/>
            </a:pPr>
            <a:r>
              <a:rPr lang="en-US" sz="1400" b="1" dirty="0">
                <a:solidFill>
                  <a:srgbClr val="FFFFFF"/>
                </a:solidFill>
                <a:latin typeface="微軟正黑體" panose="020B0604030504040204" pitchFamily="34" charset="-120"/>
                <a:ea typeface="微軟正黑體" panose="020B0604030504040204" pitchFamily="34" charset="-120"/>
                <a:cs typeface="Noto Sans CJK TC" pitchFamily="34" charset="-120"/>
              </a:rPr>
              <a:t>03</a:t>
            </a:r>
            <a:endParaRPr lang="en-US" sz="1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75837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9420C-A700-5F3C-4247-CB0BC5FCF7DC}"/>
            </a:ext>
          </a:extLst>
        </p:cNvPr>
        <p:cNvGrpSpPr/>
        <p:nvPr/>
      </p:nvGrpSpPr>
      <p:grpSpPr>
        <a:xfrm>
          <a:off x="0" y="0"/>
          <a:ext cx="0" cy="0"/>
          <a:chOff x="0" y="0"/>
          <a:chExt cx="0" cy="0"/>
        </a:xfrm>
      </p:grpSpPr>
      <p:sp>
        <p:nvSpPr>
          <p:cNvPr id="5" name="Shape 0">
            <a:extLst>
              <a:ext uri="{FF2B5EF4-FFF2-40B4-BE49-F238E27FC236}">
                <a16:creationId xmlns:a16="http://schemas.microsoft.com/office/drawing/2014/main" id="{F3734F87-D154-631C-CD33-CE3355A80EA1}"/>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AFC1AA4E-170E-BEDC-A2FB-E91E81F08D60}"/>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2: Related Work</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14728A91-2223-1774-02A8-196BADFB1B6F}"/>
              </a:ext>
            </a:extLst>
          </p:cNvPr>
          <p:cNvSpPr/>
          <p:nvPr/>
        </p:nvSpPr>
        <p:spPr>
          <a:xfrm>
            <a:off x="347472" y="457200"/>
            <a:ext cx="7955280" cy="228600"/>
          </a:xfrm>
          <a:prstGeom prst="rect">
            <a:avLst/>
          </a:prstGeom>
          <a:noFill/>
          <a:ln/>
        </p:spPr>
        <p:txBody>
          <a:bodyPr wrap="square" lIns="0" tIns="0" rIns="0" bIns="0" rtlCol="0" anchor="ctr"/>
          <a:lstStyle/>
          <a:p>
            <a:r>
              <a:rPr lang="en-US" altLang="zh-TW" sz="1600" dirty="0">
                <a:solidFill>
                  <a:srgbClr val="60707A"/>
                </a:solidFill>
                <a:latin typeface="微軟正黑體" panose="020B0604030504040204" pitchFamily="34" charset="-120"/>
                <a:ea typeface="微軟正黑體" panose="020B0604030504040204" pitchFamily="34" charset="-120"/>
              </a:rPr>
              <a:t>MTP</a:t>
            </a:r>
            <a:r>
              <a:rPr lang="zh-TW" altLang="en-US" sz="1600" dirty="0">
                <a:solidFill>
                  <a:srgbClr val="60707A"/>
                </a:solidFill>
                <a:latin typeface="微軟正黑體" panose="020B0604030504040204" pitchFamily="34" charset="-120"/>
                <a:ea typeface="微軟正黑體" panose="020B0604030504040204" pitchFamily="34" charset="-120"/>
              </a:rPr>
              <a:t> </a:t>
            </a:r>
            <a:r>
              <a:rPr lang="en-US" altLang="zh-TW" sz="1600" dirty="0">
                <a:solidFill>
                  <a:srgbClr val="60707A"/>
                </a:solidFill>
                <a:latin typeface="微軟正黑體" panose="020B0604030504040204" pitchFamily="34" charset="-120"/>
                <a:ea typeface="微軟正黑體" panose="020B0604030504040204" pitchFamily="34" charset="-120"/>
              </a:rPr>
              <a:t>Speculative Decoding</a:t>
            </a:r>
            <a:r>
              <a:rPr lang="en-US" altLang="zh-TW" sz="1600" dirty="0">
                <a:solidFill>
                  <a:schemeClr val="bg1">
                    <a:lumMod val="50000"/>
                  </a:schemeClr>
                </a:solidFill>
                <a:latin typeface="微軟正黑體" panose="020B0604030504040204" pitchFamily="34" charset="-120"/>
                <a:ea typeface="微軟正黑體" panose="020B0604030504040204" pitchFamily="34" charset="-120"/>
              </a:rPr>
              <a:t> — From Parallel Prediction to Draft Acceptance</a:t>
            </a:r>
            <a:endParaRPr lang="en-US" sz="1600" dirty="0">
              <a:solidFill>
                <a:srgbClr val="60707A"/>
              </a:solidFill>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79F997A6-E18F-EB92-2D67-9266F3A8C92C}"/>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F49DF793-8955-AB23-FE22-C06B42F62921}"/>
              </a:ext>
            </a:extLst>
          </p:cNvPr>
          <p:cNvSpPr>
            <a:spLocks noGrp="1"/>
          </p:cNvSpPr>
          <p:nvPr>
            <p:ph type="sldNum" sz="quarter" idx="12"/>
          </p:nvPr>
        </p:nvSpPr>
        <p:spPr>
          <a:xfrm>
            <a:off x="9448800" y="6611112"/>
            <a:ext cx="2743200" cy="265224"/>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12</a:t>
            </a:fld>
            <a:endParaRPr lang="zh-TW" altLang="en-US" dirty="0">
              <a:solidFill>
                <a:schemeClr val="bg2"/>
              </a:solidFill>
              <a:latin typeface="微軟正黑體" panose="020B0604030504040204" pitchFamily="34" charset="-120"/>
              <a:ea typeface="微軟正黑體" panose="020B0604030504040204" pitchFamily="34" charset="-120"/>
            </a:endParaRPr>
          </a:p>
        </p:txBody>
      </p:sp>
      <p:cxnSp>
        <p:nvCxnSpPr>
          <p:cNvPr id="17" name="直線單箭頭接點 16">
            <a:extLst>
              <a:ext uri="{FF2B5EF4-FFF2-40B4-BE49-F238E27FC236}">
                <a16:creationId xmlns:a16="http://schemas.microsoft.com/office/drawing/2014/main" id="{741F26B2-6A34-760A-BFAB-5D187337DFD7}"/>
              </a:ext>
            </a:extLst>
          </p:cNvPr>
          <p:cNvCxnSpPr>
            <a:cxnSpLocks/>
            <a:stCxn id="6" idx="2"/>
            <a:endCxn id="23" idx="0"/>
          </p:cNvCxnSpPr>
          <p:nvPr/>
        </p:nvCxnSpPr>
        <p:spPr>
          <a:xfrm flipH="1">
            <a:off x="1244962" y="3137224"/>
            <a:ext cx="1636" cy="402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DD077B9B-D48D-0C5F-51F3-03C73037AACD}"/>
              </a:ext>
            </a:extLst>
          </p:cNvPr>
          <p:cNvCxnSpPr>
            <a:cxnSpLocks/>
            <a:stCxn id="10" idx="2"/>
            <a:endCxn id="33" idx="0"/>
          </p:cNvCxnSpPr>
          <p:nvPr/>
        </p:nvCxnSpPr>
        <p:spPr>
          <a:xfrm flipH="1">
            <a:off x="2743821" y="3137224"/>
            <a:ext cx="1" cy="389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5D8240D8-9A82-4575-33E0-B99D0FBD3F4D}"/>
              </a:ext>
            </a:extLst>
          </p:cNvPr>
          <p:cNvCxnSpPr>
            <a:cxnSpLocks/>
            <a:stCxn id="11" idx="2"/>
            <a:endCxn id="34" idx="0"/>
          </p:cNvCxnSpPr>
          <p:nvPr/>
        </p:nvCxnSpPr>
        <p:spPr>
          <a:xfrm>
            <a:off x="4241045" y="3137224"/>
            <a:ext cx="0" cy="389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0" name="群組 19">
            <a:extLst>
              <a:ext uri="{FF2B5EF4-FFF2-40B4-BE49-F238E27FC236}">
                <a16:creationId xmlns:a16="http://schemas.microsoft.com/office/drawing/2014/main" id="{4CB2BB82-C086-202C-8553-6D8F6BBB59C2}"/>
              </a:ext>
            </a:extLst>
          </p:cNvPr>
          <p:cNvGrpSpPr/>
          <p:nvPr/>
        </p:nvGrpSpPr>
        <p:grpSpPr>
          <a:xfrm>
            <a:off x="347472" y="1116719"/>
            <a:ext cx="4792699" cy="5358571"/>
            <a:chOff x="347472" y="1116719"/>
            <a:chExt cx="5370990" cy="5358571"/>
          </a:xfrm>
        </p:grpSpPr>
        <p:grpSp>
          <p:nvGrpSpPr>
            <p:cNvPr id="63" name="群組 62">
              <a:extLst>
                <a:ext uri="{FF2B5EF4-FFF2-40B4-BE49-F238E27FC236}">
                  <a16:creationId xmlns:a16="http://schemas.microsoft.com/office/drawing/2014/main" id="{7E448313-F77F-87B1-1A22-AAD44596CF6B}"/>
                </a:ext>
              </a:extLst>
            </p:cNvPr>
            <p:cNvGrpSpPr/>
            <p:nvPr/>
          </p:nvGrpSpPr>
          <p:grpSpPr>
            <a:xfrm>
              <a:off x="347472" y="1116719"/>
              <a:ext cx="5370990" cy="4313097"/>
              <a:chOff x="865927" y="1361621"/>
              <a:chExt cx="5370990" cy="4313097"/>
            </a:xfrm>
          </p:grpSpPr>
          <p:grpSp>
            <p:nvGrpSpPr>
              <p:cNvPr id="12" name="群組 11">
                <a:extLst>
                  <a:ext uri="{FF2B5EF4-FFF2-40B4-BE49-F238E27FC236}">
                    <a16:creationId xmlns:a16="http://schemas.microsoft.com/office/drawing/2014/main" id="{4973BFD7-416D-1DEA-C0B2-6A13818B9287}"/>
                  </a:ext>
                </a:extLst>
              </p:cNvPr>
              <p:cNvGrpSpPr/>
              <p:nvPr/>
            </p:nvGrpSpPr>
            <p:grpSpPr>
              <a:xfrm>
                <a:off x="865927" y="2068232"/>
                <a:ext cx="5370990" cy="1580224"/>
                <a:chOff x="1136342" y="1535838"/>
                <a:chExt cx="5370990" cy="1580224"/>
              </a:xfrm>
            </p:grpSpPr>
            <p:sp>
              <p:nvSpPr>
                <p:cNvPr id="2" name="矩形 1">
                  <a:extLst>
                    <a:ext uri="{FF2B5EF4-FFF2-40B4-BE49-F238E27FC236}">
                      <a16:creationId xmlns:a16="http://schemas.microsoft.com/office/drawing/2014/main" id="{283A35BD-CACB-2FD4-28E8-52F0D3B010EE}"/>
                    </a:ext>
                  </a:extLst>
                </p:cNvPr>
                <p:cNvSpPr/>
                <p:nvPr/>
              </p:nvSpPr>
              <p:spPr>
                <a:xfrm>
                  <a:off x="1136342" y="1535838"/>
                  <a:ext cx="5370990" cy="1580224"/>
                </a:xfrm>
                <a:prstGeom prst="rect">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dirty="0">
                      <a:solidFill>
                        <a:schemeClr val="tx1"/>
                      </a:solidFill>
                    </a:rPr>
                    <a:t>MTP model</a:t>
                  </a:r>
                  <a:endParaRPr lang="zh-TW" altLang="en-US" dirty="0">
                    <a:solidFill>
                      <a:schemeClr val="tx1"/>
                    </a:solidFill>
                  </a:endParaRPr>
                </a:p>
              </p:txBody>
            </p:sp>
            <p:sp>
              <p:nvSpPr>
                <p:cNvPr id="6" name="矩形 5">
                  <a:extLst>
                    <a:ext uri="{FF2B5EF4-FFF2-40B4-BE49-F238E27FC236}">
                      <a16:creationId xmlns:a16="http://schemas.microsoft.com/office/drawing/2014/main" id="{86BED9FE-30C2-994C-52B4-14BE63CB38C4}"/>
                    </a:ext>
                  </a:extLst>
                </p:cNvPr>
                <p:cNvSpPr/>
                <p:nvPr/>
              </p:nvSpPr>
              <p:spPr>
                <a:xfrm>
                  <a:off x="1367161" y="2139518"/>
                  <a:ext cx="1553592" cy="71021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Head 1</a:t>
                  </a:r>
                  <a:endParaRPr lang="zh-TW" altLang="en-US" dirty="0">
                    <a:solidFill>
                      <a:schemeClr val="tx1"/>
                    </a:solidFill>
                  </a:endParaRPr>
                </a:p>
              </p:txBody>
            </p:sp>
            <p:sp>
              <p:nvSpPr>
                <p:cNvPr id="10" name="矩形 9">
                  <a:extLst>
                    <a:ext uri="{FF2B5EF4-FFF2-40B4-BE49-F238E27FC236}">
                      <a16:creationId xmlns:a16="http://schemas.microsoft.com/office/drawing/2014/main" id="{30B62882-B878-5B97-EAEF-535AE247E52B}"/>
                    </a:ext>
                  </a:extLst>
                </p:cNvPr>
                <p:cNvSpPr/>
                <p:nvPr/>
              </p:nvSpPr>
              <p:spPr>
                <a:xfrm>
                  <a:off x="3045041" y="2139518"/>
                  <a:ext cx="1553592" cy="710214"/>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Head 2</a:t>
                  </a:r>
                  <a:endParaRPr lang="zh-TW" altLang="en-US" dirty="0">
                    <a:solidFill>
                      <a:schemeClr val="tx1"/>
                    </a:solidFill>
                  </a:endParaRPr>
                </a:p>
              </p:txBody>
            </p:sp>
            <p:sp>
              <p:nvSpPr>
                <p:cNvPr id="11" name="矩形 10">
                  <a:extLst>
                    <a:ext uri="{FF2B5EF4-FFF2-40B4-BE49-F238E27FC236}">
                      <a16:creationId xmlns:a16="http://schemas.microsoft.com/office/drawing/2014/main" id="{61AD846D-6553-8B68-FF1E-70C9B220BF60}"/>
                    </a:ext>
                  </a:extLst>
                </p:cNvPr>
                <p:cNvSpPr/>
                <p:nvPr/>
              </p:nvSpPr>
              <p:spPr>
                <a:xfrm>
                  <a:off x="4722921" y="2139518"/>
                  <a:ext cx="1553592" cy="710214"/>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Head 3</a:t>
                  </a:r>
                  <a:endParaRPr lang="zh-TW" altLang="en-US" dirty="0">
                    <a:solidFill>
                      <a:schemeClr val="tx1"/>
                    </a:solidFill>
                  </a:endParaRPr>
                </a:p>
              </p:txBody>
            </p:sp>
          </p:grpSp>
          <p:sp>
            <p:nvSpPr>
              <p:cNvPr id="13" name="文字方塊 12">
                <a:extLst>
                  <a:ext uri="{FF2B5EF4-FFF2-40B4-BE49-F238E27FC236}">
                    <a16:creationId xmlns:a16="http://schemas.microsoft.com/office/drawing/2014/main" id="{D07D8537-D266-04F4-79FA-FA14C8ED0D74}"/>
                  </a:ext>
                </a:extLst>
              </p:cNvPr>
              <p:cNvSpPr txBox="1"/>
              <p:nvPr/>
            </p:nvSpPr>
            <p:spPr>
              <a:xfrm>
                <a:off x="2547307" y="1361621"/>
                <a:ext cx="2008231" cy="369332"/>
              </a:xfrm>
              <a:prstGeom prst="rect">
                <a:avLst/>
              </a:prstGeom>
              <a:noFill/>
              <a:ln>
                <a:solidFill>
                  <a:schemeClr val="tx1"/>
                </a:solidFill>
              </a:ln>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Input: t</a:t>
                </a:r>
                <a:r>
                  <a:rPr lang="en-US" altLang="zh-TW" baseline="-25000" dirty="0">
                    <a:latin typeface="微軟正黑體" panose="020B0604030504040204" pitchFamily="34" charset="-120"/>
                    <a:ea typeface="微軟正黑體" panose="020B0604030504040204" pitchFamily="34" charset="-120"/>
                  </a:rPr>
                  <a:t>0, </a:t>
                </a:r>
                <a:r>
                  <a:rPr lang="en-US" altLang="zh-TW" dirty="0">
                    <a:latin typeface="微軟正黑體" panose="020B0604030504040204" pitchFamily="34" charset="-120"/>
                    <a:ea typeface="微軟正黑體" panose="020B0604030504040204" pitchFamily="34" charset="-120"/>
                  </a:rPr>
                  <a:t>t</a:t>
                </a:r>
                <a:r>
                  <a:rPr lang="en-US" altLang="zh-TW" baseline="-25000" dirty="0">
                    <a:latin typeface="微軟正黑體" panose="020B0604030504040204" pitchFamily="34" charset="-120"/>
                    <a:ea typeface="微軟正黑體" panose="020B0604030504040204" pitchFamily="34" charset="-120"/>
                  </a:rPr>
                  <a:t>1, …, </a:t>
                </a:r>
                <a:r>
                  <a:rPr lang="en-US" altLang="zh-TW" dirty="0" err="1">
                    <a:latin typeface="微軟正黑體" panose="020B0604030504040204" pitchFamily="34" charset="-120"/>
                    <a:ea typeface="微軟正黑體" panose="020B0604030504040204" pitchFamily="34" charset="-120"/>
                  </a:rPr>
                  <a:t>t</a:t>
                </a:r>
                <a:r>
                  <a:rPr lang="en-US" altLang="zh-TW" baseline="-25000" dirty="0" err="1">
                    <a:latin typeface="微軟正黑體" panose="020B0604030504040204" pitchFamily="34" charset="-120"/>
                    <a:ea typeface="微軟正黑體" panose="020B0604030504040204" pitchFamily="34" charset="-120"/>
                  </a:rPr>
                  <a:t>n</a:t>
                </a:r>
                <a:endParaRPr lang="zh-TW" altLang="en-US" baseline="-25000" dirty="0">
                  <a:latin typeface="微軟正黑體" panose="020B0604030504040204" pitchFamily="34" charset="-120"/>
                  <a:ea typeface="微軟正黑體" panose="020B0604030504040204" pitchFamily="34" charset="-120"/>
                </a:endParaRPr>
              </a:p>
            </p:txBody>
          </p:sp>
          <p:cxnSp>
            <p:nvCxnSpPr>
              <p:cNvPr id="15" name="直線單箭頭接點 14">
                <a:extLst>
                  <a:ext uri="{FF2B5EF4-FFF2-40B4-BE49-F238E27FC236}">
                    <a16:creationId xmlns:a16="http://schemas.microsoft.com/office/drawing/2014/main" id="{A0E3765A-8F5C-8DFD-CFB9-040D7E8E6E49}"/>
                  </a:ext>
                </a:extLst>
              </p:cNvPr>
              <p:cNvCxnSpPr>
                <a:cxnSpLocks/>
                <a:stCxn id="13" idx="2"/>
                <a:endCxn id="2" idx="0"/>
              </p:cNvCxnSpPr>
              <p:nvPr/>
            </p:nvCxnSpPr>
            <p:spPr>
              <a:xfrm>
                <a:off x="3551423" y="1730953"/>
                <a:ext cx="0" cy="33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橢圓 22">
                <a:extLst>
                  <a:ext uri="{FF2B5EF4-FFF2-40B4-BE49-F238E27FC236}">
                    <a16:creationId xmlns:a16="http://schemas.microsoft.com/office/drawing/2014/main" id="{B13B65B0-FC09-9396-465E-A6141802CB6E}"/>
                  </a:ext>
                </a:extLst>
              </p:cNvPr>
              <p:cNvSpPr/>
              <p:nvPr/>
            </p:nvSpPr>
            <p:spPr>
              <a:xfrm>
                <a:off x="1427927" y="3784844"/>
                <a:ext cx="887563" cy="792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latin typeface="微軟正黑體" panose="020B0604030504040204" pitchFamily="34" charset="-120"/>
                    <a:ea typeface="微軟正黑體" panose="020B0604030504040204" pitchFamily="34" charset="-120"/>
                  </a:rPr>
                  <a:t>Tn+1</a:t>
                </a:r>
                <a:endParaRPr lang="zh-TW" altLang="en-US" sz="1200" dirty="0">
                  <a:solidFill>
                    <a:schemeClr val="tx1"/>
                  </a:solidFill>
                  <a:latin typeface="微軟正黑體" panose="020B0604030504040204" pitchFamily="34" charset="-120"/>
                  <a:ea typeface="微軟正黑體" panose="020B0604030504040204" pitchFamily="34" charset="-120"/>
                </a:endParaRPr>
              </a:p>
            </p:txBody>
          </p:sp>
          <p:sp>
            <p:nvSpPr>
              <p:cNvPr id="33" name="橢圓 32">
                <a:extLst>
                  <a:ext uri="{FF2B5EF4-FFF2-40B4-BE49-F238E27FC236}">
                    <a16:creationId xmlns:a16="http://schemas.microsoft.com/office/drawing/2014/main" id="{CD66AD30-FB5A-BE17-61B9-3555394E01E7}"/>
                  </a:ext>
                </a:extLst>
              </p:cNvPr>
              <p:cNvSpPr/>
              <p:nvPr/>
            </p:nvSpPr>
            <p:spPr>
              <a:xfrm>
                <a:off x="3107640" y="3771422"/>
                <a:ext cx="887563" cy="792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latin typeface="微軟正黑體" panose="020B0604030504040204" pitchFamily="34" charset="-120"/>
                    <a:ea typeface="微軟正黑體" panose="020B0604030504040204" pitchFamily="34" charset="-120"/>
                  </a:rPr>
                  <a:t>Tn+2</a:t>
                </a:r>
                <a:endParaRPr lang="zh-TW" altLang="en-US" sz="1200" dirty="0">
                  <a:solidFill>
                    <a:schemeClr val="tx1"/>
                  </a:solidFill>
                  <a:latin typeface="微軟正黑體" panose="020B0604030504040204" pitchFamily="34" charset="-120"/>
                  <a:ea typeface="微軟正黑體" panose="020B0604030504040204" pitchFamily="34" charset="-120"/>
                </a:endParaRPr>
              </a:p>
            </p:txBody>
          </p:sp>
          <p:sp>
            <p:nvSpPr>
              <p:cNvPr id="34" name="橢圓 33">
                <a:extLst>
                  <a:ext uri="{FF2B5EF4-FFF2-40B4-BE49-F238E27FC236}">
                    <a16:creationId xmlns:a16="http://schemas.microsoft.com/office/drawing/2014/main" id="{0F091164-CD80-1135-53AA-38C9735298F2}"/>
                  </a:ext>
                </a:extLst>
              </p:cNvPr>
              <p:cNvSpPr/>
              <p:nvPr/>
            </p:nvSpPr>
            <p:spPr>
              <a:xfrm>
                <a:off x="4785520" y="3771422"/>
                <a:ext cx="887563" cy="792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latin typeface="微軟正黑體" panose="020B0604030504040204" pitchFamily="34" charset="-120"/>
                    <a:ea typeface="微軟正黑體" panose="020B0604030504040204" pitchFamily="34" charset="-120"/>
                  </a:rPr>
                  <a:t>Tn+3</a:t>
                </a:r>
                <a:endParaRPr lang="zh-TW" altLang="en-US" sz="1200" dirty="0">
                  <a:solidFill>
                    <a:schemeClr val="tx1"/>
                  </a:solidFill>
                  <a:latin typeface="微軟正黑體" panose="020B0604030504040204" pitchFamily="34" charset="-120"/>
                  <a:ea typeface="微軟正黑體" panose="020B0604030504040204" pitchFamily="34" charset="-120"/>
                </a:endParaRPr>
              </a:p>
            </p:txBody>
          </p:sp>
          <p:sp>
            <p:nvSpPr>
              <p:cNvPr id="57" name="矩形 56">
                <a:extLst>
                  <a:ext uri="{FF2B5EF4-FFF2-40B4-BE49-F238E27FC236}">
                    <a16:creationId xmlns:a16="http://schemas.microsoft.com/office/drawing/2014/main" id="{1373267D-D57E-40DE-2F70-91EDD4626AEE}"/>
                  </a:ext>
                </a:extLst>
              </p:cNvPr>
              <p:cNvSpPr/>
              <p:nvPr/>
            </p:nvSpPr>
            <p:spPr>
              <a:xfrm>
                <a:off x="1174248" y="4882718"/>
                <a:ext cx="4754347" cy="79200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Verification</a:t>
                </a:r>
              </a:p>
              <a:p>
                <a:pPr algn="ctr"/>
                <a:r>
                  <a:rPr lang="en-US" altLang="zh-TW" dirty="0">
                    <a:solidFill>
                      <a:schemeClr val="tx1"/>
                    </a:solidFill>
                  </a:rPr>
                  <a:t>(Head 1 as reference)</a:t>
                </a:r>
                <a:endParaRPr lang="zh-TW" altLang="en-US" dirty="0">
                  <a:solidFill>
                    <a:schemeClr val="tx1"/>
                  </a:solidFill>
                </a:endParaRPr>
              </a:p>
            </p:txBody>
          </p:sp>
          <p:cxnSp>
            <p:nvCxnSpPr>
              <p:cNvPr id="58" name="直線單箭頭接點 57">
                <a:extLst>
                  <a:ext uri="{FF2B5EF4-FFF2-40B4-BE49-F238E27FC236}">
                    <a16:creationId xmlns:a16="http://schemas.microsoft.com/office/drawing/2014/main" id="{179EB824-9988-A990-C331-DA03BAF2CE26}"/>
                  </a:ext>
                </a:extLst>
              </p:cNvPr>
              <p:cNvCxnSpPr>
                <a:cxnSpLocks/>
                <a:stCxn id="23" idx="4"/>
              </p:cNvCxnSpPr>
              <p:nvPr/>
            </p:nvCxnSpPr>
            <p:spPr>
              <a:xfrm>
                <a:off x="1871709" y="4576844"/>
                <a:ext cx="0" cy="319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a:extLst>
                  <a:ext uri="{FF2B5EF4-FFF2-40B4-BE49-F238E27FC236}">
                    <a16:creationId xmlns:a16="http://schemas.microsoft.com/office/drawing/2014/main" id="{2687F913-2200-0A76-937E-6C1F1E1BE01A}"/>
                  </a:ext>
                </a:extLst>
              </p:cNvPr>
              <p:cNvCxnSpPr>
                <a:cxnSpLocks/>
              </p:cNvCxnSpPr>
              <p:nvPr/>
            </p:nvCxnSpPr>
            <p:spPr>
              <a:xfrm>
                <a:off x="3551421" y="4570879"/>
                <a:ext cx="0" cy="311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8A0A8718-486D-219C-1C6C-35AF136EB834}"/>
                  </a:ext>
                </a:extLst>
              </p:cNvPr>
              <p:cNvCxnSpPr>
                <a:cxnSpLocks/>
              </p:cNvCxnSpPr>
              <p:nvPr/>
            </p:nvCxnSpPr>
            <p:spPr>
              <a:xfrm>
                <a:off x="5231135" y="4570878"/>
                <a:ext cx="0" cy="311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 name="矩形 2">
              <a:extLst>
                <a:ext uri="{FF2B5EF4-FFF2-40B4-BE49-F238E27FC236}">
                  <a16:creationId xmlns:a16="http://schemas.microsoft.com/office/drawing/2014/main" id="{0AF551C6-A22D-13C2-42B9-D3A50B1E8626}"/>
                </a:ext>
              </a:extLst>
            </p:cNvPr>
            <p:cNvSpPr/>
            <p:nvPr/>
          </p:nvSpPr>
          <p:spPr>
            <a:xfrm>
              <a:off x="1355086" y="5683290"/>
              <a:ext cx="3355761" cy="792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Accept longest valid prefix</a:t>
              </a:r>
              <a:endParaRPr lang="zh-TW" altLang="en-US" dirty="0">
                <a:solidFill>
                  <a:schemeClr val="tx1"/>
                </a:solidFill>
              </a:endParaRPr>
            </a:p>
          </p:txBody>
        </p:sp>
      </p:grpSp>
      <p:cxnSp>
        <p:nvCxnSpPr>
          <p:cNvPr id="14" name="直線單箭頭接點 13">
            <a:extLst>
              <a:ext uri="{FF2B5EF4-FFF2-40B4-BE49-F238E27FC236}">
                <a16:creationId xmlns:a16="http://schemas.microsoft.com/office/drawing/2014/main" id="{64959D12-E1AB-D520-290F-8C286399A2C8}"/>
              </a:ext>
            </a:extLst>
          </p:cNvPr>
          <p:cNvCxnSpPr>
            <a:cxnSpLocks/>
            <a:stCxn id="57" idx="2"/>
            <a:endCxn id="3" idx="0"/>
          </p:cNvCxnSpPr>
          <p:nvPr/>
        </p:nvCxnSpPr>
        <p:spPr>
          <a:xfrm>
            <a:off x="2743821" y="5429816"/>
            <a:ext cx="0" cy="253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949CFBBD-3586-AAC9-2246-0DD9442A97B7}"/>
              </a:ext>
            </a:extLst>
          </p:cNvPr>
          <p:cNvSpPr txBox="1"/>
          <p:nvPr/>
        </p:nvSpPr>
        <p:spPr>
          <a:xfrm>
            <a:off x="5415380" y="1116719"/>
            <a:ext cx="6542835" cy="830997"/>
          </a:xfrm>
          <a:prstGeom prst="rect">
            <a:avLst/>
          </a:prstGeom>
          <a:noFill/>
        </p:spPr>
        <p:txBody>
          <a:bodyPr wrap="square">
            <a:spAutoFit/>
          </a:bodyPr>
          <a:lstStyle/>
          <a:p>
            <a:r>
              <a:rPr lang="en-US" altLang="zh-TW" sz="1600" dirty="0">
                <a:latin typeface="微軟正黑體" panose="020B0604030504040204" pitchFamily="34" charset="-120"/>
                <a:ea typeface="微軟正黑體" panose="020B0604030504040204" pitchFamily="34" charset="-120"/>
              </a:rPr>
              <a:t>Stern et al. [3] proposed </a:t>
            </a:r>
            <a:r>
              <a:rPr lang="en-US" altLang="zh-TW" sz="1600" dirty="0" err="1">
                <a:latin typeface="微軟正黑體" panose="020B0604030504040204" pitchFamily="34" charset="-120"/>
                <a:ea typeface="微軟正黑體" panose="020B0604030504040204" pitchFamily="34" charset="-120"/>
              </a:rPr>
              <a:t>blockwise</a:t>
            </a:r>
            <a:r>
              <a:rPr lang="en-US" altLang="zh-TW" sz="1600" dirty="0">
                <a:latin typeface="微軟正黑體" panose="020B0604030504040204" pitchFamily="34" charset="-120"/>
                <a:ea typeface="微軟正黑體" panose="020B0604030504040204" pitchFamily="34" charset="-120"/>
              </a:rPr>
              <a:t> parallel decoding, where multiple future tokens are predicted in parallel and the longest valid prefix is accepted after verification.</a:t>
            </a:r>
            <a:endParaRPr lang="zh-TW" altLang="en-US" sz="1600" dirty="0">
              <a:latin typeface="微軟正黑體" panose="020B0604030504040204" pitchFamily="34" charset="-120"/>
              <a:ea typeface="微軟正黑體" panose="020B0604030504040204" pitchFamily="34" charset="-120"/>
            </a:endParaRPr>
          </a:p>
        </p:txBody>
      </p:sp>
      <p:sp>
        <p:nvSpPr>
          <p:cNvPr id="26" name="文字方塊 25">
            <a:extLst>
              <a:ext uri="{FF2B5EF4-FFF2-40B4-BE49-F238E27FC236}">
                <a16:creationId xmlns:a16="http://schemas.microsoft.com/office/drawing/2014/main" id="{3F25F333-7D4A-8080-126B-18DEDCEB854A}"/>
              </a:ext>
            </a:extLst>
          </p:cNvPr>
          <p:cNvSpPr txBox="1"/>
          <p:nvPr/>
        </p:nvSpPr>
        <p:spPr>
          <a:xfrm>
            <a:off x="5415379" y="4356286"/>
            <a:ext cx="6407809" cy="1785104"/>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Connection to This Work</a:t>
            </a:r>
          </a:p>
          <a:p>
            <a:r>
              <a:rPr lang="en-US" altLang="zh-TW" sz="1600" dirty="0">
                <a:latin typeface="微軟正黑體" panose="020B0604030504040204" pitchFamily="34" charset="-120"/>
                <a:ea typeface="微軟正黑體" panose="020B0604030504040204" pitchFamily="34" charset="-120"/>
              </a:rPr>
              <a:t>Following this verification principle, we evaluate MTP heads using a self-speculative decoding setting.</a:t>
            </a:r>
          </a:p>
          <a:p>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400" dirty="0">
                <a:latin typeface="微軟正黑體" panose="020B0604030504040204" pitchFamily="34" charset="-120"/>
                <a:ea typeface="微軟正黑體" panose="020B0604030504040204" pitchFamily="34" charset="-120"/>
              </a:rPr>
              <a:t>Heads 2–K → Draft tokens</a:t>
            </a:r>
          </a:p>
          <a:p>
            <a:pPr marL="285750" indent="-285750">
              <a:buFont typeface="Arial" panose="020B0604020202020204" pitchFamily="34" charset="0"/>
              <a:buChar char="•"/>
            </a:pPr>
            <a:r>
              <a:rPr lang="en-US" altLang="zh-TW" sz="1400" dirty="0">
                <a:latin typeface="微軟正黑體" panose="020B0604030504040204" pitchFamily="34" charset="-120"/>
                <a:ea typeface="微軟正黑體" panose="020B0604030504040204" pitchFamily="34" charset="-120"/>
              </a:rPr>
              <a:t>Head 1 → Verification reference</a:t>
            </a:r>
          </a:p>
          <a:p>
            <a:pPr marL="285750" indent="-285750">
              <a:buFont typeface="Arial" panose="020B0604020202020204" pitchFamily="34" charset="0"/>
              <a:buChar char="•"/>
            </a:pPr>
            <a:r>
              <a:rPr lang="en-US" altLang="zh-TW" sz="1400" dirty="0">
                <a:latin typeface="微軟正黑體" panose="020B0604030504040204" pitchFamily="34" charset="-120"/>
                <a:ea typeface="微軟正黑體" panose="020B0604030504040204" pitchFamily="34" charset="-120"/>
              </a:rPr>
              <a:t>Metric → Average Draft Tokens Accepted</a:t>
            </a:r>
          </a:p>
        </p:txBody>
      </p:sp>
    </p:spTree>
    <p:extLst>
      <p:ext uri="{BB962C8B-B14F-4D97-AF65-F5344CB8AC3E}">
        <p14:creationId xmlns:p14="http://schemas.microsoft.com/office/powerpoint/2010/main" val="3194270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D1FF0A30-0594-EB2E-C03B-D6ECD1F5815C}"/>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p>
        </p:txBody>
      </p:sp>
      <p:sp>
        <p:nvSpPr>
          <p:cNvPr id="7" name="Shape 4">
            <a:extLst>
              <a:ext uri="{FF2B5EF4-FFF2-40B4-BE49-F238E27FC236}">
                <a16:creationId xmlns:a16="http://schemas.microsoft.com/office/drawing/2014/main" id="{2EE5B06C-E6D2-FD6A-7058-EE921DC7B422}"/>
              </a:ext>
            </a:extLst>
          </p:cNvPr>
          <p:cNvSpPr/>
          <p:nvPr/>
        </p:nvSpPr>
        <p:spPr>
          <a:xfrm>
            <a:off x="0" y="2496312"/>
            <a:ext cx="12191695" cy="676656"/>
          </a:xfrm>
          <a:prstGeom prst="rect">
            <a:avLst/>
          </a:prstGeom>
          <a:solidFill>
            <a:srgbClr val="5B839B"/>
          </a:solidFill>
          <a:ln w="12700">
            <a:solidFill>
              <a:srgbClr val="5B839B"/>
            </a:solidFill>
            <a:prstDash val="solid"/>
          </a:ln>
        </p:spPr>
        <p:txBody>
          <a:bodyPr/>
          <a:lstStyle/>
          <a:p>
            <a:endParaRPr lang="zh-TW" altLang="en-US"/>
          </a:p>
        </p:txBody>
      </p:sp>
      <p:sp>
        <p:nvSpPr>
          <p:cNvPr id="8" name="Text 5">
            <a:extLst>
              <a:ext uri="{FF2B5EF4-FFF2-40B4-BE49-F238E27FC236}">
                <a16:creationId xmlns:a16="http://schemas.microsoft.com/office/drawing/2014/main" id="{C4C5F3F7-6909-D322-DB3C-EEFA70F79481}"/>
              </a:ext>
            </a:extLst>
          </p:cNvPr>
          <p:cNvSpPr/>
          <p:nvPr/>
        </p:nvSpPr>
        <p:spPr>
          <a:xfrm>
            <a:off x="457200" y="2660904"/>
            <a:ext cx="11274552" cy="292608"/>
          </a:xfrm>
          <a:prstGeom prst="rect">
            <a:avLst/>
          </a:prstGeom>
          <a:noFill/>
          <a:ln/>
        </p:spPr>
        <p:txBody>
          <a:bodyPr wrap="square" lIns="0" tIns="0" rIns="0" bIns="0" rtlCol="0" anchor="ctr"/>
          <a:lstStyle/>
          <a:p>
            <a:pPr marL="0" indent="0" algn="ctr">
              <a:buNone/>
            </a:pPr>
            <a:r>
              <a:rPr lang="en-US" sz="2000" b="1" dirty="0">
                <a:solidFill>
                  <a:srgbClr val="FFFFFF"/>
                </a:solidFill>
                <a:latin typeface="Noto Sans CJK TC" pitchFamily="34" charset="0"/>
                <a:ea typeface="Noto Sans CJK TC" pitchFamily="34" charset="-122"/>
                <a:cs typeface="Noto Sans CJK TC" pitchFamily="34" charset="-120"/>
              </a:rPr>
              <a:t>Proposed Method</a:t>
            </a:r>
            <a:endParaRPr lang="en-US" sz="2000" dirty="0"/>
          </a:p>
        </p:txBody>
      </p:sp>
      <p:sp>
        <p:nvSpPr>
          <p:cNvPr id="4" name="投影片編號版面配置區 3">
            <a:extLst>
              <a:ext uri="{FF2B5EF4-FFF2-40B4-BE49-F238E27FC236}">
                <a16:creationId xmlns:a16="http://schemas.microsoft.com/office/drawing/2014/main" id="{70FE6882-B7B0-F2AF-719F-B27BC5D8087D}"/>
              </a:ext>
            </a:extLst>
          </p:cNvPr>
          <p:cNvSpPr>
            <a:spLocks noGrp="1"/>
          </p:cNvSpPr>
          <p:nvPr>
            <p:ph type="sldNum" sz="quarter" idx="12"/>
          </p:nvPr>
        </p:nvSpPr>
        <p:spPr>
          <a:xfrm>
            <a:off x="9448800" y="6611112"/>
            <a:ext cx="2743200" cy="246888"/>
          </a:xfrm>
        </p:spPr>
        <p:txBody>
          <a:bodyPr/>
          <a:lstStyle/>
          <a:p>
            <a:fld id="{A98399F2-4B7C-4808-8B27-A13C76E6A9FD}" type="slidenum">
              <a:rPr lang="zh-TW" altLang="en-US" smtClean="0">
                <a:solidFill>
                  <a:schemeClr val="bg2"/>
                </a:solidFill>
              </a:rPr>
              <a:t>13</a:t>
            </a:fld>
            <a:endParaRPr lang="zh-TW" altLang="en-US" dirty="0">
              <a:solidFill>
                <a:schemeClr val="bg2"/>
              </a:solidFill>
            </a:endParaRPr>
          </a:p>
        </p:txBody>
      </p:sp>
    </p:spTree>
    <p:extLst>
      <p:ext uri="{BB962C8B-B14F-4D97-AF65-F5344CB8AC3E}">
        <p14:creationId xmlns:p14="http://schemas.microsoft.com/office/powerpoint/2010/main" val="2755232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5F3ECEC0-B1EA-EE1E-1D3A-F58873052B7F}"/>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p>
        </p:txBody>
      </p:sp>
      <p:sp>
        <p:nvSpPr>
          <p:cNvPr id="7" name="Text 2">
            <a:extLst>
              <a:ext uri="{FF2B5EF4-FFF2-40B4-BE49-F238E27FC236}">
                <a16:creationId xmlns:a16="http://schemas.microsoft.com/office/drawing/2014/main" id="{318ED0CB-9DF7-A8D5-AF9A-6A60ABE2765D}"/>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3: Proposed Method</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2D811688-07B4-BC53-3A07-4C16D79B54C7}"/>
              </a:ext>
            </a:extLst>
          </p:cNvPr>
          <p:cNvSpPr/>
          <p:nvPr/>
        </p:nvSpPr>
        <p:spPr>
          <a:xfrm>
            <a:off x="347472" y="457200"/>
            <a:ext cx="7955280" cy="228600"/>
          </a:xfrm>
          <a:prstGeom prst="rect">
            <a:avLst/>
          </a:prstGeom>
          <a:noFill/>
          <a:ln/>
        </p:spPr>
        <p:txBody>
          <a:bodyPr wrap="square" lIns="0" tIns="0" rIns="0" bIns="0" rtlCol="0" anchor="ctr"/>
          <a:lstStyle/>
          <a:p>
            <a:pPr marL="0" indent="0">
              <a:buNone/>
            </a:pP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Selective Distribution Consistency</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3BB07815-CEB4-7046-D8A1-801EBA09383D}"/>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p>
        </p:txBody>
      </p:sp>
      <p:sp>
        <p:nvSpPr>
          <p:cNvPr id="10" name="文字方塊 9">
            <a:extLst>
              <a:ext uri="{FF2B5EF4-FFF2-40B4-BE49-F238E27FC236}">
                <a16:creationId xmlns:a16="http://schemas.microsoft.com/office/drawing/2014/main" id="{BD63D5E1-9012-11EC-4EE2-E4FFC9B1F1E7}"/>
              </a:ext>
            </a:extLst>
          </p:cNvPr>
          <p:cNvSpPr txBox="1"/>
          <p:nvPr/>
        </p:nvSpPr>
        <p:spPr>
          <a:xfrm>
            <a:off x="347472" y="5948725"/>
            <a:ext cx="11304207" cy="584775"/>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τ controls low-confidence masking. Too high τ can exclude many positions, hurting Oracle PPL / draft acceptance and increasing repetition.</a:t>
            </a:r>
          </a:p>
        </p:txBody>
      </p:sp>
      <mc:AlternateContent xmlns:mc="http://schemas.openxmlformats.org/markup-compatibility/2006" xmlns:a14="http://schemas.microsoft.com/office/drawing/2010/main">
        <mc:Choice Requires="a14">
          <p:sp>
            <p:nvSpPr>
              <p:cNvPr id="11" name="矩形: 圓角 10">
                <a:extLst>
                  <a:ext uri="{FF2B5EF4-FFF2-40B4-BE49-F238E27FC236}">
                    <a16:creationId xmlns:a16="http://schemas.microsoft.com/office/drawing/2014/main" id="{237625A2-D553-99AE-3D41-F2F35D461DE4}"/>
                  </a:ext>
                </a:extLst>
              </p:cNvPr>
              <p:cNvSpPr/>
              <p:nvPr/>
            </p:nvSpPr>
            <p:spPr>
              <a:xfrm>
                <a:off x="787179" y="1187587"/>
                <a:ext cx="1424066" cy="749675"/>
              </a:xfrm>
              <a:prstGeom prst="roundRect">
                <a:avLst/>
              </a:prstGeom>
              <a:solidFill>
                <a:srgbClr val="FFD9D9"/>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rPr>
                  <a:t>Teacher logits</a:t>
                </a:r>
              </a:p>
              <a:p>
                <a:pPr algn="ctr"/>
                <a14:m>
                  <m:oMathPara xmlns:m="http://schemas.openxmlformats.org/officeDocument/2006/math">
                    <m:oMathParaPr>
                      <m:jc m:val="centerGroup"/>
                    </m:oMathParaPr>
                    <m:oMath xmlns:m="http://schemas.openxmlformats.org/officeDocument/2006/math">
                      <m:sSubSup>
                        <m:sSubSupPr>
                          <m:ctrlPr>
                            <a:rPr lang="en-US" altLang="zh-TW" sz="1600" i="1">
                              <a:solidFill>
                                <a:schemeClr val="tx1"/>
                              </a:solidFill>
                              <a:latin typeface="Cambria Math" panose="02040503050406030204" pitchFamily="18" charset="0"/>
                            </a:rPr>
                          </m:ctrlPr>
                        </m:sSubSupPr>
                        <m:e>
                          <m:r>
                            <a:rPr lang="en-US" altLang="zh-TW" sz="1600" i="1">
                              <a:solidFill>
                                <a:schemeClr val="tx1"/>
                              </a:solidFill>
                              <a:latin typeface="Cambria Math" panose="02040503050406030204" pitchFamily="18" charset="0"/>
                            </a:rPr>
                            <m:t>𝑧</m:t>
                          </m:r>
                        </m:e>
                        <m:sub>
                          <m:r>
                            <a:rPr lang="en-US" altLang="zh-TW" sz="1600" i="1">
                              <a:solidFill>
                                <a:schemeClr val="tx1"/>
                              </a:solidFill>
                              <a:latin typeface="Cambria Math" panose="02040503050406030204" pitchFamily="18" charset="0"/>
                            </a:rPr>
                            <m:t>𝑡</m:t>
                          </m:r>
                        </m:sub>
                        <m:sup>
                          <m:r>
                            <a:rPr lang="en-US" altLang="zh-TW" sz="1600" i="1">
                              <a:solidFill>
                                <a:schemeClr val="tx1"/>
                              </a:solidFill>
                              <a:latin typeface="Cambria Math" panose="02040503050406030204" pitchFamily="18" charset="0"/>
                            </a:rPr>
                            <m:t>(</m:t>
                          </m:r>
                          <m:r>
                            <a:rPr lang="en-US" altLang="zh-TW" sz="1600" i="1">
                              <a:solidFill>
                                <a:schemeClr val="tx1"/>
                              </a:solidFill>
                              <a:latin typeface="Cambria Math" panose="02040503050406030204" pitchFamily="18" charset="0"/>
                            </a:rPr>
                            <m:t>𝑖</m:t>
                          </m:r>
                          <m:r>
                            <a:rPr lang="en-US" altLang="zh-TW" sz="1600" i="1">
                              <a:solidFill>
                                <a:schemeClr val="tx1"/>
                              </a:solidFill>
                              <a:latin typeface="Cambria Math" panose="02040503050406030204" pitchFamily="18" charset="0"/>
                            </a:rPr>
                            <m:t>)</m:t>
                          </m:r>
                        </m:sup>
                      </m:sSubSup>
                    </m:oMath>
                  </m:oMathPara>
                </a14:m>
                <a:endParaRPr lang="en-US" altLang="zh-TW" sz="1600" dirty="0">
                  <a:solidFill>
                    <a:schemeClr val="tx1"/>
                  </a:solidFill>
                </a:endParaRPr>
              </a:p>
            </p:txBody>
          </p:sp>
        </mc:Choice>
        <mc:Fallback xmlns="">
          <p:sp>
            <p:nvSpPr>
              <p:cNvPr id="11" name="矩形: 圓角 10">
                <a:extLst>
                  <a:ext uri="{FF2B5EF4-FFF2-40B4-BE49-F238E27FC236}">
                    <a16:creationId xmlns:a16="http://schemas.microsoft.com/office/drawing/2014/main" id="{237625A2-D553-99AE-3D41-F2F35D461DE4}"/>
                  </a:ext>
                </a:extLst>
              </p:cNvPr>
              <p:cNvSpPr>
                <a:spLocks noRot="1" noChangeAspect="1" noMove="1" noResize="1" noEditPoints="1" noAdjustHandles="1" noChangeArrowheads="1" noChangeShapeType="1" noTextEdit="1"/>
              </p:cNvSpPr>
              <p:nvPr/>
            </p:nvSpPr>
            <p:spPr>
              <a:xfrm>
                <a:off x="787179" y="1187587"/>
                <a:ext cx="1424066" cy="749675"/>
              </a:xfrm>
              <a:prstGeom prst="roundRect">
                <a:avLst/>
              </a:prstGeom>
              <a:blipFill>
                <a:blip r:embed="rId2"/>
                <a:stretch>
                  <a:fillRect/>
                </a:stretch>
              </a:blipFill>
              <a:ln w="19050">
                <a:solidFill>
                  <a:srgbClr val="FF0000"/>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圓角 11">
                <a:extLst>
                  <a:ext uri="{FF2B5EF4-FFF2-40B4-BE49-F238E27FC236}">
                    <a16:creationId xmlns:a16="http://schemas.microsoft.com/office/drawing/2014/main" id="{2CC6A9CC-C7BF-7DF8-3274-1F2BE44850D3}"/>
                  </a:ext>
                </a:extLst>
              </p:cNvPr>
              <p:cNvSpPr/>
              <p:nvPr/>
            </p:nvSpPr>
            <p:spPr>
              <a:xfrm>
                <a:off x="787179" y="2264026"/>
                <a:ext cx="1424066" cy="749675"/>
              </a:xfrm>
              <a:prstGeom prst="roundRect">
                <a:avLst/>
              </a:prstGeom>
              <a:solidFill>
                <a:srgbClr val="ECDEF6"/>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rPr>
                  <a:t>Student logits</a:t>
                </a:r>
              </a:p>
              <a:p>
                <a:pPr algn="ctr"/>
                <a14:m>
                  <m:oMathPara xmlns:m="http://schemas.openxmlformats.org/officeDocument/2006/math">
                    <m:oMathParaPr>
                      <m:jc m:val="centerGroup"/>
                    </m:oMathParaPr>
                    <m:oMath xmlns:m="http://schemas.openxmlformats.org/officeDocument/2006/math">
                      <m:sSubSup>
                        <m:sSubSupPr>
                          <m:ctrlPr>
                            <a:rPr lang="en-US" altLang="zh-TW" sz="1600" i="1">
                              <a:solidFill>
                                <a:schemeClr val="tx1"/>
                              </a:solidFill>
                              <a:latin typeface="Cambria Math" panose="02040503050406030204" pitchFamily="18" charset="0"/>
                            </a:rPr>
                          </m:ctrlPr>
                        </m:sSubSupPr>
                        <m:e>
                          <m:r>
                            <a:rPr lang="en-US" altLang="zh-TW" sz="1600" i="1">
                              <a:solidFill>
                                <a:schemeClr val="tx1"/>
                              </a:solidFill>
                              <a:latin typeface="Cambria Math" panose="02040503050406030204" pitchFamily="18" charset="0"/>
                            </a:rPr>
                            <m:t>𝑧</m:t>
                          </m:r>
                        </m:e>
                        <m:sub>
                          <m:r>
                            <a:rPr lang="en-US" altLang="zh-TW" sz="1600" b="0" i="1" smtClean="0">
                              <a:solidFill>
                                <a:schemeClr val="tx1"/>
                              </a:solidFill>
                              <a:latin typeface="Cambria Math" panose="02040503050406030204" pitchFamily="18" charset="0"/>
                            </a:rPr>
                            <m:t>𝑠</m:t>
                          </m:r>
                        </m:sub>
                        <m:sup>
                          <m:r>
                            <a:rPr lang="en-US" altLang="zh-TW" sz="1600" i="1">
                              <a:solidFill>
                                <a:schemeClr val="tx1"/>
                              </a:solidFill>
                              <a:latin typeface="Cambria Math" panose="02040503050406030204" pitchFamily="18" charset="0"/>
                            </a:rPr>
                            <m:t>(</m:t>
                          </m:r>
                          <m:r>
                            <a:rPr lang="en-US" altLang="zh-TW" sz="1600" i="1">
                              <a:solidFill>
                                <a:schemeClr val="tx1"/>
                              </a:solidFill>
                              <a:latin typeface="Cambria Math" panose="02040503050406030204" pitchFamily="18" charset="0"/>
                            </a:rPr>
                            <m:t>𝑖</m:t>
                          </m:r>
                          <m:r>
                            <a:rPr lang="en-US" altLang="zh-TW" sz="1600" i="1">
                              <a:solidFill>
                                <a:schemeClr val="tx1"/>
                              </a:solidFill>
                              <a:latin typeface="Cambria Math" panose="02040503050406030204" pitchFamily="18" charset="0"/>
                            </a:rPr>
                            <m:t>)</m:t>
                          </m:r>
                        </m:sup>
                      </m:sSubSup>
                    </m:oMath>
                  </m:oMathPara>
                </a14:m>
                <a:endParaRPr lang="en-US" altLang="zh-TW" sz="1600" dirty="0">
                  <a:solidFill>
                    <a:schemeClr val="tx1"/>
                  </a:solidFill>
                </a:endParaRPr>
              </a:p>
            </p:txBody>
          </p:sp>
        </mc:Choice>
        <mc:Fallback xmlns="">
          <p:sp>
            <p:nvSpPr>
              <p:cNvPr id="12" name="矩形: 圓角 11">
                <a:extLst>
                  <a:ext uri="{FF2B5EF4-FFF2-40B4-BE49-F238E27FC236}">
                    <a16:creationId xmlns:a16="http://schemas.microsoft.com/office/drawing/2014/main" id="{2CC6A9CC-C7BF-7DF8-3274-1F2BE44850D3}"/>
                  </a:ext>
                </a:extLst>
              </p:cNvPr>
              <p:cNvSpPr>
                <a:spLocks noRot="1" noChangeAspect="1" noMove="1" noResize="1" noEditPoints="1" noAdjustHandles="1" noChangeArrowheads="1" noChangeShapeType="1" noTextEdit="1"/>
              </p:cNvSpPr>
              <p:nvPr/>
            </p:nvSpPr>
            <p:spPr>
              <a:xfrm>
                <a:off x="787179" y="2264026"/>
                <a:ext cx="1424066" cy="749675"/>
              </a:xfrm>
              <a:prstGeom prst="roundRect">
                <a:avLst/>
              </a:prstGeom>
              <a:blipFill>
                <a:blip r:embed="rId3"/>
                <a:stretch>
                  <a:fillRect/>
                </a:stretch>
              </a:blipFill>
              <a:ln w="19050">
                <a:solidFill>
                  <a:srgbClr val="7030A0"/>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圓角 12">
                <a:extLst>
                  <a:ext uri="{FF2B5EF4-FFF2-40B4-BE49-F238E27FC236}">
                    <a16:creationId xmlns:a16="http://schemas.microsoft.com/office/drawing/2014/main" id="{36635636-AD3E-2965-1719-2734700001B3}"/>
                  </a:ext>
                </a:extLst>
              </p:cNvPr>
              <p:cNvSpPr/>
              <p:nvPr/>
            </p:nvSpPr>
            <p:spPr>
              <a:xfrm>
                <a:off x="2356586" y="1190503"/>
                <a:ext cx="1424066" cy="749675"/>
              </a:xfrm>
              <a:prstGeom prst="roundRect">
                <a:avLst/>
              </a:prstGeom>
              <a:solidFill>
                <a:srgbClr val="FFD9D9"/>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err="1">
                    <a:solidFill>
                      <a:schemeClr val="tx1"/>
                    </a:solidFill>
                  </a:rPr>
                  <a:t>Softmax</a:t>
                </a:r>
                <a:endParaRPr lang="en-US" altLang="zh-TW" sz="1600" dirty="0">
                  <a:solidFill>
                    <a:schemeClr val="tx1"/>
                  </a:solidFill>
                </a:endParaRPr>
              </a:p>
              <a:p>
                <a:pPr algn="ctr"/>
                <a14:m>
                  <m:oMathPara xmlns:m="http://schemas.openxmlformats.org/officeDocument/2006/math">
                    <m:oMathParaPr>
                      <m:jc m:val="centerGroup"/>
                    </m:oMathParaPr>
                    <m:oMath xmlns:m="http://schemas.openxmlformats.org/officeDocument/2006/math">
                      <m:sSubSup>
                        <m:sSubSupPr>
                          <m:ctrlPr>
                            <a:rPr lang="en-US" altLang="zh-TW" sz="1000" i="1">
                              <a:solidFill>
                                <a:schemeClr val="tx1"/>
                              </a:solidFill>
                              <a:latin typeface="Cambria Math" panose="02040503050406030204" pitchFamily="18" charset="0"/>
                            </a:rPr>
                          </m:ctrlPr>
                        </m:sSubSupPr>
                        <m:e>
                          <m:r>
                            <a:rPr lang="en-US" altLang="zh-TW" sz="1000" i="1">
                              <a:solidFill>
                                <a:schemeClr val="tx1"/>
                              </a:solidFill>
                              <a:latin typeface="Cambria Math" panose="02040503050406030204" pitchFamily="18" charset="0"/>
                            </a:rPr>
                            <m:t>𝑝</m:t>
                          </m:r>
                        </m:e>
                        <m:sub>
                          <m:r>
                            <a:rPr lang="en-US" altLang="zh-TW" sz="1000" i="1">
                              <a:solidFill>
                                <a:schemeClr val="tx1"/>
                              </a:solidFill>
                              <a:latin typeface="Cambria Math" panose="02040503050406030204" pitchFamily="18" charset="0"/>
                            </a:rPr>
                            <m:t>𝑡</m:t>
                          </m:r>
                        </m:sub>
                        <m:sup>
                          <m:r>
                            <a:rPr lang="en-US" altLang="zh-TW" sz="1000" i="1">
                              <a:solidFill>
                                <a:schemeClr val="tx1"/>
                              </a:solidFill>
                              <a:latin typeface="Cambria Math" panose="02040503050406030204" pitchFamily="18" charset="0"/>
                            </a:rPr>
                            <m:t>(</m:t>
                          </m:r>
                          <m:r>
                            <a:rPr lang="en-US" altLang="zh-TW" sz="1000" i="1">
                              <a:solidFill>
                                <a:schemeClr val="tx1"/>
                              </a:solidFill>
                              <a:latin typeface="Cambria Math" panose="02040503050406030204" pitchFamily="18" charset="0"/>
                            </a:rPr>
                            <m:t>𝑖</m:t>
                          </m:r>
                          <m:r>
                            <a:rPr lang="en-US" altLang="zh-TW" sz="1000" i="1">
                              <a:solidFill>
                                <a:schemeClr val="tx1"/>
                              </a:solidFill>
                              <a:latin typeface="Cambria Math" panose="02040503050406030204" pitchFamily="18" charset="0"/>
                            </a:rPr>
                            <m:t>)</m:t>
                          </m:r>
                        </m:sup>
                      </m:sSubSup>
                      <m:r>
                        <a:rPr lang="en-US" altLang="zh-TW" sz="1000" i="1">
                          <a:solidFill>
                            <a:schemeClr val="tx1"/>
                          </a:solidFill>
                          <a:latin typeface="Cambria Math" panose="02040503050406030204" pitchFamily="18" charset="0"/>
                        </a:rPr>
                        <m:t>=</m:t>
                      </m:r>
                      <m:r>
                        <a:rPr lang="en-US" altLang="zh-TW" sz="1000" i="1" smtClean="0">
                          <a:solidFill>
                            <a:schemeClr val="tx1"/>
                          </a:solidFill>
                          <a:latin typeface="Cambria Math" panose="02040503050406030204" pitchFamily="18" charset="0"/>
                        </a:rPr>
                        <m:t>𝑠𝑜𝑓𝑡𝑚𝑎𝑥</m:t>
                      </m:r>
                      <m:r>
                        <a:rPr lang="en-US" altLang="zh-TW" sz="1000" i="1" smtClean="0">
                          <a:solidFill>
                            <a:schemeClr val="tx1"/>
                          </a:solidFill>
                          <a:latin typeface="Cambria Math" panose="02040503050406030204" pitchFamily="18" charset="0"/>
                        </a:rPr>
                        <m:t>(</m:t>
                      </m:r>
                      <m:sSubSup>
                        <m:sSubSupPr>
                          <m:ctrlPr>
                            <a:rPr lang="en-US" altLang="zh-TW" sz="1000" i="1">
                              <a:solidFill>
                                <a:schemeClr val="tx1"/>
                              </a:solidFill>
                              <a:latin typeface="Cambria Math" panose="02040503050406030204" pitchFamily="18" charset="0"/>
                            </a:rPr>
                          </m:ctrlPr>
                        </m:sSubSupPr>
                        <m:e>
                          <m:r>
                            <a:rPr lang="en-US" altLang="zh-TW" sz="1000" i="1">
                              <a:solidFill>
                                <a:schemeClr val="tx1"/>
                              </a:solidFill>
                              <a:latin typeface="Cambria Math" panose="02040503050406030204" pitchFamily="18" charset="0"/>
                            </a:rPr>
                            <m:t>𝑧</m:t>
                          </m:r>
                        </m:e>
                        <m:sub>
                          <m:r>
                            <a:rPr lang="en-US" altLang="zh-TW" sz="1000" i="1">
                              <a:solidFill>
                                <a:schemeClr val="tx1"/>
                              </a:solidFill>
                              <a:latin typeface="Cambria Math" panose="02040503050406030204" pitchFamily="18" charset="0"/>
                            </a:rPr>
                            <m:t>𝑡</m:t>
                          </m:r>
                        </m:sub>
                        <m:sup>
                          <m:r>
                            <a:rPr lang="en-US" altLang="zh-TW" sz="1000" i="1">
                              <a:solidFill>
                                <a:schemeClr val="tx1"/>
                              </a:solidFill>
                              <a:latin typeface="Cambria Math" panose="02040503050406030204" pitchFamily="18" charset="0"/>
                            </a:rPr>
                            <m:t>(</m:t>
                          </m:r>
                          <m:r>
                            <a:rPr lang="en-US" altLang="zh-TW" sz="1000" i="1">
                              <a:solidFill>
                                <a:schemeClr val="tx1"/>
                              </a:solidFill>
                              <a:latin typeface="Cambria Math" panose="02040503050406030204" pitchFamily="18" charset="0"/>
                            </a:rPr>
                            <m:t>𝑖</m:t>
                          </m:r>
                          <m:r>
                            <a:rPr lang="en-US" altLang="zh-TW" sz="1000" i="1">
                              <a:solidFill>
                                <a:schemeClr val="tx1"/>
                              </a:solidFill>
                              <a:latin typeface="Cambria Math" panose="02040503050406030204" pitchFamily="18" charset="0"/>
                            </a:rPr>
                            <m:t>)</m:t>
                          </m:r>
                        </m:sup>
                      </m:sSubSup>
                      <m:r>
                        <a:rPr lang="en-US" altLang="zh-TW" sz="1000" i="1">
                          <a:solidFill>
                            <a:schemeClr val="tx1"/>
                          </a:solidFill>
                          <a:latin typeface="Cambria Math" panose="02040503050406030204" pitchFamily="18" charset="0"/>
                        </a:rPr>
                        <m:t>)</m:t>
                      </m:r>
                    </m:oMath>
                  </m:oMathPara>
                </a14:m>
                <a:endParaRPr lang="en-US" altLang="zh-TW" sz="1000" dirty="0">
                  <a:solidFill>
                    <a:schemeClr val="tx1"/>
                  </a:solidFill>
                </a:endParaRPr>
              </a:p>
            </p:txBody>
          </p:sp>
        </mc:Choice>
        <mc:Fallback xmlns="">
          <p:sp>
            <p:nvSpPr>
              <p:cNvPr id="13" name="矩形: 圓角 12">
                <a:extLst>
                  <a:ext uri="{FF2B5EF4-FFF2-40B4-BE49-F238E27FC236}">
                    <a16:creationId xmlns:a16="http://schemas.microsoft.com/office/drawing/2014/main" id="{36635636-AD3E-2965-1719-2734700001B3}"/>
                  </a:ext>
                </a:extLst>
              </p:cNvPr>
              <p:cNvSpPr>
                <a:spLocks noRot="1" noChangeAspect="1" noMove="1" noResize="1" noEditPoints="1" noAdjustHandles="1" noChangeArrowheads="1" noChangeShapeType="1" noTextEdit="1"/>
              </p:cNvSpPr>
              <p:nvPr/>
            </p:nvSpPr>
            <p:spPr>
              <a:xfrm>
                <a:off x="2356586" y="1190503"/>
                <a:ext cx="1424066" cy="749675"/>
              </a:xfrm>
              <a:prstGeom prst="roundRect">
                <a:avLst/>
              </a:prstGeom>
              <a:blipFill>
                <a:blip r:embed="rId4"/>
                <a:stretch>
                  <a:fillRect/>
                </a:stretch>
              </a:blipFill>
              <a:ln w="19050">
                <a:solidFill>
                  <a:srgbClr val="FF0000"/>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圓角 13">
                <a:extLst>
                  <a:ext uri="{FF2B5EF4-FFF2-40B4-BE49-F238E27FC236}">
                    <a16:creationId xmlns:a16="http://schemas.microsoft.com/office/drawing/2014/main" id="{D89C4B6E-B69B-F516-FFC0-1180B6E369DC}"/>
                  </a:ext>
                </a:extLst>
              </p:cNvPr>
              <p:cNvSpPr/>
              <p:nvPr/>
            </p:nvSpPr>
            <p:spPr>
              <a:xfrm>
                <a:off x="2630656" y="2264025"/>
                <a:ext cx="2061396" cy="749675"/>
              </a:xfrm>
              <a:prstGeom prst="roundRect">
                <a:avLst/>
              </a:prstGeom>
              <a:solidFill>
                <a:srgbClr val="ECDEF6"/>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rPr>
                  <a:t>Softmax</a:t>
                </a:r>
              </a:p>
              <a:p>
                <a:pPr algn="ctr"/>
                <a14:m>
                  <m:oMathPara xmlns:m="http://schemas.openxmlformats.org/officeDocument/2006/math">
                    <m:oMathParaPr>
                      <m:jc m:val="centerGroup"/>
                    </m:oMathParaPr>
                    <m:oMath xmlns:m="http://schemas.openxmlformats.org/officeDocument/2006/math">
                      <m:sSubSup>
                        <m:sSubSupPr>
                          <m:ctrlPr>
                            <a:rPr lang="en-US" altLang="zh-TW" sz="1400" i="1">
                              <a:solidFill>
                                <a:schemeClr val="tx1"/>
                              </a:solidFill>
                              <a:latin typeface="Cambria Math" panose="02040503050406030204" pitchFamily="18" charset="0"/>
                            </a:rPr>
                          </m:ctrlPr>
                        </m:sSubSupPr>
                        <m:e>
                          <m:r>
                            <a:rPr lang="en-US" altLang="zh-TW" sz="1400" i="1">
                              <a:solidFill>
                                <a:schemeClr val="tx1"/>
                              </a:solidFill>
                              <a:latin typeface="Cambria Math" panose="02040503050406030204" pitchFamily="18" charset="0"/>
                            </a:rPr>
                            <m:t>𝑝</m:t>
                          </m:r>
                        </m:e>
                        <m:sub>
                          <m:r>
                            <a:rPr lang="en-US" altLang="zh-TW" sz="1400" b="0" i="1" smtClean="0">
                              <a:solidFill>
                                <a:schemeClr val="tx1"/>
                              </a:solidFill>
                              <a:latin typeface="Cambria Math" panose="02040503050406030204" pitchFamily="18" charset="0"/>
                            </a:rPr>
                            <m:t>𝑠</m:t>
                          </m:r>
                        </m:sub>
                        <m:sup>
                          <m:r>
                            <a:rPr lang="en-US" altLang="zh-TW" sz="1400" i="1">
                              <a:solidFill>
                                <a:schemeClr val="tx1"/>
                              </a:solidFill>
                              <a:latin typeface="Cambria Math" panose="02040503050406030204" pitchFamily="18" charset="0"/>
                            </a:rPr>
                            <m:t>(</m:t>
                          </m:r>
                          <m:r>
                            <a:rPr lang="en-US" altLang="zh-TW" sz="1400" i="1">
                              <a:solidFill>
                                <a:schemeClr val="tx1"/>
                              </a:solidFill>
                              <a:latin typeface="Cambria Math" panose="02040503050406030204" pitchFamily="18" charset="0"/>
                            </a:rPr>
                            <m:t>𝑖</m:t>
                          </m:r>
                          <m:r>
                            <a:rPr lang="en-US" altLang="zh-TW" sz="1400" i="1">
                              <a:solidFill>
                                <a:schemeClr val="tx1"/>
                              </a:solidFill>
                              <a:latin typeface="Cambria Math" panose="02040503050406030204" pitchFamily="18" charset="0"/>
                            </a:rPr>
                            <m:t>)</m:t>
                          </m:r>
                        </m:sup>
                      </m:sSubSup>
                      <m:r>
                        <a:rPr lang="en-US" altLang="zh-TW" sz="1400" i="1">
                          <a:solidFill>
                            <a:schemeClr val="tx1"/>
                          </a:solidFill>
                          <a:latin typeface="Cambria Math" panose="02040503050406030204" pitchFamily="18" charset="0"/>
                        </a:rPr>
                        <m:t>=</m:t>
                      </m:r>
                      <m:r>
                        <a:rPr lang="en-US" altLang="zh-TW" sz="1400" i="1">
                          <a:solidFill>
                            <a:schemeClr val="tx1"/>
                          </a:solidFill>
                          <a:latin typeface="Cambria Math" panose="02040503050406030204" pitchFamily="18" charset="0"/>
                        </a:rPr>
                        <m:t>𝑠𝑜𝑓𝑡𝑚𝑎𝑥</m:t>
                      </m:r>
                      <m:r>
                        <a:rPr lang="en-US" altLang="zh-TW" sz="1400" i="1">
                          <a:solidFill>
                            <a:schemeClr val="tx1"/>
                          </a:solidFill>
                          <a:latin typeface="Cambria Math" panose="02040503050406030204" pitchFamily="18" charset="0"/>
                        </a:rPr>
                        <m:t>(</m:t>
                      </m:r>
                      <m:sSubSup>
                        <m:sSubSupPr>
                          <m:ctrlPr>
                            <a:rPr lang="en-US" altLang="zh-TW" sz="1400" i="1">
                              <a:solidFill>
                                <a:schemeClr val="tx1"/>
                              </a:solidFill>
                              <a:latin typeface="Cambria Math" panose="02040503050406030204" pitchFamily="18" charset="0"/>
                            </a:rPr>
                          </m:ctrlPr>
                        </m:sSubSupPr>
                        <m:e>
                          <m:r>
                            <a:rPr lang="en-US" altLang="zh-TW" sz="1400" i="1">
                              <a:solidFill>
                                <a:schemeClr val="tx1"/>
                              </a:solidFill>
                              <a:latin typeface="Cambria Math" panose="02040503050406030204" pitchFamily="18" charset="0"/>
                            </a:rPr>
                            <m:t>𝑧</m:t>
                          </m:r>
                        </m:e>
                        <m:sub>
                          <m:r>
                            <a:rPr lang="en-US" altLang="zh-TW" sz="1400" b="0" i="1" smtClean="0">
                              <a:solidFill>
                                <a:schemeClr val="tx1"/>
                              </a:solidFill>
                              <a:latin typeface="Cambria Math" panose="02040503050406030204" pitchFamily="18" charset="0"/>
                            </a:rPr>
                            <m:t>𝑠</m:t>
                          </m:r>
                        </m:sub>
                        <m:sup>
                          <m:r>
                            <a:rPr lang="en-US" altLang="zh-TW" sz="1400" i="1">
                              <a:solidFill>
                                <a:schemeClr val="tx1"/>
                              </a:solidFill>
                              <a:latin typeface="Cambria Math" panose="02040503050406030204" pitchFamily="18" charset="0"/>
                            </a:rPr>
                            <m:t>(</m:t>
                          </m:r>
                          <m:r>
                            <a:rPr lang="en-US" altLang="zh-TW" sz="1400" i="1">
                              <a:solidFill>
                                <a:schemeClr val="tx1"/>
                              </a:solidFill>
                              <a:latin typeface="Cambria Math" panose="02040503050406030204" pitchFamily="18" charset="0"/>
                            </a:rPr>
                            <m:t>𝑖</m:t>
                          </m:r>
                          <m:r>
                            <a:rPr lang="en-US" altLang="zh-TW" sz="1400" b="0" i="1" smtClean="0">
                              <a:solidFill>
                                <a:schemeClr val="tx1"/>
                              </a:solidFill>
                              <a:latin typeface="Cambria Math" panose="02040503050406030204" pitchFamily="18" charset="0"/>
                            </a:rPr>
                            <m:t>,</m:t>
                          </m:r>
                          <m:r>
                            <a:rPr lang="en-US" altLang="zh-TW" sz="1400" b="0" i="1" smtClean="0">
                              <a:solidFill>
                                <a:schemeClr val="tx1"/>
                              </a:solidFill>
                              <a:latin typeface="Cambria Math" panose="02040503050406030204" pitchFamily="18" charset="0"/>
                            </a:rPr>
                            <m:t>𝑘</m:t>
                          </m:r>
                          <m:r>
                            <a:rPr lang="en-US" altLang="zh-TW" sz="1400" i="1">
                              <a:solidFill>
                                <a:schemeClr val="tx1"/>
                              </a:solidFill>
                              <a:latin typeface="Cambria Math" panose="02040503050406030204" pitchFamily="18" charset="0"/>
                            </a:rPr>
                            <m:t>)</m:t>
                          </m:r>
                        </m:sup>
                      </m:sSubSup>
                      <m:r>
                        <a:rPr lang="en-US" altLang="zh-TW" sz="1400" i="1">
                          <a:solidFill>
                            <a:schemeClr val="tx1"/>
                          </a:solidFill>
                          <a:latin typeface="Cambria Math" panose="02040503050406030204" pitchFamily="18" charset="0"/>
                        </a:rPr>
                        <m:t>)</m:t>
                      </m:r>
                    </m:oMath>
                  </m:oMathPara>
                </a14:m>
                <a:endParaRPr lang="en-US" altLang="zh-TW" sz="1400" i="1" dirty="0">
                  <a:solidFill>
                    <a:schemeClr val="tx1"/>
                  </a:solidFill>
                  <a:latin typeface="Cambria Math" panose="02040503050406030204" pitchFamily="18" charset="0"/>
                  <a:ea typeface="Cambria Math" panose="02040503050406030204" pitchFamily="18" charset="0"/>
                </a:endParaRPr>
              </a:p>
            </p:txBody>
          </p:sp>
        </mc:Choice>
        <mc:Fallback xmlns="">
          <p:sp>
            <p:nvSpPr>
              <p:cNvPr id="14" name="矩形: 圓角 13">
                <a:extLst>
                  <a:ext uri="{FF2B5EF4-FFF2-40B4-BE49-F238E27FC236}">
                    <a16:creationId xmlns:a16="http://schemas.microsoft.com/office/drawing/2014/main" id="{D89C4B6E-B69B-F516-FFC0-1180B6E369DC}"/>
                  </a:ext>
                </a:extLst>
              </p:cNvPr>
              <p:cNvSpPr>
                <a:spLocks noRot="1" noChangeAspect="1" noMove="1" noResize="1" noEditPoints="1" noAdjustHandles="1" noChangeArrowheads="1" noChangeShapeType="1" noTextEdit="1"/>
              </p:cNvSpPr>
              <p:nvPr/>
            </p:nvSpPr>
            <p:spPr>
              <a:xfrm>
                <a:off x="2630656" y="2264025"/>
                <a:ext cx="2061396" cy="749675"/>
              </a:xfrm>
              <a:prstGeom prst="roundRect">
                <a:avLst/>
              </a:prstGeom>
              <a:blipFill>
                <a:blip r:embed="rId5"/>
                <a:stretch>
                  <a:fillRect/>
                </a:stretch>
              </a:blipFill>
              <a:ln w="19050">
                <a:solidFill>
                  <a:srgbClr val="7030A0"/>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圓角 14">
                <a:extLst>
                  <a:ext uri="{FF2B5EF4-FFF2-40B4-BE49-F238E27FC236}">
                    <a16:creationId xmlns:a16="http://schemas.microsoft.com/office/drawing/2014/main" id="{0E4407B8-0D64-7B16-B568-94246727D524}"/>
                  </a:ext>
                </a:extLst>
              </p:cNvPr>
              <p:cNvSpPr/>
              <p:nvPr/>
            </p:nvSpPr>
            <p:spPr>
              <a:xfrm>
                <a:off x="3925993" y="1190941"/>
                <a:ext cx="1425600" cy="748800"/>
              </a:xfrm>
              <a:prstGeom prst="roundRect">
                <a:avLst/>
              </a:prstGeom>
              <a:solidFill>
                <a:schemeClr val="accent6">
                  <a:lumMod val="20000"/>
                  <a:lumOff val="80000"/>
                </a:schemeClr>
              </a:solid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rPr>
                  <a:t>Confidence</a:t>
                </a:r>
              </a:p>
              <a:p>
                <a:pPr algn="ct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𝑐</m:t>
                          </m:r>
                        </m:e>
                        <m:sub>
                          <m:r>
                            <a:rPr lang="en-US" altLang="zh-TW" sz="1200" b="0" i="1" smtClean="0">
                              <a:solidFill>
                                <a:schemeClr val="tx1"/>
                              </a:solidFill>
                              <a:latin typeface="Cambria Math" panose="02040503050406030204" pitchFamily="18" charset="0"/>
                            </a:rPr>
                            <m:t>𝑖</m:t>
                          </m:r>
                        </m:sub>
                      </m:sSub>
                      <m:r>
                        <a:rPr lang="en-US" altLang="zh-TW" sz="1200" b="0" i="1" smtClean="0">
                          <a:solidFill>
                            <a:schemeClr val="tx1"/>
                          </a:solidFill>
                          <a:latin typeface="Cambria Math" panose="02040503050406030204" pitchFamily="18" charset="0"/>
                        </a:rPr>
                        <m:t>=1−</m:t>
                      </m:r>
                      <m:f>
                        <m:fPr>
                          <m:ctrlPr>
                            <a:rPr lang="en-US" altLang="zh-TW" sz="1200" b="0" i="1" smtClean="0">
                              <a:solidFill>
                                <a:schemeClr val="tx1"/>
                              </a:solidFill>
                              <a:latin typeface="Cambria Math" panose="02040503050406030204" pitchFamily="18" charset="0"/>
                            </a:rPr>
                          </m:ctrlPr>
                        </m:fPr>
                        <m:num>
                          <m:r>
                            <a:rPr lang="en-US" altLang="zh-TW" sz="1200" i="1">
                              <a:solidFill>
                                <a:schemeClr val="tx1"/>
                              </a:solidFill>
                              <a:latin typeface="Cambria Math" panose="02040503050406030204" pitchFamily="18" charset="0"/>
                            </a:rPr>
                            <m:t>𝐻</m:t>
                          </m:r>
                          <m:r>
                            <a:rPr lang="en-US" altLang="zh-TW" sz="1200" i="1">
                              <a:solidFill>
                                <a:schemeClr val="tx1"/>
                              </a:solidFill>
                              <a:latin typeface="Cambria Math" panose="02040503050406030204" pitchFamily="18" charset="0"/>
                            </a:rPr>
                            <m:t>(</m:t>
                          </m:r>
                          <m:sSubSup>
                            <m:sSubSupPr>
                              <m:ctrlPr>
                                <a:rPr lang="en-US" altLang="zh-TW" sz="1200" i="1">
                                  <a:solidFill>
                                    <a:schemeClr val="tx1"/>
                                  </a:solidFill>
                                  <a:latin typeface="Cambria Math" panose="02040503050406030204" pitchFamily="18" charset="0"/>
                                </a:rPr>
                              </m:ctrlPr>
                            </m:sSubSupPr>
                            <m:e>
                              <m:r>
                                <a:rPr lang="en-US" altLang="zh-TW" sz="1200" i="1">
                                  <a:solidFill>
                                    <a:schemeClr val="tx1"/>
                                  </a:solidFill>
                                  <a:latin typeface="Cambria Math" panose="02040503050406030204" pitchFamily="18" charset="0"/>
                                </a:rPr>
                                <m:t>𝑝</m:t>
                              </m:r>
                            </m:e>
                            <m:sub>
                              <m:r>
                                <a:rPr lang="en-US" altLang="zh-TW" sz="1200" i="1">
                                  <a:solidFill>
                                    <a:schemeClr val="tx1"/>
                                  </a:solidFill>
                                  <a:latin typeface="Cambria Math" panose="02040503050406030204" pitchFamily="18" charset="0"/>
                                </a:rPr>
                                <m:t>𝑡</m:t>
                              </m:r>
                            </m:sub>
                            <m:sup>
                              <m:r>
                                <a:rPr lang="en-US" altLang="zh-TW" sz="1200" i="1">
                                  <a:solidFill>
                                    <a:schemeClr val="tx1"/>
                                  </a:solidFill>
                                  <a:latin typeface="Cambria Math" panose="02040503050406030204" pitchFamily="18" charset="0"/>
                                </a:rPr>
                                <m:t>(</m:t>
                              </m:r>
                              <m:r>
                                <a:rPr lang="en-US" altLang="zh-TW" sz="1200" i="1">
                                  <a:solidFill>
                                    <a:schemeClr val="tx1"/>
                                  </a:solidFill>
                                  <a:latin typeface="Cambria Math" panose="02040503050406030204" pitchFamily="18" charset="0"/>
                                </a:rPr>
                                <m:t>𝑖</m:t>
                              </m:r>
                              <m:r>
                                <a:rPr lang="en-US" altLang="zh-TW" sz="1200" i="1">
                                  <a:solidFill>
                                    <a:schemeClr val="tx1"/>
                                  </a:solidFill>
                                  <a:latin typeface="Cambria Math" panose="02040503050406030204" pitchFamily="18" charset="0"/>
                                </a:rPr>
                                <m:t>)</m:t>
                              </m:r>
                            </m:sup>
                          </m:sSubSup>
                          <m:r>
                            <a:rPr lang="en-US" altLang="zh-TW" sz="1200" i="1">
                              <a:solidFill>
                                <a:schemeClr val="tx1"/>
                              </a:solidFill>
                              <a:latin typeface="Cambria Math" panose="02040503050406030204" pitchFamily="18" charset="0"/>
                            </a:rPr>
                            <m:t>)</m:t>
                          </m:r>
                        </m:num>
                        <m:den>
                          <m:r>
                            <m:rPr>
                              <m:sty m:val="p"/>
                            </m:rPr>
                            <a:rPr lang="en-US" altLang="zh-TW" sz="1200" b="0" i="0" smtClean="0">
                              <a:solidFill>
                                <a:schemeClr val="tx1"/>
                              </a:solidFill>
                              <a:latin typeface="Cambria Math" panose="02040503050406030204" pitchFamily="18" charset="0"/>
                            </a:rPr>
                            <m:t>log</m:t>
                          </m:r>
                          <m:r>
                            <a:rPr lang="en-US" altLang="zh-TW" sz="1200" b="0" i="1" smtClean="0">
                              <a:solidFill>
                                <a:schemeClr val="tx1"/>
                              </a:solidFill>
                              <a:latin typeface="Cambria Math" panose="02040503050406030204" pitchFamily="18" charset="0"/>
                            </a:rPr>
                            <m:t>⁡(</m:t>
                          </m:r>
                          <m:r>
                            <a:rPr lang="en-US" altLang="zh-TW" sz="1200" b="0" i="1" smtClean="0">
                              <a:solidFill>
                                <a:schemeClr val="tx1"/>
                              </a:solidFill>
                              <a:latin typeface="Cambria Math" panose="02040503050406030204" pitchFamily="18" charset="0"/>
                            </a:rPr>
                            <m:t>𝑉</m:t>
                          </m:r>
                          <m:r>
                            <a:rPr lang="en-US" altLang="zh-TW" sz="1200" b="0" i="1" smtClean="0">
                              <a:solidFill>
                                <a:schemeClr val="tx1"/>
                              </a:solidFill>
                              <a:latin typeface="Cambria Math" panose="02040503050406030204" pitchFamily="18" charset="0"/>
                            </a:rPr>
                            <m:t>)</m:t>
                          </m:r>
                        </m:den>
                      </m:f>
                    </m:oMath>
                  </m:oMathPara>
                </a14:m>
                <a:endParaRPr lang="en-US" altLang="zh-TW" sz="1200" dirty="0">
                  <a:solidFill>
                    <a:schemeClr val="tx1"/>
                  </a:solidFill>
                </a:endParaRPr>
              </a:p>
            </p:txBody>
          </p:sp>
        </mc:Choice>
        <mc:Fallback xmlns="">
          <p:sp>
            <p:nvSpPr>
              <p:cNvPr id="15" name="矩形: 圓角 14">
                <a:extLst>
                  <a:ext uri="{FF2B5EF4-FFF2-40B4-BE49-F238E27FC236}">
                    <a16:creationId xmlns:a16="http://schemas.microsoft.com/office/drawing/2014/main" id="{0E4407B8-0D64-7B16-B568-94246727D524}"/>
                  </a:ext>
                </a:extLst>
              </p:cNvPr>
              <p:cNvSpPr>
                <a:spLocks noRot="1" noChangeAspect="1" noMove="1" noResize="1" noEditPoints="1" noAdjustHandles="1" noChangeArrowheads="1" noChangeShapeType="1" noTextEdit="1"/>
              </p:cNvSpPr>
              <p:nvPr/>
            </p:nvSpPr>
            <p:spPr>
              <a:xfrm>
                <a:off x="3925993" y="1190941"/>
                <a:ext cx="1425600" cy="748800"/>
              </a:xfrm>
              <a:prstGeom prst="roundRect">
                <a:avLst/>
              </a:prstGeom>
              <a:blipFill>
                <a:blip r:embed="rId6"/>
                <a:stretch>
                  <a:fillRect t="-2381" b="-4762"/>
                </a:stretch>
              </a:blipFill>
              <a:ln w="19050">
                <a:solidFill>
                  <a:schemeClr val="accent6">
                    <a:lumMod val="7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圓角 15">
                <a:extLst>
                  <a:ext uri="{FF2B5EF4-FFF2-40B4-BE49-F238E27FC236}">
                    <a16:creationId xmlns:a16="http://schemas.microsoft.com/office/drawing/2014/main" id="{6D666C39-64BC-4606-A332-6E21F971A325}"/>
                  </a:ext>
                </a:extLst>
              </p:cNvPr>
              <p:cNvSpPr/>
              <p:nvPr/>
            </p:nvSpPr>
            <p:spPr>
              <a:xfrm>
                <a:off x="5496934" y="1190503"/>
                <a:ext cx="1573517" cy="749675"/>
              </a:xfrm>
              <a:prstGeom prst="roundRect">
                <a:avLst/>
              </a:prstGeom>
              <a:solidFill>
                <a:schemeClr val="accent4">
                  <a:lumMod val="20000"/>
                  <a:lumOff val="80000"/>
                </a:schemeClr>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rPr>
                  <a:t>Threshold mask</a:t>
                </a:r>
              </a:p>
              <a:p>
                <a:pPr algn="ctr"/>
                <a14:m>
                  <m:oMathPara xmlns:m="http://schemas.openxmlformats.org/officeDocument/2006/math">
                    <m:oMathParaPr>
                      <m:jc m:val="centerGroup"/>
                    </m:oMathParaPr>
                    <m:oMath xmlns:m="http://schemas.openxmlformats.org/officeDocument/2006/math">
                      <m:sSub>
                        <m:sSubPr>
                          <m:ctrlPr>
                            <a:rPr lang="en-US" altLang="zh-TW" sz="1600" i="1">
                              <a:solidFill>
                                <a:schemeClr val="tx1"/>
                              </a:solidFill>
                              <a:latin typeface="Cambria Math" panose="02040503050406030204" pitchFamily="18" charset="0"/>
                            </a:rPr>
                          </m:ctrlPr>
                        </m:sSubPr>
                        <m:e>
                          <m:r>
                            <m:rPr>
                              <m:sty m:val="p"/>
                            </m:rPr>
                            <a:rPr lang="en-US" altLang="zh-TW" sz="1600">
                              <a:solidFill>
                                <a:schemeClr val="tx1"/>
                              </a:solidFill>
                              <a:latin typeface="Cambria Math" panose="02040503050406030204" pitchFamily="18" charset="0"/>
                            </a:rPr>
                            <m:t>m</m:t>
                          </m:r>
                        </m:e>
                        <m:sub>
                          <m:r>
                            <m:rPr>
                              <m:sty m:val="p"/>
                            </m:rPr>
                            <a:rPr lang="en-US" altLang="zh-TW" sz="1600">
                              <a:solidFill>
                                <a:schemeClr val="tx1"/>
                              </a:solidFill>
                              <a:latin typeface="Cambria Math" panose="02040503050406030204" pitchFamily="18" charset="0"/>
                            </a:rPr>
                            <m:t>i</m:t>
                          </m:r>
                        </m:sub>
                      </m:sSub>
                    </m:oMath>
                  </m:oMathPara>
                </a14:m>
                <a:endParaRPr lang="en-US" altLang="zh-TW" sz="1600" dirty="0">
                  <a:solidFill>
                    <a:schemeClr val="tx1"/>
                  </a:solidFill>
                </a:endParaRPr>
              </a:p>
            </p:txBody>
          </p:sp>
        </mc:Choice>
        <mc:Fallback xmlns="">
          <p:sp>
            <p:nvSpPr>
              <p:cNvPr id="16" name="矩形: 圓角 15">
                <a:extLst>
                  <a:ext uri="{FF2B5EF4-FFF2-40B4-BE49-F238E27FC236}">
                    <a16:creationId xmlns:a16="http://schemas.microsoft.com/office/drawing/2014/main" id="{6D666C39-64BC-4606-A332-6E21F971A325}"/>
                  </a:ext>
                </a:extLst>
              </p:cNvPr>
              <p:cNvSpPr>
                <a:spLocks noRot="1" noChangeAspect="1" noMove="1" noResize="1" noEditPoints="1" noAdjustHandles="1" noChangeArrowheads="1" noChangeShapeType="1" noTextEdit="1"/>
              </p:cNvSpPr>
              <p:nvPr/>
            </p:nvSpPr>
            <p:spPr>
              <a:xfrm>
                <a:off x="5496934" y="1190503"/>
                <a:ext cx="1573517" cy="749675"/>
              </a:xfrm>
              <a:prstGeom prst="roundRect">
                <a:avLst/>
              </a:prstGeom>
              <a:blipFill>
                <a:blip r:embed="rId7"/>
                <a:stretch>
                  <a:fillRect/>
                </a:stretch>
              </a:blipFill>
              <a:ln w="19050">
                <a:solidFill>
                  <a:schemeClr val="accent4"/>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圓角 16">
                <a:extLst>
                  <a:ext uri="{FF2B5EF4-FFF2-40B4-BE49-F238E27FC236}">
                    <a16:creationId xmlns:a16="http://schemas.microsoft.com/office/drawing/2014/main" id="{CD7590F2-E210-FA89-DD83-5E875778964B}"/>
                  </a:ext>
                </a:extLst>
              </p:cNvPr>
              <p:cNvSpPr/>
              <p:nvPr/>
            </p:nvSpPr>
            <p:spPr>
              <a:xfrm>
                <a:off x="8572256" y="1187586"/>
                <a:ext cx="3472922" cy="1826115"/>
              </a:xfrm>
              <a:prstGeom prst="roundRect">
                <a:avLst/>
              </a:prstGeom>
              <a:solidFill>
                <a:schemeClr val="accent5">
                  <a:lumMod val="20000"/>
                  <a:lumOff val="80000"/>
                </a:schemeClr>
              </a:solidFill>
              <a:ln w="190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rPr>
                  <a:t>SDC Loss</a:t>
                </a:r>
              </a:p>
              <a:p>
                <a:pPr algn="ctr"/>
                <a14:m>
                  <m:oMathPara xmlns:m="http://schemas.openxmlformats.org/officeDocument/2006/math">
                    <m:oMathParaPr>
                      <m:jc m:val="centerGroup"/>
                    </m:oMathParaPr>
                    <m:oMath xmlns:m="http://schemas.openxmlformats.org/officeDocument/2006/math">
                      <m:sSub>
                        <m:sSubPr>
                          <m:ctrlPr>
                            <a:rPr lang="en-US" altLang="zh-TW" sz="1200" i="1">
                              <a:solidFill>
                                <a:schemeClr val="tx1"/>
                              </a:solidFill>
                              <a:latin typeface="Cambria Math" panose="02040503050406030204" pitchFamily="18" charset="0"/>
                            </a:rPr>
                          </m:ctrlPr>
                        </m:sSubPr>
                        <m:e>
                          <m:r>
                            <a:rPr lang="en-US" altLang="zh-TW" sz="1200" i="1">
                              <a:solidFill>
                                <a:schemeClr val="tx1"/>
                              </a:solidFill>
                              <a:latin typeface="Cambria Math" panose="02040503050406030204" pitchFamily="18" charset="0"/>
                            </a:rPr>
                            <m:t>𝐿</m:t>
                          </m:r>
                        </m:e>
                        <m:sub>
                          <m:r>
                            <a:rPr lang="en-US" altLang="zh-TW" sz="1200" i="1">
                              <a:solidFill>
                                <a:schemeClr val="tx1"/>
                              </a:solidFill>
                              <a:latin typeface="Cambria Math" panose="02040503050406030204" pitchFamily="18" charset="0"/>
                            </a:rPr>
                            <m:t>𝑆𝐷𝐶</m:t>
                          </m:r>
                        </m:sub>
                      </m:sSub>
                      <m:r>
                        <a:rPr lang="en-US" altLang="zh-TW" sz="1200" i="1">
                          <a:solidFill>
                            <a:schemeClr val="tx1"/>
                          </a:solidFill>
                          <a:latin typeface="Cambria Math" panose="02040503050406030204" pitchFamily="18" charset="0"/>
                        </a:rPr>
                        <m:t>= </m:t>
                      </m:r>
                      <m:f>
                        <m:fPr>
                          <m:ctrlPr>
                            <a:rPr lang="en-US" altLang="zh-TW" sz="1200" i="1" smtClean="0">
                              <a:solidFill>
                                <a:schemeClr val="tx1"/>
                              </a:solidFill>
                              <a:latin typeface="Cambria Math" panose="02040503050406030204" pitchFamily="18" charset="0"/>
                            </a:rPr>
                          </m:ctrlPr>
                        </m:fPr>
                        <m:num>
                          <m:r>
                            <a:rPr lang="en-US" altLang="zh-TW" sz="1200" b="0" i="1" smtClean="0">
                              <a:solidFill>
                                <a:schemeClr val="tx1"/>
                              </a:solidFill>
                              <a:latin typeface="Cambria Math" panose="02040503050406030204" pitchFamily="18" charset="0"/>
                            </a:rPr>
                            <m:t>1</m:t>
                          </m:r>
                        </m:num>
                        <m:den>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𝑁</m:t>
                              </m:r>
                            </m:e>
                            <m:sub>
                              <m:r>
                                <a:rPr lang="en-US" altLang="zh-TW" sz="1200" b="0" i="1" smtClean="0">
                                  <a:solidFill>
                                    <a:schemeClr val="tx1"/>
                                  </a:solidFill>
                                  <a:latin typeface="Cambria Math" panose="02040503050406030204" pitchFamily="18" charset="0"/>
                                </a:rPr>
                                <m:t>𝑘</m:t>
                              </m:r>
                            </m:sub>
                          </m:sSub>
                        </m:den>
                      </m:f>
                      <m:nary>
                        <m:naryPr>
                          <m:chr m:val="∑"/>
                          <m:ctrlPr>
                            <a:rPr lang="en-US" altLang="zh-TW" sz="1200" i="1">
                              <a:solidFill>
                                <a:schemeClr val="tx1"/>
                              </a:solidFill>
                              <a:latin typeface="Cambria Math" panose="02040503050406030204" pitchFamily="18" charset="0"/>
                            </a:rPr>
                          </m:ctrlPr>
                        </m:naryPr>
                        <m:sub>
                          <m:r>
                            <m:rPr>
                              <m:brk m:alnAt="23"/>
                            </m:rPr>
                            <a:rPr lang="en-US" altLang="zh-TW" sz="1200" i="1">
                              <a:solidFill>
                                <a:schemeClr val="tx1"/>
                              </a:solidFill>
                              <a:latin typeface="Cambria Math" panose="02040503050406030204" pitchFamily="18" charset="0"/>
                            </a:rPr>
                            <m:t>𝑖</m:t>
                          </m:r>
                          <m:r>
                            <a:rPr lang="en-US" altLang="zh-TW" sz="1200" i="1">
                              <a:solidFill>
                                <a:schemeClr val="tx1"/>
                              </a:solidFill>
                              <a:latin typeface="Cambria Math" panose="02040503050406030204" pitchFamily="18" charset="0"/>
                            </a:rPr>
                            <m:t>=</m:t>
                          </m:r>
                          <m:r>
                            <m:rPr>
                              <m:brk m:alnAt="23"/>
                            </m:rPr>
                            <a:rPr lang="en-US" altLang="zh-TW" sz="1200" i="1">
                              <a:solidFill>
                                <a:schemeClr val="tx1"/>
                              </a:solidFill>
                              <a:latin typeface="Cambria Math" panose="02040503050406030204" pitchFamily="18" charset="0"/>
                            </a:rPr>
                            <m:t>1</m:t>
                          </m:r>
                        </m:sub>
                        <m:sup>
                          <m:r>
                            <a:rPr lang="en-US" altLang="zh-TW" sz="1200" i="1">
                              <a:solidFill>
                                <a:schemeClr val="tx1"/>
                              </a:solidFill>
                              <a:latin typeface="Cambria Math" panose="02040503050406030204" pitchFamily="18" charset="0"/>
                            </a:rPr>
                            <m:t>𝑁</m:t>
                          </m:r>
                        </m:sup>
                        <m:e>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𝑚</m:t>
                              </m:r>
                            </m:e>
                            <m:sub>
                              <m:r>
                                <a:rPr lang="en-US" altLang="zh-TW" sz="1200" b="0" i="1" smtClean="0">
                                  <a:solidFill>
                                    <a:schemeClr val="tx1"/>
                                  </a:solidFill>
                                  <a:latin typeface="Cambria Math" panose="02040503050406030204" pitchFamily="18" charset="0"/>
                                </a:rPr>
                                <m:t>𝑖</m:t>
                              </m:r>
                              <m:r>
                                <a:rPr lang="en-US" altLang="zh-TW" sz="1200" b="0" i="1" smtClean="0">
                                  <a:solidFill>
                                    <a:schemeClr val="tx1"/>
                                  </a:solidFill>
                                  <a:latin typeface="Cambria Math" panose="02040503050406030204" pitchFamily="18" charset="0"/>
                                </a:rPr>
                                <m:t>+</m:t>
                              </m:r>
                              <m:r>
                                <a:rPr lang="en-US" altLang="zh-TW" sz="1200" b="0" i="1" smtClean="0">
                                  <a:solidFill>
                                    <a:schemeClr val="tx1"/>
                                  </a:solidFill>
                                  <a:latin typeface="Cambria Math" panose="02040503050406030204" pitchFamily="18" charset="0"/>
                                </a:rPr>
                                <m:t>𝑘</m:t>
                              </m:r>
                              <m:r>
                                <a:rPr lang="en-US" altLang="zh-TW" sz="1200" b="0" i="1" smtClean="0">
                                  <a:solidFill>
                                    <a:schemeClr val="tx1"/>
                                  </a:solidFill>
                                  <a:latin typeface="Cambria Math" panose="02040503050406030204" pitchFamily="18" charset="0"/>
                                </a:rPr>
                                <m:t>−1</m:t>
                              </m:r>
                            </m:sub>
                          </m:sSub>
                          <m:r>
                            <a:rPr lang="en-US" altLang="zh-TW" sz="1200" i="1">
                              <a:solidFill>
                                <a:schemeClr val="tx1"/>
                              </a:solidFill>
                              <a:latin typeface="Cambria Math" panose="02040503050406030204" pitchFamily="18" charset="0"/>
                              <a:ea typeface="Cambria Math" panose="02040503050406030204" pitchFamily="18" charset="0"/>
                            </a:rPr>
                            <m:t>∙</m:t>
                          </m:r>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𝐷</m:t>
                              </m:r>
                            </m:e>
                            <m:sub>
                              <m:r>
                                <a:rPr lang="en-US" altLang="zh-TW" sz="1200" i="1">
                                  <a:solidFill>
                                    <a:schemeClr val="tx1"/>
                                  </a:solidFill>
                                  <a:latin typeface="Cambria Math" panose="02040503050406030204" pitchFamily="18" charset="0"/>
                                  <a:ea typeface="Cambria Math" panose="02040503050406030204" pitchFamily="18" charset="0"/>
                                </a:rPr>
                                <m:t>𝐾𝐿</m:t>
                              </m:r>
                            </m:sub>
                          </m:sSub>
                          <m:r>
                            <a:rPr lang="en-US" altLang="zh-TW" sz="1200" i="1">
                              <a:solidFill>
                                <a:schemeClr val="tx1"/>
                              </a:solidFill>
                              <a:latin typeface="Cambria Math" panose="02040503050406030204" pitchFamily="18" charset="0"/>
                              <a:ea typeface="Cambria Math" panose="02040503050406030204" pitchFamily="18" charset="0"/>
                            </a:rPr>
                            <m:t>(</m:t>
                          </m:r>
                          <m:sSubSup>
                            <m:sSubSupPr>
                              <m:ctrlPr>
                                <a:rPr lang="en-US" altLang="zh-TW" sz="1200" i="1">
                                  <a:solidFill>
                                    <a:schemeClr val="tx1"/>
                                  </a:solidFill>
                                  <a:latin typeface="Cambria Math" panose="02040503050406030204" pitchFamily="18" charset="0"/>
                                  <a:ea typeface="Cambria Math" panose="02040503050406030204" pitchFamily="18" charset="0"/>
                                </a:rPr>
                              </m:ctrlPr>
                            </m:sSubSupPr>
                            <m:e>
                              <m:r>
                                <a:rPr lang="en-US" altLang="zh-TW" sz="1200" i="1">
                                  <a:solidFill>
                                    <a:schemeClr val="tx1"/>
                                  </a:solidFill>
                                  <a:latin typeface="Cambria Math" panose="02040503050406030204" pitchFamily="18" charset="0"/>
                                  <a:ea typeface="Cambria Math" panose="02040503050406030204" pitchFamily="18" charset="0"/>
                                </a:rPr>
                                <m:t>𝑝</m:t>
                              </m:r>
                            </m:e>
                            <m:sub>
                              <m:r>
                                <a:rPr lang="en-US" altLang="zh-TW" sz="1200" i="1">
                                  <a:solidFill>
                                    <a:schemeClr val="tx1"/>
                                  </a:solidFill>
                                  <a:latin typeface="Cambria Math" panose="02040503050406030204" pitchFamily="18" charset="0"/>
                                  <a:ea typeface="Cambria Math" panose="02040503050406030204" pitchFamily="18" charset="0"/>
                                </a:rPr>
                                <m:t>𝑡</m:t>
                              </m:r>
                            </m:sub>
                            <m:sup>
                              <m:d>
                                <m:dPr>
                                  <m:ctrlPr>
                                    <a:rPr lang="en-US" altLang="zh-TW" sz="1200" i="1">
                                      <a:solidFill>
                                        <a:schemeClr val="tx1"/>
                                      </a:solidFill>
                                      <a:latin typeface="Cambria Math" panose="02040503050406030204" pitchFamily="18" charset="0"/>
                                      <a:ea typeface="Cambria Math" panose="02040503050406030204" pitchFamily="18" charset="0"/>
                                    </a:rPr>
                                  </m:ctrlPr>
                                </m:dPr>
                                <m:e>
                                  <m:r>
                                    <a:rPr lang="en-US" altLang="zh-TW" sz="1200" i="1">
                                      <a:solidFill>
                                        <a:schemeClr val="tx1"/>
                                      </a:solidFill>
                                      <a:latin typeface="Cambria Math" panose="02040503050406030204" pitchFamily="18" charset="0"/>
                                      <a:ea typeface="Cambria Math" panose="02040503050406030204" pitchFamily="18" charset="0"/>
                                    </a:rPr>
                                    <m:t>𝑖</m:t>
                                  </m:r>
                                  <m:r>
                                    <a:rPr lang="en-US" altLang="zh-TW" sz="1200" b="0" i="1" smtClean="0">
                                      <a:solidFill>
                                        <a:schemeClr val="tx1"/>
                                      </a:solidFill>
                                      <a:latin typeface="Cambria Math" panose="02040503050406030204" pitchFamily="18" charset="0"/>
                                      <a:ea typeface="Cambria Math" panose="02040503050406030204" pitchFamily="18" charset="0"/>
                                    </a:rPr>
                                    <m:t>+</m:t>
                                  </m:r>
                                  <m:r>
                                    <a:rPr lang="en-US" altLang="zh-TW" sz="1200" b="0" i="1" smtClean="0">
                                      <a:solidFill>
                                        <a:schemeClr val="tx1"/>
                                      </a:solidFill>
                                      <a:latin typeface="Cambria Math" panose="02040503050406030204" pitchFamily="18" charset="0"/>
                                      <a:ea typeface="Cambria Math" panose="02040503050406030204" pitchFamily="18" charset="0"/>
                                    </a:rPr>
                                    <m:t>𝑘</m:t>
                                  </m:r>
                                  <m:r>
                                    <a:rPr lang="en-US" altLang="zh-TW" sz="1200" b="0" i="1" smtClean="0">
                                      <a:solidFill>
                                        <a:schemeClr val="tx1"/>
                                      </a:solidFill>
                                      <a:latin typeface="Cambria Math" panose="02040503050406030204" pitchFamily="18" charset="0"/>
                                      <a:ea typeface="Cambria Math" panose="02040503050406030204" pitchFamily="18" charset="0"/>
                                    </a:rPr>
                                    <m:t>−1</m:t>
                                  </m:r>
                                </m:e>
                              </m:d>
                            </m:sup>
                          </m:sSubSup>
                          <m:r>
                            <a:rPr lang="en-US" altLang="zh-TW" sz="1200" i="1">
                              <a:solidFill>
                                <a:schemeClr val="tx1"/>
                              </a:solidFill>
                              <a:latin typeface="Cambria Math" panose="02040503050406030204" pitchFamily="18" charset="0"/>
                              <a:ea typeface="Cambria Math" panose="02040503050406030204" pitchFamily="18" charset="0"/>
                            </a:rPr>
                            <m:t>||</m:t>
                          </m:r>
                          <m:sSubSup>
                            <m:sSubSupPr>
                              <m:ctrlPr>
                                <a:rPr lang="en-US" altLang="zh-TW" sz="1200" i="1">
                                  <a:solidFill>
                                    <a:schemeClr val="tx1"/>
                                  </a:solidFill>
                                  <a:latin typeface="Cambria Math" panose="02040503050406030204" pitchFamily="18" charset="0"/>
                                  <a:ea typeface="Cambria Math" panose="02040503050406030204" pitchFamily="18" charset="0"/>
                                </a:rPr>
                              </m:ctrlPr>
                            </m:sSubSupPr>
                            <m:e>
                              <m:r>
                                <a:rPr lang="en-US" altLang="zh-TW" sz="1200" i="1">
                                  <a:solidFill>
                                    <a:schemeClr val="tx1"/>
                                  </a:solidFill>
                                  <a:latin typeface="Cambria Math" panose="02040503050406030204" pitchFamily="18" charset="0"/>
                                  <a:ea typeface="Cambria Math" panose="02040503050406030204" pitchFamily="18" charset="0"/>
                                </a:rPr>
                                <m:t>𝑝</m:t>
                              </m:r>
                            </m:e>
                            <m:sub>
                              <m:r>
                                <a:rPr lang="en-US" altLang="zh-TW" sz="1200" i="1">
                                  <a:solidFill>
                                    <a:schemeClr val="tx1"/>
                                  </a:solidFill>
                                  <a:latin typeface="Cambria Math" panose="02040503050406030204" pitchFamily="18" charset="0"/>
                                  <a:ea typeface="Cambria Math" panose="02040503050406030204" pitchFamily="18" charset="0"/>
                                </a:rPr>
                                <m:t>𝑠</m:t>
                              </m:r>
                            </m:sub>
                            <m:sup>
                              <m:r>
                                <a:rPr lang="en-US" altLang="zh-TW" sz="1200" i="1">
                                  <a:solidFill>
                                    <a:schemeClr val="tx1"/>
                                  </a:solidFill>
                                  <a:latin typeface="Cambria Math" panose="02040503050406030204" pitchFamily="18" charset="0"/>
                                  <a:ea typeface="Cambria Math" panose="02040503050406030204" pitchFamily="18" charset="0"/>
                                </a:rPr>
                                <m:t>(</m:t>
                              </m:r>
                              <m:r>
                                <a:rPr lang="en-US" altLang="zh-TW" sz="1200" i="1">
                                  <a:solidFill>
                                    <a:schemeClr val="tx1"/>
                                  </a:solidFill>
                                  <a:latin typeface="Cambria Math" panose="02040503050406030204" pitchFamily="18" charset="0"/>
                                  <a:ea typeface="Cambria Math" panose="02040503050406030204" pitchFamily="18" charset="0"/>
                                </a:rPr>
                                <m:t>𝑖</m:t>
                              </m:r>
                              <m:r>
                                <a:rPr lang="en-US" altLang="zh-TW" sz="1200" b="0" i="1" smtClean="0">
                                  <a:solidFill>
                                    <a:schemeClr val="tx1"/>
                                  </a:solidFill>
                                  <a:latin typeface="Cambria Math" panose="02040503050406030204" pitchFamily="18" charset="0"/>
                                  <a:ea typeface="Cambria Math" panose="02040503050406030204" pitchFamily="18" charset="0"/>
                                </a:rPr>
                                <m:t>,</m:t>
                              </m:r>
                              <m:r>
                                <a:rPr lang="en-US" altLang="zh-TW" sz="1200" b="0" i="1" smtClean="0">
                                  <a:solidFill>
                                    <a:schemeClr val="tx1"/>
                                  </a:solidFill>
                                  <a:latin typeface="Cambria Math" panose="02040503050406030204" pitchFamily="18" charset="0"/>
                                  <a:ea typeface="Cambria Math" panose="02040503050406030204" pitchFamily="18" charset="0"/>
                                </a:rPr>
                                <m:t>𝑘</m:t>
                              </m:r>
                              <m:r>
                                <a:rPr lang="en-US" altLang="zh-TW" sz="1200" i="1">
                                  <a:solidFill>
                                    <a:schemeClr val="tx1"/>
                                  </a:solidFill>
                                  <a:latin typeface="Cambria Math" panose="02040503050406030204" pitchFamily="18" charset="0"/>
                                  <a:ea typeface="Cambria Math" panose="02040503050406030204" pitchFamily="18" charset="0"/>
                                </a:rPr>
                                <m:t>)</m:t>
                              </m:r>
                            </m:sup>
                          </m:sSubSup>
                          <m:r>
                            <a:rPr lang="en-US" altLang="zh-TW" sz="1200" i="1">
                              <a:solidFill>
                                <a:schemeClr val="tx1"/>
                              </a:solidFill>
                              <a:latin typeface="Cambria Math" panose="02040503050406030204" pitchFamily="18" charset="0"/>
                              <a:ea typeface="Cambria Math" panose="02040503050406030204" pitchFamily="18" charset="0"/>
                            </a:rPr>
                            <m:t>)</m:t>
                          </m:r>
                        </m:e>
                      </m:nary>
                    </m:oMath>
                  </m:oMathPara>
                </a14:m>
                <a:endParaRPr lang="zh-TW" altLang="en-US" sz="1200" dirty="0">
                  <a:solidFill>
                    <a:schemeClr val="tx1"/>
                  </a:solidFill>
                </a:endParaRPr>
              </a:p>
            </p:txBody>
          </p:sp>
        </mc:Choice>
        <mc:Fallback xmlns="">
          <p:sp>
            <p:nvSpPr>
              <p:cNvPr id="17" name="矩形: 圓角 16">
                <a:extLst>
                  <a:ext uri="{FF2B5EF4-FFF2-40B4-BE49-F238E27FC236}">
                    <a16:creationId xmlns:a16="http://schemas.microsoft.com/office/drawing/2014/main" id="{CD7590F2-E210-FA89-DD83-5E875778964B}"/>
                  </a:ext>
                </a:extLst>
              </p:cNvPr>
              <p:cNvSpPr>
                <a:spLocks noRot="1" noChangeAspect="1" noMove="1" noResize="1" noEditPoints="1" noAdjustHandles="1" noChangeArrowheads="1" noChangeShapeType="1" noTextEdit="1"/>
              </p:cNvSpPr>
              <p:nvPr/>
            </p:nvSpPr>
            <p:spPr>
              <a:xfrm>
                <a:off x="8572256" y="1187586"/>
                <a:ext cx="3472922" cy="1826115"/>
              </a:xfrm>
              <a:prstGeom prst="roundRect">
                <a:avLst/>
              </a:prstGeom>
              <a:blipFill>
                <a:blip r:embed="rId8"/>
                <a:stretch>
                  <a:fillRect/>
                </a:stretch>
              </a:blipFill>
              <a:ln w="19050">
                <a:solidFill>
                  <a:schemeClr val="accent5">
                    <a:lumMod val="75000"/>
                  </a:schemeClr>
                </a:solidFill>
              </a:ln>
            </p:spPr>
            <p:txBody>
              <a:bodyPr/>
              <a:lstStyle/>
              <a:p>
                <a:r>
                  <a:rPr lang="zh-TW" altLang="en-US">
                    <a:noFill/>
                  </a:rPr>
                  <a:t> </a:t>
                </a:r>
              </a:p>
            </p:txBody>
          </p:sp>
        </mc:Fallback>
      </mc:AlternateContent>
      <p:cxnSp>
        <p:nvCxnSpPr>
          <p:cNvPr id="18" name="直線單箭頭接點 17">
            <a:extLst>
              <a:ext uri="{FF2B5EF4-FFF2-40B4-BE49-F238E27FC236}">
                <a16:creationId xmlns:a16="http://schemas.microsoft.com/office/drawing/2014/main" id="{B40C4B3F-241C-9EC7-55FE-9F48A24F1B70}"/>
              </a:ext>
            </a:extLst>
          </p:cNvPr>
          <p:cNvCxnSpPr>
            <a:cxnSpLocks/>
            <a:stCxn id="11" idx="3"/>
            <a:endCxn id="13" idx="1"/>
          </p:cNvCxnSpPr>
          <p:nvPr/>
        </p:nvCxnSpPr>
        <p:spPr>
          <a:xfrm>
            <a:off x="2211245" y="1562425"/>
            <a:ext cx="145341" cy="2916"/>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6837BB5D-B718-3747-2628-6CB19D7D4233}"/>
              </a:ext>
            </a:extLst>
          </p:cNvPr>
          <p:cNvCxnSpPr>
            <a:cxnSpLocks/>
            <a:stCxn id="15" idx="3"/>
            <a:endCxn id="16" idx="1"/>
          </p:cNvCxnSpPr>
          <p:nvPr/>
        </p:nvCxnSpPr>
        <p:spPr>
          <a:xfrm>
            <a:off x="5351593" y="1565341"/>
            <a:ext cx="145341"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58775742-89EC-F042-2DA1-C3CD5AAC9D5C}"/>
              </a:ext>
            </a:extLst>
          </p:cNvPr>
          <p:cNvCxnSpPr/>
          <p:nvPr/>
        </p:nvCxnSpPr>
        <p:spPr>
          <a:xfrm flipV="1">
            <a:off x="2211245" y="2638861"/>
            <a:ext cx="419411" cy="4"/>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DB8CBC18-5881-AE4D-8408-36EBCAAD5CA9}"/>
                  </a:ext>
                </a:extLst>
              </p:cNvPr>
              <p:cNvSpPr txBox="1"/>
              <p:nvPr/>
            </p:nvSpPr>
            <p:spPr>
              <a:xfrm>
                <a:off x="787178" y="3244880"/>
                <a:ext cx="6741086" cy="24713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TW" altLang="en-US" sz="1400" i="1" smtClean="0">
                          <a:latin typeface="Cambria Math" panose="02040503050406030204" pitchFamily="18" charset="0"/>
                        </a:rPr>
                        <m:t>𝐻</m:t>
                      </m:r>
                      <m:d>
                        <m:dPr>
                          <m:ctrlPr>
                            <a:rPr lang="ar-AE" altLang="zh-TW" sz="1400" i="1">
                              <a:latin typeface="Cambria Math" panose="02040503050406030204" pitchFamily="18" charset="0"/>
                            </a:rPr>
                          </m:ctrlPr>
                        </m:dPr>
                        <m:e>
                          <m:sSubSup>
                            <m:sSubSupPr>
                              <m:ctrlPr>
                                <a:rPr lang="en-US" altLang="zh-TW" sz="1400" i="1">
                                  <a:latin typeface="Cambria Math" panose="02040503050406030204" pitchFamily="18" charset="0"/>
                                </a:rPr>
                              </m:ctrlPr>
                            </m:sSubSupPr>
                            <m:e>
                              <m:r>
                                <a:rPr lang="en-US" altLang="zh-TW" sz="1400" i="1">
                                  <a:latin typeface="Cambria Math" panose="02040503050406030204" pitchFamily="18" charset="0"/>
                                </a:rPr>
                                <m:t>𝑝</m:t>
                              </m:r>
                            </m:e>
                            <m:sub>
                              <m:r>
                                <a:rPr lang="en-US" altLang="zh-TW" sz="1400" i="1">
                                  <a:latin typeface="Cambria Math" panose="02040503050406030204" pitchFamily="18" charset="0"/>
                                </a:rPr>
                                <m:t>𝑡</m:t>
                              </m:r>
                            </m:sub>
                            <m:sup>
                              <m:r>
                                <a:rPr lang="en-US" altLang="zh-TW" sz="1400" i="1">
                                  <a:latin typeface="Cambria Math" panose="02040503050406030204" pitchFamily="18" charset="0"/>
                                </a:rPr>
                                <m:t>(</m:t>
                              </m:r>
                              <m:r>
                                <a:rPr lang="en-US" altLang="zh-TW" sz="1400" i="1">
                                  <a:latin typeface="Cambria Math" panose="02040503050406030204" pitchFamily="18" charset="0"/>
                                </a:rPr>
                                <m:t>𝑖</m:t>
                              </m:r>
                              <m:r>
                                <a:rPr lang="en-US" altLang="zh-TW" sz="1400" i="1">
                                  <a:latin typeface="Cambria Math" panose="02040503050406030204" pitchFamily="18" charset="0"/>
                                </a:rPr>
                                <m:t>)</m:t>
                              </m:r>
                            </m:sup>
                          </m:sSubSup>
                        </m:e>
                      </m:d>
                      <m:r>
                        <a:rPr lang="ar-AE" altLang="zh-TW" sz="1400">
                          <a:latin typeface="Cambria Math" panose="02040503050406030204" pitchFamily="18" charset="0"/>
                        </a:rPr>
                        <m:t>=−</m:t>
                      </m:r>
                      <m:nary>
                        <m:naryPr>
                          <m:chr m:val="∑"/>
                          <m:grow m:val="on"/>
                          <m:ctrlPr>
                            <a:rPr lang="ar-AE" altLang="zh-TW" sz="1400" i="1">
                              <a:latin typeface="Cambria Math" panose="02040503050406030204" pitchFamily="18" charset="0"/>
                            </a:rPr>
                          </m:ctrlPr>
                        </m:naryPr>
                        <m:sub>
                          <m:r>
                            <a:rPr lang="zh-TW" altLang="ar-AE" sz="1400" i="1">
                              <a:latin typeface="Cambria Math" panose="02040503050406030204" pitchFamily="18" charset="0"/>
                            </a:rPr>
                            <m:t>𝑖</m:t>
                          </m:r>
                          <m:r>
                            <a:rPr lang="ar-AE" altLang="zh-TW" sz="1400">
                              <a:latin typeface="Cambria Math" panose="02040503050406030204" pitchFamily="18" charset="0"/>
                            </a:rPr>
                            <m:t>=</m:t>
                          </m:r>
                          <m:r>
                            <a:rPr lang="ar-AE" altLang="zh-TW" sz="1400">
                              <a:latin typeface="Cambria Math" panose="02040503050406030204" pitchFamily="18" charset="0"/>
                            </a:rPr>
                            <m:t>1</m:t>
                          </m:r>
                        </m:sub>
                        <m:sup>
                          <m:r>
                            <a:rPr lang="zh-TW" altLang="ar-AE" sz="1400" i="1">
                              <a:latin typeface="Cambria Math" panose="02040503050406030204" pitchFamily="18" charset="0"/>
                            </a:rPr>
                            <m:t>𝑉</m:t>
                          </m:r>
                        </m:sup>
                        <m:e>
                          <m:sSubSup>
                            <m:sSubSupPr>
                              <m:ctrlPr>
                                <a:rPr lang="en-US" altLang="zh-TW" sz="1400" i="1">
                                  <a:latin typeface="Cambria Math" panose="02040503050406030204" pitchFamily="18" charset="0"/>
                                </a:rPr>
                              </m:ctrlPr>
                            </m:sSubSupPr>
                            <m:e>
                              <m:r>
                                <a:rPr lang="en-US" altLang="zh-TW" sz="1400" i="1">
                                  <a:latin typeface="Cambria Math" panose="02040503050406030204" pitchFamily="18" charset="0"/>
                                </a:rPr>
                                <m:t>𝑝</m:t>
                              </m:r>
                            </m:e>
                            <m:sub>
                              <m:r>
                                <a:rPr lang="en-US" altLang="zh-TW" sz="1400" i="1">
                                  <a:latin typeface="Cambria Math" panose="02040503050406030204" pitchFamily="18" charset="0"/>
                                </a:rPr>
                                <m:t>𝑡</m:t>
                              </m:r>
                            </m:sub>
                            <m:sup>
                              <m:r>
                                <a:rPr lang="en-US" altLang="zh-TW" sz="1400" i="1">
                                  <a:latin typeface="Cambria Math" panose="02040503050406030204" pitchFamily="18" charset="0"/>
                                </a:rPr>
                                <m:t>(</m:t>
                              </m:r>
                              <m:r>
                                <a:rPr lang="en-US" altLang="zh-TW" sz="1400" i="1">
                                  <a:latin typeface="Cambria Math" panose="02040503050406030204" pitchFamily="18" charset="0"/>
                                </a:rPr>
                                <m:t>𝑖</m:t>
                              </m:r>
                              <m:r>
                                <a:rPr lang="en-US" altLang="zh-TW" sz="1400" i="1">
                                  <a:latin typeface="Cambria Math" panose="02040503050406030204" pitchFamily="18" charset="0"/>
                                </a:rPr>
                                <m:t>)</m:t>
                              </m:r>
                            </m:sup>
                          </m:sSubSup>
                        </m:e>
                      </m:nary>
                      <m:func>
                        <m:funcPr>
                          <m:ctrlPr>
                            <a:rPr lang="ar-AE" altLang="zh-TW" sz="1400" i="1">
                              <a:latin typeface="Cambria Math" panose="02040503050406030204" pitchFamily="18" charset="0"/>
                            </a:rPr>
                          </m:ctrlPr>
                        </m:funcPr>
                        <m:fName>
                          <m:r>
                            <m:rPr>
                              <m:sty m:val="p"/>
                            </m:rPr>
                            <a:rPr lang="en-US" altLang="zh-TW" sz="1400">
                              <a:latin typeface="Cambria Math" panose="02040503050406030204" pitchFamily="18" charset="0"/>
                            </a:rPr>
                            <m:t>log</m:t>
                          </m:r>
                        </m:fName>
                        <m:e>
                          <m:sSubSup>
                            <m:sSubSupPr>
                              <m:ctrlPr>
                                <a:rPr lang="en-US" altLang="zh-TW" sz="1400" i="1">
                                  <a:latin typeface="Cambria Math" panose="02040503050406030204" pitchFamily="18" charset="0"/>
                                </a:rPr>
                              </m:ctrlPr>
                            </m:sSubSupPr>
                            <m:e>
                              <m:r>
                                <a:rPr lang="en-US" altLang="zh-TW" sz="1400" i="1">
                                  <a:latin typeface="Cambria Math" panose="02040503050406030204" pitchFamily="18" charset="0"/>
                                </a:rPr>
                                <m:t>𝑝</m:t>
                              </m:r>
                            </m:e>
                            <m:sub>
                              <m:r>
                                <a:rPr lang="en-US" altLang="zh-TW" sz="1400" i="1">
                                  <a:latin typeface="Cambria Math" panose="02040503050406030204" pitchFamily="18" charset="0"/>
                                </a:rPr>
                                <m:t>𝑡</m:t>
                              </m:r>
                            </m:sub>
                            <m:sup>
                              <m:r>
                                <a:rPr lang="en-US" altLang="zh-TW" sz="1400" i="1">
                                  <a:latin typeface="Cambria Math" panose="02040503050406030204" pitchFamily="18" charset="0"/>
                                </a:rPr>
                                <m:t>(</m:t>
                              </m:r>
                              <m:r>
                                <a:rPr lang="en-US" altLang="zh-TW" sz="1400" i="1">
                                  <a:latin typeface="Cambria Math" panose="02040503050406030204" pitchFamily="18" charset="0"/>
                                </a:rPr>
                                <m:t>𝑖</m:t>
                              </m:r>
                              <m:r>
                                <a:rPr lang="en-US" altLang="zh-TW" sz="1400" i="1">
                                  <a:latin typeface="Cambria Math" panose="02040503050406030204" pitchFamily="18" charset="0"/>
                                </a:rPr>
                                <m:t>)</m:t>
                              </m:r>
                            </m:sup>
                          </m:sSubSup>
                        </m:e>
                      </m:func>
                    </m:oMath>
                  </m:oMathPara>
                </a14:m>
                <a:endParaRPr lang="en-US" altLang="zh-TW" sz="1400" dirty="0"/>
              </a:p>
              <a:p>
                <a:pPr/>
                <a14:m>
                  <m:oMathPara xmlns:m="http://schemas.openxmlformats.org/officeDocument/2006/math">
                    <m:oMathParaPr>
                      <m:jc m:val="left"/>
                    </m:oMathParaPr>
                    <m:oMath xmlns:m="http://schemas.openxmlformats.org/officeDocument/2006/math">
                      <m:sSub>
                        <m:sSubPr>
                          <m:ctrlPr>
                            <a:rPr lang="en-US" altLang="zh-TW" sz="1400" b="0" i="1" smtClean="0">
                              <a:latin typeface="Cambria Math" panose="02040503050406030204" pitchFamily="18" charset="0"/>
                            </a:rPr>
                          </m:ctrlPr>
                        </m:sSubPr>
                        <m:e>
                          <m:r>
                            <m:rPr>
                              <m:sty m:val="p"/>
                            </m:rPr>
                            <a:rPr lang="en-US" altLang="zh-TW" sz="1400" smtClean="0">
                              <a:latin typeface="Cambria Math" panose="02040503050406030204" pitchFamily="18" charset="0"/>
                            </a:rPr>
                            <m:t>m</m:t>
                          </m:r>
                        </m:e>
                        <m:sub>
                          <m:r>
                            <m:rPr>
                              <m:sty m:val="p"/>
                            </m:rPr>
                            <a:rPr lang="en-US" altLang="zh-TW" sz="1400" b="0" i="0" smtClean="0">
                              <a:latin typeface="Cambria Math" panose="02040503050406030204" pitchFamily="18" charset="0"/>
                            </a:rPr>
                            <m:t>i</m:t>
                          </m:r>
                        </m:sub>
                      </m:sSub>
                      <m:r>
                        <a:rPr lang="en-US" altLang="zh-TW" sz="1400">
                          <a:latin typeface="Cambria Math" panose="02040503050406030204" pitchFamily="18" charset="0"/>
                        </a:rPr>
                        <m:t>= </m:t>
                      </m:r>
                      <m:d>
                        <m:dPr>
                          <m:begChr m:val="{"/>
                          <m:endChr m:val=""/>
                          <m:ctrlPr>
                            <a:rPr lang="en-US" altLang="zh-TW" sz="1400" i="1">
                              <a:latin typeface="Cambria Math" panose="02040503050406030204" pitchFamily="18" charset="0"/>
                            </a:rPr>
                          </m:ctrlPr>
                        </m:dPr>
                        <m:e>
                          <m:eqArr>
                            <m:eqArrPr>
                              <m:ctrlPr>
                                <a:rPr lang="en-US" altLang="zh-TW" sz="1400" i="1">
                                  <a:latin typeface="Cambria Math" panose="02040503050406030204" pitchFamily="18" charset="0"/>
                                </a:rPr>
                              </m:ctrlPr>
                            </m:eqArrPr>
                            <m:e>
                              <m:r>
                                <a:rPr lang="en-US" altLang="zh-TW" sz="1400" i="1">
                                  <a:latin typeface="Cambria Math" panose="02040503050406030204" pitchFamily="18" charset="0"/>
                                </a:rPr>
                                <m:t>1</m:t>
                              </m:r>
                              <m:r>
                                <a:rPr lang="en-US" altLang="zh-TW" sz="1400" i="1">
                                  <a:latin typeface="Cambria Math" panose="02040503050406030204" pitchFamily="18" charset="0"/>
                                </a:rPr>
                                <m:t>,</m:t>
                              </m:r>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𝑐</m:t>
                                  </m:r>
                                </m:e>
                                <m:sub>
                                  <m:r>
                                    <a:rPr lang="en-US" altLang="zh-TW" sz="1400" i="1">
                                      <a:latin typeface="Cambria Math" panose="02040503050406030204" pitchFamily="18" charset="0"/>
                                    </a:rPr>
                                    <m:t>𝑖</m:t>
                                  </m:r>
                                </m:sub>
                              </m:sSub>
                              <m:r>
                                <a:rPr lang="en-US" altLang="zh-TW" sz="1400" i="1">
                                  <a:latin typeface="Cambria Math" panose="02040503050406030204" pitchFamily="18" charset="0"/>
                                </a:rPr>
                                <m:t>&gt;</m:t>
                              </m:r>
                              <m:r>
                                <a:rPr lang="zh-TW" altLang="en-US" sz="1400" i="1">
                                  <a:latin typeface="Cambria Math" panose="02040503050406030204" pitchFamily="18" charset="0"/>
                                </a:rPr>
                                <m:t>𝜏</m:t>
                              </m:r>
                            </m:e>
                            <m:e>
                              <m:r>
                                <a:rPr lang="en-US" altLang="zh-TW" sz="1400" i="1">
                                  <a:latin typeface="Cambria Math" panose="02040503050406030204" pitchFamily="18" charset="0"/>
                                </a:rPr>
                                <m:t>0</m:t>
                              </m:r>
                              <m:r>
                                <a:rPr lang="en-US" altLang="zh-TW" sz="1400" i="1">
                                  <a:latin typeface="Cambria Math" panose="02040503050406030204" pitchFamily="18" charset="0"/>
                                </a:rPr>
                                <m:t>,</m:t>
                              </m:r>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𝑐</m:t>
                                  </m:r>
                                </m:e>
                                <m:sub>
                                  <m:r>
                                    <a:rPr lang="en-US" altLang="zh-TW" sz="1400" i="1">
                                      <a:latin typeface="Cambria Math" panose="02040503050406030204" pitchFamily="18" charset="0"/>
                                    </a:rPr>
                                    <m:t>𝑖</m:t>
                                  </m:r>
                                </m:sub>
                              </m:sSub>
                              <m:r>
                                <a:rPr lang="en-US" altLang="zh-TW" sz="1400" i="1">
                                  <a:latin typeface="Cambria Math" panose="02040503050406030204" pitchFamily="18" charset="0"/>
                                </a:rPr>
                                <m:t>≤</m:t>
                              </m:r>
                              <m:r>
                                <a:rPr lang="zh-TW" altLang="en-US" sz="1400" i="1">
                                  <a:latin typeface="Cambria Math" panose="02040503050406030204" pitchFamily="18" charset="0"/>
                                </a:rPr>
                                <m:t>𝜏</m:t>
                              </m:r>
                            </m:e>
                          </m:eqArr>
                        </m:e>
                      </m:d>
                    </m:oMath>
                  </m:oMathPara>
                </a14:m>
                <a:endParaRPr lang="en-US" altLang="zh-TW" sz="1400" i="1" dirty="0"/>
              </a:p>
              <a:p>
                <a:endParaRPr lang="en-US" altLang="zh-TW" sz="1400" i="1" dirty="0"/>
              </a:p>
              <a:p>
                <a:r>
                  <a:rPr lang="en-US" altLang="zh-TW" sz="1400" i="1" dirty="0"/>
                  <a:t>V = vocabulary size</a:t>
                </a:r>
              </a:p>
              <a:p>
                <a:pPr/>
                <a14:m>
                  <m:oMathPara xmlns:m="http://schemas.openxmlformats.org/officeDocument/2006/math">
                    <m:oMathParaPr>
                      <m:jc m:val="left"/>
                    </m:oMathParaPr>
                    <m:oMath xmlns:m="http://schemas.openxmlformats.org/officeDocument/2006/math">
                      <m:r>
                        <a:rPr lang="zh-TW" altLang="en-US" sz="1400" i="1">
                          <a:latin typeface="Cambria Math" panose="02040503050406030204" pitchFamily="18" charset="0"/>
                        </a:rPr>
                        <m:t>𝜏</m:t>
                      </m:r>
                      <m:r>
                        <a:rPr lang="en-US" altLang="zh-TW" sz="1400" i="1">
                          <a:latin typeface="Cambria Math" panose="02040503050406030204" pitchFamily="18" charset="0"/>
                          <a:ea typeface="Cambria Math" panose="02040503050406030204" pitchFamily="18" charset="0"/>
                        </a:rPr>
                        <m:t>=</m:t>
                      </m:r>
                      <m:r>
                        <m:rPr>
                          <m:nor/>
                        </m:rPr>
                        <a:rPr lang="en-US" altLang="zh-TW" sz="1400" i="1" dirty="0"/>
                        <m:t>Confidence</m:t>
                      </m:r>
                      <m:r>
                        <m:rPr>
                          <m:nor/>
                        </m:rPr>
                        <a:rPr lang="en-US" altLang="zh-TW" sz="1400" i="1" dirty="0"/>
                        <m:t> </m:t>
                      </m:r>
                      <m:r>
                        <m:rPr>
                          <m:nor/>
                        </m:rPr>
                        <a:rPr lang="en-US" altLang="zh-TW" sz="1400" i="1" dirty="0"/>
                        <m:t>threshold</m:t>
                      </m:r>
                    </m:oMath>
                  </m:oMathPara>
                </a14:m>
                <a:endParaRPr lang="en-US" altLang="zh-TW" sz="1400" i="1" dirty="0"/>
              </a:p>
              <a:p>
                <a:pPr/>
                <a14:m>
                  <m:oMathPara xmlns:m="http://schemas.openxmlformats.org/officeDocument/2006/math">
                    <m:oMathParaPr>
                      <m:jc m:val="left"/>
                    </m:oMathParaPr>
                    <m:oMath xmlns:m="http://schemas.openxmlformats.org/officeDocument/2006/math">
                      <m:r>
                        <a:rPr lang="en-US" altLang="zh-TW" sz="1400" b="0" i="1" smtClean="0">
                          <a:latin typeface="Cambria Math" panose="02040503050406030204" pitchFamily="18" charset="0"/>
                        </a:rPr>
                        <m:t>𝑘</m:t>
                      </m:r>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𝑛𝑢𝑚𝑏𝑒𝑟</m:t>
                      </m:r>
                      <m:r>
                        <a:rPr lang="en-US" altLang="zh-TW" sz="1400" b="0" i="1" smtClean="0">
                          <a:latin typeface="Cambria Math" panose="02040503050406030204" pitchFamily="18" charset="0"/>
                        </a:rPr>
                        <m:t> </m:t>
                      </m:r>
                      <m:r>
                        <a:rPr lang="en-US" altLang="zh-TW" sz="1400" b="0" i="1" smtClean="0">
                          <a:latin typeface="Cambria Math" panose="02040503050406030204" pitchFamily="18" charset="0"/>
                        </a:rPr>
                        <m:t>𝑜𝑓</m:t>
                      </m:r>
                      <m:r>
                        <a:rPr lang="en-US" altLang="zh-TW" sz="1400" b="0" i="1" smtClean="0">
                          <a:latin typeface="Cambria Math" panose="02040503050406030204" pitchFamily="18" charset="0"/>
                        </a:rPr>
                        <m:t> </m:t>
                      </m:r>
                      <m:r>
                        <a:rPr lang="en-US" altLang="zh-TW" sz="1400" b="0" i="1" smtClean="0">
                          <a:latin typeface="Cambria Math" panose="02040503050406030204" pitchFamily="18" charset="0"/>
                        </a:rPr>
                        <m:t>h</m:t>
                      </m:r>
                      <m:r>
                        <a:rPr lang="en-US" altLang="zh-TW" sz="1400" b="0" i="1" smtClean="0">
                          <a:latin typeface="Cambria Math" panose="02040503050406030204" pitchFamily="18" charset="0"/>
                        </a:rPr>
                        <m:t>𝑒𝑎𝑑</m:t>
                      </m:r>
                    </m:oMath>
                  </m:oMathPara>
                </a14:m>
                <a:endParaRPr lang="en-US" altLang="zh-TW" sz="1400" b="0" i="1" dirty="0"/>
              </a:p>
              <a:p>
                <a:pPr/>
                <a14:m>
                  <m:oMathPara xmlns:m="http://schemas.openxmlformats.org/officeDocument/2006/math">
                    <m:oMathParaPr>
                      <m:jc m:val="left"/>
                    </m:oMathParaPr>
                    <m:oMath xmlns:m="http://schemas.openxmlformats.org/officeDocument/2006/math">
                      <m:sSub>
                        <m:sSubPr>
                          <m:ctrlPr>
                            <a:rPr lang="en-US" altLang="zh-TW" sz="1400" b="0" i="1" smtClean="0">
                              <a:latin typeface="Cambria Math" panose="02040503050406030204" pitchFamily="18" charset="0"/>
                            </a:rPr>
                          </m:ctrlPr>
                        </m:sSubPr>
                        <m:e>
                          <m:r>
                            <a:rPr lang="en-US" altLang="zh-TW" sz="1400" b="0" i="1" smtClean="0">
                              <a:latin typeface="Cambria Math" panose="02040503050406030204" pitchFamily="18" charset="0"/>
                            </a:rPr>
                            <m:t>𝑁</m:t>
                          </m:r>
                        </m:e>
                        <m:sub>
                          <m:r>
                            <a:rPr lang="en-US" altLang="zh-TW" sz="1400" b="0" i="1" smtClean="0">
                              <a:latin typeface="Cambria Math" panose="02040503050406030204" pitchFamily="18" charset="0"/>
                            </a:rPr>
                            <m:t>𝑘</m:t>
                          </m:r>
                        </m:sub>
                      </m:sSub>
                      <m:r>
                        <a:rPr lang="en-US" altLang="zh-TW" sz="1400" b="0" i="1" smtClean="0">
                          <a:latin typeface="Cambria Math" panose="02040503050406030204" pitchFamily="18" charset="0"/>
                        </a:rPr>
                        <m:t>=</m:t>
                      </m:r>
                      <m:r>
                        <m:rPr>
                          <m:nor/>
                        </m:rPr>
                        <a:rPr lang="en-US" altLang="zh-TW" sz="1400"/>
                        <m:t>number</m:t>
                      </m:r>
                      <m:r>
                        <m:rPr>
                          <m:nor/>
                        </m:rPr>
                        <a:rPr lang="en-US" altLang="zh-TW" sz="1400"/>
                        <m:t> </m:t>
                      </m:r>
                      <m:r>
                        <m:rPr>
                          <m:nor/>
                        </m:rPr>
                        <a:rPr lang="en-US" altLang="zh-TW" sz="1400"/>
                        <m:t>of</m:t>
                      </m:r>
                      <m:r>
                        <m:rPr>
                          <m:nor/>
                        </m:rPr>
                        <a:rPr lang="en-US" altLang="zh-TW" sz="1400"/>
                        <m:t> </m:t>
                      </m:r>
                      <m:r>
                        <m:rPr>
                          <m:nor/>
                        </m:rPr>
                        <a:rPr lang="en-US" altLang="zh-TW" sz="1400"/>
                        <m:t>positions</m:t>
                      </m:r>
                      <m:r>
                        <m:rPr>
                          <m:nor/>
                        </m:rPr>
                        <a:rPr lang="en-US" altLang="zh-TW" sz="1400"/>
                        <m:t> </m:t>
                      </m:r>
                      <m:r>
                        <m:rPr>
                          <m:nor/>
                        </m:rPr>
                        <a:rPr lang="en-US" altLang="zh-TW" sz="1400"/>
                        <m:t>selected</m:t>
                      </m:r>
                      <m:r>
                        <m:rPr>
                          <m:nor/>
                        </m:rPr>
                        <a:rPr lang="en-US" altLang="zh-TW" sz="1400"/>
                        <m:t> </m:t>
                      </m:r>
                      <m:r>
                        <m:rPr>
                          <m:nor/>
                        </m:rPr>
                        <a:rPr lang="en-US" altLang="zh-TW" sz="1400"/>
                        <m:t>by</m:t>
                      </m:r>
                      <m:r>
                        <m:rPr>
                          <m:nor/>
                        </m:rPr>
                        <a:rPr lang="en-US" altLang="zh-TW" sz="1400"/>
                        <m:t> </m:t>
                      </m:r>
                      <m:r>
                        <m:rPr>
                          <m:nor/>
                        </m:rPr>
                        <a:rPr lang="en-US" altLang="zh-TW" sz="1400"/>
                        <m:t>the</m:t>
                      </m:r>
                      <m:r>
                        <m:rPr>
                          <m:nor/>
                        </m:rPr>
                        <a:rPr lang="en-US" altLang="zh-TW" sz="1400"/>
                        <m:t> </m:t>
                      </m:r>
                      <m:r>
                        <m:rPr>
                          <m:nor/>
                        </m:rPr>
                        <a:rPr lang="en-US" altLang="zh-TW" sz="1400"/>
                        <m:t>confidence</m:t>
                      </m:r>
                      <m:r>
                        <m:rPr>
                          <m:nor/>
                        </m:rPr>
                        <a:rPr lang="en-US" altLang="zh-TW" sz="1400"/>
                        <m:t> </m:t>
                      </m:r>
                      <m:r>
                        <m:rPr>
                          <m:nor/>
                        </m:rPr>
                        <a:rPr lang="en-US" altLang="zh-TW" sz="1400"/>
                        <m:t>mask</m:t>
                      </m:r>
                      <m:r>
                        <m:rPr>
                          <m:nor/>
                        </m:rPr>
                        <a:rPr lang="en-US" altLang="zh-TW" sz="1400"/>
                        <m:t> </m:t>
                      </m:r>
                      <m:r>
                        <m:rPr>
                          <m:nor/>
                        </m:rPr>
                        <a:rPr lang="en-US" altLang="zh-TW" sz="1400"/>
                        <m:t>for</m:t>
                      </m:r>
                      <m:r>
                        <m:rPr>
                          <m:nor/>
                        </m:rPr>
                        <a:rPr lang="en-US" altLang="zh-TW" sz="1400"/>
                        <m:t> </m:t>
                      </m:r>
                      <m:r>
                        <m:rPr>
                          <m:nor/>
                        </m:rPr>
                        <a:rPr lang="en-US" altLang="zh-TW" sz="1400"/>
                        <m:t>the</m:t>
                      </m:r>
                      <m:r>
                        <m:rPr>
                          <m:nor/>
                        </m:rPr>
                        <a:rPr lang="en-US" altLang="zh-TW" sz="1400"/>
                        <m:t> </m:t>
                      </m:r>
                      <m:r>
                        <m:rPr>
                          <m:nor/>
                        </m:rPr>
                        <a:rPr lang="en-US" altLang="zh-TW" sz="1400"/>
                        <m:t>k</m:t>
                      </m:r>
                      <m:r>
                        <m:rPr>
                          <m:nor/>
                        </m:rPr>
                        <a:rPr lang="en-US" altLang="zh-TW" sz="1400"/>
                        <m:t>−</m:t>
                      </m:r>
                      <m:r>
                        <m:rPr>
                          <m:nor/>
                        </m:rPr>
                        <a:rPr lang="en-US" altLang="zh-TW" sz="1400"/>
                        <m:t>th</m:t>
                      </m:r>
                      <m:r>
                        <m:rPr>
                          <m:nor/>
                        </m:rPr>
                        <a:rPr lang="en-US" altLang="zh-TW" sz="1400"/>
                        <m:t> </m:t>
                      </m:r>
                      <m:r>
                        <m:rPr>
                          <m:nor/>
                        </m:rPr>
                        <a:rPr lang="en-US" altLang="zh-TW" sz="1400"/>
                        <m:t>student</m:t>
                      </m:r>
                      <m:r>
                        <m:rPr>
                          <m:nor/>
                        </m:rPr>
                        <a:rPr lang="en-US" altLang="zh-TW" sz="1400"/>
                        <m:t> </m:t>
                      </m:r>
                      <m:r>
                        <m:rPr>
                          <m:nor/>
                        </m:rPr>
                        <a:rPr lang="en-US" altLang="zh-TW" sz="1400"/>
                        <m:t>head</m:t>
                      </m:r>
                    </m:oMath>
                  </m:oMathPara>
                </a14:m>
                <a:endParaRPr lang="en-US" altLang="zh-TW" sz="1400" i="1" dirty="0"/>
              </a:p>
              <a:p>
                <a:pPr/>
                <a14:m>
                  <m:oMathPara xmlns:m="http://schemas.openxmlformats.org/officeDocument/2006/math">
                    <m:oMathParaPr>
                      <m:jc m:val="left"/>
                    </m:oMathParaPr>
                    <m:oMath xmlns:m="http://schemas.openxmlformats.org/officeDocument/2006/math">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𝐷</m:t>
                          </m:r>
                        </m:e>
                        <m:sub>
                          <m:r>
                            <a:rPr lang="en-US" altLang="zh-TW" sz="1400" i="1">
                              <a:latin typeface="Cambria Math" panose="02040503050406030204" pitchFamily="18" charset="0"/>
                              <a:ea typeface="Cambria Math" panose="02040503050406030204" pitchFamily="18" charset="0"/>
                            </a:rPr>
                            <m:t>𝐾𝐿</m:t>
                          </m:r>
                        </m:sub>
                      </m:sSub>
                      <m:r>
                        <a:rPr lang="en-US" altLang="zh-TW" sz="1400" i="1">
                          <a:latin typeface="Cambria Math" panose="02040503050406030204" pitchFamily="18" charset="0"/>
                          <a:ea typeface="Cambria Math" panose="02040503050406030204" pitchFamily="18" charset="0"/>
                        </a:rPr>
                        <m:t>=</m:t>
                      </m:r>
                      <m:r>
                        <a:rPr lang="en-US" altLang="zh-TW" sz="1400" b="0" i="1" smtClean="0">
                          <a:latin typeface="Cambria Math" panose="02040503050406030204" pitchFamily="18" charset="0"/>
                          <a:ea typeface="Cambria Math" panose="02040503050406030204" pitchFamily="18" charset="0"/>
                        </a:rPr>
                        <m:t>𝐾𝐿</m:t>
                      </m:r>
                      <m:r>
                        <a:rPr lang="en-US" altLang="zh-TW" sz="1400" i="1">
                          <a:latin typeface="Cambria Math" panose="02040503050406030204" pitchFamily="18" charset="0"/>
                          <a:ea typeface="Cambria Math" panose="02040503050406030204" pitchFamily="18" charset="0"/>
                        </a:rPr>
                        <m:t> </m:t>
                      </m:r>
                      <m:r>
                        <a:rPr lang="en-US" altLang="zh-TW" sz="1400" b="0" i="1" smtClean="0">
                          <a:latin typeface="Cambria Math" panose="02040503050406030204" pitchFamily="18" charset="0"/>
                          <a:ea typeface="Cambria Math" panose="02040503050406030204" pitchFamily="18" charset="0"/>
                        </a:rPr>
                        <m:t>𝐷</m:t>
                      </m:r>
                      <m:r>
                        <a:rPr lang="en-US" altLang="zh-TW" sz="1400" i="1">
                          <a:latin typeface="Cambria Math" panose="02040503050406030204" pitchFamily="18" charset="0"/>
                          <a:ea typeface="Cambria Math" panose="02040503050406030204" pitchFamily="18" charset="0"/>
                        </a:rPr>
                        <m:t>𝑖𝑣𝑒𝑟𝑔𝑒𝑛𝑐𝑒</m:t>
                      </m:r>
                    </m:oMath>
                  </m:oMathPara>
                </a14:m>
                <a:endParaRPr lang="en-US" altLang="zh-TW" sz="1400" i="1" dirty="0"/>
              </a:p>
            </p:txBody>
          </p:sp>
        </mc:Choice>
        <mc:Fallback xmlns="">
          <p:sp>
            <p:nvSpPr>
              <p:cNvPr id="23" name="文字方塊 22">
                <a:extLst>
                  <a:ext uri="{FF2B5EF4-FFF2-40B4-BE49-F238E27FC236}">
                    <a16:creationId xmlns:a16="http://schemas.microsoft.com/office/drawing/2014/main" id="{DB8CBC18-5881-AE4D-8408-36EBCAAD5CA9}"/>
                  </a:ext>
                </a:extLst>
              </p:cNvPr>
              <p:cNvSpPr txBox="1">
                <a:spLocks noRot="1" noChangeAspect="1" noMove="1" noResize="1" noEditPoints="1" noAdjustHandles="1" noChangeArrowheads="1" noChangeShapeType="1" noTextEdit="1"/>
              </p:cNvSpPr>
              <p:nvPr/>
            </p:nvSpPr>
            <p:spPr>
              <a:xfrm>
                <a:off x="787178" y="3244880"/>
                <a:ext cx="6741086" cy="2471382"/>
              </a:xfrm>
              <a:prstGeom prst="rect">
                <a:avLst/>
              </a:prstGeom>
              <a:blipFill>
                <a:blip r:embed="rId9"/>
                <a:stretch>
                  <a:fillRect l="-4882" t="-17488" b="-862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50F5527B-0C1C-AA8C-CFC7-84114A1DBE0F}"/>
              </a:ext>
            </a:extLst>
          </p:cNvPr>
          <p:cNvSpPr>
            <a:spLocks noGrp="1"/>
          </p:cNvSpPr>
          <p:nvPr>
            <p:ph type="sldNum" sz="quarter" idx="12"/>
          </p:nvPr>
        </p:nvSpPr>
        <p:spPr>
          <a:xfrm>
            <a:off x="9448800" y="6611112"/>
            <a:ext cx="2743200" cy="246888"/>
          </a:xfrm>
        </p:spPr>
        <p:txBody>
          <a:bodyPr/>
          <a:lstStyle/>
          <a:p>
            <a:fld id="{A98399F2-4B7C-4808-8B27-A13C76E6A9FD}" type="slidenum">
              <a:rPr lang="zh-TW" altLang="en-US" smtClean="0">
                <a:solidFill>
                  <a:schemeClr val="bg2"/>
                </a:solidFill>
              </a:rPr>
              <a:t>14</a:t>
            </a:fld>
            <a:endParaRPr lang="zh-TW" altLang="en-US" dirty="0">
              <a:solidFill>
                <a:schemeClr val="bg2"/>
              </a:solidFill>
            </a:endParaRPr>
          </a:p>
        </p:txBody>
      </p:sp>
      <p:sp>
        <p:nvSpPr>
          <p:cNvPr id="6" name="矩形: 圓角 5">
            <a:extLst>
              <a:ext uri="{FF2B5EF4-FFF2-40B4-BE49-F238E27FC236}">
                <a16:creationId xmlns:a16="http://schemas.microsoft.com/office/drawing/2014/main" id="{3482C01E-B1AB-C303-5F69-073CB4EEB190}"/>
              </a:ext>
            </a:extLst>
          </p:cNvPr>
          <p:cNvSpPr/>
          <p:nvPr/>
        </p:nvSpPr>
        <p:spPr>
          <a:xfrm>
            <a:off x="7185972" y="1187586"/>
            <a:ext cx="1196603" cy="1825677"/>
          </a:xfrm>
          <a:prstGeom prst="round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rPr>
              <a:t>Position alignment</a:t>
            </a:r>
          </a:p>
        </p:txBody>
      </p:sp>
      <p:cxnSp>
        <p:nvCxnSpPr>
          <p:cNvPr id="29" name="直線單箭頭接點 28">
            <a:extLst>
              <a:ext uri="{FF2B5EF4-FFF2-40B4-BE49-F238E27FC236}">
                <a16:creationId xmlns:a16="http://schemas.microsoft.com/office/drawing/2014/main" id="{9F3574F6-5E1D-90D4-E8A7-0E55422B6336}"/>
              </a:ext>
            </a:extLst>
          </p:cNvPr>
          <p:cNvCxnSpPr>
            <a:cxnSpLocks/>
          </p:cNvCxnSpPr>
          <p:nvPr/>
        </p:nvCxnSpPr>
        <p:spPr>
          <a:xfrm>
            <a:off x="4705165" y="2638861"/>
            <a:ext cx="2480807" cy="4"/>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F92CFE12-2C5E-52E4-45CB-E679CC765634}"/>
              </a:ext>
            </a:extLst>
          </p:cNvPr>
          <p:cNvCxnSpPr>
            <a:cxnSpLocks/>
          </p:cNvCxnSpPr>
          <p:nvPr/>
        </p:nvCxnSpPr>
        <p:spPr>
          <a:xfrm>
            <a:off x="3780652" y="1562425"/>
            <a:ext cx="145341"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7660F490-A947-228A-4BDB-1723C7D75455}"/>
              </a:ext>
            </a:extLst>
          </p:cNvPr>
          <p:cNvCxnSpPr>
            <a:cxnSpLocks/>
          </p:cNvCxnSpPr>
          <p:nvPr/>
        </p:nvCxnSpPr>
        <p:spPr>
          <a:xfrm>
            <a:off x="7070451" y="1575653"/>
            <a:ext cx="115521"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8F81CF56-471E-3CC1-0A3C-A11F7FAD4A96}"/>
              </a:ext>
            </a:extLst>
          </p:cNvPr>
          <p:cNvCxnSpPr>
            <a:cxnSpLocks/>
            <a:stCxn id="6" idx="3"/>
            <a:endCxn id="17" idx="1"/>
          </p:cNvCxnSpPr>
          <p:nvPr/>
        </p:nvCxnSpPr>
        <p:spPr>
          <a:xfrm>
            <a:off x="8382575" y="2100425"/>
            <a:ext cx="189681" cy="21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48" name="圖片 47">
            <a:extLst>
              <a:ext uri="{FF2B5EF4-FFF2-40B4-BE49-F238E27FC236}">
                <a16:creationId xmlns:a16="http://schemas.microsoft.com/office/drawing/2014/main" id="{EAC6BF5A-786F-FE80-C46A-77384D3BA504}"/>
              </a:ext>
            </a:extLst>
          </p:cNvPr>
          <p:cNvPicPr>
            <a:picLocks noChangeAspect="1"/>
          </p:cNvPicPr>
          <p:nvPr/>
        </p:nvPicPr>
        <p:blipFill>
          <a:blip r:embed="rId10"/>
          <a:stretch>
            <a:fillRect/>
          </a:stretch>
        </p:blipFill>
        <p:spPr>
          <a:xfrm>
            <a:off x="7767961" y="3118603"/>
            <a:ext cx="4247907" cy="2825097"/>
          </a:xfrm>
          <a:prstGeom prst="rect">
            <a:avLst/>
          </a:prstGeom>
        </p:spPr>
      </p:pic>
    </p:spTree>
    <p:extLst>
      <p:ext uri="{BB962C8B-B14F-4D97-AF65-F5344CB8AC3E}">
        <p14:creationId xmlns:p14="http://schemas.microsoft.com/office/powerpoint/2010/main" val="1765064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1573D0EA-AF46-A3FF-B054-585EBFA0928F}"/>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p>
        </p:txBody>
      </p:sp>
      <p:sp>
        <p:nvSpPr>
          <p:cNvPr id="7" name="Text 2">
            <a:extLst>
              <a:ext uri="{FF2B5EF4-FFF2-40B4-BE49-F238E27FC236}">
                <a16:creationId xmlns:a16="http://schemas.microsoft.com/office/drawing/2014/main" id="{08F29EAD-D533-0B61-2726-3E8377AE68C2}"/>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3: Proposed Method</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8791945F-3741-A814-1ED6-881AC78AEB8D}"/>
              </a:ext>
            </a:extLst>
          </p:cNvPr>
          <p:cNvSpPr/>
          <p:nvPr/>
        </p:nvSpPr>
        <p:spPr>
          <a:xfrm>
            <a:off x="347472" y="457200"/>
            <a:ext cx="7955280" cy="228600"/>
          </a:xfrm>
          <a:prstGeom prst="rect">
            <a:avLst/>
          </a:prstGeom>
          <a:noFill/>
          <a:ln/>
        </p:spPr>
        <p:txBody>
          <a:bodyPr wrap="square" lIns="0" tIns="0" rIns="0" bIns="0" rtlCol="0" anchor="ctr"/>
          <a:lstStyle/>
          <a:p>
            <a:pPr marL="0" indent="0">
              <a:buNone/>
            </a:pP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Latent Consistency Matching</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286C9BB0-08CF-1710-CAD3-6992250DA91C}"/>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p>
        </p:txBody>
      </p:sp>
      <p:sp>
        <p:nvSpPr>
          <p:cNvPr id="10" name="Text 6">
            <a:extLst>
              <a:ext uri="{FF2B5EF4-FFF2-40B4-BE49-F238E27FC236}">
                <a16:creationId xmlns:a16="http://schemas.microsoft.com/office/drawing/2014/main" id="{D01170F5-6B4F-2AC4-ABE4-99011DDF0B29}"/>
              </a:ext>
            </a:extLst>
          </p:cNvPr>
          <p:cNvSpPr/>
          <p:nvPr/>
        </p:nvSpPr>
        <p:spPr>
          <a:xfrm>
            <a:off x="731518" y="944444"/>
            <a:ext cx="10960373" cy="457200"/>
          </a:xfrm>
          <a:prstGeom prst="rect">
            <a:avLst/>
          </a:prstGeom>
          <a:solidFill>
            <a:srgbClr val="FFFFFF"/>
          </a:solidFill>
          <a:ln>
            <a:noFill/>
          </a:ln>
        </p:spPr>
        <p:txBody>
          <a:bodyPr wrap="square" lIns="1143" tIns="1143" rIns="1143" bIns="1143" rtlCol="0" anchor="ctr">
            <a:noAutofit/>
          </a:bodyPr>
          <a:lstStyle/>
          <a:p>
            <a:r>
              <a:rPr lang="en-US" altLang="zh-TW" sz="1400" b="1" dirty="0">
                <a:latin typeface="微軟正黑體" panose="020B0604030504040204" pitchFamily="34" charset="-120"/>
                <a:ea typeface="微軟正黑體" panose="020B0604030504040204" pitchFamily="34" charset="-120"/>
              </a:rPr>
              <a:t>LCM aligns the teacher and student heads at the latent / hidden representation level rather than directly aligning probability distributions.</a:t>
            </a:r>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1F989B06-B8F9-3F0A-2FA4-977D7723EBB4}"/>
                  </a:ext>
                </a:extLst>
              </p:cNvPr>
              <p:cNvSpPr txBox="1"/>
              <p:nvPr/>
            </p:nvSpPr>
            <p:spPr>
              <a:xfrm>
                <a:off x="731518" y="4868969"/>
                <a:ext cx="6681335" cy="72154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TW" sz="1400" b="0" i="1" smtClean="0">
                              <a:latin typeface="Cambria Math" panose="02040503050406030204" pitchFamily="18" charset="0"/>
                            </a:rPr>
                          </m:ctrlPr>
                        </m:sSubPr>
                        <m:e>
                          <m:r>
                            <a:rPr lang="en-US" altLang="zh-TW" sz="1400" b="0" i="1" smtClean="0">
                              <a:latin typeface="Cambria Math" panose="02040503050406030204" pitchFamily="18" charset="0"/>
                            </a:rPr>
                            <m:t>𝑆</m:t>
                          </m:r>
                        </m:e>
                        <m:sub>
                          <m:r>
                            <a:rPr lang="en-US" altLang="zh-TW" sz="1400" b="0" i="1" smtClean="0">
                              <a:latin typeface="Cambria Math" panose="02040503050406030204" pitchFamily="18" charset="0"/>
                            </a:rPr>
                            <m:t>𝑘</m:t>
                          </m:r>
                        </m:sub>
                      </m:sSub>
                      <m:r>
                        <a:rPr lang="en-US" altLang="zh-TW" sz="1400" b="0" i="1" smtClean="0">
                          <a:latin typeface="Cambria Math" panose="02040503050406030204" pitchFamily="18" charset="0"/>
                        </a:rPr>
                        <m:t>=</m:t>
                      </m:r>
                      <m:r>
                        <m:rPr>
                          <m:nor/>
                        </m:rPr>
                        <a:rPr lang="en-US" altLang="zh-TW" sz="1400"/>
                        <m:t>number</m:t>
                      </m:r>
                      <m:r>
                        <m:rPr>
                          <m:nor/>
                        </m:rPr>
                        <a:rPr lang="en-US" altLang="zh-TW" sz="1400" b="0" i="0" smtClean="0"/>
                        <m:t> </m:t>
                      </m:r>
                      <m:r>
                        <m:rPr>
                          <m:nor/>
                        </m:rPr>
                        <a:rPr lang="en-US" altLang="zh-TW" sz="1400"/>
                        <m:t>of</m:t>
                      </m:r>
                      <m:r>
                        <m:rPr>
                          <m:nor/>
                        </m:rPr>
                        <a:rPr lang="en-US" altLang="zh-TW" sz="1400" b="0" i="0" smtClean="0"/>
                        <m:t> </m:t>
                      </m:r>
                      <m:r>
                        <m:rPr>
                          <m:nor/>
                        </m:rPr>
                        <a:rPr lang="en-US" altLang="zh-TW" sz="1400"/>
                        <m:t>valid</m:t>
                      </m:r>
                      <m:r>
                        <m:rPr>
                          <m:nor/>
                        </m:rPr>
                        <a:rPr lang="en-US" altLang="zh-TW" sz="1400" b="0" i="0" smtClean="0"/>
                        <m:t> </m:t>
                      </m:r>
                      <m:r>
                        <m:rPr>
                          <m:nor/>
                        </m:rPr>
                        <a:rPr lang="en-US" altLang="zh-TW" sz="1400"/>
                        <m:t>aligned</m:t>
                      </m:r>
                      <m:r>
                        <m:rPr>
                          <m:nor/>
                        </m:rPr>
                        <a:rPr lang="en-US" altLang="zh-TW" sz="1400" b="0" i="0" smtClean="0"/>
                        <m:t> </m:t>
                      </m:r>
                      <m:r>
                        <m:rPr>
                          <m:nor/>
                        </m:rPr>
                        <a:rPr lang="en-US" altLang="zh-TW" sz="1400"/>
                        <m:t>token</m:t>
                      </m:r>
                      <m:r>
                        <m:rPr>
                          <m:nor/>
                        </m:rPr>
                        <a:rPr lang="en-US" altLang="zh-TW" sz="1400" b="0" i="0" smtClean="0"/>
                        <m:t> </m:t>
                      </m:r>
                      <m:r>
                        <m:rPr>
                          <m:nor/>
                        </m:rPr>
                        <a:rPr lang="en-US" altLang="zh-TW" sz="1400"/>
                        <m:t>positions</m:t>
                      </m:r>
                      <m:r>
                        <m:rPr>
                          <m:nor/>
                        </m:rPr>
                        <a:rPr lang="en-US" altLang="zh-TW" sz="1400" b="0" i="0" smtClean="0"/>
                        <m:t> </m:t>
                      </m:r>
                      <m:r>
                        <m:rPr>
                          <m:nor/>
                        </m:rPr>
                        <a:rPr lang="en-US" altLang="zh-TW" sz="1400"/>
                        <m:t>for</m:t>
                      </m:r>
                      <m:r>
                        <m:rPr>
                          <m:nor/>
                        </m:rPr>
                        <a:rPr lang="en-US" altLang="zh-TW" sz="1400" b="0" i="0" smtClean="0"/>
                        <m:t> </m:t>
                      </m:r>
                      <m:r>
                        <m:rPr>
                          <m:nor/>
                        </m:rPr>
                        <a:rPr lang="en-US" altLang="zh-TW" sz="1400"/>
                        <m:t>the</m:t>
                      </m:r>
                      <m:r>
                        <m:rPr>
                          <m:nor/>
                        </m:rPr>
                        <a:rPr lang="en-US" altLang="zh-TW" sz="1400" b="0" i="0" smtClean="0"/>
                        <m:t> </m:t>
                      </m:r>
                      <m:r>
                        <m:rPr>
                          <m:nor/>
                        </m:rPr>
                        <a:rPr lang="en-US" altLang="zh-TW" sz="1400"/>
                        <m:t>k</m:t>
                      </m:r>
                      <m:r>
                        <m:rPr>
                          <m:nor/>
                        </m:rPr>
                        <a:rPr lang="en-US" altLang="zh-TW" sz="1400"/>
                        <m:t>−</m:t>
                      </m:r>
                      <m:r>
                        <m:rPr>
                          <m:nor/>
                        </m:rPr>
                        <a:rPr lang="en-US" altLang="zh-TW" sz="1400"/>
                        <m:t>th</m:t>
                      </m:r>
                      <m:r>
                        <m:rPr>
                          <m:nor/>
                        </m:rPr>
                        <a:rPr lang="en-US" altLang="zh-TW" sz="1400" b="0" i="0" smtClean="0"/>
                        <m:t> </m:t>
                      </m:r>
                      <m:r>
                        <m:rPr>
                          <m:nor/>
                        </m:rPr>
                        <a:rPr lang="en-US" altLang="zh-TW" sz="1400"/>
                        <m:t>student</m:t>
                      </m:r>
                      <m:r>
                        <m:rPr>
                          <m:nor/>
                        </m:rPr>
                        <a:rPr lang="en-US" altLang="zh-TW" sz="1400"/>
                        <m:t> </m:t>
                      </m:r>
                      <m:r>
                        <m:rPr>
                          <m:nor/>
                        </m:rPr>
                        <a:rPr lang="en-US" altLang="zh-TW" sz="1400"/>
                        <m:t>head</m:t>
                      </m:r>
                    </m:oMath>
                  </m:oMathPara>
                </a14:m>
                <a:endParaRPr lang="en-US" altLang="zh-TW" sz="1400" dirty="0"/>
              </a:p>
              <a:p>
                <a:pPr/>
                <a14:m>
                  <m:oMathPara xmlns:m="http://schemas.openxmlformats.org/officeDocument/2006/math">
                    <m:oMathParaPr>
                      <m:jc m:val="left"/>
                    </m:oMathParaPr>
                    <m:oMath xmlns:m="http://schemas.openxmlformats.org/officeDocument/2006/math">
                      <m:r>
                        <m:rPr>
                          <m:sty m:val="p"/>
                        </m:rPr>
                        <a:rPr lang="en-US" altLang="zh-TW" sz="1400" b="0" i="0" smtClean="0">
                          <a:latin typeface="Cambria Math" panose="02040503050406030204" pitchFamily="18" charset="0"/>
                        </a:rPr>
                        <m:t>D</m:t>
                      </m:r>
                      <m:r>
                        <a:rPr lang="en-US" altLang="zh-TW" sz="1400" i="1">
                          <a:latin typeface="Cambria Math" panose="02040503050406030204" pitchFamily="18" charset="0"/>
                        </a:rPr>
                        <m:t>=</m:t>
                      </m:r>
                      <m:r>
                        <m:rPr>
                          <m:nor/>
                        </m:rPr>
                        <a:rPr lang="en-US" altLang="zh-TW" sz="1400">
                          <a:latin typeface="Cambria Math" panose="02040503050406030204" pitchFamily="18" charset="0"/>
                        </a:rPr>
                        <m:t>hidden</m:t>
                      </m:r>
                      <m:r>
                        <m:rPr>
                          <m:nor/>
                        </m:rPr>
                        <a:rPr lang="en-US" altLang="zh-TW" sz="1400">
                          <a:latin typeface="Cambria Math" panose="02040503050406030204" pitchFamily="18" charset="0"/>
                        </a:rPr>
                        <m:t> </m:t>
                      </m:r>
                      <m:r>
                        <m:rPr>
                          <m:nor/>
                        </m:rPr>
                        <a:rPr lang="en-US" altLang="zh-TW" sz="1400">
                          <a:latin typeface="Cambria Math" panose="02040503050406030204" pitchFamily="18" charset="0"/>
                        </a:rPr>
                        <m:t>dimension</m:t>
                      </m:r>
                    </m:oMath>
                  </m:oMathPara>
                </a14:m>
                <a:endParaRPr lang="en-US" altLang="zh-TW" sz="1400" dirty="0"/>
              </a:p>
              <a:p>
                <a:pPr/>
                <a14:m>
                  <m:oMathPara xmlns:m="http://schemas.openxmlformats.org/officeDocument/2006/math">
                    <m:oMathParaPr>
                      <m:jc m:val="left"/>
                    </m:oMathParaPr>
                    <m:oMath xmlns:m="http://schemas.openxmlformats.org/officeDocument/2006/math">
                      <m:sSubSup>
                        <m:sSubSupPr>
                          <m:ctrlPr>
                            <a:rPr lang="en-US" altLang="zh-TW" sz="1400" i="1">
                              <a:latin typeface="Cambria Math" panose="02040503050406030204" pitchFamily="18" charset="0"/>
                            </a:rPr>
                          </m:ctrlPr>
                        </m:sSubSupPr>
                        <m:e>
                          <m:r>
                            <a:rPr lang="en-US" altLang="zh-TW" sz="1400" i="1">
                              <a:latin typeface="Cambria Math" panose="02040503050406030204" pitchFamily="18" charset="0"/>
                            </a:rPr>
                            <m:t>h</m:t>
                          </m:r>
                        </m:e>
                        <m:sub>
                          <m:r>
                            <a:rPr lang="en-US" altLang="zh-TW" sz="1400" i="1">
                              <a:latin typeface="Cambria Math" panose="02040503050406030204" pitchFamily="18" charset="0"/>
                            </a:rPr>
                            <m:t>𝑡</m:t>
                          </m:r>
                          <m:r>
                            <a:rPr lang="en-US" altLang="zh-TW" sz="1400" i="1">
                              <a:latin typeface="Cambria Math" panose="02040503050406030204" pitchFamily="18" charset="0"/>
                            </a:rPr>
                            <m:t>,</m:t>
                          </m:r>
                          <m:r>
                            <a:rPr lang="en-US" altLang="zh-TW" sz="1400" i="1">
                              <a:latin typeface="Cambria Math" panose="02040503050406030204" pitchFamily="18" charset="0"/>
                            </a:rPr>
                            <m:t>𝑖</m:t>
                          </m:r>
                          <m:r>
                            <a:rPr lang="en-US" altLang="zh-TW" sz="1400" i="1">
                              <a:latin typeface="Cambria Math" panose="02040503050406030204" pitchFamily="18" charset="0"/>
                            </a:rPr>
                            <m:t>,</m:t>
                          </m:r>
                          <m:r>
                            <a:rPr lang="en-US" altLang="zh-TW" sz="1400" i="1">
                              <a:latin typeface="Cambria Math" panose="02040503050406030204" pitchFamily="18" charset="0"/>
                            </a:rPr>
                            <m:t>𝑑</m:t>
                          </m:r>
                        </m:sub>
                        <m:sup>
                          <m:r>
                            <a:rPr lang="en-US" altLang="zh-TW" sz="1400" i="1">
                              <a:latin typeface="Cambria Math" panose="02040503050406030204" pitchFamily="18" charset="0"/>
                            </a:rPr>
                            <m:t>(</m:t>
                          </m:r>
                          <m:r>
                            <a:rPr lang="en-US" altLang="zh-TW" sz="1400" i="1">
                              <a:latin typeface="Cambria Math" panose="02040503050406030204" pitchFamily="18" charset="0"/>
                            </a:rPr>
                            <m:t>𝑘</m:t>
                          </m:r>
                          <m:r>
                            <a:rPr lang="en-US" altLang="zh-TW" sz="1400" i="1">
                              <a:latin typeface="Cambria Math" panose="02040503050406030204" pitchFamily="18" charset="0"/>
                            </a:rPr>
                            <m:t>)</m:t>
                          </m:r>
                        </m:sup>
                      </m:sSubSup>
                      <m:r>
                        <a:rPr lang="en-US" altLang="zh-TW" sz="1400" b="0" i="1" smtClean="0">
                          <a:latin typeface="Cambria Math" panose="02040503050406030204" pitchFamily="18" charset="0"/>
                        </a:rPr>
                        <m:t> </m:t>
                      </m:r>
                      <m:r>
                        <a:rPr lang="en-US" altLang="zh-TW" sz="1400" b="0" i="1" smtClean="0">
                          <a:latin typeface="Cambria Math" panose="02040503050406030204" pitchFamily="18" charset="0"/>
                        </a:rPr>
                        <m:t>𝑎𝑛𝑑</m:t>
                      </m:r>
                      <m:r>
                        <a:rPr lang="en-US" altLang="zh-TW" sz="1400" b="0" i="1" smtClean="0">
                          <a:latin typeface="Cambria Math" panose="02040503050406030204" pitchFamily="18" charset="0"/>
                        </a:rPr>
                        <m:t> </m:t>
                      </m:r>
                      <m:sSubSup>
                        <m:sSubSupPr>
                          <m:ctrlPr>
                            <a:rPr lang="en-US" altLang="zh-TW" sz="1400" i="1">
                              <a:latin typeface="Cambria Math" panose="02040503050406030204" pitchFamily="18" charset="0"/>
                            </a:rPr>
                          </m:ctrlPr>
                        </m:sSubSupPr>
                        <m:e>
                          <m:r>
                            <a:rPr lang="en-US" altLang="zh-TW" sz="1400" i="1">
                              <a:latin typeface="Cambria Math" panose="02040503050406030204" pitchFamily="18" charset="0"/>
                            </a:rPr>
                            <m:t>h</m:t>
                          </m:r>
                        </m:e>
                        <m:sub>
                          <m:r>
                            <a:rPr lang="en-US" altLang="zh-TW" sz="1400" i="1">
                              <a:latin typeface="Cambria Math" panose="02040503050406030204" pitchFamily="18" charset="0"/>
                            </a:rPr>
                            <m:t>𝑠</m:t>
                          </m:r>
                          <m:r>
                            <a:rPr lang="en-US" altLang="zh-TW" sz="1400" i="1">
                              <a:latin typeface="Cambria Math" panose="02040503050406030204" pitchFamily="18" charset="0"/>
                            </a:rPr>
                            <m:t>,</m:t>
                          </m:r>
                          <m:r>
                            <a:rPr lang="en-US" altLang="zh-TW" sz="1400" i="1">
                              <a:latin typeface="Cambria Math" panose="02040503050406030204" pitchFamily="18" charset="0"/>
                            </a:rPr>
                            <m:t>𝑖</m:t>
                          </m:r>
                          <m:r>
                            <a:rPr lang="en-US" altLang="zh-TW" sz="1400" i="1">
                              <a:latin typeface="Cambria Math" panose="02040503050406030204" pitchFamily="18" charset="0"/>
                            </a:rPr>
                            <m:t>,</m:t>
                          </m:r>
                          <m:r>
                            <a:rPr lang="en-US" altLang="zh-TW" sz="1400" i="1">
                              <a:latin typeface="Cambria Math" panose="02040503050406030204" pitchFamily="18" charset="0"/>
                            </a:rPr>
                            <m:t>𝑑</m:t>
                          </m:r>
                        </m:sub>
                        <m:sup>
                          <m:r>
                            <a:rPr lang="en-US" altLang="zh-TW" sz="1400" i="1">
                              <a:latin typeface="Cambria Math" panose="02040503050406030204" pitchFamily="18" charset="0"/>
                            </a:rPr>
                            <m:t>(</m:t>
                          </m:r>
                          <m:r>
                            <a:rPr lang="en-US" altLang="zh-TW" sz="1400" i="1">
                              <a:latin typeface="Cambria Math" panose="02040503050406030204" pitchFamily="18" charset="0"/>
                            </a:rPr>
                            <m:t>𝑘</m:t>
                          </m:r>
                          <m:r>
                            <a:rPr lang="en-US" altLang="zh-TW" sz="1400" i="1">
                              <a:latin typeface="Cambria Math" panose="02040503050406030204" pitchFamily="18" charset="0"/>
                            </a:rPr>
                            <m:t>)</m:t>
                          </m:r>
                        </m:sup>
                      </m:sSubSup>
                      <m:r>
                        <a:rPr lang="en-US" altLang="zh-TW" sz="1400" i="1">
                          <a:latin typeface="Cambria Math" panose="02040503050406030204" pitchFamily="18" charset="0"/>
                        </a:rPr>
                        <m:t>=</m:t>
                      </m:r>
                      <m:r>
                        <m:rPr>
                          <m:nor/>
                        </m:rPr>
                        <a:rPr lang="en-US" altLang="zh-TW" sz="1400"/>
                        <m:t>position</m:t>
                      </m:r>
                      <m:r>
                        <m:rPr>
                          <m:nor/>
                        </m:rPr>
                        <a:rPr lang="en-US" altLang="zh-TW" sz="1400"/>
                        <m:t>−</m:t>
                      </m:r>
                      <m:r>
                        <m:rPr>
                          <m:nor/>
                        </m:rPr>
                        <a:rPr lang="en-US" altLang="zh-TW" sz="1400"/>
                        <m:t>aligned</m:t>
                      </m:r>
                      <m:r>
                        <m:rPr>
                          <m:nor/>
                        </m:rPr>
                        <a:rPr lang="en-US" altLang="zh-TW" sz="1400" b="0" i="0" smtClean="0"/>
                        <m:t> </m:t>
                      </m:r>
                      <m:r>
                        <m:rPr>
                          <m:nor/>
                        </m:rPr>
                        <a:rPr lang="en-US" altLang="zh-TW" sz="1400"/>
                        <m:t>teacher</m:t>
                      </m:r>
                      <m:r>
                        <m:rPr>
                          <m:nor/>
                        </m:rPr>
                        <a:rPr lang="en-US" altLang="zh-TW" sz="1400" b="0" i="0" smtClean="0"/>
                        <m:t> </m:t>
                      </m:r>
                      <m:r>
                        <m:rPr>
                          <m:nor/>
                        </m:rPr>
                        <a:rPr lang="en-US" altLang="zh-TW" sz="1400"/>
                        <m:t>and</m:t>
                      </m:r>
                      <m:r>
                        <m:rPr>
                          <m:nor/>
                        </m:rPr>
                        <a:rPr lang="en-US" altLang="zh-TW" sz="1400" b="0" i="0" smtClean="0"/>
                        <m:t> </m:t>
                      </m:r>
                      <m:r>
                        <m:rPr>
                          <m:nor/>
                        </m:rPr>
                        <a:rPr lang="en-US" altLang="zh-TW" sz="1400"/>
                        <m:t>student</m:t>
                      </m:r>
                      <m:r>
                        <m:rPr>
                          <m:nor/>
                        </m:rPr>
                        <a:rPr lang="en-US" altLang="zh-TW" sz="1400" b="0" i="0" smtClean="0"/>
                        <m:t> </m:t>
                      </m:r>
                      <m:r>
                        <m:rPr>
                          <m:nor/>
                        </m:rPr>
                        <a:rPr lang="en-US" altLang="zh-TW" sz="1400"/>
                        <m:t>hidden</m:t>
                      </m:r>
                      <m:r>
                        <m:rPr>
                          <m:nor/>
                        </m:rPr>
                        <a:rPr lang="en-US" altLang="zh-TW" sz="1400" b="0" i="0" smtClean="0"/>
                        <m:t> </m:t>
                      </m:r>
                      <m:r>
                        <m:rPr>
                          <m:nor/>
                        </m:rPr>
                        <a:rPr lang="en-US" altLang="zh-TW" sz="1400"/>
                        <m:t>representations</m:t>
                      </m:r>
                    </m:oMath>
                  </m:oMathPara>
                </a14:m>
                <a:endParaRPr lang="en-US" altLang="zh-TW" sz="1400" dirty="0"/>
              </a:p>
            </p:txBody>
          </p:sp>
        </mc:Choice>
        <mc:Fallback xmlns="">
          <p:sp>
            <p:nvSpPr>
              <p:cNvPr id="11" name="文字方塊 10">
                <a:extLst>
                  <a:ext uri="{FF2B5EF4-FFF2-40B4-BE49-F238E27FC236}">
                    <a16:creationId xmlns:a16="http://schemas.microsoft.com/office/drawing/2014/main" id="{1F989B06-B8F9-3F0A-2FA4-977D7723EBB4}"/>
                  </a:ext>
                </a:extLst>
              </p:cNvPr>
              <p:cNvSpPr txBox="1">
                <a:spLocks noRot="1" noChangeAspect="1" noMove="1" noResize="1" noEditPoints="1" noAdjustHandles="1" noChangeArrowheads="1" noChangeShapeType="1" noTextEdit="1"/>
              </p:cNvSpPr>
              <p:nvPr/>
            </p:nvSpPr>
            <p:spPr>
              <a:xfrm>
                <a:off x="731518" y="4868969"/>
                <a:ext cx="6681335" cy="721544"/>
              </a:xfrm>
              <a:prstGeom prst="rect">
                <a:avLst/>
              </a:prstGeom>
              <a:blipFill>
                <a:blip r:embed="rId2"/>
                <a:stretch>
                  <a:fillRect l="-912" b="-42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圓角 11">
                <a:extLst>
                  <a:ext uri="{FF2B5EF4-FFF2-40B4-BE49-F238E27FC236}">
                    <a16:creationId xmlns:a16="http://schemas.microsoft.com/office/drawing/2014/main" id="{C2D2F876-6541-1C66-FAF4-C6C8CFE199A4}"/>
                  </a:ext>
                </a:extLst>
              </p:cNvPr>
              <p:cNvSpPr/>
              <p:nvPr/>
            </p:nvSpPr>
            <p:spPr>
              <a:xfrm>
                <a:off x="731519" y="1508760"/>
                <a:ext cx="2047191" cy="749675"/>
              </a:xfrm>
              <a:prstGeom prst="roundRect">
                <a:avLst/>
              </a:prstGeom>
              <a:solidFill>
                <a:srgbClr val="FFD9D9"/>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US" altLang="zh-TW" sz="1600" smtClean="0">
                          <a:solidFill>
                            <a:schemeClr val="tx1"/>
                          </a:solidFill>
                          <a:latin typeface="Cambria Math" panose="02040503050406030204" pitchFamily="18" charset="0"/>
                        </a:rPr>
                        <m:t>teacher</m:t>
                      </m:r>
                      <m:r>
                        <m:rPr>
                          <m:nor/>
                        </m:rPr>
                        <a:rPr lang="en-US" altLang="zh-TW" sz="1600" smtClean="0">
                          <a:solidFill>
                            <a:schemeClr val="tx1"/>
                          </a:solidFill>
                          <a:latin typeface="Cambria Math" panose="02040503050406030204" pitchFamily="18" charset="0"/>
                        </a:rPr>
                        <m:t> </m:t>
                      </m:r>
                      <m:r>
                        <m:rPr>
                          <m:nor/>
                        </m:rPr>
                        <a:rPr lang="en-US" altLang="zh-TW" sz="1600" smtClean="0">
                          <a:solidFill>
                            <a:schemeClr val="tx1"/>
                          </a:solidFill>
                          <a:latin typeface="Cambria Math" panose="02040503050406030204" pitchFamily="18" charset="0"/>
                        </a:rPr>
                        <m:t>hidden</m:t>
                      </m:r>
                      <m:r>
                        <m:rPr>
                          <m:nor/>
                        </m:rPr>
                        <a:rPr lang="en-US" altLang="zh-TW" sz="1600" smtClean="0">
                          <a:solidFill>
                            <a:schemeClr val="tx1"/>
                          </a:solidFill>
                          <a:latin typeface="Cambria Math" panose="02040503050406030204" pitchFamily="18" charset="0"/>
                        </a:rPr>
                        <m:t> </m:t>
                      </m:r>
                      <m:r>
                        <m:rPr>
                          <m:nor/>
                        </m:rPr>
                        <a:rPr lang="en-US" altLang="zh-TW" sz="1600" smtClean="0">
                          <a:solidFill>
                            <a:schemeClr val="tx1"/>
                          </a:solidFill>
                          <a:latin typeface="Cambria Math" panose="02040503050406030204" pitchFamily="18" charset="0"/>
                        </a:rPr>
                        <m:t>state</m:t>
                      </m:r>
                    </m:oMath>
                  </m:oMathPara>
                </a14:m>
                <a:endParaRPr lang="en-US" altLang="zh-TW"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TW" sz="1600" i="1">
                              <a:solidFill>
                                <a:schemeClr val="tx1"/>
                              </a:solidFill>
                              <a:latin typeface="Cambria Math" panose="02040503050406030204" pitchFamily="18" charset="0"/>
                            </a:rPr>
                          </m:ctrlPr>
                        </m:sSupPr>
                        <m:e>
                          <m:r>
                            <a:rPr lang="en-US" altLang="zh-TW" sz="1600" i="1">
                              <a:solidFill>
                                <a:schemeClr val="tx1"/>
                              </a:solidFill>
                              <a:latin typeface="Cambria Math" panose="02040503050406030204" pitchFamily="18" charset="0"/>
                            </a:rPr>
                            <m:t>h</m:t>
                          </m:r>
                        </m:e>
                        <m:sup>
                          <m:r>
                            <a:rPr lang="en-US" altLang="zh-TW" sz="1600" i="1">
                              <a:solidFill>
                                <a:schemeClr val="tx1"/>
                              </a:solidFill>
                              <a:latin typeface="Cambria Math" panose="02040503050406030204" pitchFamily="18" charset="0"/>
                            </a:rPr>
                            <m:t>𝑡</m:t>
                          </m:r>
                        </m:sup>
                      </m:sSup>
                    </m:oMath>
                  </m:oMathPara>
                </a14:m>
                <a:endParaRPr lang="zh-TW" altLang="en-US" sz="1600" dirty="0">
                  <a:solidFill>
                    <a:schemeClr val="tx1"/>
                  </a:solidFill>
                </a:endParaRPr>
              </a:p>
            </p:txBody>
          </p:sp>
        </mc:Choice>
        <mc:Fallback xmlns="">
          <p:sp>
            <p:nvSpPr>
              <p:cNvPr id="12" name="矩形: 圓角 11">
                <a:extLst>
                  <a:ext uri="{FF2B5EF4-FFF2-40B4-BE49-F238E27FC236}">
                    <a16:creationId xmlns:a16="http://schemas.microsoft.com/office/drawing/2014/main" id="{C2D2F876-6541-1C66-FAF4-C6C8CFE199A4}"/>
                  </a:ext>
                </a:extLst>
              </p:cNvPr>
              <p:cNvSpPr>
                <a:spLocks noRot="1" noChangeAspect="1" noMove="1" noResize="1" noEditPoints="1" noAdjustHandles="1" noChangeArrowheads="1" noChangeShapeType="1" noTextEdit="1"/>
              </p:cNvSpPr>
              <p:nvPr/>
            </p:nvSpPr>
            <p:spPr>
              <a:xfrm>
                <a:off x="731519" y="1508760"/>
                <a:ext cx="2047191" cy="749675"/>
              </a:xfrm>
              <a:prstGeom prst="roundRect">
                <a:avLst/>
              </a:prstGeom>
              <a:blipFill>
                <a:blip r:embed="rId3"/>
                <a:stretch>
                  <a:fillRect/>
                </a:stretch>
              </a:blipFill>
              <a:ln w="19050">
                <a:solidFill>
                  <a:srgbClr val="FF0000"/>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圓角 12">
                <a:extLst>
                  <a:ext uri="{FF2B5EF4-FFF2-40B4-BE49-F238E27FC236}">
                    <a16:creationId xmlns:a16="http://schemas.microsoft.com/office/drawing/2014/main" id="{9FE6CF04-DDA0-DFF5-F9C8-9CFA2292BA4B}"/>
                  </a:ext>
                </a:extLst>
              </p:cNvPr>
              <p:cNvSpPr/>
              <p:nvPr/>
            </p:nvSpPr>
            <p:spPr>
              <a:xfrm>
                <a:off x="731520" y="2400500"/>
                <a:ext cx="2047190" cy="749675"/>
              </a:xfrm>
              <a:prstGeom prst="roundRect">
                <a:avLst/>
              </a:prstGeom>
              <a:solidFill>
                <a:srgbClr val="ECDEF6"/>
              </a:solidFill>
              <a:ln w="190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US" altLang="zh-TW" sz="1600" smtClean="0">
                          <a:solidFill>
                            <a:schemeClr val="tx1"/>
                          </a:solidFill>
                          <a:latin typeface="Cambria Math" panose="02040503050406030204" pitchFamily="18" charset="0"/>
                        </a:rPr>
                        <m:t>student</m:t>
                      </m:r>
                      <m:r>
                        <m:rPr>
                          <m:nor/>
                        </m:rPr>
                        <a:rPr lang="en-US" altLang="zh-TW" sz="1600" i="1" smtClean="0">
                          <a:solidFill>
                            <a:schemeClr val="tx1"/>
                          </a:solidFill>
                          <a:latin typeface="Cambria Math" panose="02040503050406030204" pitchFamily="18" charset="0"/>
                        </a:rPr>
                        <m:t> </m:t>
                      </m:r>
                      <m:r>
                        <m:rPr>
                          <m:nor/>
                        </m:rPr>
                        <a:rPr lang="en-US" altLang="zh-TW" sz="1600" smtClean="0">
                          <a:solidFill>
                            <a:schemeClr val="tx1"/>
                          </a:solidFill>
                          <a:latin typeface="Cambria Math" panose="02040503050406030204" pitchFamily="18" charset="0"/>
                        </a:rPr>
                        <m:t>hidden</m:t>
                      </m:r>
                      <m:r>
                        <m:rPr>
                          <m:nor/>
                        </m:rPr>
                        <a:rPr lang="en-US" altLang="zh-TW" sz="1600" smtClean="0">
                          <a:solidFill>
                            <a:schemeClr val="tx1"/>
                          </a:solidFill>
                          <a:latin typeface="Cambria Math" panose="02040503050406030204" pitchFamily="18" charset="0"/>
                        </a:rPr>
                        <m:t> </m:t>
                      </m:r>
                      <m:r>
                        <m:rPr>
                          <m:nor/>
                        </m:rPr>
                        <a:rPr lang="en-US" altLang="zh-TW" sz="1600" smtClean="0">
                          <a:solidFill>
                            <a:schemeClr val="tx1"/>
                          </a:solidFill>
                          <a:latin typeface="Cambria Math" panose="02040503050406030204" pitchFamily="18" charset="0"/>
                        </a:rPr>
                        <m:t>state</m:t>
                      </m:r>
                    </m:oMath>
                  </m:oMathPara>
                </a14:m>
                <a:endParaRPr lang="en-US" altLang="zh-TW" sz="1600" i="1" dirty="0">
                  <a:solidFill>
                    <a:schemeClr val="tx1"/>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TW" sz="1600" i="1">
                              <a:solidFill>
                                <a:schemeClr val="tx1"/>
                              </a:solidFill>
                              <a:latin typeface="Cambria Math" panose="02040503050406030204" pitchFamily="18" charset="0"/>
                            </a:rPr>
                          </m:ctrlPr>
                        </m:sSupPr>
                        <m:e>
                          <m:r>
                            <a:rPr lang="en-US" altLang="zh-TW" sz="1600" i="1">
                              <a:solidFill>
                                <a:schemeClr val="tx1"/>
                              </a:solidFill>
                              <a:latin typeface="Cambria Math" panose="02040503050406030204" pitchFamily="18" charset="0"/>
                            </a:rPr>
                            <m:t>h</m:t>
                          </m:r>
                        </m:e>
                        <m:sup>
                          <m:r>
                            <a:rPr lang="en-US" altLang="zh-TW" sz="1600" b="0" i="1" smtClean="0">
                              <a:solidFill>
                                <a:schemeClr val="tx1"/>
                              </a:solidFill>
                              <a:latin typeface="Cambria Math" panose="02040503050406030204" pitchFamily="18" charset="0"/>
                            </a:rPr>
                            <m:t>𝑠</m:t>
                          </m:r>
                        </m:sup>
                      </m:sSup>
                    </m:oMath>
                  </m:oMathPara>
                </a14:m>
                <a:endParaRPr lang="zh-TW" altLang="en-US" sz="1600" dirty="0">
                  <a:solidFill>
                    <a:schemeClr val="tx1"/>
                  </a:solidFill>
                </a:endParaRPr>
              </a:p>
            </p:txBody>
          </p:sp>
        </mc:Choice>
        <mc:Fallback xmlns="">
          <p:sp>
            <p:nvSpPr>
              <p:cNvPr id="13" name="矩形: 圓角 12">
                <a:extLst>
                  <a:ext uri="{FF2B5EF4-FFF2-40B4-BE49-F238E27FC236}">
                    <a16:creationId xmlns:a16="http://schemas.microsoft.com/office/drawing/2014/main" id="{9FE6CF04-DDA0-DFF5-F9C8-9CFA2292BA4B}"/>
                  </a:ext>
                </a:extLst>
              </p:cNvPr>
              <p:cNvSpPr>
                <a:spLocks noRot="1" noChangeAspect="1" noMove="1" noResize="1" noEditPoints="1" noAdjustHandles="1" noChangeArrowheads="1" noChangeShapeType="1" noTextEdit="1"/>
              </p:cNvSpPr>
              <p:nvPr/>
            </p:nvSpPr>
            <p:spPr>
              <a:xfrm>
                <a:off x="731520" y="2400500"/>
                <a:ext cx="2047190" cy="749675"/>
              </a:xfrm>
              <a:prstGeom prst="roundRect">
                <a:avLst/>
              </a:prstGeom>
              <a:blipFill>
                <a:blip r:embed="rId4"/>
                <a:stretch>
                  <a:fillRect/>
                </a:stretch>
              </a:blipFill>
              <a:ln w="19050">
                <a:solidFill>
                  <a:srgbClr val="7030A0"/>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圓角 13">
                <a:extLst>
                  <a:ext uri="{FF2B5EF4-FFF2-40B4-BE49-F238E27FC236}">
                    <a16:creationId xmlns:a16="http://schemas.microsoft.com/office/drawing/2014/main" id="{51436AB8-F252-92F0-8581-EE80BBDA8C21}"/>
                  </a:ext>
                </a:extLst>
              </p:cNvPr>
              <p:cNvSpPr/>
              <p:nvPr/>
            </p:nvSpPr>
            <p:spPr>
              <a:xfrm>
                <a:off x="3301515" y="1508760"/>
                <a:ext cx="3782865" cy="1641415"/>
              </a:xfrm>
              <a:prstGeom prst="roundRect">
                <a:avLst/>
              </a:prstGeom>
              <a:solidFill>
                <a:schemeClr val="accent1">
                  <a:lumMod val="20000"/>
                  <a:lumOff val="80000"/>
                </a:schemeClr>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rPr>
                  <a:t>LCM loss</a:t>
                </a:r>
              </a:p>
              <a:p>
                <a:pPr algn="ctr"/>
                <a14:m>
                  <m:oMathPara xmlns:m="http://schemas.openxmlformats.org/officeDocument/2006/math">
                    <m:oMathParaPr>
                      <m:jc m:val="centerGroup"/>
                    </m:oMathParaPr>
                    <m:oMath xmlns:m="http://schemas.openxmlformats.org/officeDocument/2006/math">
                      <m:sSub>
                        <m:sSubPr>
                          <m:ctrlPr>
                            <a:rPr lang="en-US" altLang="zh-TW" sz="1600" i="1">
                              <a:solidFill>
                                <a:schemeClr val="tx1"/>
                              </a:solidFill>
                              <a:latin typeface="Cambria Math" panose="02040503050406030204" pitchFamily="18" charset="0"/>
                            </a:rPr>
                          </m:ctrlPr>
                        </m:sSubPr>
                        <m:e>
                          <m:r>
                            <a:rPr lang="en-US" altLang="zh-TW" sz="1600" i="1">
                              <a:solidFill>
                                <a:schemeClr val="tx1"/>
                              </a:solidFill>
                              <a:latin typeface="Cambria Math" panose="02040503050406030204" pitchFamily="18" charset="0"/>
                            </a:rPr>
                            <m:t>𝐿</m:t>
                          </m:r>
                        </m:e>
                        <m:sub>
                          <m:r>
                            <a:rPr lang="en-US" altLang="zh-TW" sz="1600" i="1">
                              <a:solidFill>
                                <a:schemeClr val="tx1"/>
                              </a:solidFill>
                              <a:latin typeface="Cambria Math" panose="02040503050406030204" pitchFamily="18" charset="0"/>
                            </a:rPr>
                            <m:t>𝐿𝐶𝑀</m:t>
                          </m:r>
                        </m:sub>
                      </m:sSub>
                      <m:r>
                        <a:rPr lang="en-US" altLang="zh-TW" sz="1600" i="1">
                          <a:solidFill>
                            <a:schemeClr val="tx1"/>
                          </a:solidFill>
                          <a:latin typeface="Cambria Math" panose="02040503050406030204" pitchFamily="18" charset="0"/>
                        </a:rPr>
                        <m:t>= </m:t>
                      </m:r>
                      <m:f>
                        <m:fPr>
                          <m:ctrlPr>
                            <a:rPr lang="en-US" altLang="zh-TW" sz="1600" i="1">
                              <a:solidFill>
                                <a:schemeClr val="tx1"/>
                              </a:solidFill>
                              <a:latin typeface="Cambria Math" panose="02040503050406030204" pitchFamily="18" charset="0"/>
                            </a:rPr>
                          </m:ctrlPr>
                        </m:fPr>
                        <m:num>
                          <m:r>
                            <a:rPr lang="en-US" altLang="zh-TW" sz="1600" i="1">
                              <a:solidFill>
                                <a:schemeClr val="tx1"/>
                              </a:solidFill>
                              <a:latin typeface="Cambria Math" panose="02040503050406030204" pitchFamily="18" charset="0"/>
                            </a:rPr>
                            <m:t>1</m:t>
                          </m:r>
                        </m:num>
                        <m:den>
                          <m:sSub>
                            <m:sSubPr>
                              <m:ctrlPr>
                                <a:rPr lang="en-US" altLang="zh-TW" sz="1600" b="0" i="1" smtClean="0">
                                  <a:solidFill>
                                    <a:schemeClr val="tx1"/>
                                  </a:solidFill>
                                  <a:latin typeface="Cambria Math" panose="02040503050406030204" pitchFamily="18" charset="0"/>
                                </a:rPr>
                              </m:ctrlPr>
                            </m:sSubPr>
                            <m:e>
                              <m:r>
                                <a:rPr lang="en-US" altLang="zh-TW" sz="1600" b="0" i="1" smtClean="0">
                                  <a:solidFill>
                                    <a:schemeClr val="tx1"/>
                                  </a:solidFill>
                                  <a:latin typeface="Cambria Math" panose="02040503050406030204" pitchFamily="18" charset="0"/>
                                </a:rPr>
                                <m:t>𝑆</m:t>
                              </m:r>
                            </m:e>
                            <m:sub>
                              <m:r>
                                <a:rPr lang="en-US" altLang="zh-TW" sz="1600" b="0" i="1" smtClean="0">
                                  <a:solidFill>
                                    <a:schemeClr val="tx1"/>
                                  </a:solidFill>
                                  <a:latin typeface="Cambria Math" panose="02040503050406030204" pitchFamily="18" charset="0"/>
                                </a:rPr>
                                <m:t>𝑘</m:t>
                              </m:r>
                            </m:sub>
                          </m:sSub>
                          <m:r>
                            <a:rPr lang="en-US" altLang="zh-TW" sz="1600" b="0" i="1" smtClean="0">
                              <a:solidFill>
                                <a:schemeClr val="tx1"/>
                              </a:solidFill>
                              <a:latin typeface="Cambria Math" panose="02040503050406030204" pitchFamily="18" charset="0"/>
                              <a:ea typeface="Cambria Math" panose="02040503050406030204" pitchFamily="18" charset="0"/>
                            </a:rPr>
                            <m:t>∙</m:t>
                          </m:r>
                          <m:r>
                            <a:rPr lang="en-US" altLang="zh-TW" sz="1600" i="1">
                              <a:solidFill>
                                <a:schemeClr val="tx1"/>
                              </a:solidFill>
                              <a:latin typeface="Cambria Math" panose="02040503050406030204" pitchFamily="18" charset="0"/>
                            </a:rPr>
                            <m:t>𝐷</m:t>
                          </m:r>
                        </m:den>
                      </m:f>
                      <m:nary>
                        <m:naryPr>
                          <m:chr m:val="∑"/>
                          <m:ctrlPr>
                            <a:rPr lang="en-US" altLang="zh-TW" sz="1600" i="1">
                              <a:solidFill>
                                <a:schemeClr val="tx1"/>
                              </a:solidFill>
                              <a:latin typeface="Cambria Math" panose="02040503050406030204" pitchFamily="18" charset="0"/>
                            </a:rPr>
                          </m:ctrlPr>
                        </m:naryPr>
                        <m:sub>
                          <m:r>
                            <a:rPr lang="en-US" altLang="zh-TW" sz="1600" b="0" i="1" smtClean="0">
                              <a:solidFill>
                                <a:schemeClr val="tx1"/>
                              </a:solidFill>
                              <a:latin typeface="Cambria Math" panose="02040503050406030204" pitchFamily="18" charset="0"/>
                            </a:rPr>
                            <m:t>𝑖</m:t>
                          </m:r>
                          <m:r>
                            <a:rPr lang="en-US" altLang="zh-TW" sz="1600" i="1">
                              <a:solidFill>
                                <a:schemeClr val="tx1"/>
                              </a:solidFill>
                              <a:latin typeface="Cambria Math" panose="02040503050406030204" pitchFamily="18" charset="0"/>
                            </a:rPr>
                            <m:t>=1</m:t>
                          </m:r>
                        </m:sub>
                        <m:sup>
                          <m:sSub>
                            <m:sSubPr>
                              <m:ctrlPr>
                                <a:rPr lang="en-US" altLang="zh-TW" sz="1600" b="0" i="1" smtClean="0">
                                  <a:solidFill>
                                    <a:schemeClr val="tx1"/>
                                  </a:solidFill>
                                  <a:latin typeface="Cambria Math" panose="02040503050406030204" pitchFamily="18" charset="0"/>
                                </a:rPr>
                              </m:ctrlPr>
                            </m:sSubPr>
                            <m:e>
                              <m:r>
                                <a:rPr lang="en-US" altLang="zh-TW" sz="1600" i="1">
                                  <a:solidFill>
                                    <a:schemeClr val="tx1"/>
                                  </a:solidFill>
                                  <a:latin typeface="Cambria Math" panose="02040503050406030204" pitchFamily="18" charset="0"/>
                                </a:rPr>
                                <m:t>𝑆</m:t>
                              </m:r>
                            </m:e>
                            <m:sub>
                              <m:r>
                                <a:rPr lang="en-US" altLang="zh-TW" sz="1600" b="0" i="1" smtClean="0">
                                  <a:solidFill>
                                    <a:schemeClr val="tx1"/>
                                  </a:solidFill>
                                  <a:latin typeface="Cambria Math" panose="02040503050406030204" pitchFamily="18" charset="0"/>
                                </a:rPr>
                                <m:t>𝑘</m:t>
                              </m:r>
                            </m:sub>
                          </m:sSub>
                        </m:sup>
                        <m:e>
                          <m:nary>
                            <m:naryPr>
                              <m:chr m:val="∑"/>
                              <m:ctrlPr>
                                <a:rPr lang="en-US" altLang="zh-TW" sz="1600" i="1">
                                  <a:solidFill>
                                    <a:schemeClr val="tx1"/>
                                  </a:solidFill>
                                  <a:latin typeface="Cambria Math" panose="02040503050406030204" pitchFamily="18" charset="0"/>
                                </a:rPr>
                              </m:ctrlPr>
                            </m:naryPr>
                            <m:sub>
                              <m:r>
                                <m:rPr>
                                  <m:brk m:alnAt="23"/>
                                </m:rPr>
                                <a:rPr lang="en-US" altLang="zh-TW" sz="1600" i="1">
                                  <a:solidFill>
                                    <a:schemeClr val="tx1"/>
                                  </a:solidFill>
                                  <a:latin typeface="Cambria Math" panose="02040503050406030204" pitchFamily="18" charset="0"/>
                                </a:rPr>
                                <m:t>𝑑</m:t>
                              </m:r>
                              <m:r>
                                <a:rPr lang="en-US" altLang="zh-TW" sz="1600" i="1">
                                  <a:solidFill>
                                    <a:schemeClr val="tx1"/>
                                  </a:solidFill>
                                  <a:latin typeface="Cambria Math" panose="02040503050406030204" pitchFamily="18" charset="0"/>
                                </a:rPr>
                                <m:t>=1</m:t>
                              </m:r>
                            </m:sub>
                            <m:sup>
                              <m:r>
                                <a:rPr lang="en-US" altLang="zh-TW" sz="1600" i="1">
                                  <a:solidFill>
                                    <a:schemeClr val="tx1"/>
                                  </a:solidFill>
                                  <a:latin typeface="Cambria Math" panose="02040503050406030204" pitchFamily="18" charset="0"/>
                                </a:rPr>
                                <m:t>𝐷</m:t>
                              </m:r>
                            </m:sup>
                            <m:e>
                              <m:sSup>
                                <m:sSupPr>
                                  <m:ctrlPr>
                                    <a:rPr lang="en-US" altLang="zh-TW" sz="1600" i="1">
                                      <a:solidFill>
                                        <a:schemeClr val="tx1"/>
                                      </a:solidFill>
                                      <a:latin typeface="Cambria Math" panose="02040503050406030204" pitchFamily="18" charset="0"/>
                                    </a:rPr>
                                  </m:ctrlPr>
                                </m:sSupPr>
                                <m:e>
                                  <m:d>
                                    <m:dPr>
                                      <m:ctrlPr>
                                        <a:rPr lang="en-US" altLang="zh-TW" sz="1600" i="1">
                                          <a:solidFill>
                                            <a:schemeClr val="tx1"/>
                                          </a:solidFill>
                                          <a:latin typeface="Cambria Math" panose="02040503050406030204" pitchFamily="18" charset="0"/>
                                        </a:rPr>
                                      </m:ctrlPr>
                                    </m:dPr>
                                    <m:e>
                                      <m:sSubSup>
                                        <m:sSubSupPr>
                                          <m:ctrlPr>
                                            <a:rPr lang="en-US" altLang="zh-TW" sz="1600" i="1">
                                              <a:solidFill>
                                                <a:schemeClr val="tx1"/>
                                              </a:solidFill>
                                              <a:latin typeface="Cambria Math" panose="02040503050406030204" pitchFamily="18" charset="0"/>
                                            </a:rPr>
                                          </m:ctrlPr>
                                        </m:sSubSupPr>
                                        <m:e>
                                          <m:r>
                                            <a:rPr lang="en-US" altLang="zh-TW" sz="1600" i="1">
                                              <a:solidFill>
                                                <a:schemeClr val="tx1"/>
                                              </a:solidFill>
                                              <a:latin typeface="Cambria Math" panose="02040503050406030204" pitchFamily="18" charset="0"/>
                                            </a:rPr>
                                            <m:t>h</m:t>
                                          </m:r>
                                        </m:e>
                                        <m:sub>
                                          <m:r>
                                            <a:rPr lang="en-US" altLang="zh-TW" sz="1600" i="1">
                                              <a:solidFill>
                                                <a:schemeClr val="tx1"/>
                                              </a:solidFill>
                                              <a:latin typeface="Cambria Math" panose="02040503050406030204" pitchFamily="18" charset="0"/>
                                            </a:rPr>
                                            <m:t>𝑡</m:t>
                                          </m:r>
                                          <m:r>
                                            <a:rPr lang="en-US" altLang="zh-TW" sz="1600" b="0" i="1" smtClean="0">
                                              <a:solidFill>
                                                <a:schemeClr val="tx1"/>
                                              </a:solidFill>
                                              <a:latin typeface="Cambria Math" panose="02040503050406030204" pitchFamily="18" charset="0"/>
                                            </a:rPr>
                                            <m:t>,</m:t>
                                          </m:r>
                                          <m:r>
                                            <a:rPr lang="en-US" altLang="zh-TW" sz="1600" b="0" i="1" smtClean="0">
                                              <a:solidFill>
                                                <a:schemeClr val="tx1"/>
                                              </a:solidFill>
                                              <a:latin typeface="Cambria Math" panose="02040503050406030204" pitchFamily="18" charset="0"/>
                                            </a:rPr>
                                            <m:t>𝑖</m:t>
                                          </m:r>
                                          <m:r>
                                            <a:rPr lang="en-US" altLang="zh-TW" sz="1600" i="1">
                                              <a:solidFill>
                                                <a:schemeClr val="tx1"/>
                                              </a:solidFill>
                                              <a:latin typeface="Cambria Math" panose="02040503050406030204" pitchFamily="18" charset="0"/>
                                            </a:rPr>
                                            <m:t>,</m:t>
                                          </m:r>
                                          <m:r>
                                            <a:rPr lang="en-US" altLang="zh-TW" sz="1600" i="1">
                                              <a:solidFill>
                                                <a:schemeClr val="tx1"/>
                                              </a:solidFill>
                                              <a:latin typeface="Cambria Math" panose="02040503050406030204" pitchFamily="18" charset="0"/>
                                            </a:rPr>
                                            <m:t>𝑑</m:t>
                                          </m:r>
                                        </m:sub>
                                        <m:sup>
                                          <m:r>
                                            <a:rPr lang="en-US" altLang="zh-TW" sz="1600" b="0" i="1" smtClean="0">
                                              <a:solidFill>
                                                <a:schemeClr val="tx1"/>
                                              </a:solidFill>
                                              <a:latin typeface="Cambria Math" panose="02040503050406030204" pitchFamily="18" charset="0"/>
                                            </a:rPr>
                                            <m:t>(</m:t>
                                          </m:r>
                                          <m:r>
                                            <a:rPr lang="en-US" altLang="zh-TW" sz="1600" b="0" i="1" smtClean="0">
                                              <a:solidFill>
                                                <a:schemeClr val="tx1"/>
                                              </a:solidFill>
                                              <a:latin typeface="Cambria Math" panose="02040503050406030204" pitchFamily="18" charset="0"/>
                                            </a:rPr>
                                            <m:t>𝑘</m:t>
                                          </m:r>
                                          <m:r>
                                            <a:rPr lang="en-US" altLang="zh-TW" sz="1600" b="0" i="1" smtClean="0">
                                              <a:solidFill>
                                                <a:schemeClr val="tx1"/>
                                              </a:solidFill>
                                              <a:latin typeface="Cambria Math" panose="02040503050406030204" pitchFamily="18" charset="0"/>
                                            </a:rPr>
                                            <m:t>)</m:t>
                                          </m:r>
                                        </m:sup>
                                      </m:sSubSup>
                                      <m:r>
                                        <a:rPr lang="en-US" altLang="zh-TW" sz="1600" i="1">
                                          <a:solidFill>
                                            <a:schemeClr val="tx1"/>
                                          </a:solidFill>
                                          <a:latin typeface="Cambria Math" panose="02040503050406030204" pitchFamily="18" charset="0"/>
                                        </a:rPr>
                                        <m:t>−</m:t>
                                      </m:r>
                                      <m:sSubSup>
                                        <m:sSubSupPr>
                                          <m:ctrlPr>
                                            <a:rPr lang="en-US" altLang="zh-TW" sz="1600" i="1">
                                              <a:solidFill>
                                                <a:schemeClr val="tx1"/>
                                              </a:solidFill>
                                              <a:latin typeface="Cambria Math" panose="02040503050406030204" pitchFamily="18" charset="0"/>
                                            </a:rPr>
                                          </m:ctrlPr>
                                        </m:sSubSupPr>
                                        <m:e>
                                          <m:r>
                                            <a:rPr lang="en-US" altLang="zh-TW" sz="1600" i="1">
                                              <a:solidFill>
                                                <a:schemeClr val="tx1"/>
                                              </a:solidFill>
                                              <a:latin typeface="Cambria Math" panose="02040503050406030204" pitchFamily="18" charset="0"/>
                                            </a:rPr>
                                            <m:t>h</m:t>
                                          </m:r>
                                        </m:e>
                                        <m:sub>
                                          <m:r>
                                            <a:rPr lang="en-US" altLang="zh-TW" sz="1600" b="0" i="1" smtClean="0">
                                              <a:solidFill>
                                                <a:schemeClr val="tx1"/>
                                              </a:solidFill>
                                              <a:latin typeface="Cambria Math" panose="02040503050406030204" pitchFamily="18" charset="0"/>
                                            </a:rPr>
                                            <m:t>𝑠</m:t>
                                          </m:r>
                                          <m:r>
                                            <a:rPr lang="en-US" altLang="zh-TW" sz="1600" i="1">
                                              <a:solidFill>
                                                <a:schemeClr val="tx1"/>
                                              </a:solidFill>
                                              <a:latin typeface="Cambria Math" panose="02040503050406030204" pitchFamily="18" charset="0"/>
                                            </a:rPr>
                                            <m:t>,</m:t>
                                          </m:r>
                                          <m:r>
                                            <a:rPr lang="en-US" altLang="zh-TW" sz="1600" b="0" i="1" smtClean="0">
                                              <a:solidFill>
                                                <a:schemeClr val="tx1"/>
                                              </a:solidFill>
                                              <a:latin typeface="Cambria Math" panose="02040503050406030204" pitchFamily="18" charset="0"/>
                                            </a:rPr>
                                            <m:t>𝑖</m:t>
                                          </m:r>
                                          <m:r>
                                            <a:rPr lang="en-US" altLang="zh-TW" sz="1600" b="0" i="1" smtClean="0">
                                              <a:solidFill>
                                                <a:schemeClr val="tx1"/>
                                              </a:solidFill>
                                              <a:latin typeface="Cambria Math" panose="02040503050406030204" pitchFamily="18" charset="0"/>
                                            </a:rPr>
                                            <m:t>,</m:t>
                                          </m:r>
                                          <m:r>
                                            <a:rPr lang="en-US" altLang="zh-TW" sz="1600" i="1">
                                              <a:solidFill>
                                                <a:schemeClr val="tx1"/>
                                              </a:solidFill>
                                              <a:latin typeface="Cambria Math" panose="02040503050406030204" pitchFamily="18" charset="0"/>
                                            </a:rPr>
                                            <m:t>𝑑</m:t>
                                          </m:r>
                                        </m:sub>
                                        <m:sup>
                                          <m:r>
                                            <a:rPr lang="en-US" altLang="zh-TW" sz="1600" b="0" i="1" smtClean="0">
                                              <a:solidFill>
                                                <a:schemeClr val="tx1"/>
                                              </a:solidFill>
                                              <a:latin typeface="Cambria Math" panose="02040503050406030204" pitchFamily="18" charset="0"/>
                                            </a:rPr>
                                            <m:t>(</m:t>
                                          </m:r>
                                          <m:r>
                                            <a:rPr lang="en-US" altLang="zh-TW" sz="1600" b="0" i="1" smtClean="0">
                                              <a:solidFill>
                                                <a:schemeClr val="tx1"/>
                                              </a:solidFill>
                                              <a:latin typeface="Cambria Math" panose="02040503050406030204" pitchFamily="18" charset="0"/>
                                            </a:rPr>
                                            <m:t>𝑘</m:t>
                                          </m:r>
                                          <m:r>
                                            <a:rPr lang="en-US" altLang="zh-TW" sz="1600" b="0" i="1" smtClean="0">
                                              <a:solidFill>
                                                <a:schemeClr val="tx1"/>
                                              </a:solidFill>
                                              <a:latin typeface="Cambria Math" panose="02040503050406030204" pitchFamily="18" charset="0"/>
                                            </a:rPr>
                                            <m:t>)</m:t>
                                          </m:r>
                                        </m:sup>
                                      </m:sSubSup>
                                    </m:e>
                                  </m:d>
                                </m:e>
                                <m:sup>
                                  <m:r>
                                    <a:rPr lang="en-US" altLang="zh-TW" sz="1600" i="1">
                                      <a:solidFill>
                                        <a:schemeClr val="tx1"/>
                                      </a:solidFill>
                                      <a:latin typeface="Cambria Math" panose="02040503050406030204" pitchFamily="18" charset="0"/>
                                    </a:rPr>
                                    <m:t>2</m:t>
                                  </m:r>
                                </m:sup>
                              </m:sSup>
                            </m:e>
                          </m:nary>
                        </m:e>
                      </m:nary>
                    </m:oMath>
                  </m:oMathPara>
                </a14:m>
                <a:endParaRPr lang="zh-TW" altLang="en-US" sz="1600" dirty="0">
                  <a:solidFill>
                    <a:schemeClr val="tx1"/>
                  </a:solidFill>
                </a:endParaRPr>
              </a:p>
            </p:txBody>
          </p:sp>
        </mc:Choice>
        <mc:Fallback xmlns="">
          <p:sp>
            <p:nvSpPr>
              <p:cNvPr id="14" name="矩形: 圓角 13">
                <a:extLst>
                  <a:ext uri="{FF2B5EF4-FFF2-40B4-BE49-F238E27FC236}">
                    <a16:creationId xmlns:a16="http://schemas.microsoft.com/office/drawing/2014/main" id="{51436AB8-F252-92F0-8581-EE80BBDA8C21}"/>
                  </a:ext>
                </a:extLst>
              </p:cNvPr>
              <p:cNvSpPr>
                <a:spLocks noRot="1" noChangeAspect="1" noMove="1" noResize="1" noEditPoints="1" noAdjustHandles="1" noChangeArrowheads="1" noChangeShapeType="1" noTextEdit="1"/>
              </p:cNvSpPr>
              <p:nvPr/>
            </p:nvSpPr>
            <p:spPr>
              <a:xfrm>
                <a:off x="3301515" y="1508760"/>
                <a:ext cx="3782865" cy="1641415"/>
              </a:xfrm>
              <a:prstGeom prst="roundRect">
                <a:avLst/>
              </a:prstGeom>
              <a:blipFill>
                <a:blip r:embed="rId5"/>
                <a:stretch>
                  <a:fillRect/>
                </a:stretch>
              </a:blipFill>
              <a:ln w="19050">
                <a:solidFill>
                  <a:schemeClr val="accent1"/>
                </a:solidFill>
              </a:ln>
            </p:spPr>
            <p:txBody>
              <a:bodyPr/>
              <a:lstStyle/>
              <a:p>
                <a:r>
                  <a:rPr lang="zh-TW" altLang="en-US">
                    <a:noFill/>
                  </a:rPr>
                  <a:t> </a:t>
                </a:r>
              </a:p>
            </p:txBody>
          </p:sp>
        </mc:Fallback>
      </mc:AlternateContent>
      <p:cxnSp>
        <p:nvCxnSpPr>
          <p:cNvPr id="15" name="直線單箭頭接點 14">
            <a:extLst>
              <a:ext uri="{FF2B5EF4-FFF2-40B4-BE49-F238E27FC236}">
                <a16:creationId xmlns:a16="http://schemas.microsoft.com/office/drawing/2014/main" id="{63D84166-2218-1401-C1DF-6ECBE34F62C6}"/>
              </a:ext>
            </a:extLst>
          </p:cNvPr>
          <p:cNvCxnSpPr>
            <a:cxnSpLocks/>
            <a:stCxn id="12" idx="3"/>
          </p:cNvCxnSpPr>
          <p:nvPr/>
        </p:nvCxnSpPr>
        <p:spPr>
          <a:xfrm>
            <a:off x="2778710" y="1883598"/>
            <a:ext cx="522805" cy="0"/>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cxnSp>
        <p:nvCxnSpPr>
          <p:cNvPr id="16" name="直線單箭頭接點 15">
            <a:extLst>
              <a:ext uri="{FF2B5EF4-FFF2-40B4-BE49-F238E27FC236}">
                <a16:creationId xmlns:a16="http://schemas.microsoft.com/office/drawing/2014/main" id="{81D7C412-98DB-2623-3C77-04A4CAB611E4}"/>
              </a:ext>
            </a:extLst>
          </p:cNvPr>
          <p:cNvCxnSpPr>
            <a:cxnSpLocks/>
          </p:cNvCxnSpPr>
          <p:nvPr/>
        </p:nvCxnSpPr>
        <p:spPr>
          <a:xfrm>
            <a:off x="2778710" y="2763967"/>
            <a:ext cx="522805" cy="0"/>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 name="投影片編號版面配置區 3">
            <a:extLst>
              <a:ext uri="{FF2B5EF4-FFF2-40B4-BE49-F238E27FC236}">
                <a16:creationId xmlns:a16="http://schemas.microsoft.com/office/drawing/2014/main" id="{4029E285-5C11-3673-8EBB-687CDC918859}"/>
              </a:ext>
            </a:extLst>
          </p:cNvPr>
          <p:cNvSpPr>
            <a:spLocks noGrp="1"/>
          </p:cNvSpPr>
          <p:nvPr>
            <p:ph type="sldNum" sz="quarter" idx="12"/>
          </p:nvPr>
        </p:nvSpPr>
        <p:spPr>
          <a:xfrm>
            <a:off x="9448800" y="6610795"/>
            <a:ext cx="2743200" cy="246888"/>
          </a:xfrm>
        </p:spPr>
        <p:txBody>
          <a:bodyPr/>
          <a:lstStyle/>
          <a:p>
            <a:fld id="{A98399F2-4B7C-4808-8B27-A13C76E6A9FD}" type="slidenum">
              <a:rPr lang="zh-TW" altLang="en-US" smtClean="0">
                <a:solidFill>
                  <a:schemeClr val="bg2"/>
                </a:solidFill>
              </a:rPr>
              <a:t>15</a:t>
            </a:fld>
            <a:endParaRPr lang="zh-TW" altLang="en-US" dirty="0">
              <a:solidFill>
                <a:schemeClr val="bg2"/>
              </a:solidFill>
            </a:endParaRPr>
          </a:p>
        </p:txBody>
      </p:sp>
    </p:spTree>
    <p:extLst>
      <p:ext uri="{BB962C8B-B14F-4D97-AF65-F5344CB8AC3E}">
        <p14:creationId xmlns:p14="http://schemas.microsoft.com/office/powerpoint/2010/main" val="1670309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17C9F098-DE57-3A42-CA10-9CE52E003229}"/>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292AD38D-E914-B210-DA90-FA0657E1DA38}"/>
              </a:ext>
            </a:extLst>
          </p:cNvPr>
          <p:cNvSpPr>
            <a:spLocks noGrp="1"/>
          </p:cNvSpPr>
          <p:nvPr>
            <p:ph type="sldNum" sz="quarter" idx="12"/>
          </p:nvPr>
        </p:nvSpPr>
        <p:spPr>
          <a:xfrm>
            <a:off x="9448495" y="6611112"/>
            <a:ext cx="2743200" cy="251844"/>
          </a:xfrm>
        </p:spPr>
        <p:txBody>
          <a:bodyPr/>
          <a:lstStyle/>
          <a:p>
            <a:fld id="{A98399F2-4B7C-4808-8B27-A13C76E6A9FD}" type="slidenum">
              <a:rPr lang="zh-TW" altLang="en-US" smtClean="0">
                <a:solidFill>
                  <a:schemeClr val="bg1"/>
                </a:solidFill>
              </a:rPr>
              <a:t>16</a:t>
            </a:fld>
            <a:endParaRPr lang="zh-TW" altLang="en-US" dirty="0">
              <a:solidFill>
                <a:schemeClr val="bg1"/>
              </a:solidFill>
            </a:endParaRPr>
          </a:p>
        </p:txBody>
      </p:sp>
      <p:sp>
        <p:nvSpPr>
          <p:cNvPr id="7" name="Text 2">
            <a:extLst>
              <a:ext uri="{FF2B5EF4-FFF2-40B4-BE49-F238E27FC236}">
                <a16:creationId xmlns:a16="http://schemas.microsoft.com/office/drawing/2014/main" id="{290D5411-92F0-3E9B-36F9-6AC525126917}"/>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 3: Proposed method</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237EA2C1-24DB-8A86-2095-D482CE46196B}"/>
              </a:ext>
            </a:extLst>
          </p:cNvPr>
          <p:cNvSpPr/>
          <p:nvPr/>
        </p:nvSpPr>
        <p:spPr>
          <a:xfrm>
            <a:off x="347472" y="457200"/>
            <a:ext cx="7955280" cy="228600"/>
          </a:xfrm>
          <a:prstGeom prst="rect">
            <a:avLst/>
          </a:prstGeom>
          <a:noFill/>
          <a:ln/>
        </p:spPr>
        <p:txBody>
          <a:bodyPr wrap="square" lIns="0" tIns="0" rIns="0" bIns="0" rtlCol="0" anchor="ctr"/>
          <a:lstStyle/>
          <a:p>
            <a:pPr marL="0" indent="0">
              <a:buNone/>
            </a:pP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Method Overview</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86BAD6AB-2481-BA5C-2827-7ED3AEAB2E28}"/>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0" name="Text 6">
            <a:extLst>
              <a:ext uri="{FF2B5EF4-FFF2-40B4-BE49-F238E27FC236}">
                <a16:creationId xmlns:a16="http://schemas.microsoft.com/office/drawing/2014/main" id="{DF026A3A-B314-B966-B845-2DEF84AD9331}"/>
              </a:ext>
            </a:extLst>
          </p:cNvPr>
          <p:cNvSpPr/>
          <p:nvPr/>
        </p:nvSpPr>
        <p:spPr>
          <a:xfrm>
            <a:off x="502920" y="914399"/>
            <a:ext cx="11064240" cy="498037"/>
          </a:xfrm>
          <a:prstGeom prst="rect">
            <a:avLst/>
          </a:prstGeom>
          <a:noFill/>
          <a:ln/>
        </p:spPr>
        <p:txBody>
          <a:bodyPr wrap="square" lIns="0" tIns="0" rIns="0" bIns="0" rtlCol="0" anchor="ctr"/>
          <a:lstStyle/>
          <a:p>
            <a:r>
              <a:rPr lang="en-US" altLang="zh-TW" sz="1400" b="1" dirty="0">
                <a:latin typeface="微軟正黑體" panose="020B0604030504040204" pitchFamily="34" charset="-120"/>
                <a:ea typeface="微軟正黑體" panose="020B0604030504040204" pitchFamily="34" charset="-120"/>
              </a:rPr>
              <a:t>This study combines MTP CE loss, SDC loss, and LCM loss, keeping the teacher head and student heads consistent at both the probability distribution and latent representation levels.</a:t>
            </a:r>
          </a:p>
        </p:txBody>
      </p:sp>
      <p:grpSp>
        <p:nvGrpSpPr>
          <p:cNvPr id="11" name="群組 10">
            <a:extLst>
              <a:ext uri="{FF2B5EF4-FFF2-40B4-BE49-F238E27FC236}">
                <a16:creationId xmlns:a16="http://schemas.microsoft.com/office/drawing/2014/main" id="{900054B5-782B-0391-DD00-B726944066FC}"/>
              </a:ext>
            </a:extLst>
          </p:cNvPr>
          <p:cNvGrpSpPr/>
          <p:nvPr/>
        </p:nvGrpSpPr>
        <p:grpSpPr>
          <a:xfrm>
            <a:off x="8147842" y="1303478"/>
            <a:ext cx="4204444" cy="2180212"/>
            <a:chOff x="8039317" y="1029799"/>
            <a:chExt cx="4204444" cy="2180212"/>
          </a:xfrm>
        </p:grpSpPr>
        <p:grpSp>
          <p:nvGrpSpPr>
            <p:cNvPr id="12" name="群組 11">
              <a:extLst>
                <a:ext uri="{FF2B5EF4-FFF2-40B4-BE49-F238E27FC236}">
                  <a16:creationId xmlns:a16="http://schemas.microsoft.com/office/drawing/2014/main" id="{1A52BF00-3821-3994-2787-4FBD4EC13920}"/>
                </a:ext>
              </a:extLst>
            </p:cNvPr>
            <p:cNvGrpSpPr/>
            <p:nvPr/>
          </p:nvGrpSpPr>
          <p:grpSpPr>
            <a:xfrm>
              <a:off x="8039317" y="1029799"/>
              <a:ext cx="4204444" cy="2180212"/>
              <a:chOff x="4627273" y="1343142"/>
              <a:chExt cx="4204444" cy="1452328"/>
            </a:xfrm>
          </p:grpSpPr>
          <p:sp>
            <p:nvSpPr>
              <p:cNvPr id="15" name="文字方塊 14">
                <a:extLst>
                  <a:ext uri="{FF2B5EF4-FFF2-40B4-BE49-F238E27FC236}">
                    <a16:creationId xmlns:a16="http://schemas.microsoft.com/office/drawing/2014/main" id="{EE6B8F08-19D0-531E-B08A-98C871885590}"/>
                  </a:ext>
                </a:extLst>
              </p:cNvPr>
              <p:cNvSpPr txBox="1"/>
              <p:nvPr/>
            </p:nvSpPr>
            <p:spPr>
              <a:xfrm>
                <a:off x="4627273" y="1343142"/>
                <a:ext cx="4204444" cy="145232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tLang="zh-TW" sz="1400" dirty="0">
                    <a:latin typeface="微軟正黑體" panose="020B0604030504040204" pitchFamily="34" charset="-120"/>
                    <a:ea typeface="微軟正黑體" panose="020B0604030504040204" pitchFamily="34" charset="-120"/>
                  </a:rPr>
                  <a:t>Forward</a:t>
                </a:r>
              </a:p>
              <a:p>
                <a:pPr marL="285750" indent="-285750">
                  <a:lnSpc>
                    <a:spcPct val="200000"/>
                  </a:lnSpc>
                  <a:buFont typeface="Arial" panose="020B0604020202020204" pitchFamily="34" charset="0"/>
                  <a:buChar char="•"/>
                </a:pPr>
                <a:r>
                  <a:rPr lang="en-US" altLang="zh-TW" sz="1400" dirty="0">
                    <a:latin typeface="微軟正黑體" panose="020B0604030504040204" pitchFamily="34" charset="-120"/>
                    <a:ea typeface="微軟正黑體" panose="020B0604030504040204" pitchFamily="34" charset="-120"/>
                  </a:rPr>
                  <a:t>Backward</a:t>
                </a:r>
              </a:p>
              <a:p>
                <a:pPr marL="285750" indent="-285750">
                  <a:lnSpc>
                    <a:spcPct val="200000"/>
                  </a:lnSpc>
                  <a:buFont typeface="Arial" panose="020B0604020202020204" pitchFamily="34" charset="0"/>
                  <a:buChar char="•"/>
                </a:pPr>
                <a:r>
                  <a:rPr lang="en-US" altLang="zh-TW" sz="1400" dirty="0">
                    <a:latin typeface="微軟正黑體" panose="020B0604030504040204" pitchFamily="34" charset="-120"/>
                    <a:ea typeface="微軟正黑體" panose="020B0604030504040204" pitchFamily="34" charset="-120"/>
                  </a:rPr>
                  <a:t>Teacher Probability / Latent Representation</a:t>
                </a:r>
              </a:p>
              <a:p>
                <a:pPr marL="285750" indent="-285750">
                  <a:lnSpc>
                    <a:spcPct val="200000"/>
                  </a:lnSpc>
                  <a:buFont typeface="Arial" panose="020B0604020202020204" pitchFamily="34" charset="0"/>
                  <a:buChar char="•"/>
                </a:pPr>
                <a:r>
                  <a:rPr lang="en-US" altLang="zh-TW" sz="1400" dirty="0">
                    <a:latin typeface="微軟正黑體" panose="020B0604030504040204" pitchFamily="34" charset="-120"/>
                    <a:ea typeface="微軟正黑體" panose="020B0604030504040204" pitchFamily="34" charset="-120"/>
                  </a:rPr>
                  <a:t>Student Latent Representation</a:t>
                </a:r>
              </a:p>
              <a:p>
                <a:pPr marL="285750" indent="-285750">
                  <a:lnSpc>
                    <a:spcPct val="200000"/>
                  </a:lnSpc>
                  <a:buFont typeface="Arial" panose="020B0604020202020204" pitchFamily="34" charset="0"/>
                  <a:buChar char="•"/>
                </a:pPr>
                <a:r>
                  <a:rPr lang="en-US" altLang="zh-TW" sz="1400" dirty="0">
                    <a:latin typeface="微軟正黑體" panose="020B0604030504040204" pitchFamily="34" charset="-120"/>
                    <a:ea typeface="微軟正黑體" panose="020B0604030504040204" pitchFamily="34" charset="-120"/>
                  </a:rPr>
                  <a:t>Student Probability Distribution</a:t>
                </a:r>
              </a:p>
            </p:txBody>
          </p:sp>
          <p:sp>
            <p:nvSpPr>
              <p:cNvPr id="16" name="箭號: 向上 15">
                <a:extLst>
                  <a:ext uri="{FF2B5EF4-FFF2-40B4-BE49-F238E27FC236}">
                    <a16:creationId xmlns:a16="http://schemas.microsoft.com/office/drawing/2014/main" id="{1A089C36-FE2B-BE41-7BEF-4E3BE8ACF6AA}"/>
                  </a:ext>
                </a:extLst>
              </p:cNvPr>
              <p:cNvSpPr/>
              <p:nvPr/>
            </p:nvSpPr>
            <p:spPr>
              <a:xfrm>
                <a:off x="4655611" y="1387211"/>
                <a:ext cx="215809" cy="239811"/>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7" name="箭號: 向上 16">
                <a:extLst>
                  <a:ext uri="{FF2B5EF4-FFF2-40B4-BE49-F238E27FC236}">
                    <a16:creationId xmlns:a16="http://schemas.microsoft.com/office/drawing/2014/main" id="{70AD19A1-857D-CC17-BB70-B9FEF815E57B}"/>
                  </a:ext>
                </a:extLst>
              </p:cNvPr>
              <p:cNvSpPr/>
              <p:nvPr/>
            </p:nvSpPr>
            <p:spPr>
              <a:xfrm>
                <a:off x="4655611" y="1673937"/>
                <a:ext cx="215809" cy="239811"/>
              </a:xfrm>
              <a:prstGeom prs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sp>
          <p:nvSpPr>
            <p:cNvPr id="13" name="箭號: 向上 12">
              <a:extLst>
                <a:ext uri="{FF2B5EF4-FFF2-40B4-BE49-F238E27FC236}">
                  <a16:creationId xmlns:a16="http://schemas.microsoft.com/office/drawing/2014/main" id="{035184CF-F636-7677-D1A7-F06A0C8C036C}"/>
                </a:ext>
              </a:extLst>
            </p:cNvPr>
            <p:cNvSpPr/>
            <p:nvPr/>
          </p:nvSpPr>
          <p:spPr>
            <a:xfrm>
              <a:off x="8067655" y="1966546"/>
              <a:ext cx="215809" cy="360000"/>
            </a:xfrm>
            <a:prstGeom prst="upArrow">
              <a:avLst/>
            </a:prstGeom>
            <a:solidFill>
              <a:srgbClr val="FF000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solidFill>
                  <a:srgbClr val="FF0000"/>
                </a:solidFill>
                <a:latin typeface="微軟正黑體" panose="020B0604030504040204" pitchFamily="34" charset="-120"/>
                <a:ea typeface="微軟正黑體" panose="020B0604030504040204" pitchFamily="34" charset="-120"/>
              </a:endParaRPr>
            </a:p>
          </p:txBody>
        </p:sp>
        <p:sp>
          <p:nvSpPr>
            <p:cNvPr id="14" name="箭號: 向上 13">
              <a:extLst>
                <a:ext uri="{FF2B5EF4-FFF2-40B4-BE49-F238E27FC236}">
                  <a16:creationId xmlns:a16="http://schemas.microsoft.com/office/drawing/2014/main" id="{19F64B9C-B725-CD0D-1A09-EF2FA9C964B7}"/>
                </a:ext>
              </a:extLst>
            </p:cNvPr>
            <p:cNvSpPr/>
            <p:nvPr/>
          </p:nvSpPr>
          <p:spPr>
            <a:xfrm>
              <a:off x="8069786" y="2398459"/>
              <a:ext cx="215809" cy="360000"/>
            </a:xfrm>
            <a:prstGeom prst="upArrow">
              <a:avLst/>
            </a:prstGeom>
            <a:solidFill>
              <a:srgbClr val="00B05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solidFill>
                  <a:srgbClr val="FF0000"/>
                </a:solidFill>
                <a:latin typeface="微軟正黑體" panose="020B0604030504040204" pitchFamily="34" charset="-120"/>
                <a:ea typeface="微軟正黑體" panose="020B0604030504040204" pitchFamily="34" charset="-120"/>
              </a:endParaRPr>
            </a:p>
          </p:txBody>
        </p:sp>
      </p:grpSp>
      <p:grpSp>
        <p:nvGrpSpPr>
          <p:cNvPr id="18" name="群組 17">
            <a:extLst>
              <a:ext uri="{FF2B5EF4-FFF2-40B4-BE49-F238E27FC236}">
                <a16:creationId xmlns:a16="http://schemas.microsoft.com/office/drawing/2014/main" id="{ABEDE5F4-CF9C-7C53-F2E8-59EA9F61C57F}"/>
              </a:ext>
            </a:extLst>
          </p:cNvPr>
          <p:cNvGrpSpPr/>
          <p:nvPr/>
        </p:nvGrpSpPr>
        <p:grpSpPr>
          <a:xfrm>
            <a:off x="57720" y="1359977"/>
            <a:ext cx="7955280" cy="4523313"/>
            <a:chOff x="605936" y="1262331"/>
            <a:chExt cx="10121382" cy="4523313"/>
          </a:xfrm>
        </p:grpSpPr>
        <p:sp>
          <p:nvSpPr>
            <p:cNvPr id="19" name="矩形 18">
              <a:extLst>
                <a:ext uri="{FF2B5EF4-FFF2-40B4-BE49-F238E27FC236}">
                  <a16:creationId xmlns:a16="http://schemas.microsoft.com/office/drawing/2014/main" id="{7B3D166D-013A-8D43-0247-96F9FE9B323B}"/>
                </a:ext>
              </a:extLst>
            </p:cNvPr>
            <p:cNvSpPr/>
            <p:nvPr/>
          </p:nvSpPr>
          <p:spPr>
            <a:xfrm>
              <a:off x="1319365" y="3120056"/>
              <a:ext cx="9036000" cy="7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nvGrpSpPr>
            <p:cNvPr id="20" name="群組 19">
              <a:extLst>
                <a:ext uri="{FF2B5EF4-FFF2-40B4-BE49-F238E27FC236}">
                  <a16:creationId xmlns:a16="http://schemas.microsoft.com/office/drawing/2014/main" id="{1E842CD2-BD40-510E-9020-F1DC2816F00D}"/>
                </a:ext>
              </a:extLst>
            </p:cNvPr>
            <p:cNvGrpSpPr/>
            <p:nvPr/>
          </p:nvGrpSpPr>
          <p:grpSpPr>
            <a:xfrm>
              <a:off x="3318716" y="2926550"/>
              <a:ext cx="613876" cy="468000"/>
              <a:chOff x="2136461" y="3605615"/>
              <a:chExt cx="613876" cy="468000"/>
            </a:xfrm>
          </p:grpSpPr>
          <p:sp>
            <p:nvSpPr>
              <p:cNvPr id="84" name="箭號: 向上 83">
                <a:extLst>
                  <a:ext uri="{FF2B5EF4-FFF2-40B4-BE49-F238E27FC236}">
                    <a16:creationId xmlns:a16="http://schemas.microsoft.com/office/drawing/2014/main" id="{A173EDCC-DE15-4B9D-BBE1-B5B198BFB8F9}"/>
                  </a:ext>
                </a:extLst>
              </p:cNvPr>
              <p:cNvSpPr/>
              <p:nvPr/>
            </p:nvSpPr>
            <p:spPr>
              <a:xfrm>
                <a:off x="2136461" y="3605615"/>
                <a:ext cx="144000" cy="468000"/>
              </a:xfrm>
              <a:prstGeom prst="upArrow">
                <a:avLst/>
              </a:prstGeom>
              <a:solidFill>
                <a:srgbClr val="00B05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85" name="箭號: 向上 84">
                <a:extLst>
                  <a:ext uri="{FF2B5EF4-FFF2-40B4-BE49-F238E27FC236}">
                    <a16:creationId xmlns:a16="http://schemas.microsoft.com/office/drawing/2014/main" id="{44AB310F-56A1-8F94-4C59-7887EE6BF6BE}"/>
                  </a:ext>
                </a:extLst>
              </p:cNvPr>
              <p:cNvSpPr/>
              <p:nvPr/>
            </p:nvSpPr>
            <p:spPr>
              <a:xfrm>
                <a:off x="2606337" y="3605615"/>
                <a:ext cx="144000" cy="234000"/>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sp>
          <p:nvSpPr>
            <p:cNvPr id="21" name="箭號: 向上 20">
              <a:extLst>
                <a:ext uri="{FF2B5EF4-FFF2-40B4-BE49-F238E27FC236}">
                  <a16:creationId xmlns:a16="http://schemas.microsoft.com/office/drawing/2014/main" id="{63C84C60-E543-0998-396B-43BBE6A17344}"/>
                </a:ext>
              </a:extLst>
            </p:cNvPr>
            <p:cNvSpPr/>
            <p:nvPr/>
          </p:nvSpPr>
          <p:spPr>
            <a:xfrm>
              <a:off x="2313345" y="2926550"/>
              <a:ext cx="144000" cy="468000"/>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22" name="群組 21">
              <a:extLst>
                <a:ext uri="{FF2B5EF4-FFF2-40B4-BE49-F238E27FC236}">
                  <a16:creationId xmlns:a16="http://schemas.microsoft.com/office/drawing/2014/main" id="{0B3EA01F-9D24-745B-16DE-6B55174E0970}"/>
                </a:ext>
              </a:extLst>
            </p:cNvPr>
            <p:cNvGrpSpPr/>
            <p:nvPr/>
          </p:nvGrpSpPr>
          <p:grpSpPr>
            <a:xfrm>
              <a:off x="4678555" y="2901221"/>
              <a:ext cx="613876" cy="468000"/>
              <a:chOff x="2136461" y="3605615"/>
              <a:chExt cx="613876" cy="468000"/>
            </a:xfrm>
          </p:grpSpPr>
          <p:sp>
            <p:nvSpPr>
              <p:cNvPr id="82" name="箭號: 向上 81">
                <a:extLst>
                  <a:ext uri="{FF2B5EF4-FFF2-40B4-BE49-F238E27FC236}">
                    <a16:creationId xmlns:a16="http://schemas.microsoft.com/office/drawing/2014/main" id="{904AA130-27FF-D0FE-5A18-443DF50ADDC6}"/>
                  </a:ext>
                </a:extLst>
              </p:cNvPr>
              <p:cNvSpPr/>
              <p:nvPr/>
            </p:nvSpPr>
            <p:spPr>
              <a:xfrm>
                <a:off x="2136461" y="3605615"/>
                <a:ext cx="144000" cy="468000"/>
              </a:xfrm>
              <a:prstGeom prst="upArrow">
                <a:avLst/>
              </a:prstGeom>
              <a:solidFill>
                <a:srgbClr val="7030A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83" name="箭號: 向上 82">
                <a:extLst>
                  <a:ext uri="{FF2B5EF4-FFF2-40B4-BE49-F238E27FC236}">
                    <a16:creationId xmlns:a16="http://schemas.microsoft.com/office/drawing/2014/main" id="{9035ECEB-0BF3-75CF-9E59-44B69259ABA1}"/>
                  </a:ext>
                </a:extLst>
              </p:cNvPr>
              <p:cNvSpPr/>
              <p:nvPr/>
            </p:nvSpPr>
            <p:spPr>
              <a:xfrm>
                <a:off x="2606337" y="3605615"/>
                <a:ext cx="144000" cy="234000"/>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nvGrpSpPr>
            <p:cNvPr id="23" name="群組 22">
              <a:extLst>
                <a:ext uri="{FF2B5EF4-FFF2-40B4-BE49-F238E27FC236}">
                  <a16:creationId xmlns:a16="http://schemas.microsoft.com/office/drawing/2014/main" id="{83EA5CE0-7BEE-6DD4-6F4C-B0377CCB274E}"/>
                </a:ext>
              </a:extLst>
            </p:cNvPr>
            <p:cNvGrpSpPr/>
            <p:nvPr/>
          </p:nvGrpSpPr>
          <p:grpSpPr>
            <a:xfrm>
              <a:off x="605936" y="1262331"/>
              <a:ext cx="10121382" cy="4523313"/>
              <a:chOff x="605936" y="1262331"/>
              <a:chExt cx="10121382" cy="4523313"/>
            </a:xfrm>
          </p:grpSpPr>
          <p:sp>
            <p:nvSpPr>
              <p:cNvPr id="24" name="矩形: 圓角 23">
                <a:extLst>
                  <a:ext uri="{FF2B5EF4-FFF2-40B4-BE49-F238E27FC236}">
                    <a16:creationId xmlns:a16="http://schemas.microsoft.com/office/drawing/2014/main" id="{D0027A6E-A654-D0FD-F500-0FF0DE1F0AE4}"/>
                  </a:ext>
                </a:extLst>
              </p:cNvPr>
              <p:cNvSpPr/>
              <p:nvPr/>
            </p:nvSpPr>
            <p:spPr>
              <a:xfrm>
                <a:off x="3045074" y="2240001"/>
                <a:ext cx="1277949" cy="6015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TW" sz="1100" b="1" dirty="0">
                    <a:solidFill>
                      <a:schemeClr val="tx1"/>
                    </a:solidFill>
                    <a:latin typeface="微軟正黑體" panose="020B0604030504040204" pitchFamily="34" charset="-120"/>
                    <a:ea typeface="微軟正黑體" panose="020B0604030504040204" pitchFamily="34" charset="-120"/>
                  </a:rPr>
                  <a:t>LCM Loss 2</a:t>
                </a:r>
                <a:endParaRPr lang="zh-TW" altLang="en-US" sz="1100" b="1" dirty="0">
                  <a:solidFill>
                    <a:schemeClr val="tx1"/>
                  </a:solidFill>
                  <a:latin typeface="微軟正黑體" panose="020B0604030504040204" pitchFamily="34" charset="-120"/>
                  <a:ea typeface="微軟正黑體" panose="020B0604030504040204" pitchFamily="34" charset="-120"/>
                </a:endParaRPr>
              </a:p>
            </p:txBody>
          </p:sp>
          <p:sp>
            <p:nvSpPr>
              <p:cNvPr id="25" name="矩形: 圓角 24">
                <a:extLst>
                  <a:ext uri="{FF2B5EF4-FFF2-40B4-BE49-F238E27FC236}">
                    <a16:creationId xmlns:a16="http://schemas.microsoft.com/office/drawing/2014/main" id="{E606BAC3-F8EA-C1ED-EB93-03B7DB2A8494}"/>
                  </a:ext>
                </a:extLst>
              </p:cNvPr>
              <p:cNvSpPr/>
              <p:nvPr/>
            </p:nvSpPr>
            <p:spPr>
              <a:xfrm>
                <a:off x="1839926" y="2235684"/>
                <a:ext cx="1143292" cy="6015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TW" sz="1100" b="1" dirty="0">
                    <a:solidFill>
                      <a:schemeClr val="tx1"/>
                    </a:solidFill>
                    <a:latin typeface="微軟正黑體" panose="020B0604030504040204" pitchFamily="34" charset="-120"/>
                    <a:ea typeface="微軟正黑體" panose="020B0604030504040204" pitchFamily="34" charset="-120"/>
                  </a:rPr>
                  <a:t>CE</a:t>
                </a:r>
                <a:r>
                  <a:rPr lang="zh-TW" altLang="en-US" sz="1100" b="1" dirty="0">
                    <a:solidFill>
                      <a:schemeClr val="tx1"/>
                    </a:solidFill>
                    <a:latin typeface="微軟正黑體" panose="020B0604030504040204" pitchFamily="34" charset="-120"/>
                    <a:ea typeface="微軟正黑體" panose="020B0604030504040204" pitchFamily="34" charset="-120"/>
                  </a:rPr>
                  <a:t> </a:t>
                </a:r>
                <a:r>
                  <a:rPr lang="en-US" altLang="zh-TW" sz="1100" b="1" dirty="0">
                    <a:solidFill>
                      <a:schemeClr val="tx1"/>
                    </a:solidFill>
                    <a:latin typeface="微軟正黑體" panose="020B0604030504040204" pitchFamily="34" charset="-120"/>
                    <a:ea typeface="微軟正黑體" panose="020B0604030504040204" pitchFamily="34" charset="-120"/>
                  </a:rPr>
                  <a:t>Loss 2</a:t>
                </a:r>
                <a:endParaRPr lang="zh-TW" altLang="en-US" sz="1100" b="1" dirty="0">
                  <a:solidFill>
                    <a:schemeClr val="tx1"/>
                  </a:solidFill>
                  <a:latin typeface="微軟正黑體" panose="020B0604030504040204" pitchFamily="34" charset="-120"/>
                  <a:ea typeface="微軟正黑體" panose="020B0604030504040204" pitchFamily="34" charset="-120"/>
                </a:endParaRPr>
              </a:p>
            </p:txBody>
          </p:sp>
          <p:sp>
            <p:nvSpPr>
              <p:cNvPr id="26" name="箭號: 向上 25">
                <a:extLst>
                  <a:ext uri="{FF2B5EF4-FFF2-40B4-BE49-F238E27FC236}">
                    <a16:creationId xmlns:a16="http://schemas.microsoft.com/office/drawing/2014/main" id="{084A4308-6B27-1624-81E3-98425AA28A92}"/>
                  </a:ext>
                </a:extLst>
              </p:cNvPr>
              <p:cNvSpPr/>
              <p:nvPr/>
            </p:nvSpPr>
            <p:spPr>
              <a:xfrm>
                <a:off x="2339572" y="1994190"/>
                <a:ext cx="144000" cy="216000"/>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7" name="箭號: 向上 26">
                <a:extLst>
                  <a:ext uri="{FF2B5EF4-FFF2-40B4-BE49-F238E27FC236}">
                    <a16:creationId xmlns:a16="http://schemas.microsoft.com/office/drawing/2014/main" id="{8BFF931C-9E9F-462B-6CF1-451B642699F4}"/>
                  </a:ext>
                </a:extLst>
              </p:cNvPr>
              <p:cNvSpPr/>
              <p:nvPr/>
            </p:nvSpPr>
            <p:spPr>
              <a:xfrm>
                <a:off x="3553654" y="1995537"/>
                <a:ext cx="144000" cy="216000"/>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28" name="群組 27">
                <a:extLst>
                  <a:ext uri="{FF2B5EF4-FFF2-40B4-BE49-F238E27FC236}">
                    <a16:creationId xmlns:a16="http://schemas.microsoft.com/office/drawing/2014/main" id="{56D9BB14-0A18-40C0-730E-6373AEEB997F}"/>
                  </a:ext>
                </a:extLst>
              </p:cNvPr>
              <p:cNvGrpSpPr/>
              <p:nvPr/>
            </p:nvGrpSpPr>
            <p:grpSpPr>
              <a:xfrm>
                <a:off x="605936" y="1262331"/>
                <a:ext cx="10121382" cy="4523313"/>
                <a:chOff x="605936" y="1262331"/>
                <a:chExt cx="10121382" cy="4523313"/>
              </a:xfrm>
            </p:grpSpPr>
            <p:sp>
              <p:nvSpPr>
                <p:cNvPr id="31" name="矩形: 圓角 30">
                  <a:extLst>
                    <a:ext uri="{FF2B5EF4-FFF2-40B4-BE49-F238E27FC236}">
                      <a16:creationId xmlns:a16="http://schemas.microsoft.com/office/drawing/2014/main" id="{D71E5A92-F395-3C5C-A083-184E38D69030}"/>
                    </a:ext>
                  </a:extLst>
                </p:cNvPr>
                <p:cNvSpPr/>
                <p:nvPr/>
              </p:nvSpPr>
              <p:spPr>
                <a:xfrm>
                  <a:off x="705606" y="5128696"/>
                  <a:ext cx="6871658" cy="656948"/>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Shared</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32" name="矩形: 圓角 31">
                  <a:extLst>
                    <a:ext uri="{FF2B5EF4-FFF2-40B4-BE49-F238E27FC236}">
                      <a16:creationId xmlns:a16="http://schemas.microsoft.com/office/drawing/2014/main" id="{BECEECDF-421B-68C7-36BE-3A97A56AC0AA}"/>
                    </a:ext>
                  </a:extLst>
                </p:cNvPr>
                <p:cNvSpPr/>
                <p:nvPr/>
              </p:nvSpPr>
              <p:spPr>
                <a:xfrm>
                  <a:off x="605936" y="3518732"/>
                  <a:ext cx="1143293" cy="601586"/>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TW" sz="1400" b="1" dirty="0">
                      <a:solidFill>
                        <a:schemeClr val="tx1"/>
                      </a:solidFill>
                      <a:latin typeface="微軟正黑體" panose="020B0604030504040204" pitchFamily="34" charset="-120"/>
                      <a:ea typeface="微軟正黑體" panose="020B0604030504040204" pitchFamily="34" charset="-120"/>
                    </a:rPr>
                    <a:t>Head 1</a:t>
                  </a:r>
                  <a:endParaRPr lang="zh-TW" altLang="en-US" sz="1400" b="1" dirty="0">
                    <a:solidFill>
                      <a:schemeClr val="tx1"/>
                    </a:solidFill>
                    <a:latin typeface="微軟正黑體" panose="020B0604030504040204" pitchFamily="34" charset="-120"/>
                    <a:ea typeface="微軟正黑體" panose="020B0604030504040204" pitchFamily="34" charset="-120"/>
                  </a:endParaRPr>
                </a:p>
              </p:txBody>
            </p:sp>
            <p:grpSp>
              <p:nvGrpSpPr>
                <p:cNvPr id="33" name="群組 32">
                  <a:extLst>
                    <a:ext uri="{FF2B5EF4-FFF2-40B4-BE49-F238E27FC236}">
                      <a16:creationId xmlns:a16="http://schemas.microsoft.com/office/drawing/2014/main" id="{83608CAB-C64C-6A56-8F31-AD7B86B139A3}"/>
                    </a:ext>
                  </a:extLst>
                </p:cNvPr>
                <p:cNvGrpSpPr/>
                <p:nvPr/>
              </p:nvGrpSpPr>
              <p:grpSpPr>
                <a:xfrm>
                  <a:off x="910033" y="4146873"/>
                  <a:ext cx="7872902" cy="966351"/>
                  <a:chOff x="927788" y="4825938"/>
                  <a:chExt cx="5865080" cy="966351"/>
                </a:xfrm>
              </p:grpSpPr>
              <p:grpSp>
                <p:nvGrpSpPr>
                  <p:cNvPr id="71" name="群組 70">
                    <a:extLst>
                      <a:ext uri="{FF2B5EF4-FFF2-40B4-BE49-F238E27FC236}">
                        <a16:creationId xmlns:a16="http://schemas.microsoft.com/office/drawing/2014/main" id="{B8750EE4-010D-B544-A221-BF2BB2C321E6}"/>
                      </a:ext>
                    </a:extLst>
                  </p:cNvPr>
                  <p:cNvGrpSpPr/>
                  <p:nvPr/>
                </p:nvGrpSpPr>
                <p:grpSpPr>
                  <a:xfrm>
                    <a:off x="927788" y="4843550"/>
                    <a:ext cx="5544147" cy="948739"/>
                    <a:chOff x="1653159" y="2701033"/>
                    <a:chExt cx="2817772" cy="948739"/>
                  </a:xfrm>
                </p:grpSpPr>
                <p:sp>
                  <p:nvSpPr>
                    <p:cNvPr id="77" name="矩形 76">
                      <a:extLst>
                        <a:ext uri="{FF2B5EF4-FFF2-40B4-BE49-F238E27FC236}">
                          <a16:creationId xmlns:a16="http://schemas.microsoft.com/office/drawing/2014/main" id="{0A1222BF-1E48-5561-CCEA-BDBB1ACE8282}"/>
                        </a:ext>
                      </a:extLst>
                    </p:cNvPr>
                    <p:cNvSpPr/>
                    <p:nvPr/>
                  </p:nvSpPr>
                  <p:spPr>
                    <a:xfrm>
                      <a:off x="1653159" y="2701033"/>
                      <a:ext cx="40892" cy="6569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8" name="矩形 77">
                      <a:extLst>
                        <a:ext uri="{FF2B5EF4-FFF2-40B4-BE49-F238E27FC236}">
                          <a16:creationId xmlns:a16="http://schemas.microsoft.com/office/drawing/2014/main" id="{CA65722C-D2E7-2B26-4FB3-F3E1E110A3C5}"/>
                        </a:ext>
                      </a:extLst>
                    </p:cNvPr>
                    <p:cNvSpPr/>
                    <p:nvPr/>
                  </p:nvSpPr>
                  <p:spPr>
                    <a:xfrm>
                      <a:off x="2849206" y="2701033"/>
                      <a:ext cx="40892" cy="6569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9" name="矩形 78">
                      <a:extLst>
                        <a:ext uri="{FF2B5EF4-FFF2-40B4-BE49-F238E27FC236}">
                          <a16:creationId xmlns:a16="http://schemas.microsoft.com/office/drawing/2014/main" id="{12856073-4E8F-724F-F877-9C2C49D10CBA}"/>
                        </a:ext>
                      </a:extLst>
                    </p:cNvPr>
                    <p:cNvSpPr/>
                    <p:nvPr/>
                  </p:nvSpPr>
                  <p:spPr>
                    <a:xfrm>
                      <a:off x="4430039" y="2701033"/>
                      <a:ext cx="40892" cy="6569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80" name="矩形 79">
                      <a:extLst>
                        <a:ext uri="{FF2B5EF4-FFF2-40B4-BE49-F238E27FC236}">
                          <a16:creationId xmlns:a16="http://schemas.microsoft.com/office/drawing/2014/main" id="{511BE064-4C00-38B6-AE27-7003C47E2D0E}"/>
                        </a:ext>
                      </a:extLst>
                    </p:cNvPr>
                    <p:cNvSpPr/>
                    <p:nvPr/>
                  </p:nvSpPr>
                  <p:spPr>
                    <a:xfrm rot="5400000">
                      <a:off x="2990039" y="1917493"/>
                      <a:ext cx="108000" cy="277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81" name="箭號: 向下 80">
                      <a:extLst>
                        <a:ext uri="{FF2B5EF4-FFF2-40B4-BE49-F238E27FC236}">
                          <a16:creationId xmlns:a16="http://schemas.microsoft.com/office/drawing/2014/main" id="{985BA7CC-CCCA-4E6D-2B97-7895F315C750}"/>
                        </a:ext>
                      </a:extLst>
                    </p:cNvPr>
                    <p:cNvSpPr/>
                    <p:nvPr/>
                  </p:nvSpPr>
                  <p:spPr>
                    <a:xfrm>
                      <a:off x="2431366" y="3253772"/>
                      <a:ext cx="81783" cy="396000"/>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grpSp>
                <p:nvGrpSpPr>
                  <p:cNvPr id="72" name="群組 71">
                    <a:extLst>
                      <a:ext uri="{FF2B5EF4-FFF2-40B4-BE49-F238E27FC236}">
                        <a16:creationId xmlns:a16="http://schemas.microsoft.com/office/drawing/2014/main" id="{544F6709-B540-5E6F-AD73-44C8CC584E28}"/>
                      </a:ext>
                    </a:extLst>
                  </p:cNvPr>
                  <p:cNvGrpSpPr/>
                  <p:nvPr/>
                </p:nvGrpSpPr>
                <p:grpSpPr>
                  <a:xfrm>
                    <a:off x="1121379" y="4825938"/>
                    <a:ext cx="5671489" cy="945473"/>
                    <a:chOff x="1024147" y="4805717"/>
                    <a:chExt cx="2965142" cy="945473"/>
                  </a:xfrm>
                </p:grpSpPr>
                <p:sp>
                  <p:nvSpPr>
                    <p:cNvPr id="73" name="箭號: 上彎 72">
                      <a:extLst>
                        <a:ext uri="{FF2B5EF4-FFF2-40B4-BE49-F238E27FC236}">
                          <a16:creationId xmlns:a16="http://schemas.microsoft.com/office/drawing/2014/main" id="{EC26C22B-613D-EEAB-69A3-16E4AF5CCB43}"/>
                        </a:ext>
                      </a:extLst>
                    </p:cNvPr>
                    <p:cNvSpPr/>
                    <p:nvPr/>
                  </p:nvSpPr>
                  <p:spPr>
                    <a:xfrm>
                      <a:off x="1780225" y="4805717"/>
                      <a:ext cx="602206" cy="386056"/>
                    </a:xfrm>
                    <a:prstGeom prst="ben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4" name="箭號: 上彎 73">
                      <a:extLst>
                        <a:ext uri="{FF2B5EF4-FFF2-40B4-BE49-F238E27FC236}">
                          <a16:creationId xmlns:a16="http://schemas.microsoft.com/office/drawing/2014/main" id="{334EBA7C-1D12-C528-8A3B-4827EB8BA141}"/>
                        </a:ext>
                      </a:extLst>
                    </p:cNvPr>
                    <p:cNvSpPr/>
                    <p:nvPr/>
                  </p:nvSpPr>
                  <p:spPr>
                    <a:xfrm>
                      <a:off x="2118007" y="4805717"/>
                      <a:ext cx="1871282" cy="386056"/>
                    </a:xfrm>
                    <a:prstGeom prst="ben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75" name="箭號: 上彎 74">
                      <a:extLst>
                        <a:ext uri="{FF2B5EF4-FFF2-40B4-BE49-F238E27FC236}">
                          <a16:creationId xmlns:a16="http://schemas.microsoft.com/office/drawing/2014/main" id="{B69358BB-4561-002F-7891-6126DB4DCE5C}"/>
                        </a:ext>
                      </a:extLst>
                    </p:cNvPr>
                    <p:cNvSpPr/>
                    <p:nvPr/>
                  </p:nvSpPr>
                  <p:spPr>
                    <a:xfrm flipH="1">
                      <a:off x="1024147" y="4805717"/>
                      <a:ext cx="862088" cy="386056"/>
                    </a:xfrm>
                    <a:prstGeom prst="ben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6" name="矩形 75">
                      <a:extLst>
                        <a:ext uri="{FF2B5EF4-FFF2-40B4-BE49-F238E27FC236}">
                          <a16:creationId xmlns:a16="http://schemas.microsoft.com/office/drawing/2014/main" id="{E058954E-C539-AD43-5D48-108391B325D1}"/>
                        </a:ext>
                      </a:extLst>
                    </p:cNvPr>
                    <p:cNvSpPr/>
                    <p:nvPr/>
                  </p:nvSpPr>
                  <p:spPr>
                    <a:xfrm>
                      <a:off x="1886233" y="5139190"/>
                      <a:ext cx="42064" cy="61200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sp>
              <p:nvSpPr>
                <p:cNvPr id="34" name="矩形: 圓角 33">
                  <a:extLst>
                    <a:ext uri="{FF2B5EF4-FFF2-40B4-BE49-F238E27FC236}">
                      <a16:creationId xmlns:a16="http://schemas.microsoft.com/office/drawing/2014/main" id="{71E181DE-1993-41ED-ADC8-C3D6192B967F}"/>
                    </a:ext>
                  </a:extLst>
                </p:cNvPr>
                <p:cNvSpPr/>
                <p:nvPr/>
              </p:nvSpPr>
              <p:spPr>
                <a:xfrm>
                  <a:off x="605936" y="2237747"/>
                  <a:ext cx="1143293" cy="6015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TW" sz="1100" b="1" dirty="0">
                      <a:solidFill>
                        <a:schemeClr val="tx1"/>
                      </a:solidFill>
                      <a:latin typeface="微軟正黑體" panose="020B0604030504040204" pitchFamily="34" charset="-120"/>
                      <a:ea typeface="微軟正黑體" panose="020B0604030504040204" pitchFamily="34" charset="-120"/>
                    </a:rPr>
                    <a:t>CE</a:t>
                  </a:r>
                  <a:r>
                    <a:rPr lang="zh-TW" altLang="en-US" sz="1100" b="1" dirty="0">
                      <a:solidFill>
                        <a:schemeClr val="tx1"/>
                      </a:solidFill>
                      <a:latin typeface="微軟正黑體" panose="020B0604030504040204" pitchFamily="34" charset="-120"/>
                      <a:ea typeface="微軟正黑體" panose="020B0604030504040204" pitchFamily="34" charset="-120"/>
                    </a:rPr>
                    <a:t> </a:t>
                  </a:r>
                  <a:r>
                    <a:rPr lang="en-US" altLang="zh-TW" sz="1100" b="1" dirty="0">
                      <a:solidFill>
                        <a:schemeClr val="tx1"/>
                      </a:solidFill>
                      <a:latin typeface="微軟正黑體" panose="020B0604030504040204" pitchFamily="34" charset="-120"/>
                      <a:ea typeface="微軟正黑體" panose="020B0604030504040204" pitchFamily="34" charset="-120"/>
                    </a:rPr>
                    <a:t>Loss 1</a:t>
                  </a:r>
                  <a:endParaRPr lang="zh-TW" altLang="en-US" sz="1100" b="1" dirty="0">
                    <a:solidFill>
                      <a:schemeClr val="tx1"/>
                    </a:solidFill>
                    <a:latin typeface="微軟正黑體" panose="020B0604030504040204" pitchFamily="34" charset="-120"/>
                    <a:ea typeface="微軟正黑體" panose="020B0604030504040204" pitchFamily="34" charset="-120"/>
                  </a:endParaRPr>
                </a:p>
              </p:txBody>
            </p:sp>
            <p:grpSp>
              <p:nvGrpSpPr>
                <p:cNvPr id="35" name="群組 34">
                  <a:extLst>
                    <a:ext uri="{FF2B5EF4-FFF2-40B4-BE49-F238E27FC236}">
                      <a16:creationId xmlns:a16="http://schemas.microsoft.com/office/drawing/2014/main" id="{A0CEF7BF-F705-CFDC-D5B1-419775BA8F8B}"/>
                    </a:ext>
                  </a:extLst>
                </p:cNvPr>
                <p:cNvGrpSpPr/>
                <p:nvPr/>
              </p:nvGrpSpPr>
              <p:grpSpPr>
                <a:xfrm>
                  <a:off x="910033" y="2931776"/>
                  <a:ext cx="517331" cy="494512"/>
                  <a:chOff x="857746" y="3610841"/>
                  <a:chExt cx="517331" cy="494512"/>
                </a:xfrm>
              </p:grpSpPr>
              <p:grpSp>
                <p:nvGrpSpPr>
                  <p:cNvPr id="67" name="群組 66">
                    <a:extLst>
                      <a:ext uri="{FF2B5EF4-FFF2-40B4-BE49-F238E27FC236}">
                        <a16:creationId xmlns:a16="http://schemas.microsoft.com/office/drawing/2014/main" id="{DDB0F865-4A95-2265-1853-A8D7AD49EF0C}"/>
                      </a:ext>
                    </a:extLst>
                  </p:cNvPr>
                  <p:cNvGrpSpPr/>
                  <p:nvPr/>
                </p:nvGrpSpPr>
                <p:grpSpPr>
                  <a:xfrm>
                    <a:off x="857746" y="3610841"/>
                    <a:ext cx="337591" cy="494512"/>
                    <a:chOff x="2230583" y="2141666"/>
                    <a:chExt cx="337591" cy="494512"/>
                  </a:xfrm>
                </p:grpSpPr>
                <p:sp>
                  <p:nvSpPr>
                    <p:cNvPr id="69" name="箭號: 向上 68">
                      <a:extLst>
                        <a:ext uri="{FF2B5EF4-FFF2-40B4-BE49-F238E27FC236}">
                          <a16:creationId xmlns:a16="http://schemas.microsoft.com/office/drawing/2014/main" id="{ED9B7001-5180-618A-6869-D914D7A718B0}"/>
                        </a:ext>
                      </a:extLst>
                    </p:cNvPr>
                    <p:cNvSpPr/>
                    <p:nvPr/>
                  </p:nvSpPr>
                  <p:spPr>
                    <a:xfrm>
                      <a:off x="2230583" y="2141666"/>
                      <a:ext cx="144000" cy="468000"/>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70" name="箭號: 向上 69">
                      <a:extLst>
                        <a:ext uri="{FF2B5EF4-FFF2-40B4-BE49-F238E27FC236}">
                          <a16:creationId xmlns:a16="http://schemas.microsoft.com/office/drawing/2014/main" id="{CA355550-243B-F420-B982-D89AC23476B9}"/>
                        </a:ext>
                      </a:extLst>
                    </p:cNvPr>
                    <p:cNvSpPr/>
                    <p:nvPr/>
                  </p:nvSpPr>
                  <p:spPr>
                    <a:xfrm flipV="1">
                      <a:off x="2424174" y="2168178"/>
                      <a:ext cx="144000" cy="468000"/>
                    </a:xfrm>
                    <a:prstGeom prs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sp>
                <p:nvSpPr>
                  <p:cNvPr id="68" name="矩形 67">
                    <a:extLst>
                      <a:ext uri="{FF2B5EF4-FFF2-40B4-BE49-F238E27FC236}">
                        <a16:creationId xmlns:a16="http://schemas.microsoft.com/office/drawing/2014/main" id="{33699C96-2DE7-8F8F-E083-7C05201B4DF5}"/>
                      </a:ext>
                    </a:extLst>
                  </p:cNvPr>
                  <p:cNvSpPr/>
                  <p:nvPr/>
                </p:nvSpPr>
                <p:spPr>
                  <a:xfrm>
                    <a:off x="1267077" y="3844841"/>
                    <a:ext cx="108000" cy="234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grpSp>
              <p:nvGrpSpPr>
                <p:cNvPr id="36" name="群組 35">
                  <a:extLst>
                    <a:ext uri="{FF2B5EF4-FFF2-40B4-BE49-F238E27FC236}">
                      <a16:creationId xmlns:a16="http://schemas.microsoft.com/office/drawing/2014/main" id="{0750793B-AAEE-3280-3FE1-36F8EA1E5C5D}"/>
                    </a:ext>
                  </a:extLst>
                </p:cNvPr>
                <p:cNvGrpSpPr/>
                <p:nvPr/>
              </p:nvGrpSpPr>
              <p:grpSpPr>
                <a:xfrm>
                  <a:off x="6062367" y="1262331"/>
                  <a:ext cx="571221" cy="2823813"/>
                  <a:chOff x="4361572" y="1328190"/>
                  <a:chExt cx="571221" cy="2823813"/>
                </a:xfrm>
              </p:grpSpPr>
              <p:sp>
                <p:nvSpPr>
                  <p:cNvPr id="64" name="文字方塊 63">
                    <a:extLst>
                      <a:ext uri="{FF2B5EF4-FFF2-40B4-BE49-F238E27FC236}">
                        <a16:creationId xmlns:a16="http://schemas.microsoft.com/office/drawing/2014/main" id="{C69C4A1B-7173-EB49-E84E-60390F596D80}"/>
                      </a:ext>
                    </a:extLst>
                  </p:cNvPr>
                  <p:cNvSpPr txBox="1"/>
                  <p:nvPr/>
                </p:nvSpPr>
                <p:spPr>
                  <a:xfrm>
                    <a:off x="4364542" y="3505672"/>
                    <a:ext cx="568251" cy="646331"/>
                  </a:xfrm>
                  <a:prstGeom prst="rect">
                    <a:avLst/>
                  </a:prstGeom>
                  <a:noFill/>
                </p:spPr>
                <p:txBody>
                  <a:bodyPr wrap="square" rtlCol="0" anchor="ctr">
                    <a:spAutoFit/>
                  </a:bodyPr>
                  <a:lstStyle/>
                  <a:p>
                    <a:pPr algn="ctr"/>
                    <a:r>
                      <a:rPr lang="en-US" altLang="zh-TW" dirty="0">
                        <a:latin typeface="微軟正黑體" panose="020B0604030504040204" pitchFamily="34" charset="-120"/>
                        <a:ea typeface="微軟正黑體" panose="020B0604030504040204" pitchFamily="34" charset="-120"/>
                      </a:rPr>
                      <a:t>… …</a:t>
                    </a:r>
                    <a:endParaRPr lang="zh-TW" altLang="en-US" dirty="0">
                      <a:latin typeface="微軟正黑體" panose="020B0604030504040204" pitchFamily="34" charset="-120"/>
                      <a:ea typeface="微軟正黑體" panose="020B0604030504040204" pitchFamily="34" charset="-120"/>
                    </a:endParaRPr>
                  </a:p>
                </p:txBody>
              </p:sp>
              <p:sp>
                <p:nvSpPr>
                  <p:cNvPr id="65" name="文字方塊 64">
                    <a:extLst>
                      <a:ext uri="{FF2B5EF4-FFF2-40B4-BE49-F238E27FC236}">
                        <a16:creationId xmlns:a16="http://schemas.microsoft.com/office/drawing/2014/main" id="{38181FA2-00FB-26EA-BA26-513D24CCB3A5}"/>
                      </a:ext>
                    </a:extLst>
                  </p:cNvPr>
                  <p:cNvSpPr txBox="1"/>
                  <p:nvPr/>
                </p:nvSpPr>
                <p:spPr>
                  <a:xfrm>
                    <a:off x="4364542" y="2213312"/>
                    <a:ext cx="568251" cy="646331"/>
                  </a:xfrm>
                  <a:prstGeom prst="rect">
                    <a:avLst/>
                  </a:prstGeom>
                  <a:noFill/>
                </p:spPr>
                <p:txBody>
                  <a:bodyPr wrap="square" rtlCol="0" anchor="ctr">
                    <a:spAutoFit/>
                  </a:bodyPr>
                  <a:lstStyle/>
                  <a:p>
                    <a:pPr algn="ctr"/>
                    <a:r>
                      <a:rPr lang="en-US" altLang="zh-TW" dirty="0">
                        <a:latin typeface="微軟正黑體" panose="020B0604030504040204" pitchFamily="34" charset="-120"/>
                        <a:ea typeface="微軟正黑體" panose="020B0604030504040204" pitchFamily="34" charset="-120"/>
                      </a:rPr>
                      <a:t>… …</a:t>
                    </a:r>
                    <a:endParaRPr lang="zh-TW" altLang="en-US" dirty="0">
                      <a:latin typeface="微軟正黑體" panose="020B0604030504040204" pitchFamily="34" charset="-120"/>
                      <a:ea typeface="微軟正黑體" panose="020B0604030504040204" pitchFamily="34" charset="-120"/>
                    </a:endParaRPr>
                  </a:p>
                </p:txBody>
              </p:sp>
              <p:sp>
                <p:nvSpPr>
                  <p:cNvPr id="66" name="文字方塊 65">
                    <a:extLst>
                      <a:ext uri="{FF2B5EF4-FFF2-40B4-BE49-F238E27FC236}">
                        <a16:creationId xmlns:a16="http://schemas.microsoft.com/office/drawing/2014/main" id="{2576391F-9DB9-3493-3EF2-DAE8676ED557}"/>
                      </a:ext>
                    </a:extLst>
                  </p:cNvPr>
                  <p:cNvSpPr txBox="1"/>
                  <p:nvPr/>
                </p:nvSpPr>
                <p:spPr>
                  <a:xfrm>
                    <a:off x="4361572" y="1328190"/>
                    <a:ext cx="568251" cy="646331"/>
                  </a:xfrm>
                  <a:prstGeom prst="rect">
                    <a:avLst/>
                  </a:prstGeom>
                  <a:noFill/>
                </p:spPr>
                <p:txBody>
                  <a:bodyPr wrap="square" rtlCol="0" anchor="ctr">
                    <a:spAutoFit/>
                  </a:bodyPr>
                  <a:lstStyle/>
                  <a:p>
                    <a:pPr algn="ctr"/>
                    <a:r>
                      <a:rPr lang="en-US" altLang="zh-TW" dirty="0">
                        <a:latin typeface="微軟正黑體" panose="020B0604030504040204" pitchFamily="34" charset="-120"/>
                        <a:ea typeface="微軟正黑體" panose="020B0604030504040204" pitchFamily="34" charset="-120"/>
                      </a:rPr>
                      <a:t>… …</a:t>
                    </a:r>
                    <a:endParaRPr lang="zh-TW" altLang="en-US" dirty="0">
                      <a:latin typeface="微軟正黑體" panose="020B0604030504040204" pitchFamily="34" charset="-120"/>
                      <a:ea typeface="微軟正黑體" panose="020B0604030504040204" pitchFamily="34" charset="-120"/>
                    </a:endParaRPr>
                  </a:p>
                </p:txBody>
              </p:sp>
            </p:grpSp>
            <p:grpSp>
              <p:nvGrpSpPr>
                <p:cNvPr id="37" name="群組 36">
                  <a:extLst>
                    <a:ext uri="{FF2B5EF4-FFF2-40B4-BE49-F238E27FC236}">
                      <a16:creationId xmlns:a16="http://schemas.microsoft.com/office/drawing/2014/main" id="{EBE49EDA-0AFA-00C8-1B24-8DCC0A63B8CB}"/>
                    </a:ext>
                  </a:extLst>
                </p:cNvPr>
                <p:cNvGrpSpPr/>
                <p:nvPr/>
              </p:nvGrpSpPr>
              <p:grpSpPr>
                <a:xfrm>
                  <a:off x="1833985" y="1382471"/>
                  <a:ext cx="4020558" cy="2747159"/>
                  <a:chOff x="1833985" y="1382471"/>
                  <a:chExt cx="2577457" cy="2747159"/>
                </a:xfrm>
              </p:grpSpPr>
              <p:sp>
                <p:nvSpPr>
                  <p:cNvPr id="57" name="矩形: 圓角 56">
                    <a:extLst>
                      <a:ext uri="{FF2B5EF4-FFF2-40B4-BE49-F238E27FC236}">
                        <a16:creationId xmlns:a16="http://schemas.microsoft.com/office/drawing/2014/main" id="{55F74A24-C87C-9388-E7CE-5304840C498E}"/>
                      </a:ext>
                    </a:extLst>
                  </p:cNvPr>
                  <p:cNvSpPr/>
                  <p:nvPr/>
                </p:nvSpPr>
                <p:spPr>
                  <a:xfrm>
                    <a:off x="1839926" y="3528044"/>
                    <a:ext cx="2337467" cy="601586"/>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TW" sz="1600" dirty="0">
                        <a:solidFill>
                          <a:schemeClr val="tx1"/>
                        </a:solidFill>
                        <a:latin typeface="微軟正黑體" panose="020B0604030504040204" pitchFamily="34" charset="-120"/>
                        <a:ea typeface="微軟正黑體" panose="020B0604030504040204" pitchFamily="34" charset="-120"/>
                      </a:rPr>
                      <a:t>Head 2</a:t>
                    </a:r>
                    <a:endParaRPr lang="zh-TW" altLang="en-US" sz="1600" dirty="0">
                      <a:solidFill>
                        <a:schemeClr val="tx1"/>
                      </a:solidFill>
                      <a:latin typeface="微軟正黑體" panose="020B0604030504040204" pitchFamily="34" charset="-120"/>
                      <a:ea typeface="微軟正黑體" panose="020B0604030504040204" pitchFamily="34" charset="-120"/>
                    </a:endParaRPr>
                  </a:p>
                </p:txBody>
              </p:sp>
              <p:sp>
                <p:nvSpPr>
                  <p:cNvPr id="58" name="矩形: 圓角 57">
                    <a:extLst>
                      <a:ext uri="{FF2B5EF4-FFF2-40B4-BE49-F238E27FC236}">
                        <a16:creationId xmlns:a16="http://schemas.microsoft.com/office/drawing/2014/main" id="{0F5F5805-BBD4-6702-9562-2F776DC9A5A4}"/>
                      </a:ext>
                    </a:extLst>
                  </p:cNvPr>
                  <p:cNvSpPr/>
                  <p:nvPr/>
                </p:nvSpPr>
                <p:spPr>
                  <a:xfrm>
                    <a:off x="1833985" y="1382471"/>
                    <a:ext cx="2337467" cy="601586"/>
                  </a:xfrm>
                  <a:prstGeom prst="roundRect">
                    <a:avLst/>
                  </a:prstGeom>
                  <a:solidFill>
                    <a:schemeClr val="tx2">
                      <a:lumMod val="20000"/>
                      <a:lumOff val="8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Add</a:t>
                    </a:r>
                    <a:endParaRPr lang="zh-TW" altLang="en-US" dirty="0">
                      <a:solidFill>
                        <a:schemeClr val="tx1"/>
                      </a:solidFill>
                      <a:latin typeface="微軟正黑體" panose="020B0604030504040204" pitchFamily="34" charset="-120"/>
                      <a:ea typeface="微軟正黑體" panose="020B0604030504040204" pitchFamily="34" charset="-120"/>
                    </a:endParaRPr>
                  </a:p>
                </p:txBody>
              </p:sp>
              <p:grpSp>
                <p:nvGrpSpPr>
                  <p:cNvPr id="59" name="群組 58">
                    <a:extLst>
                      <a:ext uri="{FF2B5EF4-FFF2-40B4-BE49-F238E27FC236}">
                        <a16:creationId xmlns:a16="http://schemas.microsoft.com/office/drawing/2014/main" id="{AFEF954C-3329-1C5E-27AF-472D88120563}"/>
                      </a:ext>
                    </a:extLst>
                  </p:cNvPr>
                  <p:cNvGrpSpPr/>
                  <p:nvPr/>
                </p:nvGrpSpPr>
                <p:grpSpPr>
                  <a:xfrm>
                    <a:off x="4181160" y="1647994"/>
                    <a:ext cx="230282" cy="2314767"/>
                    <a:chOff x="4198915" y="2327059"/>
                    <a:chExt cx="230282" cy="2314767"/>
                  </a:xfrm>
                </p:grpSpPr>
                <p:sp>
                  <p:nvSpPr>
                    <p:cNvPr id="60" name="矩形 59">
                      <a:extLst>
                        <a:ext uri="{FF2B5EF4-FFF2-40B4-BE49-F238E27FC236}">
                          <a16:creationId xmlns:a16="http://schemas.microsoft.com/office/drawing/2014/main" id="{7049A5A6-3E88-E7B3-7401-C348DE199885}"/>
                        </a:ext>
                      </a:extLst>
                    </p:cNvPr>
                    <p:cNvSpPr/>
                    <p:nvPr/>
                  </p:nvSpPr>
                  <p:spPr>
                    <a:xfrm>
                      <a:off x="4369619" y="2327060"/>
                      <a:ext cx="59578" cy="226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nvGrpSpPr>
                    <p:cNvPr id="61" name="群組 60">
                      <a:extLst>
                        <a:ext uri="{FF2B5EF4-FFF2-40B4-BE49-F238E27FC236}">
                          <a16:creationId xmlns:a16="http://schemas.microsoft.com/office/drawing/2014/main" id="{33656695-902B-13CE-AF46-91B0C2C230D0}"/>
                        </a:ext>
                      </a:extLst>
                    </p:cNvPr>
                    <p:cNvGrpSpPr/>
                    <p:nvPr/>
                  </p:nvGrpSpPr>
                  <p:grpSpPr>
                    <a:xfrm>
                      <a:off x="4198915" y="2327059"/>
                      <a:ext cx="200493" cy="2314767"/>
                      <a:chOff x="4198915" y="2327059"/>
                      <a:chExt cx="200493" cy="2314767"/>
                    </a:xfrm>
                  </p:grpSpPr>
                  <p:sp>
                    <p:nvSpPr>
                      <p:cNvPr id="62" name="矩形 61">
                        <a:extLst>
                          <a:ext uri="{FF2B5EF4-FFF2-40B4-BE49-F238E27FC236}">
                            <a16:creationId xmlns:a16="http://schemas.microsoft.com/office/drawing/2014/main" id="{11BB2F8F-0226-3B69-9F7D-353969A44CDD}"/>
                          </a:ext>
                        </a:extLst>
                      </p:cNvPr>
                      <p:cNvSpPr/>
                      <p:nvPr/>
                    </p:nvSpPr>
                    <p:spPr>
                      <a:xfrm>
                        <a:off x="4198915" y="2327059"/>
                        <a:ext cx="200493" cy="7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63" name="箭號: 向左 62">
                        <a:extLst>
                          <a:ext uri="{FF2B5EF4-FFF2-40B4-BE49-F238E27FC236}">
                            <a16:creationId xmlns:a16="http://schemas.microsoft.com/office/drawing/2014/main" id="{65BDC8C3-AAE8-B309-89D1-2EBB2E4DF1F1}"/>
                          </a:ext>
                        </a:extLst>
                      </p:cNvPr>
                      <p:cNvSpPr/>
                      <p:nvPr/>
                    </p:nvSpPr>
                    <p:spPr>
                      <a:xfrm>
                        <a:off x="4207826" y="4461826"/>
                        <a:ext cx="180000" cy="180000"/>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grpSp>
            </p:grpSp>
            <p:grpSp>
              <p:nvGrpSpPr>
                <p:cNvPr id="38" name="群組 37">
                  <a:extLst>
                    <a:ext uri="{FF2B5EF4-FFF2-40B4-BE49-F238E27FC236}">
                      <a16:creationId xmlns:a16="http://schemas.microsoft.com/office/drawing/2014/main" id="{ABC573B0-D8E3-7481-A0FF-097851200FE8}"/>
                    </a:ext>
                  </a:extLst>
                </p:cNvPr>
                <p:cNvGrpSpPr/>
                <p:nvPr/>
              </p:nvGrpSpPr>
              <p:grpSpPr>
                <a:xfrm>
                  <a:off x="6794792" y="1379985"/>
                  <a:ext cx="3932526" cy="2782428"/>
                  <a:chOff x="5119943" y="1347202"/>
                  <a:chExt cx="3932526" cy="2782428"/>
                </a:xfrm>
              </p:grpSpPr>
              <p:sp>
                <p:nvSpPr>
                  <p:cNvPr id="39" name="矩形: 圓角 38">
                    <a:extLst>
                      <a:ext uri="{FF2B5EF4-FFF2-40B4-BE49-F238E27FC236}">
                        <a16:creationId xmlns:a16="http://schemas.microsoft.com/office/drawing/2014/main" id="{1FC3DA65-E2E6-14DD-67BC-7EE5F1A590DE}"/>
                      </a:ext>
                    </a:extLst>
                  </p:cNvPr>
                  <p:cNvSpPr/>
                  <p:nvPr/>
                </p:nvSpPr>
                <p:spPr>
                  <a:xfrm>
                    <a:off x="5119943" y="2235684"/>
                    <a:ext cx="1113375" cy="6015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TW" sz="1100" b="1" dirty="0">
                        <a:solidFill>
                          <a:schemeClr val="tx1"/>
                        </a:solidFill>
                        <a:latin typeface="微軟正黑體" panose="020B0604030504040204" pitchFamily="34" charset="-120"/>
                        <a:ea typeface="微軟正黑體" panose="020B0604030504040204" pitchFamily="34" charset="-120"/>
                      </a:rPr>
                      <a:t>CE</a:t>
                    </a:r>
                    <a:r>
                      <a:rPr lang="zh-TW" altLang="en-US" sz="1100" b="1" dirty="0">
                        <a:solidFill>
                          <a:schemeClr val="tx1"/>
                        </a:solidFill>
                        <a:latin typeface="微軟正黑體" panose="020B0604030504040204" pitchFamily="34" charset="-120"/>
                        <a:ea typeface="微軟正黑體" panose="020B0604030504040204" pitchFamily="34" charset="-120"/>
                      </a:rPr>
                      <a:t> </a:t>
                    </a:r>
                    <a:r>
                      <a:rPr lang="en-US" altLang="zh-TW" sz="1100" b="1" dirty="0">
                        <a:solidFill>
                          <a:schemeClr val="tx1"/>
                        </a:solidFill>
                        <a:latin typeface="微軟正黑體" panose="020B0604030504040204" pitchFamily="34" charset="-120"/>
                        <a:ea typeface="微軟正黑體" panose="020B0604030504040204" pitchFamily="34" charset="-120"/>
                      </a:rPr>
                      <a:t>Loss K</a:t>
                    </a:r>
                    <a:endParaRPr lang="zh-TW" altLang="en-US" sz="1100" b="1" dirty="0">
                      <a:solidFill>
                        <a:schemeClr val="tx1"/>
                      </a:solidFill>
                      <a:latin typeface="微軟正黑體" panose="020B0604030504040204" pitchFamily="34" charset="-120"/>
                      <a:ea typeface="微軟正黑體" panose="020B0604030504040204" pitchFamily="34" charset="-120"/>
                    </a:endParaRPr>
                  </a:p>
                </p:txBody>
              </p:sp>
              <p:grpSp>
                <p:nvGrpSpPr>
                  <p:cNvPr id="40" name="群組 39">
                    <a:extLst>
                      <a:ext uri="{FF2B5EF4-FFF2-40B4-BE49-F238E27FC236}">
                        <a16:creationId xmlns:a16="http://schemas.microsoft.com/office/drawing/2014/main" id="{6AD31FD9-CFC9-3BC6-DAA9-4BA363EEF52C}"/>
                      </a:ext>
                    </a:extLst>
                  </p:cNvPr>
                  <p:cNvGrpSpPr/>
                  <p:nvPr/>
                </p:nvGrpSpPr>
                <p:grpSpPr>
                  <a:xfrm>
                    <a:off x="6621178" y="2926550"/>
                    <a:ext cx="613876" cy="468000"/>
                    <a:chOff x="2136461" y="3605615"/>
                    <a:chExt cx="613876" cy="468000"/>
                  </a:xfrm>
                </p:grpSpPr>
                <p:sp>
                  <p:nvSpPr>
                    <p:cNvPr id="55" name="箭號: 向上 54">
                      <a:extLst>
                        <a:ext uri="{FF2B5EF4-FFF2-40B4-BE49-F238E27FC236}">
                          <a16:creationId xmlns:a16="http://schemas.microsoft.com/office/drawing/2014/main" id="{9EE21966-B3AD-3C8F-923E-329C07080683}"/>
                        </a:ext>
                      </a:extLst>
                    </p:cNvPr>
                    <p:cNvSpPr/>
                    <p:nvPr/>
                  </p:nvSpPr>
                  <p:spPr>
                    <a:xfrm>
                      <a:off x="2136461" y="3605615"/>
                      <a:ext cx="144000" cy="468000"/>
                    </a:xfrm>
                    <a:prstGeom prst="upArrow">
                      <a:avLst/>
                    </a:prstGeom>
                    <a:solidFill>
                      <a:srgbClr val="00B05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56" name="箭號: 向上 55">
                      <a:extLst>
                        <a:ext uri="{FF2B5EF4-FFF2-40B4-BE49-F238E27FC236}">
                          <a16:creationId xmlns:a16="http://schemas.microsoft.com/office/drawing/2014/main" id="{779FDD16-A83A-3C5F-9569-4923C899FC17}"/>
                        </a:ext>
                      </a:extLst>
                    </p:cNvPr>
                    <p:cNvSpPr/>
                    <p:nvPr/>
                  </p:nvSpPr>
                  <p:spPr>
                    <a:xfrm>
                      <a:off x="2606337" y="3605615"/>
                      <a:ext cx="144000" cy="234000"/>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sp>
                <p:nvSpPr>
                  <p:cNvPr id="41" name="箭號: 向上 40">
                    <a:extLst>
                      <a:ext uri="{FF2B5EF4-FFF2-40B4-BE49-F238E27FC236}">
                        <a16:creationId xmlns:a16="http://schemas.microsoft.com/office/drawing/2014/main" id="{AA3F0EB9-080C-EB04-42F5-AC1F024EC1FE}"/>
                      </a:ext>
                    </a:extLst>
                  </p:cNvPr>
                  <p:cNvSpPr/>
                  <p:nvPr/>
                </p:nvSpPr>
                <p:spPr>
                  <a:xfrm>
                    <a:off x="5609384" y="2926550"/>
                    <a:ext cx="144000" cy="468000"/>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2" name="箭號: 向上 41">
                    <a:extLst>
                      <a:ext uri="{FF2B5EF4-FFF2-40B4-BE49-F238E27FC236}">
                        <a16:creationId xmlns:a16="http://schemas.microsoft.com/office/drawing/2014/main" id="{A85BE5B5-C490-1D33-0D5D-CCB43FE4BF59}"/>
                      </a:ext>
                    </a:extLst>
                  </p:cNvPr>
                  <p:cNvSpPr/>
                  <p:nvPr/>
                </p:nvSpPr>
                <p:spPr>
                  <a:xfrm>
                    <a:off x="5609384" y="1984057"/>
                    <a:ext cx="144000" cy="216000"/>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3" name="箭號: 向上 42">
                    <a:extLst>
                      <a:ext uri="{FF2B5EF4-FFF2-40B4-BE49-F238E27FC236}">
                        <a16:creationId xmlns:a16="http://schemas.microsoft.com/office/drawing/2014/main" id="{A334D02C-5A7E-7BC5-3DD6-815FD87C566C}"/>
                      </a:ext>
                    </a:extLst>
                  </p:cNvPr>
                  <p:cNvSpPr/>
                  <p:nvPr/>
                </p:nvSpPr>
                <p:spPr>
                  <a:xfrm>
                    <a:off x="6832604" y="1984057"/>
                    <a:ext cx="144000" cy="216000"/>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4" name="矩形: 圓角 43">
                    <a:extLst>
                      <a:ext uri="{FF2B5EF4-FFF2-40B4-BE49-F238E27FC236}">
                        <a16:creationId xmlns:a16="http://schemas.microsoft.com/office/drawing/2014/main" id="{85CFA479-001F-0F49-5FBF-0EB96FBBD5A0}"/>
                      </a:ext>
                    </a:extLst>
                  </p:cNvPr>
                  <p:cNvSpPr/>
                  <p:nvPr/>
                </p:nvSpPr>
                <p:spPr>
                  <a:xfrm>
                    <a:off x="5119943" y="3528044"/>
                    <a:ext cx="3562573" cy="601586"/>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TW" sz="1600" dirty="0">
                        <a:solidFill>
                          <a:schemeClr val="tx1"/>
                        </a:solidFill>
                        <a:latin typeface="微軟正黑體" panose="020B0604030504040204" pitchFamily="34" charset="-120"/>
                        <a:ea typeface="微軟正黑體" panose="020B0604030504040204" pitchFamily="34" charset="-120"/>
                      </a:rPr>
                      <a:t>Head K</a:t>
                    </a:r>
                    <a:endParaRPr lang="zh-TW" altLang="en-US" sz="1600" dirty="0">
                      <a:solidFill>
                        <a:schemeClr val="tx1"/>
                      </a:solidFill>
                      <a:latin typeface="微軟正黑體" panose="020B0604030504040204" pitchFamily="34" charset="-120"/>
                      <a:ea typeface="微軟正黑體" panose="020B0604030504040204" pitchFamily="34" charset="-120"/>
                    </a:endParaRPr>
                  </a:p>
                </p:txBody>
              </p:sp>
              <p:grpSp>
                <p:nvGrpSpPr>
                  <p:cNvPr id="45" name="群組 44">
                    <a:extLst>
                      <a:ext uri="{FF2B5EF4-FFF2-40B4-BE49-F238E27FC236}">
                        <a16:creationId xmlns:a16="http://schemas.microsoft.com/office/drawing/2014/main" id="{C01835E1-C7A3-AA46-CECE-06514EB0096E}"/>
                      </a:ext>
                    </a:extLst>
                  </p:cNvPr>
                  <p:cNvGrpSpPr/>
                  <p:nvPr/>
                </p:nvGrpSpPr>
                <p:grpSpPr>
                  <a:xfrm>
                    <a:off x="8694245" y="1647994"/>
                    <a:ext cx="312802" cy="2314744"/>
                    <a:chOff x="4194267" y="2327059"/>
                    <a:chExt cx="205141" cy="2314744"/>
                  </a:xfrm>
                </p:grpSpPr>
                <p:sp>
                  <p:nvSpPr>
                    <p:cNvPr id="53" name="矩形 52">
                      <a:extLst>
                        <a:ext uri="{FF2B5EF4-FFF2-40B4-BE49-F238E27FC236}">
                          <a16:creationId xmlns:a16="http://schemas.microsoft.com/office/drawing/2014/main" id="{B52811F9-156B-8D2D-CDF1-7DC2E62D0844}"/>
                        </a:ext>
                      </a:extLst>
                    </p:cNvPr>
                    <p:cNvSpPr/>
                    <p:nvPr/>
                  </p:nvSpPr>
                  <p:spPr>
                    <a:xfrm>
                      <a:off x="4198915" y="2327059"/>
                      <a:ext cx="200493" cy="9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54" name="箭號: 向左 53">
                      <a:extLst>
                        <a:ext uri="{FF2B5EF4-FFF2-40B4-BE49-F238E27FC236}">
                          <a16:creationId xmlns:a16="http://schemas.microsoft.com/office/drawing/2014/main" id="{C1AB85D7-8D07-959F-546C-18711124BCB6}"/>
                        </a:ext>
                      </a:extLst>
                    </p:cNvPr>
                    <p:cNvSpPr/>
                    <p:nvPr/>
                  </p:nvSpPr>
                  <p:spPr>
                    <a:xfrm>
                      <a:off x="4194267" y="4461803"/>
                      <a:ext cx="180000" cy="180000"/>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sp>
                <p:nvSpPr>
                  <p:cNvPr id="46" name="矩形: 圓角 45">
                    <a:extLst>
                      <a:ext uri="{FF2B5EF4-FFF2-40B4-BE49-F238E27FC236}">
                        <a16:creationId xmlns:a16="http://schemas.microsoft.com/office/drawing/2014/main" id="{0CEFFEE3-513E-954C-0097-93A32C4703B3}"/>
                      </a:ext>
                    </a:extLst>
                  </p:cNvPr>
                  <p:cNvSpPr/>
                  <p:nvPr/>
                </p:nvSpPr>
                <p:spPr>
                  <a:xfrm>
                    <a:off x="5119943" y="1347202"/>
                    <a:ext cx="3564200" cy="601586"/>
                  </a:xfrm>
                  <a:prstGeom prst="roundRect">
                    <a:avLst/>
                  </a:prstGeom>
                  <a:solidFill>
                    <a:schemeClr val="tx2">
                      <a:lumMod val="20000"/>
                      <a:lumOff val="8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Add</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47" name="矩形 46">
                    <a:extLst>
                      <a:ext uri="{FF2B5EF4-FFF2-40B4-BE49-F238E27FC236}">
                        <a16:creationId xmlns:a16="http://schemas.microsoft.com/office/drawing/2014/main" id="{5EC48091-B2E7-5434-E138-CCC4B773A822}"/>
                      </a:ext>
                    </a:extLst>
                  </p:cNvPr>
                  <p:cNvSpPr/>
                  <p:nvPr/>
                </p:nvSpPr>
                <p:spPr>
                  <a:xfrm>
                    <a:off x="8961624" y="1647995"/>
                    <a:ext cx="90845" cy="226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48" name="矩形: 圓角 47">
                    <a:extLst>
                      <a:ext uri="{FF2B5EF4-FFF2-40B4-BE49-F238E27FC236}">
                        <a16:creationId xmlns:a16="http://schemas.microsoft.com/office/drawing/2014/main" id="{C050283C-EF63-902E-DF81-124B17048713}"/>
                      </a:ext>
                    </a:extLst>
                  </p:cNvPr>
                  <p:cNvSpPr/>
                  <p:nvPr/>
                </p:nvSpPr>
                <p:spPr>
                  <a:xfrm>
                    <a:off x="6295316" y="2241003"/>
                    <a:ext cx="1277949" cy="6015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TW" sz="1100" b="1" dirty="0">
                        <a:solidFill>
                          <a:schemeClr val="tx1"/>
                        </a:solidFill>
                        <a:latin typeface="微軟正黑體" panose="020B0604030504040204" pitchFamily="34" charset="-120"/>
                        <a:ea typeface="微軟正黑體" panose="020B0604030504040204" pitchFamily="34" charset="-120"/>
                      </a:rPr>
                      <a:t>LCM Loss K</a:t>
                    </a:r>
                    <a:endParaRPr lang="zh-TW" altLang="en-US" sz="1100" b="1" dirty="0">
                      <a:solidFill>
                        <a:schemeClr val="tx1"/>
                      </a:solidFill>
                      <a:latin typeface="微軟正黑體" panose="020B0604030504040204" pitchFamily="34" charset="-120"/>
                      <a:ea typeface="微軟正黑體" panose="020B0604030504040204" pitchFamily="34" charset="-120"/>
                    </a:endParaRPr>
                  </a:p>
                </p:txBody>
              </p:sp>
              <p:sp>
                <p:nvSpPr>
                  <p:cNvPr id="49" name="矩形: 圓角 48">
                    <a:extLst>
                      <a:ext uri="{FF2B5EF4-FFF2-40B4-BE49-F238E27FC236}">
                        <a16:creationId xmlns:a16="http://schemas.microsoft.com/office/drawing/2014/main" id="{64958959-8FC5-B8E9-F36C-1FC4FF8A5E60}"/>
                      </a:ext>
                    </a:extLst>
                  </p:cNvPr>
                  <p:cNvSpPr/>
                  <p:nvPr/>
                </p:nvSpPr>
                <p:spPr>
                  <a:xfrm>
                    <a:off x="7619682" y="2233629"/>
                    <a:ext cx="1277949" cy="6015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TW" sz="1100" b="1" dirty="0">
                        <a:solidFill>
                          <a:schemeClr val="tx1"/>
                        </a:solidFill>
                        <a:latin typeface="微軟正黑體" panose="020B0604030504040204" pitchFamily="34" charset="-120"/>
                        <a:ea typeface="微軟正黑體" panose="020B0604030504040204" pitchFamily="34" charset="-120"/>
                      </a:rPr>
                      <a:t>SDC Loss K</a:t>
                    </a:r>
                    <a:endParaRPr lang="zh-TW" altLang="en-US" sz="1100" b="1" dirty="0">
                      <a:solidFill>
                        <a:schemeClr val="tx1"/>
                      </a:solidFill>
                      <a:latin typeface="微軟正黑體" panose="020B0604030504040204" pitchFamily="34" charset="-120"/>
                      <a:ea typeface="微軟正黑體" panose="020B0604030504040204" pitchFamily="34" charset="-120"/>
                    </a:endParaRPr>
                  </a:p>
                </p:txBody>
              </p:sp>
              <p:sp>
                <p:nvSpPr>
                  <p:cNvPr id="50" name="箭號: 向上 49">
                    <a:extLst>
                      <a:ext uri="{FF2B5EF4-FFF2-40B4-BE49-F238E27FC236}">
                        <a16:creationId xmlns:a16="http://schemas.microsoft.com/office/drawing/2014/main" id="{0185C914-59C8-02B7-8D94-0D37B872E0BC}"/>
                      </a:ext>
                    </a:extLst>
                  </p:cNvPr>
                  <p:cNvSpPr/>
                  <p:nvPr/>
                </p:nvSpPr>
                <p:spPr>
                  <a:xfrm>
                    <a:off x="8568611" y="2920788"/>
                    <a:ext cx="144000" cy="234000"/>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51" name="箭號: 向上 50">
                    <a:extLst>
                      <a:ext uri="{FF2B5EF4-FFF2-40B4-BE49-F238E27FC236}">
                        <a16:creationId xmlns:a16="http://schemas.microsoft.com/office/drawing/2014/main" id="{CB23C83F-8767-A781-C50C-20E612CC195A}"/>
                      </a:ext>
                    </a:extLst>
                  </p:cNvPr>
                  <p:cNvSpPr/>
                  <p:nvPr/>
                </p:nvSpPr>
                <p:spPr>
                  <a:xfrm>
                    <a:off x="8192058" y="1986450"/>
                    <a:ext cx="144000" cy="216000"/>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52" name="箭號: 向上 51">
                    <a:extLst>
                      <a:ext uri="{FF2B5EF4-FFF2-40B4-BE49-F238E27FC236}">
                        <a16:creationId xmlns:a16="http://schemas.microsoft.com/office/drawing/2014/main" id="{FF5780A4-09FC-8A66-4A17-0C73DE62B4A5}"/>
                      </a:ext>
                    </a:extLst>
                  </p:cNvPr>
                  <p:cNvSpPr/>
                  <p:nvPr/>
                </p:nvSpPr>
                <p:spPr>
                  <a:xfrm>
                    <a:off x="8088527" y="2928996"/>
                    <a:ext cx="144000" cy="468000"/>
                  </a:xfrm>
                  <a:prstGeom prst="upArrow">
                    <a:avLst/>
                  </a:prstGeom>
                  <a:solidFill>
                    <a:srgbClr val="7030A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grpSp>
          <p:sp>
            <p:nvSpPr>
              <p:cNvPr id="29" name="矩形: 圓角 28">
                <a:extLst>
                  <a:ext uri="{FF2B5EF4-FFF2-40B4-BE49-F238E27FC236}">
                    <a16:creationId xmlns:a16="http://schemas.microsoft.com/office/drawing/2014/main" id="{6EC2B0BC-8D2E-A8F4-AC3D-29F7774CB9B0}"/>
                  </a:ext>
                </a:extLst>
              </p:cNvPr>
              <p:cNvSpPr/>
              <p:nvPr/>
            </p:nvSpPr>
            <p:spPr>
              <a:xfrm>
                <a:off x="4396742" y="2238264"/>
                <a:ext cx="1277949" cy="601586"/>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TW" sz="1100" b="1" dirty="0">
                    <a:solidFill>
                      <a:schemeClr val="tx1"/>
                    </a:solidFill>
                    <a:latin typeface="微軟正黑體" panose="020B0604030504040204" pitchFamily="34" charset="-120"/>
                    <a:ea typeface="微軟正黑體" panose="020B0604030504040204" pitchFamily="34" charset="-120"/>
                  </a:rPr>
                  <a:t>SDC Loss 2</a:t>
                </a:r>
                <a:endParaRPr lang="zh-TW" altLang="en-US" sz="1100" b="1" dirty="0">
                  <a:solidFill>
                    <a:schemeClr val="tx1"/>
                  </a:solidFill>
                  <a:latin typeface="微軟正黑體" panose="020B0604030504040204" pitchFamily="34" charset="-120"/>
                  <a:ea typeface="微軟正黑體" panose="020B0604030504040204" pitchFamily="34" charset="-120"/>
                </a:endParaRPr>
              </a:p>
            </p:txBody>
          </p:sp>
          <p:sp>
            <p:nvSpPr>
              <p:cNvPr id="30" name="箭號: 向上 29">
                <a:extLst>
                  <a:ext uri="{FF2B5EF4-FFF2-40B4-BE49-F238E27FC236}">
                    <a16:creationId xmlns:a16="http://schemas.microsoft.com/office/drawing/2014/main" id="{C01E838F-A7FE-9FFF-153D-B6372FFA1FB4}"/>
                  </a:ext>
                </a:extLst>
              </p:cNvPr>
              <p:cNvSpPr/>
              <p:nvPr/>
            </p:nvSpPr>
            <p:spPr>
              <a:xfrm>
                <a:off x="4963716" y="1996796"/>
                <a:ext cx="144000" cy="216000"/>
              </a:xfrm>
              <a:prstGeom prst="up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grpSp>
      <p:sp>
        <p:nvSpPr>
          <p:cNvPr id="86" name="箭號: 向上 85">
            <a:extLst>
              <a:ext uri="{FF2B5EF4-FFF2-40B4-BE49-F238E27FC236}">
                <a16:creationId xmlns:a16="http://schemas.microsoft.com/office/drawing/2014/main" id="{3A0FF195-172A-423E-ABC8-97F08035DFDB}"/>
              </a:ext>
            </a:extLst>
          </p:cNvPr>
          <p:cNvSpPr/>
          <p:nvPr/>
        </p:nvSpPr>
        <p:spPr>
          <a:xfrm>
            <a:off x="8182025" y="3094694"/>
            <a:ext cx="215809" cy="360000"/>
          </a:xfrm>
          <a:prstGeom prst="upArrow">
            <a:avLst/>
          </a:prstGeom>
          <a:solidFill>
            <a:srgbClr val="7030A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solidFill>
                <a:srgbClr val="FF0000"/>
              </a:solidFill>
              <a:latin typeface="微軟正黑體" panose="020B0604030504040204" pitchFamily="34" charset="-120"/>
              <a:ea typeface="微軟正黑體" panose="020B0604030504040204" pitchFamily="34" charset="-120"/>
            </a:endParaRPr>
          </a:p>
        </p:txBody>
      </p:sp>
      <p:grpSp>
        <p:nvGrpSpPr>
          <p:cNvPr id="2" name="群組 1">
            <a:extLst>
              <a:ext uri="{FF2B5EF4-FFF2-40B4-BE49-F238E27FC236}">
                <a16:creationId xmlns:a16="http://schemas.microsoft.com/office/drawing/2014/main" id="{AE55943C-4A22-96EC-0FE5-CE2CDA45B33F}"/>
              </a:ext>
            </a:extLst>
          </p:cNvPr>
          <p:cNvGrpSpPr/>
          <p:nvPr/>
        </p:nvGrpSpPr>
        <p:grpSpPr>
          <a:xfrm>
            <a:off x="7187811" y="5096926"/>
            <a:ext cx="5728232" cy="786364"/>
            <a:chOff x="6584535" y="4608216"/>
            <a:chExt cx="5728232" cy="786364"/>
          </a:xfrm>
        </p:grpSpPr>
        <mc:AlternateContent xmlns:mc="http://schemas.openxmlformats.org/markup-compatibility/2006" xmlns:a14="http://schemas.microsoft.com/office/drawing/2010/main">
          <mc:Choice Requires="a14">
            <p:sp>
              <p:nvSpPr>
                <p:cNvPr id="87" name="文字方塊 86">
                  <a:extLst>
                    <a:ext uri="{FF2B5EF4-FFF2-40B4-BE49-F238E27FC236}">
                      <a16:creationId xmlns:a16="http://schemas.microsoft.com/office/drawing/2014/main" id="{64AFC7C3-1290-0262-914D-63F3E40C9B83}"/>
                    </a:ext>
                  </a:extLst>
                </p:cNvPr>
                <p:cNvSpPr txBox="1"/>
                <p:nvPr/>
              </p:nvSpPr>
              <p:spPr>
                <a:xfrm>
                  <a:off x="6785797" y="5056026"/>
                  <a:ext cx="5526970" cy="338554"/>
                </a:xfrm>
                <a:prstGeom prst="rect">
                  <a:avLst/>
                </a:prstGeom>
                <a:noFill/>
              </p:spPr>
              <p:txBody>
                <a:bodyPr wrap="square" rtlCol="0">
                  <a:spAutoFit/>
                </a:bodyPr>
                <a:lstStyle/>
                <a:p>
                  <a14:m>
                    <m:oMath xmlns:m="http://schemas.openxmlformats.org/officeDocument/2006/math">
                      <m:sSub>
                        <m:sSubPr>
                          <m:ctrlPr>
                            <a:rPr lang="en-US" altLang="zh-TW" sz="1600" i="1" smtClean="0">
                              <a:latin typeface="Cambria Math" panose="02040503050406030204" pitchFamily="18" charset="0"/>
                            </a:rPr>
                          </m:ctrlPr>
                        </m:sSubPr>
                        <m:e>
                          <m:r>
                            <m:rPr>
                              <m:nor/>
                            </m:rPr>
                            <a:rPr lang="en-US" altLang="zh-TW" sz="1600"/>
                            <m:t>S</m:t>
                          </m:r>
                        </m:e>
                        <m:sub>
                          <m:r>
                            <a:rPr lang="en-US" altLang="zh-TW" sz="1600" b="0" i="1" smtClean="0">
                              <a:latin typeface="Cambria Math" panose="02040503050406030204" pitchFamily="18" charset="0"/>
                            </a:rPr>
                            <m:t>𝑊</m:t>
                          </m:r>
                        </m:sub>
                      </m:sSub>
                    </m:oMath>
                  </a14:m>
                  <a:r>
                    <a:rPr lang="en-US" altLang="zh-TW" sz="1600"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sz="1600" i="1" smtClean="0">
                              <a:latin typeface="Cambria Math" panose="02040503050406030204" pitchFamily="18" charset="0"/>
                            </a:rPr>
                          </m:ctrlPr>
                        </m:sSubPr>
                        <m:e>
                          <m:r>
                            <a:rPr lang="en-US" altLang="zh-TW" sz="1600" i="1">
                              <a:latin typeface="Cambria Math" panose="02040503050406030204" pitchFamily="18" charset="0"/>
                            </a:rPr>
                            <m:t>𝐿</m:t>
                          </m:r>
                        </m:e>
                        <m:sub>
                          <m:r>
                            <a:rPr lang="en-US" altLang="zh-TW" sz="1600" b="0" i="1" smtClean="0">
                              <a:latin typeface="Cambria Math" panose="02040503050406030204" pitchFamily="18" charset="0"/>
                            </a:rPr>
                            <m:t>𝑊</m:t>
                          </m:r>
                        </m:sub>
                      </m:sSub>
                    </m:oMath>
                  </a14:m>
                  <a:r>
                    <a:rPr lang="en-US" altLang="zh-TW" sz="1600" dirty="0">
                      <a:latin typeface="微軟正黑體" panose="020B0604030504040204" pitchFamily="34" charset="-120"/>
                      <a:ea typeface="微軟正黑體" panose="020B0604030504040204" pitchFamily="34" charset="-120"/>
                    </a:rPr>
                    <a:t>: loss weights</a:t>
                  </a:r>
                </a:p>
              </p:txBody>
            </p:sp>
          </mc:Choice>
          <mc:Fallback xmlns="">
            <p:sp>
              <p:nvSpPr>
                <p:cNvPr id="87" name="文字方塊 86">
                  <a:extLst>
                    <a:ext uri="{FF2B5EF4-FFF2-40B4-BE49-F238E27FC236}">
                      <a16:creationId xmlns:a16="http://schemas.microsoft.com/office/drawing/2014/main" id="{64AFC7C3-1290-0262-914D-63F3E40C9B83}"/>
                    </a:ext>
                  </a:extLst>
                </p:cNvPr>
                <p:cNvSpPr txBox="1">
                  <a:spLocks noRot="1" noChangeAspect="1" noMove="1" noResize="1" noEditPoints="1" noAdjustHandles="1" noChangeArrowheads="1" noChangeShapeType="1" noTextEdit="1"/>
                </p:cNvSpPr>
                <p:nvPr/>
              </p:nvSpPr>
              <p:spPr>
                <a:xfrm>
                  <a:off x="6785797" y="5056026"/>
                  <a:ext cx="5526970" cy="338554"/>
                </a:xfrm>
                <a:prstGeom prst="rect">
                  <a:avLst/>
                </a:prstGeom>
                <a:blipFill>
                  <a:blip r:embed="rId2"/>
                  <a:stretch>
                    <a:fillRect t="-7273" b="-218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8" name="文字方塊 87">
                  <a:extLst>
                    <a:ext uri="{FF2B5EF4-FFF2-40B4-BE49-F238E27FC236}">
                      <a16:creationId xmlns:a16="http://schemas.microsoft.com/office/drawing/2014/main" id="{D40F25B6-DEBA-E63B-0D4D-200DD1605C63}"/>
                    </a:ext>
                  </a:extLst>
                </p:cNvPr>
                <p:cNvSpPr txBox="1"/>
                <p:nvPr/>
              </p:nvSpPr>
              <p:spPr>
                <a:xfrm>
                  <a:off x="6584535" y="4608216"/>
                  <a:ext cx="416362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𝐿</m:t>
                            </m:r>
                          </m:e>
                          <m:sub>
                            <m:r>
                              <a:rPr lang="en-US" altLang="zh-TW" b="0" i="1" smtClean="0">
                                <a:latin typeface="Cambria Math" panose="02040503050406030204" pitchFamily="18" charset="0"/>
                              </a:rPr>
                              <m:t>𝑡𝑜𝑡𝑎𝑙</m:t>
                            </m:r>
                          </m:sub>
                        </m:sSub>
                        <m:r>
                          <a:rPr lang="en-US" altLang="zh-TW" i="1">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𝐿</m:t>
                            </m:r>
                          </m:e>
                          <m:sub>
                            <m:r>
                              <a:rPr lang="en-US" altLang="zh-TW" b="0" i="1" smtClean="0">
                                <a:latin typeface="Cambria Math" panose="02040503050406030204" pitchFamily="18" charset="0"/>
                              </a:rPr>
                              <m:t>𝐶𝐸</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sSub>
                              <m:sSubPr>
                                <m:ctrlPr>
                                  <a:rPr lang="en-US" altLang="zh-TW" b="0" i="1" smtClean="0">
                                    <a:latin typeface="Cambria Math" panose="02040503050406030204" pitchFamily="18" charset="0"/>
                                  </a:rPr>
                                </m:ctrlPr>
                              </m:sSubPr>
                              <m:e>
                                <m:r>
                                  <m:rPr>
                                    <m:nor/>
                                  </m:rPr>
                                  <a:rPr lang="en-US" altLang="zh-TW"/>
                                  <m:t>S</m:t>
                                </m:r>
                              </m:e>
                              <m:sub>
                                <m:r>
                                  <a:rPr lang="en-US" altLang="zh-TW" b="0" i="1" smtClean="0">
                                    <a:latin typeface="Cambria Math" panose="02040503050406030204" pitchFamily="18" charset="0"/>
                                  </a:rPr>
                                  <m:t>𝑊</m:t>
                                </m:r>
                              </m:sub>
                            </m:sSub>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rPr>
                              <m:t>𝐿</m:t>
                            </m:r>
                          </m:e>
                          <m:sub>
                            <m:r>
                              <a:rPr lang="en-US" altLang="zh-TW" b="0" i="1" smtClean="0">
                                <a:latin typeface="Cambria Math" panose="02040503050406030204" pitchFamily="18" charset="0"/>
                              </a:rPr>
                              <m:t>𝑆𝐷𝐶</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𝐿</m:t>
                                </m:r>
                              </m:e>
                              <m:sub>
                                <m:r>
                                  <a:rPr lang="en-US" altLang="zh-TW" b="0" i="1" smtClean="0">
                                    <a:latin typeface="Cambria Math" panose="02040503050406030204" pitchFamily="18" charset="0"/>
                                  </a:rPr>
                                  <m:t>𝑊</m:t>
                                </m:r>
                              </m:sub>
                            </m:sSub>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rPr>
                              <m:t>𝐿</m:t>
                            </m:r>
                          </m:e>
                          <m:sub>
                            <m:r>
                              <a:rPr lang="en-US" altLang="zh-TW" b="0" i="1" smtClean="0">
                                <a:latin typeface="Cambria Math" panose="02040503050406030204" pitchFamily="18" charset="0"/>
                              </a:rPr>
                              <m:t>𝐿𝐶𝑀</m:t>
                            </m:r>
                          </m:sub>
                        </m:sSub>
                      </m:oMath>
                    </m:oMathPara>
                  </a14:m>
                  <a:endParaRPr lang="zh-TW" altLang="en-US" dirty="0">
                    <a:latin typeface="微軟正黑體" panose="020B0604030504040204" pitchFamily="34" charset="-120"/>
                    <a:ea typeface="微軟正黑體" panose="020B0604030504040204" pitchFamily="34" charset="-120"/>
                  </a:endParaRPr>
                </a:p>
              </p:txBody>
            </p:sp>
          </mc:Choice>
          <mc:Fallback xmlns="">
            <p:sp>
              <p:nvSpPr>
                <p:cNvPr id="88" name="文字方塊 87">
                  <a:extLst>
                    <a:ext uri="{FF2B5EF4-FFF2-40B4-BE49-F238E27FC236}">
                      <a16:creationId xmlns:a16="http://schemas.microsoft.com/office/drawing/2014/main" id="{D40F25B6-DEBA-E63B-0D4D-200DD1605C63}"/>
                    </a:ext>
                  </a:extLst>
                </p:cNvPr>
                <p:cNvSpPr txBox="1">
                  <a:spLocks noRot="1" noChangeAspect="1" noMove="1" noResize="1" noEditPoints="1" noAdjustHandles="1" noChangeArrowheads="1" noChangeShapeType="1" noTextEdit="1"/>
                </p:cNvSpPr>
                <p:nvPr/>
              </p:nvSpPr>
              <p:spPr>
                <a:xfrm>
                  <a:off x="6584535" y="4608216"/>
                  <a:ext cx="4163627" cy="369332"/>
                </a:xfrm>
                <a:prstGeom prst="rect">
                  <a:avLst/>
                </a:prstGeom>
                <a:blipFill>
                  <a:blip r:embed="rId3"/>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743949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CE5BD35F-12A9-164B-112C-34537F4AA41C}"/>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dirty="0">
              <a:latin typeface="微軟正黑體" panose="020B0604030504040204" pitchFamily="34" charset="-120"/>
              <a:ea typeface="微軟正黑體" panose="020B0604030504040204" pitchFamily="34" charset="-120"/>
            </a:endParaRPr>
          </a:p>
        </p:txBody>
      </p:sp>
      <p:sp>
        <p:nvSpPr>
          <p:cNvPr id="7" name="Shape 4">
            <a:extLst>
              <a:ext uri="{FF2B5EF4-FFF2-40B4-BE49-F238E27FC236}">
                <a16:creationId xmlns:a16="http://schemas.microsoft.com/office/drawing/2014/main" id="{1805A2C2-4192-126E-F6A5-83058157C425}"/>
              </a:ext>
            </a:extLst>
          </p:cNvPr>
          <p:cNvSpPr/>
          <p:nvPr/>
        </p:nvSpPr>
        <p:spPr>
          <a:xfrm>
            <a:off x="0" y="2496312"/>
            <a:ext cx="12191695" cy="676656"/>
          </a:xfrm>
          <a:prstGeom prst="rect">
            <a:avLst/>
          </a:prstGeom>
          <a:solidFill>
            <a:srgbClr val="5B839B"/>
          </a:solidFill>
          <a:ln w="12700">
            <a:solidFill>
              <a:srgbClr val="5B839B"/>
            </a:solidFill>
            <a:prstDash val="solid"/>
          </a:ln>
        </p:spPr>
        <p:txBody>
          <a:bodyPr/>
          <a:lstStyle/>
          <a:p>
            <a:endParaRPr lang="zh-TW" altLang="en-US"/>
          </a:p>
        </p:txBody>
      </p:sp>
      <p:sp>
        <p:nvSpPr>
          <p:cNvPr id="8" name="Text 5">
            <a:extLst>
              <a:ext uri="{FF2B5EF4-FFF2-40B4-BE49-F238E27FC236}">
                <a16:creationId xmlns:a16="http://schemas.microsoft.com/office/drawing/2014/main" id="{BF71064F-0026-1663-C4BE-F4C3FC855C56}"/>
              </a:ext>
            </a:extLst>
          </p:cNvPr>
          <p:cNvSpPr/>
          <p:nvPr/>
        </p:nvSpPr>
        <p:spPr>
          <a:xfrm>
            <a:off x="457200" y="2660904"/>
            <a:ext cx="11274552" cy="292608"/>
          </a:xfrm>
          <a:prstGeom prst="rect">
            <a:avLst/>
          </a:prstGeom>
          <a:noFill/>
          <a:ln/>
        </p:spPr>
        <p:txBody>
          <a:bodyPr wrap="square" lIns="0" tIns="0" rIns="0" bIns="0" rtlCol="0" anchor="ctr"/>
          <a:lstStyle/>
          <a:p>
            <a:pPr marL="0" indent="0" algn="ctr">
              <a:buNone/>
            </a:pPr>
            <a:r>
              <a:rPr lang="en-US" sz="2000" b="1" dirty="0">
                <a:solidFill>
                  <a:srgbClr val="FFFFFF"/>
                </a:solidFill>
                <a:latin typeface="微軟正黑體" panose="020B0604030504040204" pitchFamily="34" charset="-120"/>
                <a:ea typeface="微軟正黑體" panose="020B0604030504040204" pitchFamily="34" charset="-120"/>
                <a:cs typeface="Noto Sans CJK TC" pitchFamily="34" charset="-120"/>
              </a:rPr>
              <a:t>Experimental Results</a:t>
            </a:r>
            <a:endParaRPr lang="en-US" sz="20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31F05858-5EB9-4A74-6134-3FF790FAC813}"/>
              </a:ext>
            </a:extLst>
          </p:cNvPr>
          <p:cNvSpPr>
            <a:spLocks noGrp="1"/>
          </p:cNvSpPr>
          <p:nvPr>
            <p:ph type="sldNum" sz="quarter" idx="12"/>
          </p:nvPr>
        </p:nvSpPr>
        <p:spPr>
          <a:xfrm>
            <a:off x="9448495" y="6611112"/>
            <a:ext cx="2743200" cy="246888"/>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17</a:t>
            </a:fld>
            <a:endParaRPr lang="zh-TW" altLang="en-US" dirty="0">
              <a:solidFill>
                <a:schemeClr val="bg2"/>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56604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08CE9-B15D-E152-D489-DB98E7AC0F65}"/>
            </a:ext>
          </a:extLst>
        </p:cNvPr>
        <p:cNvGrpSpPr/>
        <p:nvPr/>
      </p:nvGrpSpPr>
      <p:grpSpPr>
        <a:xfrm>
          <a:off x="0" y="0"/>
          <a:ext cx="0" cy="0"/>
          <a:chOff x="0" y="0"/>
          <a:chExt cx="0" cy="0"/>
        </a:xfrm>
      </p:grpSpPr>
      <p:sp>
        <p:nvSpPr>
          <p:cNvPr id="5" name="Shape 0">
            <a:extLst>
              <a:ext uri="{FF2B5EF4-FFF2-40B4-BE49-F238E27FC236}">
                <a16:creationId xmlns:a16="http://schemas.microsoft.com/office/drawing/2014/main" id="{BB653B0E-7E64-C042-FAF9-62005C7EDBDE}"/>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33FE81E4-E7A8-E55F-9C52-C5FDB910B29D}"/>
              </a:ext>
            </a:extLst>
          </p:cNvPr>
          <p:cNvSpPr/>
          <p:nvPr/>
        </p:nvSpPr>
        <p:spPr>
          <a:xfrm>
            <a:off x="347472" y="274320"/>
            <a:ext cx="3097064" cy="182880"/>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4: Experimental Results</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0C33011E-FB4A-BA35-8CCA-6EFCA8DFF2A6}"/>
              </a:ext>
            </a:extLst>
          </p:cNvPr>
          <p:cNvSpPr/>
          <p:nvPr/>
        </p:nvSpPr>
        <p:spPr>
          <a:xfrm>
            <a:off x="347472" y="502044"/>
            <a:ext cx="7955280" cy="228600"/>
          </a:xfrm>
          <a:prstGeom prst="rect">
            <a:avLst/>
          </a:prstGeom>
          <a:noFill/>
          <a:ln/>
        </p:spPr>
        <p:txBody>
          <a:bodyPr wrap="square" lIns="0" tIns="0" rIns="0" bIns="0" rtlCol="0" anchor="ctr"/>
          <a:lstStyle/>
          <a:p>
            <a:pPr marL="0" indent="0">
              <a:buNone/>
            </a:pP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Experimental Configuration</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C148A038-939E-BECB-643E-4FD0CCDCA74E}"/>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91A74B0A-E374-01B0-38FE-040363651B10}"/>
              </a:ext>
            </a:extLst>
          </p:cNvPr>
          <p:cNvSpPr>
            <a:spLocks noGrp="1"/>
          </p:cNvSpPr>
          <p:nvPr>
            <p:ph type="sldNum" sz="quarter" idx="12"/>
          </p:nvPr>
        </p:nvSpPr>
        <p:spPr>
          <a:xfrm>
            <a:off x="9448495" y="6592072"/>
            <a:ext cx="2743200" cy="265611"/>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18</a:t>
            </a:fld>
            <a:endParaRPr lang="zh-TW" altLang="en-US" dirty="0">
              <a:solidFill>
                <a:schemeClr val="bg2"/>
              </a:solidFill>
              <a:latin typeface="微軟正黑體" panose="020B0604030504040204" pitchFamily="34" charset="-120"/>
              <a:ea typeface="微軟正黑體" panose="020B0604030504040204" pitchFamily="34" charset="-120"/>
            </a:endParaRPr>
          </a:p>
        </p:txBody>
      </p:sp>
      <p:graphicFrame>
        <p:nvGraphicFramePr>
          <p:cNvPr id="6" name="表格 5">
            <a:extLst>
              <a:ext uri="{FF2B5EF4-FFF2-40B4-BE49-F238E27FC236}">
                <a16:creationId xmlns:a16="http://schemas.microsoft.com/office/drawing/2014/main" id="{34A2B1D3-58F4-3D17-BCCB-FCEBF335E79F}"/>
              </a:ext>
            </a:extLst>
          </p:cNvPr>
          <p:cNvGraphicFramePr>
            <a:graphicFrameLocks noGrp="1"/>
          </p:cNvGraphicFramePr>
          <p:nvPr>
            <p:extLst>
              <p:ext uri="{D42A27DB-BD31-4B8C-83A1-F6EECF244321}">
                <p14:modId xmlns:p14="http://schemas.microsoft.com/office/powerpoint/2010/main" val="4097532851"/>
              </p:ext>
            </p:extLst>
          </p:nvPr>
        </p:nvGraphicFramePr>
        <p:xfrm>
          <a:off x="347472" y="931475"/>
          <a:ext cx="5414136" cy="5364480"/>
        </p:xfrm>
        <a:graphic>
          <a:graphicData uri="http://schemas.openxmlformats.org/drawingml/2006/table">
            <a:tbl>
              <a:tblPr firstRow="1" bandRow="1">
                <a:tableStyleId>{5FD0F851-EC5A-4D38-B0AD-8093EC10F338}</a:tableStyleId>
              </a:tblPr>
              <a:tblGrid>
                <a:gridCol w="2707068">
                  <a:extLst>
                    <a:ext uri="{9D8B030D-6E8A-4147-A177-3AD203B41FA5}">
                      <a16:colId xmlns:a16="http://schemas.microsoft.com/office/drawing/2014/main" val="142071572"/>
                    </a:ext>
                  </a:extLst>
                </a:gridCol>
                <a:gridCol w="2707068">
                  <a:extLst>
                    <a:ext uri="{9D8B030D-6E8A-4147-A177-3AD203B41FA5}">
                      <a16:colId xmlns:a16="http://schemas.microsoft.com/office/drawing/2014/main" val="2036798560"/>
                    </a:ext>
                  </a:extLst>
                </a:gridCol>
              </a:tblGrid>
              <a:tr h="333010">
                <a:tc>
                  <a:txBody>
                    <a:bodyPr/>
                    <a:lstStyle/>
                    <a:p>
                      <a:r>
                        <a:rPr lang="en-US" altLang="zh-TW" sz="1600" dirty="0"/>
                        <a:t>Configuration</a:t>
                      </a:r>
                      <a:endParaRPr lang="zh-TW" altLang="en-US" sz="1600" dirty="0"/>
                    </a:p>
                  </a:txBody>
                  <a:tcPr/>
                </a:tc>
                <a:tc>
                  <a:txBody>
                    <a:bodyPr/>
                    <a:lstStyle/>
                    <a:p>
                      <a:r>
                        <a:rPr lang="en-US" altLang="zh-TW" sz="1600" dirty="0"/>
                        <a:t>Value</a:t>
                      </a:r>
                      <a:endParaRPr lang="zh-TW" altLang="en-US" sz="1600" dirty="0"/>
                    </a:p>
                  </a:txBody>
                  <a:tcPr/>
                </a:tc>
                <a:extLst>
                  <a:ext uri="{0D108BD9-81ED-4DB2-BD59-A6C34878D82A}">
                    <a16:rowId xmlns:a16="http://schemas.microsoft.com/office/drawing/2014/main" val="84523644"/>
                  </a:ext>
                </a:extLst>
              </a:tr>
              <a:tr h="333010">
                <a:tc>
                  <a:txBody>
                    <a:bodyPr/>
                    <a:lstStyle/>
                    <a:p>
                      <a:r>
                        <a:rPr lang="en-US" altLang="zh-TW" sz="1600" dirty="0"/>
                        <a:t>Model Size</a:t>
                      </a:r>
                      <a:endParaRPr lang="zh-TW" altLang="en-US" sz="1600" dirty="0"/>
                    </a:p>
                  </a:txBody>
                  <a:tcPr/>
                </a:tc>
                <a:tc>
                  <a:txBody>
                    <a:bodyPr/>
                    <a:lstStyle/>
                    <a:p>
                      <a:r>
                        <a:rPr lang="en-US" altLang="zh-TW" sz="1600" dirty="0"/>
                        <a:t>1.3B</a:t>
                      </a:r>
                      <a:endParaRPr lang="zh-TW" altLang="en-US" sz="1600" dirty="0"/>
                    </a:p>
                  </a:txBody>
                  <a:tcPr/>
                </a:tc>
                <a:extLst>
                  <a:ext uri="{0D108BD9-81ED-4DB2-BD59-A6C34878D82A}">
                    <a16:rowId xmlns:a16="http://schemas.microsoft.com/office/drawing/2014/main" val="4263565599"/>
                  </a:ext>
                </a:extLst>
              </a:tr>
              <a:tr h="333010">
                <a:tc>
                  <a:txBody>
                    <a:bodyPr/>
                    <a:lstStyle/>
                    <a:p>
                      <a:r>
                        <a:rPr lang="en-US" altLang="zh-TW" sz="1600" dirty="0"/>
                        <a:t>Number of Prediction Heads</a:t>
                      </a:r>
                      <a:endParaRPr lang="zh-TW" altLang="en-US" sz="1600" dirty="0"/>
                    </a:p>
                  </a:txBody>
                  <a:tcPr/>
                </a:tc>
                <a:tc>
                  <a:txBody>
                    <a:bodyPr/>
                    <a:lstStyle/>
                    <a:p>
                      <a:r>
                        <a:rPr lang="en-US" altLang="zh-TW" sz="1600" dirty="0"/>
                        <a:t>4</a:t>
                      </a:r>
                      <a:endParaRPr lang="zh-TW" altLang="en-US" sz="1600" dirty="0"/>
                    </a:p>
                  </a:txBody>
                  <a:tcPr/>
                </a:tc>
                <a:extLst>
                  <a:ext uri="{0D108BD9-81ED-4DB2-BD59-A6C34878D82A}">
                    <a16:rowId xmlns:a16="http://schemas.microsoft.com/office/drawing/2014/main" val="1637446725"/>
                  </a:ext>
                </a:extLst>
              </a:tr>
              <a:tr h="333010">
                <a:tc>
                  <a:txBody>
                    <a:bodyPr/>
                    <a:lstStyle/>
                    <a:p>
                      <a:r>
                        <a:rPr lang="en-US" altLang="zh-TW" sz="1600" dirty="0"/>
                        <a:t>Main Training Tokens</a:t>
                      </a:r>
                      <a:endParaRPr lang="zh-TW" altLang="en-US" sz="1600" dirty="0"/>
                    </a:p>
                  </a:txBody>
                  <a:tcPr/>
                </a:tc>
                <a:tc>
                  <a:txBody>
                    <a:bodyPr/>
                    <a:lstStyle/>
                    <a:p>
                      <a:r>
                        <a:rPr lang="en-US" altLang="zh-TW" sz="1600" dirty="0"/>
                        <a:t>10B</a:t>
                      </a:r>
                      <a:endParaRPr lang="zh-TW" altLang="en-US" sz="1600" dirty="0"/>
                    </a:p>
                  </a:txBody>
                  <a:tcPr/>
                </a:tc>
                <a:extLst>
                  <a:ext uri="{0D108BD9-81ED-4DB2-BD59-A6C34878D82A}">
                    <a16:rowId xmlns:a16="http://schemas.microsoft.com/office/drawing/2014/main" val="4165402406"/>
                  </a:ext>
                </a:extLst>
              </a:tr>
              <a:tr h="333010">
                <a:tc>
                  <a:txBody>
                    <a:bodyPr/>
                    <a:lstStyle/>
                    <a:p>
                      <a:r>
                        <a:rPr lang="en-US" altLang="zh-TW" sz="1600" dirty="0"/>
                        <a:t>Ablation Training Tokens</a:t>
                      </a:r>
                      <a:endParaRPr lang="zh-TW" altLang="en-US" sz="1600" dirty="0"/>
                    </a:p>
                  </a:txBody>
                  <a:tcPr/>
                </a:tc>
                <a:tc>
                  <a:txBody>
                    <a:bodyPr/>
                    <a:lstStyle/>
                    <a:p>
                      <a:r>
                        <a:rPr lang="en-US" altLang="zh-TW" sz="1600" dirty="0"/>
                        <a:t>1B</a:t>
                      </a:r>
                      <a:endParaRPr lang="zh-TW" altLang="en-US" sz="1600" dirty="0"/>
                    </a:p>
                  </a:txBody>
                  <a:tcPr/>
                </a:tc>
                <a:extLst>
                  <a:ext uri="{0D108BD9-81ED-4DB2-BD59-A6C34878D82A}">
                    <a16:rowId xmlns:a16="http://schemas.microsoft.com/office/drawing/2014/main" val="1173496486"/>
                  </a:ext>
                </a:extLst>
              </a:tr>
              <a:tr h="333010">
                <a:tc>
                  <a:txBody>
                    <a:bodyPr/>
                    <a:lstStyle/>
                    <a:p>
                      <a:r>
                        <a:rPr lang="en-US" altLang="zh-TW" sz="1600" dirty="0"/>
                        <a:t>Sequence Length</a:t>
                      </a:r>
                      <a:endParaRPr lang="zh-TW" altLang="en-US" sz="1600" dirty="0"/>
                    </a:p>
                  </a:txBody>
                  <a:tcPr/>
                </a:tc>
                <a:tc>
                  <a:txBody>
                    <a:bodyPr/>
                    <a:lstStyle/>
                    <a:p>
                      <a:r>
                        <a:rPr lang="en-US" altLang="zh-TW" sz="1600" dirty="0"/>
                        <a:t>1024</a:t>
                      </a:r>
                      <a:endParaRPr lang="zh-TW" altLang="en-US" sz="1600" dirty="0"/>
                    </a:p>
                  </a:txBody>
                  <a:tcPr/>
                </a:tc>
                <a:extLst>
                  <a:ext uri="{0D108BD9-81ED-4DB2-BD59-A6C34878D82A}">
                    <a16:rowId xmlns:a16="http://schemas.microsoft.com/office/drawing/2014/main" val="202369887"/>
                  </a:ext>
                </a:extLst>
              </a:tr>
              <a:tr h="333010">
                <a:tc>
                  <a:txBody>
                    <a:bodyPr/>
                    <a:lstStyle/>
                    <a:p>
                      <a:r>
                        <a:rPr lang="en-US" altLang="zh-TW" sz="1600" dirty="0"/>
                        <a:t>Batch Size</a:t>
                      </a:r>
                      <a:endParaRPr lang="zh-TW" altLang="en-US" sz="1600" dirty="0"/>
                    </a:p>
                  </a:txBody>
                  <a:tcPr/>
                </a:tc>
                <a:tc>
                  <a:txBody>
                    <a:bodyPr/>
                    <a:lstStyle/>
                    <a:p>
                      <a:r>
                        <a:rPr lang="en-US" altLang="zh-TW" sz="1600" dirty="0"/>
                        <a:t>8</a:t>
                      </a:r>
                      <a:endParaRPr lang="zh-TW" altLang="en-US" sz="1600" dirty="0"/>
                    </a:p>
                  </a:txBody>
                  <a:tcPr/>
                </a:tc>
                <a:extLst>
                  <a:ext uri="{0D108BD9-81ED-4DB2-BD59-A6C34878D82A}">
                    <a16:rowId xmlns:a16="http://schemas.microsoft.com/office/drawing/2014/main" val="3860675"/>
                  </a:ext>
                </a:extLst>
              </a:tr>
              <a:tr h="333010">
                <a:tc>
                  <a:txBody>
                    <a:bodyPr/>
                    <a:lstStyle/>
                    <a:p>
                      <a:r>
                        <a:rPr lang="en-US" altLang="zh-TW" sz="1600" dirty="0"/>
                        <a:t>Optimizer</a:t>
                      </a:r>
                      <a:endParaRPr lang="zh-TW" altLang="en-US" sz="1600" dirty="0"/>
                    </a:p>
                  </a:txBody>
                  <a:tcPr/>
                </a:tc>
                <a:tc>
                  <a:txBody>
                    <a:bodyPr/>
                    <a:lstStyle/>
                    <a:p>
                      <a:r>
                        <a:rPr lang="en-US" altLang="zh-TW" sz="1600" dirty="0" err="1"/>
                        <a:t>AdamW</a:t>
                      </a:r>
                      <a:endParaRPr lang="zh-TW" altLang="en-US" sz="1600" dirty="0"/>
                    </a:p>
                  </a:txBody>
                  <a:tcPr/>
                </a:tc>
                <a:extLst>
                  <a:ext uri="{0D108BD9-81ED-4DB2-BD59-A6C34878D82A}">
                    <a16:rowId xmlns:a16="http://schemas.microsoft.com/office/drawing/2014/main" val="2138757649"/>
                  </a:ext>
                </a:extLst>
              </a:tr>
              <a:tr h="333010">
                <a:tc>
                  <a:txBody>
                    <a:bodyPr/>
                    <a:lstStyle/>
                    <a:p>
                      <a:r>
                        <a:rPr lang="en-US" altLang="zh-TW" sz="1600" dirty="0"/>
                        <a:t>Peak LR</a:t>
                      </a:r>
                      <a:endParaRPr lang="zh-TW" altLang="en-US" sz="1600" dirty="0"/>
                    </a:p>
                  </a:txBody>
                  <a:tcPr/>
                </a:tc>
                <a:tc>
                  <a:txBody>
                    <a:bodyPr/>
                    <a:lstStyle/>
                    <a:p>
                      <a:r>
                        <a:rPr lang="en-US" altLang="zh-TW" sz="1600" dirty="0"/>
                        <a:t>3 × 10</a:t>
                      </a:r>
                      <a:r>
                        <a:rPr lang="en-US" altLang="zh-TW" sz="1600" strike="noStrike" baseline="30000" dirty="0"/>
                        <a:t>−4</a:t>
                      </a:r>
                      <a:endParaRPr lang="zh-TW" altLang="en-US" sz="1600" strike="noStrike" baseline="30000" dirty="0"/>
                    </a:p>
                  </a:txBody>
                  <a:tcPr/>
                </a:tc>
                <a:extLst>
                  <a:ext uri="{0D108BD9-81ED-4DB2-BD59-A6C34878D82A}">
                    <a16:rowId xmlns:a16="http://schemas.microsoft.com/office/drawing/2014/main" val="2939992339"/>
                  </a:ext>
                </a:extLst>
              </a:tr>
              <a:tr h="333010">
                <a:tc>
                  <a:txBody>
                    <a:bodyPr/>
                    <a:lstStyle/>
                    <a:p>
                      <a:r>
                        <a:rPr lang="en-US" altLang="zh-TW" sz="1600" dirty="0"/>
                        <a:t>Weight Decay</a:t>
                      </a:r>
                      <a:endParaRPr lang="zh-TW" altLang="en-US" sz="1600" dirty="0"/>
                    </a:p>
                  </a:txBody>
                  <a:tcPr/>
                </a:tc>
                <a:tc>
                  <a:txBody>
                    <a:bodyPr/>
                    <a:lstStyle/>
                    <a:p>
                      <a:r>
                        <a:rPr lang="en-US" altLang="zh-TW" sz="1600" dirty="0"/>
                        <a:t>0.1</a:t>
                      </a:r>
                      <a:endParaRPr lang="zh-TW" altLang="en-US" sz="1600" dirty="0"/>
                    </a:p>
                  </a:txBody>
                  <a:tcPr/>
                </a:tc>
                <a:extLst>
                  <a:ext uri="{0D108BD9-81ED-4DB2-BD59-A6C34878D82A}">
                    <a16:rowId xmlns:a16="http://schemas.microsoft.com/office/drawing/2014/main" val="302997807"/>
                  </a:ext>
                </a:extLst>
              </a:tr>
              <a:tr h="333010">
                <a:tc>
                  <a:txBody>
                    <a:bodyPr/>
                    <a:lstStyle/>
                    <a:p>
                      <a:r>
                        <a:rPr lang="en-US" altLang="zh-TW" sz="1600" dirty="0"/>
                        <a:t>Warm-up Steps</a:t>
                      </a:r>
                      <a:endParaRPr lang="zh-TW" altLang="en-US" sz="1600" dirty="0"/>
                    </a:p>
                  </a:txBody>
                  <a:tcPr/>
                </a:tc>
                <a:tc>
                  <a:txBody>
                    <a:bodyPr/>
                    <a:lstStyle/>
                    <a:p>
                      <a:r>
                        <a:rPr lang="en-US" altLang="zh-TW" sz="1600" dirty="0"/>
                        <a:t>15000</a:t>
                      </a:r>
                      <a:endParaRPr lang="zh-TW" altLang="en-US" sz="1600" dirty="0"/>
                    </a:p>
                  </a:txBody>
                  <a:tcPr/>
                </a:tc>
                <a:extLst>
                  <a:ext uri="{0D108BD9-81ED-4DB2-BD59-A6C34878D82A}">
                    <a16:rowId xmlns:a16="http://schemas.microsoft.com/office/drawing/2014/main" val="3009897189"/>
                  </a:ext>
                </a:extLst>
              </a:tr>
              <a:tr h="333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dirty="0">
                          <a:solidFill>
                            <a:schemeClr val="tx1"/>
                          </a:solidFill>
                        </a:rPr>
                        <a:t>S</a:t>
                      </a:r>
                      <a:r>
                        <a:rPr lang="en-US" altLang="zh-TW" sz="1600" baseline="-25000" dirty="0">
                          <a:solidFill>
                            <a:schemeClr val="tx1"/>
                          </a:solidFill>
                        </a:rPr>
                        <a:t>W</a:t>
                      </a:r>
                      <a:r>
                        <a:rPr lang="en-US" altLang="zh-TW" sz="1600" baseline="0" dirty="0">
                          <a:solidFill>
                            <a:schemeClr val="tx1"/>
                          </a:solidFill>
                        </a:rPr>
                        <a:t>=1.0</a:t>
                      </a:r>
                      <a:endParaRPr lang="en-US" altLang="zh-TW" sz="1600" baseline="0" dirty="0">
                        <a:solidFill>
                          <a:schemeClr val="tx1"/>
                        </a:solidFill>
                        <a:latin typeface="+mn-lt"/>
                      </a:endParaRPr>
                    </a:p>
                  </a:txBody>
                  <a:tcPr/>
                </a:tc>
                <a:tc>
                  <a:txBody>
                    <a:bodyPr/>
                    <a:lstStyle/>
                    <a:p>
                      <a:r>
                        <a:rPr lang="en-US" altLang="zh-TW" sz="1600" dirty="0"/>
                        <a:t>1.0</a:t>
                      </a:r>
                      <a:endParaRPr lang="zh-TW" altLang="en-US" sz="1600" dirty="0"/>
                    </a:p>
                  </a:txBody>
                  <a:tcPr/>
                </a:tc>
                <a:extLst>
                  <a:ext uri="{0D108BD9-81ED-4DB2-BD59-A6C34878D82A}">
                    <a16:rowId xmlns:a16="http://schemas.microsoft.com/office/drawing/2014/main" val="3406940620"/>
                  </a:ext>
                </a:extLst>
              </a:tr>
              <a:tr h="333010">
                <a:tc>
                  <a:txBody>
                    <a:bodyPr/>
                    <a:lstStyle/>
                    <a:p>
                      <a:r>
                        <a:rPr lang="en-US" altLang="zh-TW" sz="1600" dirty="0"/>
                        <a:t>Confidence Threshold</a:t>
                      </a:r>
                      <a:r>
                        <a:rPr lang="en-US" altLang="zh-TW" sz="1600" dirty="0">
                          <a:solidFill>
                            <a:schemeClr val="tx1"/>
                          </a:solidFill>
                        </a:rPr>
                        <a:t> </a:t>
                      </a:r>
                      <a:r>
                        <a:rPr lang="el-GR" altLang="zh-TW" sz="1600" dirty="0">
                          <a:solidFill>
                            <a:schemeClr val="tx1"/>
                          </a:solidFill>
                        </a:rPr>
                        <a:t>τ</a:t>
                      </a:r>
                      <a:r>
                        <a:rPr lang="en-US" altLang="zh-TW" sz="1600" dirty="0">
                          <a:solidFill>
                            <a:schemeClr val="tx1"/>
                          </a:solidFill>
                        </a:rPr>
                        <a:t>=0.0</a:t>
                      </a:r>
                      <a:endParaRPr lang="zh-TW" altLang="en-US" sz="1600" dirty="0"/>
                    </a:p>
                  </a:txBody>
                  <a:tcPr/>
                </a:tc>
                <a:tc>
                  <a:txBody>
                    <a:bodyPr/>
                    <a:lstStyle/>
                    <a:p>
                      <a:r>
                        <a:rPr lang="en-US" altLang="zh-TW" sz="1600" dirty="0"/>
                        <a:t>0.3</a:t>
                      </a:r>
                      <a:endParaRPr lang="zh-TW" altLang="en-US" sz="1600" dirty="0"/>
                    </a:p>
                  </a:txBody>
                  <a:tcPr/>
                </a:tc>
                <a:extLst>
                  <a:ext uri="{0D108BD9-81ED-4DB2-BD59-A6C34878D82A}">
                    <a16:rowId xmlns:a16="http://schemas.microsoft.com/office/drawing/2014/main" val="1616527746"/>
                  </a:ext>
                </a:extLst>
              </a:tr>
              <a:tr h="333010">
                <a:tc>
                  <a:txBody>
                    <a:bodyPr/>
                    <a:lstStyle/>
                    <a:p>
                      <a:r>
                        <a:rPr lang="en-US" altLang="zh-TW" sz="1600" dirty="0">
                          <a:solidFill>
                            <a:schemeClr val="tx1"/>
                          </a:solidFill>
                        </a:rPr>
                        <a:t>L</a:t>
                      </a:r>
                      <a:r>
                        <a:rPr lang="en-US" altLang="zh-TW" sz="1600" baseline="-25000" dirty="0">
                          <a:solidFill>
                            <a:schemeClr val="tx1"/>
                          </a:solidFill>
                        </a:rPr>
                        <a:t>W</a:t>
                      </a:r>
                      <a:r>
                        <a:rPr lang="en-US" altLang="zh-TW" sz="1600" baseline="0" dirty="0">
                          <a:solidFill>
                            <a:schemeClr val="tx1"/>
                          </a:solidFill>
                        </a:rPr>
                        <a:t>=0.0</a:t>
                      </a:r>
                      <a:endParaRPr lang="zh-TW" altLang="en-US" sz="1600" dirty="0"/>
                    </a:p>
                  </a:txBody>
                  <a:tcPr/>
                </a:tc>
                <a:tc>
                  <a:txBody>
                    <a:bodyPr/>
                    <a:lstStyle/>
                    <a:p>
                      <a:r>
                        <a:rPr lang="en-US" altLang="zh-TW" sz="1600" dirty="0"/>
                        <a:t>0.5</a:t>
                      </a:r>
                      <a:endParaRPr lang="zh-TW" altLang="en-US" sz="1600" dirty="0"/>
                    </a:p>
                  </a:txBody>
                  <a:tcPr/>
                </a:tc>
                <a:extLst>
                  <a:ext uri="{0D108BD9-81ED-4DB2-BD59-A6C34878D82A}">
                    <a16:rowId xmlns:a16="http://schemas.microsoft.com/office/drawing/2014/main" val="715751638"/>
                  </a:ext>
                </a:extLst>
              </a:tr>
              <a:tr h="333010">
                <a:tc>
                  <a:txBody>
                    <a:bodyPr/>
                    <a:lstStyle/>
                    <a:p>
                      <a:r>
                        <a:rPr lang="en-US" altLang="zh-TW" sz="1600" dirty="0"/>
                        <a:t>Top-p</a:t>
                      </a:r>
                      <a:endParaRPr lang="zh-TW" altLang="en-US" sz="1600" dirty="0"/>
                    </a:p>
                  </a:txBody>
                  <a:tcPr/>
                </a:tc>
                <a:tc>
                  <a:txBody>
                    <a:bodyPr/>
                    <a:lstStyle/>
                    <a:p>
                      <a:r>
                        <a:rPr lang="en-US" altLang="zh-TW" sz="1600" dirty="0"/>
                        <a:t>0.9</a:t>
                      </a:r>
                      <a:endParaRPr lang="zh-TW" altLang="en-US" sz="1600" dirty="0"/>
                    </a:p>
                  </a:txBody>
                  <a:tcPr/>
                </a:tc>
                <a:extLst>
                  <a:ext uri="{0D108BD9-81ED-4DB2-BD59-A6C34878D82A}">
                    <a16:rowId xmlns:a16="http://schemas.microsoft.com/office/drawing/2014/main" val="1206736815"/>
                  </a:ext>
                </a:extLst>
              </a:tr>
              <a:tr h="333010">
                <a:tc>
                  <a:txBody>
                    <a:bodyPr/>
                    <a:lstStyle/>
                    <a:p>
                      <a:r>
                        <a:rPr lang="en-US" altLang="zh-TW" sz="1600" dirty="0"/>
                        <a:t>Temperature</a:t>
                      </a:r>
                      <a:endParaRPr lang="zh-TW" altLang="en-US" sz="1600" dirty="0"/>
                    </a:p>
                  </a:txBody>
                  <a:tcPr/>
                </a:tc>
                <a:tc>
                  <a:txBody>
                    <a:bodyPr/>
                    <a:lstStyle/>
                    <a:p>
                      <a:r>
                        <a:rPr lang="en-US" altLang="zh-TW" sz="1600" dirty="0"/>
                        <a:t>0.8</a:t>
                      </a:r>
                      <a:endParaRPr lang="zh-TW" altLang="en-US" sz="1600" dirty="0"/>
                    </a:p>
                  </a:txBody>
                  <a:tcPr/>
                </a:tc>
                <a:extLst>
                  <a:ext uri="{0D108BD9-81ED-4DB2-BD59-A6C34878D82A}">
                    <a16:rowId xmlns:a16="http://schemas.microsoft.com/office/drawing/2014/main" val="805408332"/>
                  </a:ext>
                </a:extLst>
              </a:tr>
            </a:tbl>
          </a:graphicData>
        </a:graphic>
      </p:graphicFrame>
      <p:sp>
        <p:nvSpPr>
          <p:cNvPr id="13" name="文字方塊 12">
            <a:extLst>
              <a:ext uri="{FF2B5EF4-FFF2-40B4-BE49-F238E27FC236}">
                <a16:creationId xmlns:a16="http://schemas.microsoft.com/office/drawing/2014/main" id="{E11A7D62-96F1-9A82-D4B8-D302ACE62F18}"/>
              </a:ext>
            </a:extLst>
          </p:cNvPr>
          <p:cNvSpPr txBox="1"/>
          <p:nvPr/>
        </p:nvSpPr>
        <p:spPr>
          <a:xfrm>
            <a:off x="6085332" y="4680168"/>
            <a:ext cx="5960029" cy="1754326"/>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For optimization, </a:t>
            </a:r>
            <a:r>
              <a:rPr lang="en-US" altLang="zh-TW" dirty="0" err="1">
                <a:latin typeface="微軟正黑體" panose="020B0604030504040204" pitchFamily="34" charset="-120"/>
                <a:ea typeface="微軟正黑體" panose="020B0604030504040204" pitchFamily="34" charset="-120"/>
              </a:rPr>
              <a:t>AdamW</a:t>
            </a:r>
            <a:r>
              <a:rPr lang="en-US" altLang="zh-TW" dirty="0">
                <a:latin typeface="微軟正黑體" panose="020B0604030504040204" pitchFamily="34" charset="-120"/>
                <a:ea typeface="微軟正黑體" panose="020B0604030504040204" pitchFamily="34" charset="-120"/>
              </a:rPr>
              <a:t> [9] was used with β1 = 0.9, β2 = 0.95, and a decoupled weight decay coefficient of 0.1. The learning rate was linearly warmed up, followed by a cosine decay schedule [10]. In addition, gradients were clipped to a maximum Euclidean norm of 1.0 throughout training.</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575758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8EDDD34D-DF9C-339C-ED94-CEAAFBB621AB}"/>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FB5C3920-06C1-C4C8-1162-7F38DE3FF843}"/>
              </a:ext>
            </a:extLst>
          </p:cNvPr>
          <p:cNvSpPr/>
          <p:nvPr/>
        </p:nvSpPr>
        <p:spPr>
          <a:xfrm>
            <a:off x="347472" y="274320"/>
            <a:ext cx="3097064" cy="182880"/>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4: Experimental Results</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12858C2F-BF00-D14D-E98B-F5A9C6205139}"/>
              </a:ext>
            </a:extLst>
          </p:cNvPr>
          <p:cNvSpPr/>
          <p:nvPr/>
        </p:nvSpPr>
        <p:spPr>
          <a:xfrm>
            <a:off x="347472" y="502044"/>
            <a:ext cx="7955280" cy="228600"/>
          </a:xfrm>
          <a:prstGeom prst="rect">
            <a:avLst/>
          </a:prstGeom>
          <a:noFill/>
          <a:ln/>
        </p:spPr>
        <p:txBody>
          <a:bodyPr wrap="square" lIns="0" tIns="0" rIns="0" bIns="0" rtlCol="0" anchor="ctr"/>
          <a:lstStyle/>
          <a:p>
            <a:pPr marL="0" indent="0">
              <a:buNone/>
            </a:pP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Main 1.3B Comparison — SDC+LCM vs. Baseline: Oracle PPL</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89377490-C045-655E-918C-E2AFC8CCC4BA}"/>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graphicFrame>
        <p:nvGraphicFramePr>
          <p:cNvPr id="10" name="表格 9">
            <a:extLst>
              <a:ext uri="{FF2B5EF4-FFF2-40B4-BE49-F238E27FC236}">
                <a16:creationId xmlns:a16="http://schemas.microsoft.com/office/drawing/2014/main" id="{42D882C5-AF48-E86D-E103-90CD67259B09}"/>
              </a:ext>
            </a:extLst>
          </p:cNvPr>
          <p:cNvGraphicFramePr>
            <a:graphicFrameLocks noGrp="1"/>
          </p:cNvGraphicFramePr>
          <p:nvPr>
            <p:extLst>
              <p:ext uri="{D42A27DB-BD31-4B8C-83A1-F6EECF244321}">
                <p14:modId xmlns:p14="http://schemas.microsoft.com/office/powerpoint/2010/main" val="3360551656"/>
              </p:ext>
            </p:extLst>
          </p:nvPr>
        </p:nvGraphicFramePr>
        <p:xfrm>
          <a:off x="347472" y="1630272"/>
          <a:ext cx="11475720" cy="2950605"/>
        </p:xfrm>
        <a:graphic>
          <a:graphicData uri="http://schemas.openxmlformats.org/drawingml/2006/table">
            <a:tbl>
              <a:tblPr firstRow="1" bandRow="1">
                <a:tableStyleId>{5FD0F851-EC5A-4D38-B0AD-8093EC10F338}</a:tableStyleId>
              </a:tblPr>
              <a:tblGrid>
                <a:gridCol w="2868930">
                  <a:extLst>
                    <a:ext uri="{9D8B030D-6E8A-4147-A177-3AD203B41FA5}">
                      <a16:colId xmlns:a16="http://schemas.microsoft.com/office/drawing/2014/main" val="2798033119"/>
                    </a:ext>
                  </a:extLst>
                </a:gridCol>
                <a:gridCol w="2868930">
                  <a:extLst>
                    <a:ext uri="{9D8B030D-6E8A-4147-A177-3AD203B41FA5}">
                      <a16:colId xmlns:a16="http://schemas.microsoft.com/office/drawing/2014/main" val="2302720759"/>
                    </a:ext>
                  </a:extLst>
                </a:gridCol>
                <a:gridCol w="2868930">
                  <a:extLst>
                    <a:ext uri="{9D8B030D-6E8A-4147-A177-3AD203B41FA5}">
                      <a16:colId xmlns:a16="http://schemas.microsoft.com/office/drawing/2014/main" val="3196848465"/>
                    </a:ext>
                  </a:extLst>
                </a:gridCol>
                <a:gridCol w="2868930">
                  <a:extLst>
                    <a:ext uri="{9D8B030D-6E8A-4147-A177-3AD203B41FA5}">
                      <a16:colId xmlns:a16="http://schemas.microsoft.com/office/drawing/2014/main" val="119275881"/>
                    </a:ext>
                  </a:extLst>
                </a:gridCol>
              </a:tblGrid>
              <a:tr h="590121">
                <a:tc>
                  <a:txBody>
                    <a:bodyPr/>
                    <a:lstStyle/>
                    <a:p>
                      <a:pPr algn="ctr"/>
                      <a:r>
                        <a:rPr lang="en-US" altLang="zh-TW" sz="1600" dirty="0"/>
                        <a:t>Metric</a:t>
                      </a:r>
                      <a:endParaRPr lang="zh-TW" altLang="en-US" sz="1600" dirty="0"/>
                    </a:p>
                  </a:txBody>
                  <a:tcPr anchor="ctr"/>
                </a:tc>
                <a:tc>
                  <a:txBody>
                    <a:bodyPr/>
                    <a:lstStyle/>
                    <a:p>
                      <a:pPr algn="ctr"/>
                      <a:r>
                        <a:rPr lang="en-US" altLang="zh-TW" sz="1600" dirty="0"/>
                        <a:t>SDC+LCM</a:t>
                      </a:r>
                    </a:p>
                  </a:txBody>
                  <a:tcPr anchor="ctr"/>
                </a:tc>
                <a:tc>
                  <a:txBody>
                    <a:bodyPr/>
                    <a:lstStyle/>
                    <a:p>
                      <a:pPr algn="ctr"/>
                      <a:r>
                        <a:rPr lang="en-US" altLang="zh-TW" sz="1600" dirty="0"/>
                        <a:t>Baseline</a:t>
                      </a:r>
                    </a:p>
                  </a:txBody>
                  <a:tcPr anchor="ctr"/>
                </a:tc>
                <a:tc>
                  <a:txBody>
                    <a:bodyPr/>
                    <a:lstStyle/>
                    <a:p>
                      <a:pPr algn="ctr"/>
                      <a:r>
                        <a:rPr lang="en-US" altLang="zh-TW" sz="1600" dirty="0"/>
                        <a:t>Improvement</a:t>
                      </a:r>
                      <a:endParaRPr lang="zh-TW" altLang="en-US" sz="1600" dirty="0"/>
                    </a:p>
                  </a:txBody>
                  <a:tcPr anchor="ctr"/>
                </a:tc>
                <a:extLst>
                  <a:ext uri="{0D108BD9-81ED-4DB2-BD59-A6C34878D82A}">
                    <a16:rowId xmlns:a16="http://schemas.microsoft.com/office/drawing/2014/main" val="2708462793"/>
                  </a:ext>
                </a:extLst>
              </a:tr>
              <a:tr h="590121">
                <a:tc>
                  <a:txBody>
                    <a:bodyPr/>
                    <a:lstStyle/>
                    <a:p>
                      <a:pPr algn="ctr"/>
                      <a:r>
                        <a:rPr lang="en-US" altLang="zh-TW" sz="1600" dirty="0"/>
                        <a:t>PPL head 1</a:t>
                      </a:r>
                    </a:p>
                  </a:txBody>
                  <a:tcPr anchor="ctr"/>
                </a:tc>
                <a:tc>
                  <a:txBody>
                    <a:bodyPr/>
                    <a:lstStyle/>
                    <a:p>
                      <a:pPr algn="ctr"/>
                      <a:r>
                        <a:rPr lang="en-US" altLang="zh-TW" sz="1600" dirty="0"/>
                        <a:t>19.1695</a:t>
                      </a:r>
                    </a:p>
                  </a:txBody>
                  <a:tcPr anchor="ctr"/>
                </a:tc>
                <a:tc>
                  <a:txBody>
                    <a:bodyPr/>
                    <a:lstStyle/>
                    <a:p>
                      <a:pPr algn="ctr"/>
                      <a:r>
                        <a:rPr lang="en-US" altLang="zh-TW" sz="1600" dirty="0"/>
                        <a:t>19.4293</a:t>
                      </a:r>
                      <a:endParaRPr lang="zh-TW" altLang="en-US" sz="1600" dirty="0"/>
                    </a:p>
                  </a:txBody>
                  <a:tcPr anchor="ctr"/>
                </a:tc>
                <a:tc>
                  <a:txBody>
                    <a:bodyPr/>
                    <a:lstStyle/>
                    <a:p>
                      <a:pPr algn="ctr"/>
                      <a:r>
                        <a:rPr lang="en-US" altLang="zh-TW" sz="1600" dirty="0"/>
                        <a:t>1.34% </a:t>
                      </a:r>
                    </a:p>
                  </a:txBody>
                  <a:tcPr anchor="ctr"/>
                </a:tc>
                <a:extLst>
                  <a:ext uri="{0D108BD9-81ED-4DB2-BD59-A6C34878D82A}">
                    <a16:rowId xmlns:a16="http://schemas.microsoft.com/office/drawing/2014/main" val="863181710"/>
                  </a:ext>
                </a:extLst>
              </a:tr>
              <a:tr h="590121">
                <a:tc>
                  <a:txBody>
                    <a:bodyPr/>
                    <a:lstStyle/>
                    <a:p>
                      <a:pPr algn="ctr"/>
                      <a:r>
                        <a:rPr lang="en-US" altLang="zh-TW" sz="1600" dirty="0"/>
                        <a:t>PPL head 2</a:t>
                      </a:r>
                    </a:p>
                  </a:txBody>
                  <a:tcPr anchor="ctr"/>
                </a:tc>
                <a:tc>
                  <a:txBody>
                    <a:bodyPr/>
                    <a:lstStyle/>
                    <a:p>
                      <a:pPr algn="ctr"/>
                      <a:r>
                        <a:rPr lang="en-US" altLang="zh-TW" sz="1600" dirty="0"/>
                        <a:t>83.7266</a:t>
                      </a:r>
                    </a:p>
                  </a:txBody>
                  <a:tcPr anchor="ctr"/>
                </a:tc>
                <a:tc>
                  <a:txBody>
                    <a:bodyPr/>
                    <a:lstStyle/>
                    <a:p>
                      <a:pPr algn="ctr"/>
                      <a:r>
                        <a:rPr lang="en-US" altLang="zh-TW" sz="1600" dirty="0"/>
                        <a:t>87.2351</a:t>
                      </a:r>
                      <a:endParaRPr lang="zh-TW" altLang="en-US" sz="1600" dirty="0"/>
                    </a:p>
                  </a:txBody>
                  <a:tcPr anchor="ctr"/>
                </a:tc>
                <a:tc>
                  <a:txBody>
                    <a:bodyPr/>
                    <a:lstStyle/>
                    <a:p>
                      <a:pPr algn="ctr"/>
                      <a:r>
                        <a:rPr lang="en-US" altLang="zh-TW" sz="1600" dirty="0"/>
                        <a:t>4.02% </a:t>
                      </a:r>
                    </a:p>
                  </a:txBody>
                  <a:tcPr anchor="ctr"/>
                </a:tc>
                <a:extLst>
                  <a:ext uri="{0D108BD9-81ED-4DB2-BD59-A6C34878D82A}">
                    <a16:rowId xmlns:a16="http://schemas.microsoft.com/office/drawing/2014/main" val="3274358862"/>
                  </a:ext>
                </a:extLst>
              </a:tr>
              <a:tr h="590121">
                <a:tc>
                  <a:txBody>
                    <a:bodyPr/>
                    <a:lstStyle/>
                    <a:p>
                      <a:pPr algn="ctr"/>
                      <a:r>
                        <a:rPr lang="en-US" altLang="zh-TW" sz="1600" dirty="0"/>
                        <a:t>PPL head 3</a:t>
                      </a:r>
                    </a:p>
                  </a:txBody>
                  <a:tcPr anchor="ctr"/>
                </a:tc>
                <a:tc>
                  <a:txBody>
                    <a:bodyPr/>
                    <a:lstStyle/>
                    <a:p>
                      <a:pPr algn="ctr"/>
                      <a:r>
                        <a:rPr lang="en-US" altLang="zh-TW" sz="1600" dirty="0"/>
                        <a:t>189.2825</a:t>
                      </a:r>
                    </a:p>
                  </a:txBody>
                  <a:tcPr anchor="ctr"/>
                </a:tc>
                <a:tc>
                  <a:txBody>
                    <a:bodyPr/>
                    <a:lstStyle/>
                    <a:p>
                      <a:pPr algn="ctr"/>
                      <a:r>
                        <a:rPr lang="en-US" altLang="zh-TW" sz="1600" dirty="0"/>
                        <a:t>200.0813</a:t>
                      </a:r>
                      <a:endParaRPr lang="zh-TW" altLang="en-US" sz="1600" dirty="0"/>
                    </a:p>
                  </a:txBody>
                  <a:tcPr anchor="ctr"/>
                </a:tc>
                <a:tc>
                  <a:txBody>
                    <a:bodyPr/>
                    <a:lstStyle/>
                    <a:p>
                      <a:pPr algn="ctr"/>
                      <a:r>
                        <a:rPr lang="en-US" altLang="zh-TW" sz="1600" dirty="0"/>
                        <a:t>5.40% </a:t>
                      </a:r>
                    </a:p>
                  </a:txBody>
                  <a:tcPr anchor="ctr"/>
                </a:tc>
                <a:extLst>
                  <a:ext uri="{0D108BD9-81ED-4DB2-BD59-A6C34878D82A}">
                    <a16:rowId xmlns:a16="http://schemas.microsoft.com/office/drawing/2014/main" val="570447526"/>
                  </a:ext>
                </a:extLst>
              </a:tr>
              <a:tr h="590121">
                <a:tc>
                  <a:txBody>
                    <a:bodyPr/>
                    <a:lstStyle/>
                    <a:p>
                      <a:pPr algn="ctr"/>
                      <a:r>
                        <a:rPr lang="en-US" altLang="zh-TW" sz="1600" dirty="0"/>
                        <a:t>PPL head 4</a:t>
                      </a:r>
                    </a:p>
                  </a:txBody>
                  <a:tcPr anchor="ctr"/>
                </a:tc>
                <a:tc>
                  <a:txBody>
                    <a:bodyPr/>
                    <a:lstStyle/>
                    <a:p>
                      <a:pPr algn="ctr"/>
                      <a:r>
                        <a:rPr lang="en-US" altLang="zh-TW" sz="1600" dirty="0"/>
                        <a:t>299.5625</a:t>
                      </a:r>
                      <a:endParaRPr lang="zh-TW" altLang="en-US" sz="1600" dirty="0"/>
                    </a:p>
                  </a:txBody>
                  <a:tcPr anchor="ctr"/>
                </a:tc>
                <a:tc>
                  <a:txBody>
                    <a:bodyPr/>
                    <a:lstStyle/>
                    <a:p>
                      <a:pPr algn="ctr"/>
                      <a:r>
                        <a:rPr lang="en-US" altLang="zh-TW" sz="1600" dirty="0"/>
                        <a:t>318.3247</a:t>
                      </a:r>
                      <a:endParaRPr lang="zh-TW" altLang="en-US" sz="1600" dirty="0"/>
                    </a:p>
                  </a:txBody>
                  <a:tcPr anchor="ctr"/>
                </a:tc>
                <a:tc>
                  <a:txBody>
                    <a:bodyPr/>
                    <a:lstStyle/>
                    <a:p>
                      <a:pPr algn="ctr"/>
                      <a:r>
                        <a:rPr lang="en-US" altLang="zh-TW" sz="1600" dirty="0"/>
                        <a:t>5.89% </a:t>
                      </a:r>
                    </a:p>
                  </a:txBody>
                  <a:tcPr anchor="ctr"/>
                </a:tc>
                <a:extLst>
                  <a:ext uri="{0D108BD9-81ED-4DB2-BD59-A6C34878D82A}">
                    <a16:rowId xmlns:a16="http://schemas.microsoft.com/office/drawing/2014/main" val="1428410621"/>
                  </a:ext>
                </a:extLst>
              </a:tr>
            </a:tbl>
          </a:graphicData>
        </a:graphic>
      </p:graphicFrame>
      <p:sp>
        <p:nvSpPr>
          <p:cNvPr id="4" name="投影片編號版面配置區 3">
            <a:extLst>
              <a:ext uri="{FF2B5EF4-FFF2-40B4-BE49-F238E27FC236}">
                <a16:creationId xmlns:a16="http://schemas.microsoft.com/office/drawing/2014/main" id="{1CFF09F6-7F17-A49F-D2F3-AA4CB1A40BCD}"/>
              </a:ext>
            </a:extLst>
          </p:cNvPr>
          <p:cNvSpPr>
            <a:spLocks noGrp="1"/>
          </p:cNvSpPr>
          <p:nvPr>
            <p:ph type="sldNum" sz="quarter" idx="12"/>
          </p:nvPr>
        </p:nvSpPr>
        <p:spPr>
          <a:xfrm>
            <a:off x="9448495" y="6592072"/>
            <a:ext cx="2743200" cy="265611"/>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19</a:t>
            </a:fld>
            <a:endParaRPr lang="zh-TW" altLang="en-US" dirty="0">
              <a:solidFill>
                <a:schemeClr val="bg2"/>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992EDA1D-CEF4-9B2B-D5F3-D9CD329047CE}"/>
              </a:ext>
            </a:extLst>
          </p:cNvPr>
          <p:cNvSpPr txBox="1"/>
          <p:nvPr/>
        </p:nvSpPr>
        <p:spPr>
          <a:xfrm>
            <a:off x="223184" y="4696850"/>
            <a:ext cx="11779425" cy="1415772"/>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Observation</a:t>
            </a:r>
          </a:p>
          <a:p>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Larger gains are observed for farther prediction heads.</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Head 4 achieves the largest PPL reduction (5.89%).</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Head 1 remains comparable to the baseline.</a:t>
            </a:r>
          </a:p>
        </p:txBody>
      </p:sp>
      <p:sp>
        <p:nvSpPr>
          <p:cNvPr id="2" name="文字方塊 1">
            <a:extLst>
              <a:ext uri="{FF2B5EF4-FFF2-40B4-BE49-F238E27FC236}">
                <a16:creationId xmlns:a16="http://schemas.microsoft.com/office/drawing/2014/main" id="{82255D20-0CB2-1925-7490-653483B596E1}"/>
              </a:ext>
            </a:extLst>
          </p:cNvPr>
          <p:cNvSpPr txBox="1"/>
          <p:nvPr/>
        </p:nvSpPr>
        <p:spPr>
          <a:xfrm>
            <a:off x="347472" y="878889"/>
            <a:ext cx="11475720" cy="646331"/>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Oracle PPL was computed independently for each prediction head using its corresponding ground-truth future token, where lower PPL indicates better prediction quality.</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216391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B1710DA8-7949-89DC-9392-328DBF882438}"/>
              </a:ext>
            </a:extLst>
          </p:cNvPr>
          <p:cNvSpPr/>
          <p:nvPr/>
        </p:nvSpPr>
        <p:spPr>
          <a:xfrm>
            <a:off x="0" y="6607903"/>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5AC42501-20AC-D714-D933-D726611F3B3B}"/>
              </a:ext>
            </a:extLst>
          </p:cNvPr>
          <p:cNvSpPr/>
          <p:nvPr/>
        </p:nvSpPr>
        <p:spPr>
          <a:xfrm>
            <a:off x="347472" y="271111"/>
            <a:ext cx="306000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4: Experimental Results</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0E2A625E-7505-7F37-9A13-70255328D5FC}"/>
              </a:ext>
            </a:extLst>
          </p:cNvPr>
          <p:cNvSpPr/>
          <p:nvPr/>
        </p:nvSpPr>
        <p:spPr>
          <a:xfrm>
            <a:off x="347471" y="492064"/>
            <a:ext cx="7955280" cy="228600"/>
          </a:xfrm>
          <a:prstGeom prst="rect">
            <a:avLst/>
          </a:prstGeom>
          <a:noFill/>
          <a:ln/>
        </p:spPr>
        <p:txBody>
          <a:bodyPr wrap="square" lIns="0" tIns="0" rIns="0" bIns="0" rtlCol="0" anchor="ctr"/>
          <a:lstStyle/>
          <a:p>
            <a:r>
              <a:rPr lang="en-US" altLang="zh-TW"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Main</a:t>
            </a: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 1.3B Comparison — SDC+LCM vs. baseline: Average Draft Tokens Accepted </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E36841D6-5F46-9BE4-B918-3883BA94AAAB}"/>
              </a:ext>
            </a:extLst>
          </p:cNvPr>
          <p:cNvSpPr/>
          <p:nvPr/>
        </p:nvSpPr>
        <p:spPr>
          <a:xfrm>
            <a:off x="347472" y="746599"/>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graphicFrame>
        <p:nvGraphicFramePr>
          <p:cNvPr id="10" name="表格 9">
            <a:extLst>
              <a:ext uri="{FF2B5EF4-FFF2-40B4-BE49-F238E27FC236}">
                <a16:creationId xmlns:a16="http://schemas.microsoft.com/office/drawing/2014/main" id="{C907E366-F3EF-F511-30F9-B9F33F9E93B3}"/>
              </a:ext>
            </a:extLst>
          </p:cNvPr>
          <p:cNvGraphicFramePr>
            <a:graphicFrameLocks noGrp="1"/>
          </p:cNvGraphicFramePr>
          <p:nvPr>
            <p:extLst>
              <p:ext uri="{D42A27DB-BD31-4B8C-83A1-F6EECF244321}">
                <p14:modId xmlns:p14="http://schemas.microsoft.com/office/powerpoint/2010/main" val="246342629"/>
              </p:ext>
            </p:extLst>
          </p:nvPr>
        </p:nvGraphicFramePr>
        <p:xfrm>
          <a:off x="347471" y="2126201"/>
          <a:ext cx="11475720" cy="2804850"/>
        </p:xfrm>
        <a:graphic>
          <a:graphicData uri="http://schemas.openxmlformats.org/drawingml/2006/table">
            <a:tbl>
              <a:tblPr firstRow="1" bandRow="1">
                <a:tableStyleId>{5FD0F851-EC5A-4D38-B0AD-8093EC10F338}</a:tableStyleId>
              </a:tblPr>
              <a:tblGrid>
                <a:gridCol w="2868930">
                  <a:extLst>
                    <a:ext uri="{9D8B030D-6E8A-4147-A177-3AD203B41FA5}">
                      <a16:colId xmlns:a16="http://schemas.microsoft.com/office/drawing/2014/main" val="2798033119"/>
                    </a:ext>
                  </a:extLst>
                </a:gridCol>
                <a:gridCol w="2868930">
                  <a:extLst>
                    <a:ext uri="{9D8B030D-6E8A-4147-A177-3AD203B41FA5}">
                      <a16:colId xmlns:a16="http://schemas.microsoft.com/office/drawing/2014/main" val="2302720759"/>
                    </a:ext>
                  </a:extLst>
                </a:gridCol>
                <a:gridCol w="2868930">
                  <a:extLst>
                    <a:ext uri="{9D8B030D-6E8A-4147-A177-3AD203B41FA5}">
                      <a16:colId xmlns:a16="http://schemas.microsoft.com/office/drawing/2014/main" val="3196848465"/>
                    </a:ext>
                  </a:extLst>
                </a:gridCol>
                <a:gridCol w="2868930">
                  <a:extLst>
                    <a:ext uri="{9D8B030D-6E8A-4147-A177-3AD203B41FA5}">
                      <a16:colId xmlns:a16="http://schemas.microsoft.com/office/drawing/2014/main" val="119275881"/>
                    </a:ext>
                  </a:extLst>
                </a:gridCol>
              </a:tblGrid>
              <a:tr h="467475">
                <a:tc>
                  <a:txBody>
                    <a:bodyPr/>
                    <a:lstStyle/>
                    <a:p>
                      <a:pPr algn="ctr"/>
                      <a:r>
                        <a:rPr lang="en-US" altLang="zh-TW" sz="1600" dirty="0"/>
                        <a:t>Metric</a:t>
                      </a:r>
                      <a:endParaRPr lang="zh-TW" altLang="en-US" sz="1600" dirty="0"/>
                    </a:p>
                  </a:txBody>
                  <a:tcPr anchor="ctr"/>
                </a:tc>
                <a:tc>
                  <a:txBody>
                    <a:bodyPr/>
                    <a:lstStyle/>
                    <a:p>
                      <a:pPr algn="ctr"/>
                      <a:r>
                        <a:rPr lang="en-US" altLang="zh-TW" sz="1600" dirty="0"/>
                        <a:t>SDC+LCM</a:t>
                      </a:r>
                    </a:p>
                  </a:txBody>
                  <a:tcPr anchor="ctr"/>
                </a:tc>
                <a:tc>
                  <a:txBody>
                    <a:bodyPr/>
                    <a:lstStyle/>
                    <a:p>
                      <a:pPr algn="ctr"/>
                      <a:r>
                        <a:rPr lang="en-US" altLang="zh-TW" sz="1600" dirty="0"/>
                        <a:t>Baseline</a:t>
                      </a:r>
                    </a:p>
                  </a:txBody>
                  <a:tcPr anchor="ctr"/>
                </a:tc>
                <a:tc>
                  <a:txBody>
                    <a:bodyPr/>
                    <a:lstStyle/>
                    <a:p>
                      <a:pPr algn="ctr"/>
                      <a:r>
                        <a:rPr lang="en-US" altLang="zh-TW" sz="1600" dirty="0"/>
                        <a:t>Improvement</a:t>
                      </a:r>
                      <a:endParaRPr lang="zh-TW" altLang="en-US" sz="1600" dirty="0"/>
                    </a:p>
                  </a:txBody>
                  <a:tcPr anchor="ctr"/>
                </a:tc>
                <a:extLst>
                  <a:ext uri="{0D108BD9-81ED-4DB2-BD59-A6C34878D82A}">
                    <a16:rowId xmlns:a16="http://schemas.microsoft.com/office/drawing/2014/main" val="2708462793"/>
                  </a:ext>
                </a:extLst>
              </a:tr>
              <a:tr h="467475">
                <a:tc>
                  <a:txBody>
                    <a:bodyPr/>
                    <a:lstStyle/>
                    <a:p>
                      <a:pPr algn="ctr"/>
                      <a:r>
                        <a:rPr lang="en-US" altLang="zh-TW" sz="1600" dirty="0">
                          <a:latin typeface="微軟正黑體" panose="020B0604030504040204" pitchFamily="34" charset="-120"/>
                          <a:ea typeface="微軟正黑體" panose="020B0604030504040204" pitchFamily="34" charset="-120"/>
                        </a:rPr>
                        <a:t>Average</a:t>
                      </a:r>
                      <a:r>
                        <a:rPr lang="en-US" altLang="zh-TW" sz="1600" dirty="0"/>
                        <a:t> Draft Tokens Accepted</a:t>
                      </a:r>
                    </a:p>
                  </a:txBody>
                  <a:tcPr anchor="ctr"/>
                </a:tc>
                <a:tc>
                  <a:txBody>
                    <a:bodyPr/>
                    <a:lstStyle/>
                    <a:p>
                      <a:pPr algn="ctr"/>
                      <a:r>
                        <a:rPr lang="en-US" altLang="zh-TW" sz="1600" dirty="0"/>
                        <a:t>0.7302 ± 0.0000</a:t>
                      </a:r>
                    </a:p>
                  </a:txBody>
                  <a:tcPr anchor="ctr"/>
                </a:tc>
                <a:tc>
                  <a:txBody>
                    <a:bodyPr/>
                    <a:lstStyle/>
                    <a:p>
                      <a:pPr algn="ctr"/>
                      <a:r>
                        <a:rPr lang="en-US" altLang="zh-TW" sz="1600" dirty="0"/>
                        <a:t>0.7010 ± 0.0000</a:t>
                      </a:r>
                    </a:p>
                  </a:txBody>
                  <a:tcPr anchor="ctr"/>
                </a:tc>
                <a:tc>
                  <a:txBody>
                    <a:bodyPr/>
                    <a:lstStyle/>
                    <a:p>
                      <a:pPr algn="ctr"/>
                      <a:r>
                        <a:rPr lang="en-US" altLang="zh-TW" sz="1600" dirty="0"/>
                        <a:t>4.17%</a:t>
                      </a:r>
                    </a:p>
                  </a:txBody>
                  <a:tcPr anchor="ctr"/>
                </a:tc>
                <a:extLst>
                  <a:ext uri="{0D108BD9-81ED-4DB2-BD59-A6C34878D82A}">
                    <a16:rowId xmlns:a16="http://schemas.microsoft.com/office/drawing/2014/main" val="863181710"/>
                  </a:ext>
                </a:extLst>
              </a:tr>
              <a:tr h="467475">
                <a:tc>
                  <a:txBody>
                    <a:bodyPr/>
                    <a:lstStyle/>
                    <a:p>
                      <a:pPr algn="ctr"/>
                      <a:r>
                        <a:rPr lang="en-US" altLang="zh-TW" sz="1600" dirty="0"/>
                        <a:t>Prefix 128</a:t>
                      </a:r>
                    </a:p>
                  </a:txBody>
                  <a:tcPr anchor="ctr"/>
                </a:tc>
                <a:tc>
                  <a:txBody>
                    <a:bodyPr/>
                    <a:lstStyle/>
                    <a:p>
                      <a:pPr algn="ctr"/>
                      <a:r>
                        <a:rPr lang="en-US" altLang="zh-TW" sz="1600" dirty="0"/>
                        <a:t>0.9653 ± 0.0401</a:t>
                      </a:r>
                    </a:p>
                  </a:txBody>
                  <a:tcPr anchor="ctr"/>
                </a:tc>
                <a:tc>
                  <a:txBody>
                    <a:bodyPr/>
                    <a:lstStyle/>
                    <a:p>
                      <a:pPr algn="ctr"/>
                      <a:r>
                        <a:rPr lang="en-US" altLang="zh-TW" sz="1600" dirty="0"/>
                        <a:t>0.9117 ± 0.0205</a:t>
                      </a:r>
                    </a:p>
                  </a:txBody>
                  <a:tcPr anchor="ctr"/>
                </a:tc>
                <a:tc>
                  <a:txBody>
                    <a:bodyPr/>
                    <a:lstStyle/>
                    <a:p>
                      <a:pPr algn="ctr"/>
                      <a:r>
                        <a:rPr lang="en-US" altLang="zh-TW" sz="1600" dirty="0"/>
                        <a:t>5.88%</a:t>
                      </a:r>
                    </a:p>
                  </a:txBody>
                  <a:tcPr anchor="ctr"/>
                </a:tc>
                <a:extLst>
                  <a:ext uri="{0D108BD9-81ED-4DB2-BD59-A6C34878D82A}">
                    <a16:rowId xmlns:a16="http://schemas.microsoft.com/office/drawing/2014/main" val="3274358862"/>
                  </a:ext>
                </a:extLst>
              </a:tr>
              <a:tr h="467475">
                <a:tc>
                  <a:txBody>
                    <a:bodyPr/>
                    <a:lstStyle/>
                    <a:p>
                      <a:pPr algn="ctr"/>
                      <a:r>
                        <a:rPr lang="en-US" altLang="zh-TW" sz="1600" dirty="0"/>
                        <a:t>Prefix 256</a:t>
                      </a:r>
                    </a:p>
                  </a:txBody>
                  <a:tcPr anchor="ctr"/>
                </a:tc>
                <a:tc>
                  <a:txBody>
                    <a:bodyPr/>
                    <a:lstStyle/>
                    <a:p>
                      <a:pPr algn="ctr"/>
                      <a:r>
                        <a:rPr lang="en-US" altLang="zh-TW" sz="1600" dirty="0"/>
                        <a:t>0.9873 ± 0.0063</a:t>
                      </a:r>
                    </a:p>
                  </a:txBody>
                  <a:tcPr anchor="ctr"/>
                </a:tc>
                <a:tc>
                  <a:txBody>
                    <a:bodyPr/>
                    <a:lstStyle/>
                    <a:p>
                      <a:pPr algn="ctr"/>
                      <a:r>
                        <a:rPr lang="en-US" altLang="zh-TW" sz="1600" dirty="0"/>
                        <a:t>0.9458 ± 0.0068</a:t>
                      </a:r>
                    </a:p>
                  </a:txBody>
                  <a:tcPr anchor="ctr"/>
                </a:tc>
                <a:tc>
                  <a:txBody>
                    <a:bodyPr/>
                    <a:lstStyle/>
                    <a:p>
                      <a:pPr algn="ctr"/>
                      <a:r>
                        <a:rPr lang="en-US" altLang="zh-TW" sz="1600" dirty="0"/>
                        <a:t>4.39%</a:t>
                      </a:r>
                    </a:p>
                  </a:txBody>
                  <a:tcPr anchor="ctr"/>
                </a:tc>
                <a:extLst>
                  <a:ext uri="{0D108BD9-81ED-4DB2-BD59-A6C34878D82A}">
                    <a16:rowId xmlns:a16="http://schemas.microsoft.com/office/drawing/2014/main" val="570447526"/>
                  </a:ext>
                </a:extLst>
              </a:tr>
              <a:tr h="467475">
                <a:tc>
                  <a:txBody>
                    <a:bodyPr/>
                    <a:lstStyle/>
                    <a:p>
                      <a:pPr algn="ctr"/>
                      <a:r>
                        <a:rPr lang="en-US" altLang="zh-TW" sz="1600" dirty="0"/>
                        <a:t>Prefix 512</a:t>
                      </a:r>
                    </a:p>
                  </a:txBody>
                  <a:tcPr anchor="ctr"/>
                </a:tc>
                <a:tc>
                  <a:txBody>
                    <a:bodyPr/>
                    <a:lstStyle/>
                    <a:p>
                      <a:pPr algn="ctr"/>
                      <a:r>
                        <a:rPr lang="en-US" altLang="zh-TW" sz="1600" dirty="0"/>
                        <a:t>1.0158 ± 0.0309</a:t>
                      </a:r>
                    </a:p>
                  </a:txBody>
                  <a:tcPr anchor="ctr"/>
                </a:tc>
                <a:tc>
                  <a:txBody>
                    <a:bodyPr/>
                    <a:lstStyle/>
                    <a:p>
                      <a:pPr algn="ctr"/>
                      <a:r>
                        <a:rPr lang="en-US" altLang="zh-TW" sz="1600" dirty="0"/>
                        <a:t>0.9689 ± 0.0221</a:t>
                      </a:r>
                    </a:p>
                  </a:txBody>
                  <a:tcPr anchor="ctr"/>
                </a:tc>
                <a:tc>
                  <a:txBody>
                    <a:bodyPr/>
                    <a:lstStyle/>
                    <a:p>
                      <a:pPr algn="ctr"/>
                      <a:r>
                        <a:rPr lang="en-US" altLang="zh-TW" sz="1600" dirty="0"/>
                        <a:t>4.84%</a:t>
                      </a:r>
                    </a:p>
                  </a:txBody>
                  <a:tcPr anchor="ctr"/>
                </a:tc>
                <a:extLst>
                  <a:ext uri="{0D108BD9-81ED-4DB2-BD59-A6C34878D82A}">
                    <a16:rowId xmlns:a16="http://schemas.microsoft.com/office/drawing/2014/main" val="1428410621"/>
                  </a:ext>
                </a:extLst>
              </a:tr>
              <a:tr h="467475">
                <a:tc>
                  <a:txBody>
                    <a:bodyPr/>
                    <a:lstStyle/>
                    <a:p>
                      <a:pPr algn="ctr"/>
                      <a:r>
                        <a:rPr lang="en-US" altLang="zh-TW" sz="1600" dirty="0"/>
                        <a:t>Prefix 768</a:t>
                      </a:r>
                    </a:p>
                  </a:txBody>
                  <a:tcPr anchor="ctr"/>
                </a:tc>
                <a:tc>
                  <a:txBody>
                    <a:bodyPr/>
                    <a:lstStyle/>
                    <a:p>
                      <a:pPr algn="ctr"/>
                      <a:r>
                        <a:rPr lang="en-US" altLang="zh-TW" sz="1600" dirty="0"/>
                        <a:t>1.0272 ± 0.0250</a:t>
                      </a:r>
                    </a:p>
                  </a:txBody>
                  <a:tcPr anchor="ctr"/>
                </a:tc>
                <a:tc>
                  <a:txBody>
                    <a:bodyPr/>
                    <a:lstStyle/>
                    <a:p>
                      <a:pPr algn="ctr"/>
                      <a:r>
                        <a:rPr lang="en-US" altLang="zh-TW" sz="1600" dirty="0"/>
                        <a:t>0.9760 ± 0.0222</a:t>
                      </a:r>
                    </a:p>
                  </a:txBody>
                  <a:tcPr anchor="ctr"/>
                </a:tc>
                <a:tc>
                  <a:txBody>
                    <a:bodyPr/>
                    <a:lstStyle/>
                    <a:p>
                      <a:pPr algn="ctr"/>
                      <a:r>
                        <a:rPr lang="en-US" altLang="zh-TW" sz="1600" dirty="0"/>
                        <a:t>5.25%</a:t>
                      </a:r>
                    </a:p>
                  </a:txBody>
                  <a:tcPr anchor="ctr"/>
                </a:tc>
                <a:extLst>
                  <a:ext uri="{0D108BD9-81ED-4DB2-BD59-A6C34878D82A}">
                    <a16:rowId xmlns:a16="http://schemas.microsoft.com/office/drawing/2014/main" val="4003051542"/>
                  </a:ext>
                </a:extLst>
              </a:tr>
            </a:tbl>
          </a:graphicData>
        </a:graphic>
      </p:graphicFrame>
      <p:sp>
        <p:nvSpPr>
          <p:cNvPr id="4" name="投影片編號版面配置區 3">
            <a:extLst>
              <a:ext uri="{FF2B5EF4-FFF2-40B4-BE49-F238E27FC236}">
                <a16:creationId xmlns:a16="http://schemas.microsoft.com/office/drawing/2014/main" id="{3C56437A-C648-5521-F50A-A25F3E745B28}"/>
              </a:ext>
            </a:extLst>
          </p:cNvPr>
          <p:cNvSpPr>
            <a:spLocks noGrp="1"/>
          </p:cNvSpPr>
          <p:nvPr>
            <p:ph type="sldNum" sz="quarter" idx="12"/>
          </p:nvPr>
        </p:nvSpPr>
        <p:spPr>
          <a:xfrm>
            <a:off x="9448495" y="6607903"/>
            <a:ext cx="2743200" cy="250097"/>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20</a:t>
            </a:fld>
            <a:endParaRPr lang="zh-TW" altLang="en-US" dirty="0">
              <a:solidFill>
                <a:schemeClr val="bg2"/>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CDDE939C-85E6-2293-24EC-4E21D1B6C14A}"/>
              </a:ext>
            </a:extLst>
          </p:cNvPr>
          <p:cNvSpPr txBox="1"/>
          <p:nvPr/>
        </p:nvSpPr>
        <p:spPr>
          <a:xfrm>
            <a:off x="347472" y="5196972"/>
            <a:ext cx="11086967" cy="1138773"/>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Observation</a:t>
            </a:r>
          </a:p>
          <a:p>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SDC+LCM consistently improves draft-token acceptance across all prefix lengths.</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The average accepted draft tokens increase by </a:t>
            </a:r>
            <a:r>
              <a:rPr lang="en-US" altLang="zh-TW" sz="1600" b="1" dirty="0">
                <a:latin typeface="微軟正黑體" panose="020B0604030504040204" pitchFamily="34" charset="-120"/>
                <a:ea typeface="微軟正黑體" panose="020B0604030504040204" pitchFamily="34" charset="-120"/>
              </a:rPr>
              <a:t>4.17%</a:t>
            </a:r>
            <a:r>
              <a:rPr lang="en-US" altLang="zh-TW" sz="1600" dirty="0">
                <a:latin typeface="微軟正黑體" panose="020B0604030504040204" pitchFamily="34" charset="-120"/>
                <a:ea typeface="微軟正黑體" panose="020B0604030504040204" pitchFamily="34" charset="-120"/>
              </a:rPr>
              <a:t>.</a:t>
            </a:r>
          </a:p>
        </p:txBody>
      </p:sp>
      <p:sp>
        <p:nvSpPr>
          <p:cNvPr id="2" name="文字方塊 1">
            <a:extLst>
              <a:ext uri="{FF2B5EF4-FFF2-40B4-BE49-F238E27FC236}">
                <a16:creationId xmlns:a16="http://schemas.microsoft.com/office/drawing/2014/main" id="{3B95AE37-083C-E90A-DF5B-809E24F8B480}"/>
              </a:ext>
            </a:extLst>
          </p:cNvPr>
          <p:cNvSpPr txBox="1"/>
          <p:nvPr/>
        </p:nvSpPr>
        <p:spPr>
          <a:xfrm>
            <a:off x="347471" y="845756"/>
            <a:ext cx="11475720" cy="1200329"/>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Draft-token acceptance was evaluated using greedy predictions from the MTP heads. Head 1 was used as the verification reference, while predictions from Heads 2–K were treated as draft tokens. Draft tokens were accepted sequentially when they matched the corresponding Head 1 predictions, and verification stopped at the first mismatch. Head 1 itself was not included in the accepted draft-token count.</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86786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AD45E23F-159B-9074-D77D-40B1DF0E6080}"/>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p>
        </p:txBody>
      </p:sp>
      <p:sp>
        <p:nvSpPr>
          <p:cNvPr id="7" name="Text 2">
            <a:extLst>
              <a:ext uri="{FF2B5EF4-FFF2-40B4-BE49-F238E27FC236}">
                <a16:creationId xmlns:a16="http://schemas.microsoft.com/office/drawing/2014/main" id="{9279BDBC-2DF0-841D-1B15-28B1C6A5097A}"/>
              </a:ext>
            </a:extLst>
          </p:cNvPr>
          <p:cNvSpPr/>
          <p:nvPr/>
        </p:nvSpPr>
        <p:spPr>
          <a:xfrm>
            <a:off x="347472" y="274320"/>
            <a:ext cx="306000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4: Experimental Results</a:t>
            </a:r>
          </a:p>
        </p:txBody>
      </p:sp>
      <p:sp>
        <p:nvSpPr>
          <p:cNvPr id="8" name="Text 3">
            <a:extLst>
              <a:ext uri="{FF2B5EF4-FFF2-40B4-BE49-F238E27FC236}">
                <a16:creationId xmlns:a16="http://schemas.microsoft.com/office/drawing/2014/main" id="{0B7BDA6E-255A-BB65-DAB0-87E0B48A6A5C}"/>
              </a:ext>
            </a:extLst>
          </p:cNvPr>
          <p:cNvSpPr/>
          <p:nvPr/>
        </p:nvSpPr>
        <p:spPr>
          <a:xfrm>
            <a:off x="347471" y="499048"/>
            <a:ext cx="10190322" cy="228600"/>
          </a:xfrm>
          <a:prstGeom prst="rect">
            <a:avLst/>
          </a:prstGeom>
          <a:noFill/>
          <a:ln/>
        </p:spPr>
        <p:txBody>
          <a:bodyPr wrap="square" lIns="0" tIns="0" rIns="0" bIns="0" rtlCol="0" anchor="ctr"/>
          <a:lstStyle/>
          <a:p>
            <a:r>
              <a:rPr lang="en-US" altLang="zh-TW"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Main</a:t>
            </a: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 1.3B Comparison — SDC+LCM vs. Baseline: Generative Quality</a:t>
            </a:r>
          </a:p>
        </p:txBody>
      </p:sp>
      <p:sp>
        <p:nvSpPr>
          <p:cNvPr id="9" name="Shape 5">
            <a:extLst>
              <a:ext uri="{FF2B5EF4-FFF2-40B4-BE49-F238E27FC236}">
                <a16:creationId xmlns:a16="http://schemas.microsoft.com/office/drawing/2014/main" id="{4B931DF6-CFB6-8BB0-C816-BB1AD8CA62B6}"/>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p>
        </p:txBody>
      </p:sp>
      <p:graphicFrame>
        <p:nvGraphicFramePr>
          <p:cNvPr id="10" name="表格 9">
            <a:extLst>
              <a:ext uri="{FF2B5EF4-FFF2-40B4-BE49-F238E27FC236}">
                <a16:creationId xmlns:a16="http://schemas.microsoft.com/office/drawing/2014/main" id="{474E11C9-B436-FCC9-3F1A-BBA38604E2E7}"/>
              </a:ext>
            </a:extLst>
          </p:cNvPr>
          <p:cNvGraphicFramePr>
            <a:graphicFrameLocks noGrp="1"/>
          </p:cNvGraphicFramePr>
          <p:nvPr>
            <p:extLst>
              <p:ext uri="{D42A27DB-BD31-4B8C-83A1-F6EECF244321}">
                <p14:modId xmlns:p14="http://schemas.microsoft.com/office/powerpoint/2010/main" val="3311624835"/>
              </p:ext>
            </p:extLst>
          </p:nvPr>
        </p:nvGraphicFramePr>
        <p:xfrm>
          <a:off x="347470" y="2271071"/>
          <a:ext cx="11475720" cy="2818148"/>
        </p:xfrm>
        <a:graphic>
          <a:graphicData uri="http://schemas.openxmlformats.org/drawingml/2006/table">
            <a:tbl>
              <a:tblPr firstRow="1" bandRow="1">
                <a:tableStyleId>{5FD0F851-EC5A-4D38-B0AD-8093EC10F338}</a:tableStyleId>
              </a:tblPr>
              <a:tblGrid>
                <a:gridCol w="2868930">
                  <a:extLst>
                    <a:ext uri="{9D8B030D-6E8A-4147-A177-3AD203B41FA5}">
                      <a16:colId xmlns:a16="http://schemas.microsoft.com/office/drawing/2014/main" val="2798033119"/>
                    </a:ext>
                  </a:extLst>
                </a:gridCol>
                <a:gridCol w="2868930">
                  <a:extLst>
                    <a:ext uri="{9D8B030D-6E8A-4147-A177-3AD203B41FA5}">
                      <a16:colId xmlns:a16="http://schemas.microsoft.com/office/drawing/2014/main" val="2302720759"/>
                    </a:ext>
                  </a:extLst>
                </a:gridCol>
                <a:gridCol w="2868930">
                  <a:extLst>
                    <a:ext uri="{9D8B030D-6E8A-4147-A177-3AD203B41FA5}">
                      <a16:colId xmlns:a16="http://schemas.microsoft.com/office/drawing/2014/main" val="3196848465"/>
                    </a:ext>
                  </a:extLst>
                </a:gridCol>
                <a:gridCol w="2868930">
                  <a:extLst>
                    <a:ext uri="{9D8B030D-6E8A-4147-A177-3AD203B41FA5}">
                      <a16:colId xmlns:a16="http://schemas.microsoft.com/office/drawing/2014/main" val="119275881"/>
                    </a:ext>
                  </a:extLst>
                </a:gridCol>
              </a:tblGrid>
              <a:tr h="704537">
                <a:tc>
                  <a:txBody>
                    <a:bodyPr/>
                    <a:lstStyle/>
                    <a:p>
                      <a:pPr algn="ctr"/>
                      <a:r>
                        <a:rPr lang="en-US" altLang="zh-TW" sz="1600" dirty="0"/>
                        <a:t>Metric</a:t>
                      </a:r>
                      <a:endParaRPr lang="zh-TW" altLang="en-US" sz="1600" dirty="0"/>
                    </a:p>
                  </a:txBody>
                  <a:tcPr anchor="ctr"/>
                </a:tc>
                <a:tc>
                  <a:txBody>
                    <a:bodyPr/>
                    <a:lstStyle/>
                    <a:p>
                      <a:pPr algn="ctr"/>
                      <a:r>
                        <a:rPr lang="en-US" altLang="zh-TW" sz="1600" dirty="0"/>
                        <a:t>SDC+LCM</a:t>
                      </a:r>
                    </a:p>
                  </a:txBody>
                  <a:tcPr anchor="ctr"/>
                </a:tc>
                <a:tc>
                  <a:txBody>
                    <a:bodyPr/>
                    <a:lstStyle/>
                    <a:p>
                      <a:pPr algn="ctr"/>
                      <a:r>
                        <a:rPr lang="en-US" altLang="zh-TW" sz="1600" dirty="0"/>
                        <a:t>Baseline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t>SDC+LCM</a:t>
                      </a:r>
                      <a:r>
                        <a:rPr lang="zh-TW" altLang="en-US" sz="1600" dirty="0"/>
                        <a:t> </a:t>
                      </a:r>
                      <a:r>
                        <a:rPr lang="en-US" altLang="zh-TW" sz="1600" dirty="0"/>
                        <a:t>vs.</a:t>
                      </a:r>
                      <a:r>
                        <a:rPr lang="zh-TW" altLang="en-US" sz="1600" dirty="0"/>
                        <a:t> </a:t>
                      </a:r>
                      <a:r>
                        <a:rPr lang="en-US" altLang="zh-TW" sz="1600" dirty="0"/>
                        <a:t>baseline</a:t>
                      </a:r>
                    </a:p>
                  </a:txBody>
                  <a:tcPr anchor="ctr"/>
                </a:tc>
                <a:extLst>
                  <a:ext uri="{0D108BD9-81ED-4DB2-BD59-A6C34878D82A}">
                    <a16:rowId xmlns:a16="http://schemas.microsoft.com/office/drawing/2014/main" val="2708462793"/>
                  </a:ext>
                </a:extLst>
              </a:tr>
              <a:tr h="704537">
                <a:tc>
                  <a:txBody>
                    <a:bodyPr/>
                    <a:lstStyle/>
                    <a:p>
                      <a:pPr algn="ctr"/>
                      <a:r>
                        <a:rPr lang="en-US" altLang="zh-TW" sz="1600" dirty="0"/>
                        <a:t>Generative PPL</a:t>
                      </a:r>
                    </a:p>
                  </a:txBody>
                  <a:tcPr anchor="ctr"/>
                </a:tc>
                <a:tc>
                  <a:txBody>
                    <a:bodyPr/>
                    <a:lstStyle/>
                    <a:p>
                      <a:pPr algn="ctr"/>
                      <a:r>
                        <a:rPr lang="en-US" altLang="zh-TW" sz="1600" dirty="0"/>
                        <a:t>18.7180 ± 0.8276</a:t>
                      </a:r>
                    </a:p>
                  </a:txBody>
                  <a:tcPr anchor="ctr"/>
                </a:tc>
                <a:tc>
                  <a:txBody>
                    <a:bodyPr/>
                    <a:lstStyle/>
                    <a:p>
                      <a:pPr algn="ctr"/>
                      <a:r>
                        <a:rPr lang="en-US" altLang="zh-TW" sz="1600" dirty="0"/>
                        <a:t>39.5580 ± 0.9425</a:t>
                      </a:r>
                    </a:p>
                  </a:txBody>
                  <a:tcPr anchor="ctr"/>
                </a:tc>
                <a:tc>
                  <a:txBody>
                    <a:bodyPr/>
                    <a:lstStyle/>
                    <a:p>
                      <a:pPr algn="ctr"/>
                      <a:r>
                        <a:rPr lang="en-US" altLang="zh-TW" sz="1600" dirty="0"/>
                        <a:t>-52.68%</a:t>
                      </a:r>
                    </a:p>
                  </a:txBody>
                  <a:tcPr anchor="ctr"/>
                </a:tc>
                <a:extLst>
                  <a:ext uri="{0D108BD9-81ED-4DB2-BD59-A6C34878D82A}">
                    <a16:rowId xmlns:a16="http://schemas.microsoft.com/office/drawing/2014/main" val="863181710"/>
                  </a:ext>
                </a:extLst>
              </a:tr>
              <a:tr h="704537">
                <a:tc>
                  <a:txBody>
                    <a:bodyPr/>
                    <a:lstStyle/>
                    <a:p>
                      <a:pPr algn="ctr"/>
                      <a:r>
                        <a:rPr lang="en-US" altLang="zh-TW" sz="1600" dirty="0"/>
                        <a:t>Entropy</a:t>
                      </a:r>
                    </a:p>
                  </a:txBody>
                  <a:tcPr anchor="ctr"/>
                </a:tc>
                <a:tc>
                  <a:txBody>
                    <a:bodyPr/>
                    <a:lstStyle/>
                    <a:p>
                      <a:pPr algn="ctr"/>
                      <a:r>
                        <a:rPr lang="en-US" altLang="zh-TW" sz="1600" dirty="0"/>
                        <a:t>6.8620 ± 0.0202</a:t>
                      </a:r>
                    </a:p>
                  </a:txBody>
                  <a:tcPr anchor="ctr"/>
                </a:tc>
                <a:tc>
                  <a:txBody>
                    <a:bodyPr/>
                    <a:lstStyle/>
                    <a:p>
                      <a:pPr algn="ctr"/>
                      <a:r>
                        <a:rPr lang="en-US" altLang="zh-TW" sz="1600" dirty="0"/>
                        <a:t>7.3223 ± 0.0351</a:t>
                      </a:r>
                    </a:p>
                  </a:txBody>
                  <a:tcPr anchor="ctr"/>
                </a:tc>
                <a:tc>
                  <a:txBody>
                    <a:bodyPr/>
                    <a:lstStyle/>
                    <a:p>
                      <a:pPr algn="ctr"/>
                      <a:r>
                        <a:rPr lang="en-US" altLang="zh-TW" sz="1600" dirty="0"/>
                        <a:t>-6.29%</a:t>
                      </a:r>
                    </a:p>
                  </a:txBody>
                  <a:tcPr anchor="ctr"/>
                </a:tc>
                <a:extLst>
                  <a:ext uri="{0D108BD9-81ED-4DB2-BD59-A6C34878D82A}">
                    <a16:rowId xmlns:a16="http://schemas.microsoft.com/office/drawing/2014/main" val="3274358862"/>
                  </a:ext>
                </a:extLst>
              </a:tr>
              <a:tr h="704537">
                <a:tc>
                  <a:txBody>
                    <a:bodyPr/>
                    <a:lstStyle/>
                    <a:p>
                      <a:pPr algn="ctr"/>
                      <a:r>
                        <a:rPr lang="en-US" altLang="zh-TW" sz="1600" dirty="0"/>
                        <a:t>4-gram repetition</a:t>
                      </a:r>
                    </a:p>
                  </a:txBody>
                  <a:tcPr anchor="ctr"/>
                </a:tc>
                <a:tc>
                  <a:txBody>
                    <a:bodyPr/>
                    <a:lstStyle/>
                    <a:p>
                      <a:pPr algn="ctr"/>
                      <a:r>
                        <a:rPr lang="en-US" altLang="zh-TW" sz="1600" dirty="0"/>
                        <a:t>0.0526 ± 0.0147</a:t>
                      </a:r>
                    </a:p>
                  </a:txBody>
                  <a:tcPr anchor="ctr"/>
                </a:tc>
                <a:tc>
                  <a:txBody>
                    <a:bodyPr/>
                    <a:lstStyle/>
                    <a:p>
                      <a:pPr algn="ctr"/>
                      <a:r>
                        <a:rPr lang="en-US" altLang="zh-TW" sz="1600" dirty="0"/>
                        <a:t>0.0229 ± 0.0084</a:t>
                      </a:r>
                    </a:p>
                  </a:txBody>
                  <a:tcPr anchor="ctr"/>
                </a:tc>
                <a:tc>
                  <a:txBody>
                    <a:bodyPr/>
                    <a:lstStyle/>
                    <a:p>
                      <a:pPr algn="ctr"/>
                      <a:r>
                        <a:rPr lang="en-US" altLang="zh-TW" sz="1600" dirty="0"/>
                        <a:t>+130.17%</a:t>
                      </a:r>
                    </a:p>
                  </a:txBody>
                  <a:tcPr anchor="ctr"/>
                </a:tc>
                <a:extLst>
                  <a:ext uri="{0D108BD9-81ED-4DB2-BD59-A6C34878D82A}">
                    <a16:rowId xmlns:a16="http://schemas.microsoft.com/office/drawing/2014/main" val="570447526"/>
                  </a:ext>
                </a:extLst>
              </a:tr>
            </a:tbl>
          </a:graphicData>
        </a:graphic>
      </p:graphicFrame>
      <p:sp>
        <p:nvSpPr>
          <p:cNvPr id="4" name="投影片編號版面配置區 3">
            <a:extLst>
              <a:ext uri="{FF2B5EF4-FFF2-40B4-BE49-F238E27FC236}">
                <a16:creationId xmlns:a16="http://schemas.microsoft.com/office/drawing/2014/main" id="{6339565D-C13D-6AF8-6C29-7E7BF6E4F9E8}"/>
              </a:ext>
            </a:extLst>
          </p:cNvPr>
          <p:cNvSpPr>
            <a:spLocks noGrp="1"/>
          </p:cNvSpPr>
          <p:nvPr>
            <p:ph type="sldNum" sz="quarter" idx="12"/>
          </p:nvPr>
        </p:nvSpPr>
        <p:spPr>
          <a:xfrm>
            <a:off x="9448495" y="6610796"/>
            <a:ext cx="2743200" cy="246888"/>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21</a:t>
            </a:fld>
            <a:endParaRPr lang="zh-TW" altLang="en-US" dirty="0">
              <a:solidFill>
                <a:schemeClr val="bg2"/>
              </a:solidFill>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id="{1CF20E4C-1F91-BFF6-7963-F44ACBFD985C}"/>
              </a:ext>
            </a:extLst>
          </p:cNvPr>
          <p:cNvSpPr txBox="1"/>
          <p:nvPr/>
        </p:nvSpPr>
        <p:spPr>
          <a:xfrm>
            <a:off x="347470" y="5141964"/>
            <a:ext cx="11475719" cy="1415772"/>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Observation</a:t>
            </a:r>
          </a:p>
          <a:p>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Generative PPL decreases substantially: 39.56 → 18.72.</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Lower entropy suggests reduced generation diversity.</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4-gram repetition increases, revealing a quality–diversity trade-off.</a:t>
            </a:r>
          </a:p>
        </p:txBody>
      </p:sp>
      <p:sp>
        <p:nvSpPr>
          <p:cNvPr id="2" name="文字方塊 1">
            <a:extLst>
              <a:ext uri="{FF2B5EF4-FFF2-40B4-BE49-F238E27FC236}">
                <a16:creationId xmlns:a16="http://schemas.microsoft.com/office/drawing/2014/main" id="{9DA3B9F7-95ED-AAD6-1B6B-D731D41AB40B}"/>
              </a:ext>
            </a:extLst>
          </p:cNvPr>
          <p:cNvSpPr txBox="1"/>
          <p:nvPr/>
        </p:nvSpPr>
        <p:spPr>
          <a:xfrm>
            <a:off x="347471" y="787784"/>
            <a:ext cx="11475719" cy="1323439"/>
          </a:xfrm>
          <a:prstGeom prst="rect">
            <a:avLst/>
          </a:prstGeom>
          <a:noFill/>
        </p:spPr>
        <p:txBody>
          <a:bodyPr wrap="square" rtlCol="0">
            <a:spAutoFit/>
          </a:bodyPr>
          <a:lstStyle/>
          <a:p>
            <a:r>
              <a:rPr lang="en-US" altLang="zh-TW" sz="1600" dirty="0"/>
              <a:t>Generation quality was evaluated using Generative PPL, entropy, and 4-gram repetition. A total of 200 samples were generated using the first 128 tokens of each evaluation sequence as the prompt. Generation was performed using top-p and temperature sampling with p = 0.9 and a temperature of 0.8. Generative PPL was computed using GPT-2 Large as an external language model, where only the generated continuation was included in the perplexity calculation. Entropy was used to characterize the diversity of generated tokens, while 4-gram repetition was used to measure repetitive generation patterns.</a:t>
            </a:r>
            <a:endParaRPr lang="zh-TW" altLang="en-US" sz="1600" dirty="0"/>
          </a:p>
        </p:txBody>
      </p:sp>
    </p:spTree>
    <p:extLst>
      <p:ext uri="{BB962C8B-B14F-4D97-AF65-F5344CB8AC3E}">
        <p14:creationId xmlns:p14="http://schemas.microsoft.com/office/powerpoint/2010/main" val="130191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6AC1399F-93FD-7791-5F1D-CC0F85DED1EF}"/>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FCD1EA32-D208-544F-534D-7B2308B8CE64}"/>
              </a:ext>
            </a:extLst>
          </p:cNvPr>
          <p:cNvSpPr>
            <a:spLocks noGrp="1"/>
          </p:cNvSpPr>
          <p:nvPr>
            <p:ph type="sldNum" sz="quarter" idx="12"/>
          </p:nvPr>
        </p:nvSpPr>
        <p:spPr>
          <a:xfrm>
            <a:off x="9448495" y="6611112"/>
            <a:ext cx="2743200" cy="246888"/>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22</a:t>
            </a:fld>
            <a:endParaRPr lang="zh-TW" altLang="en-US" dirty="0">
              <a:solidFill>
                <a:schemeClr val="bg2"/>
              </a:solidFill>
              <a:latin typeface="微軟正黑體" panose="020B0604030504040204" pitchFamily="34" charset="-120"/>
              <a:ea typeface="微軟正黑體" panose="020B0604030504040204" pitchFamily="34" charset="-120"/>
            </a:endParaRPr>
          </a:p>
        </p:txBody>
      </p:sp>
      <p:sp>
        <p:nvSpPr>
          <p:cNvPr id="6" name="Text 2">
            <a:extLst>
              <a:ext uri="{FF2B5EF4-FFF2-40B4-BE49-F238E27FC236}">
                <a16:creationId xmlns:a16="http://schemas.microsoft.com/office/drawing/2014/main" id="{76D77E34-9335-8D14-9AC4-2DFEB2858879}"/>
              </a:ext>
            </a:extLst>
          </p:cNvPr>
          <p:cNvSpPr/>
          <p:nvPr/>
        </p:nvSpPr>
        <p:spPr>
          <a:xfrm>
            <a:off x="347472" y="274320"/>
            <a:ext cx="306000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4: Experimental Results</a:t>
            </a:r>
          </a:p>
        </p:txBody>
      </p:sp>
      <p:sp>
        <p:nvSpPr>
          <p:cNvPr id="7" name="Text 3">
            <a:extLst>
              <a:ext uri="{FF2B5EF4-FFF2-40B4-BE49-F238E27FC236}">
                <a16:creationId xmlns:a16="http://schemas.microsoft.com/office/drawing/2014/main" id="{1ACE38E2-E61F-F518-1FFF-813C8E95BD90}"/>
              </a:ext>
            </a:extLst>
          </p:cNvPr>
          <p:cNvSpPr/>
          <p:nvPr/>
        </p:nvSpPr>
        <p:spPr>
          <a:xfrm>
            <a:off x="347470" y="517529"/>
            <a:ext cx="9373577" cy="228600"/>
          </a:xfrm>
          <a:prstGeom prst="rect">
            <a:avLst/>
          </a:prstGeom>
          <a:noFill/>
          <a:ln/>
        </p:spPr>
        <p:txBody>
          <a:bodyPr wrap="square" lIns="0" tIns="0" rIns="0" bIns="0" rtlCol="0" anchor="ctr"/>
          <a:lstStyle/>
          <a:p>
            <a:r>
              <a:rPr lang="en-US" altLang="zh-TW"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Main 1.3B Comparison — SDC+LCM vs. Baseline: </a:t>
            </a: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Zero-Shot PPL Improvement By Head</a:t>
            </a:r>
            <a:endParaRPr lang="en-US" sz="1600" dirty="0">
              <a:latin typeface="微軟正黑體" panose="020B0604030504040204" pitchFamily="34" charset="-120"/>
              <a:ea typeface="微軟正黑體" panose="020B0604030504040204" pitchFamily="34" charset="-120"/>
            </a:endParaRPr>
          </a:p>
        </p:txBody>
      </p:sp>
      <p:sp>
        <p:nvSpPr>
          <p:cNvPr id="8" name="Shape 5">
            <a:extLst>
              <a:ext uri="{FF2B5EF4-FFF2-40B4-BE49-F238E27FC236}">
                <a16:creationId xmlns:a16="http://schemas.microsoft.com/office/drawing/2014/main" id="{109752B9-1841-EC52-CDAC-E803B6D4869A}"/>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graphicFrame>
        <p:nvGraphicFramePr>
          <p:cNvPr id="10" name="表格 9">
            <a:extLst>
              <a:ext uri="{FF2B5EF4-FFF2-40B4-BE49-F238E27FC236}">
                <a16:creationId xmlns:a16="http://schemas.microsoft.com/office/drawing/2014/main" id="{260614E0-D186-D22F-C08A-AD50C47AE7E6}"/>
              </a:ext>
            </a:extLst>
          </p:cNvPr>
          <p:cNvGraphicFramePr>
            <a:graphicFrameLocks noGrp="1"/>
          </p:cNvGraphicFramePr>
          <p:nvPr>
            <p:extLst>
              <p:ext uri="{D42A27DB-BD31-4B8C-83A1-F6EECF244321}">
                <p14:modId xmlns:p14="http://schemas.microsoft.com/office/powerpoint/2010/main" val="2511709248"/>
              </p:ext>
            </p:extLst>
          </p:nvPr>
        </p:nvGraphicFramePr>
        <p:xfrm>
          <a:off x="347470" y="1759006"/>
          <a:ext cx="11193500" cy="3029424"/>
        </p:xfrm>
        <a:graphic>
          <a:graphicData uri="http://schemas.openxmlformats.org/drawingml/2006/table">
            <a:tbl>
              <a:tblPr firstRow="1" bandRow="1">
                <a:tableStyleId>{5FD0F851-EC5A-4D38-B0AD-8093EC10F338}</a:tableStyleId>
              </a:tblPr>
              <a:tblGrid>
                <a:gridCol w="3064771">
                  <a:extLst>
                    <a:ext uri="{9D8B030D-6E8A-4147-A177-3AD203B41FA5}">
                      <a16:colId xmlns:a16="http://schemas.microsoft.com/office/drawing/2014/main" val="2880323015"/>
                    </a:ext>
                  </a:extLst>
                </a:gridCol>
                <a:gridCol w="2040205">
                  <a:extLst>
                    <a:ext uri="{9D8B030D-6E8A-4147-A177-3AD203B41FA5}">
                      <a16:colId xmlns:a16="http://schemas.microsoft.com/office/drawing/2014/main" val="3421584875"/>
                    </a:ext>
                  </a:extLst>
                </a:gridCol>
                <a:gridCol w="1934671">
                  <a:extLst>
                    <a:ext uri="{9D8B030D-6E8A-4147-A177-3AD203B41FA5}">
                      <a16:colId xmlns:a16="http://schemas.microsoft.com/office/drawing/2014/main" val="1184110547"/>
                    </a:ext>
                  </a:extLst>
                </a:gridCol>
                <a:gridCol w="1977348">
                  <a:extLst>
                    <a:ext uri="{9D8B030D-6E8A-4147-A177-3AD203B41FA5}">
                      <a16:colId xmlns:a16="http://schemas.microsoft.com/office/drawing/2014/main" val="3781708433"/>
                    </a:ext>
                  </a:extLst>
                </a:gridCol>
                <a:gridCol w="2176505">
                  <a:extLst>
                    <a:ext uri="{9D8B030D-6E8A-4147-A177-3AD203B41FA5}">
                      <a16:colId xmlns:a16="http://schemas.microsoft.com/office/drawing/2014/main" val="107327293"/>
                    </a:ext>
                  </a:extLst>
                </a:gridCol>
              </a:tblGrid>
              <a:tr h="5049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t>Dataset</a:t>
                      </a:r>
                    </a:p>
                  </a:txBody>
                  <a:tcPr anchor="ctr"/>
                </a:tc>
                <a:tc>
                  <a:txBody>
                    <a:bodyPr/>
                    <a:lstStyle/>
                    <a:p>
                      <a:pPr algn="ctr"/>
                      <a:r>
                        <a:rPr lang="en-US" altLang="zh-TW" dirty="0"/>
                        <a:t>Head 1</a:t>
                      </a:r>
                    </a:p>
                  </a:txBody>
                  <a:tcPr anchor="ctr"/>
                </a:tc>
                <a:tc>
                  <a:txBody>
                    <a:bodyPr/>
                    <a:lstStyle/>
                    <a:p>
                      <a:pPr algn="ctr"/>
                      <a:r>
                        <a:rPr lang="en-US" altLang="zh-TW" dirty="0"/>
                        <a:t>Head 2</a:t>
                      </a:r>
                    </a:p>
                  </a:txBody>
                  <a:tcPr anchor="ctr"/>
                </a:tc>
                <a:tc>
                  <a:txBody>
                    <a:bodyPr/>
                    <a:lstStyle/>
                    <a:p>
                      <a:pPr algn="ctr"/>
                      <a:r>
                        <a:rPr lang="en-US" altLang="zh-TW" dirty="0"/>
                        <a:t>Head 3</a:t>
                      </a:r>
                    </a:p>
                  </a:txBody>
                  <a:tcPr anchor="ctr"/>
                </a:tc>
                <a:tc>
                  <a:txBody>
                    <a:bodyPr/>
                    <a:lstStyle/>
                    <a:p>
                      <a:pPr algn="ctr"/>
                      <a:r>
                        <a:rPr lang="en-US" altLang="zh-TW" dirty="0"/>
                        <a:t>Head 4</a:t>
                      </a:r>
                    </a:p>
                  </a:txBody>
                  <a:tcPr anchor="ctr"/>
                </a:tc>
                <a:extLst>
                  <a:ext uri="{0D108BD9-81ED-4DB2-BD59-A6C34878D82A}">
                    <a16:rowId xmlns:a16="http://schemas.microsoft.com/office/drawing/2014/main" val="57095099"/>
                  </a:ext>
                </a:extLst>
              </a:tr>
              <a:tr h="504904">
                <a:tc>
                  <a:txBody>
                    <a:bodyPr/>
                    <a:lstStyle/>
                    <a:p>
                      <a:pPr algn="ctr"/>
                      <a:r>
                        <a:rPr lang="en-US" altLang="zh-TW" dirty="0" err="1"/>
                        <a:t>WikiText</a:t>
                      </a:r>
                      <a:endParaRPr lang="en-US" altLang="zh-TW" dirty="0"/>
                    </a:p>
                  </a:txBody>
                  <a:tcPr anchor="ctr"/>
                </a:tc>
                <a:tc>
                  <a:txBody>
                    <a:bodyPr/>
                    <a:lstStyle/>
                    <a:p>
                      <a:pPr algn="ctr"/>
                      <a:r>
                        <a:rPr lang="en-US" altLang="zh-TW" dirty="0"/>
                        <a:t>0.32%</a:t>
                      </a:r>
                    </a:p>
                  </a:txBody>
                  <a:tcPr anchor="ctr"/>
                </a:tc>
                <a:tc>
                  <a:txBody>
                    <a:bodyPr/>
                    <a:lstStyle/>
                    <a:p>
                      <a:pPr algn="ctr"/>
                      <a:r>
                        <a:rPr lang="en-US" altLang="zh-TW" dirty="0"/>
                        <a:t>7.57%</a:t>
                      </a:r>
                    </a:p>
                  </a:txBody>
                  <a:tcPr anchor="ctr"/>
                </a:tc>
                <a:tc>
                  <a:txBody>
                    <a:bodyPr/>
                    <a:lstStyle/>
                    <a:p>
                      <a:pPr algn="ctr"/>
                      <a:r>
                        <a:rPr lang="en-US" altLang="zh-TW" dirty="0"/>
                        <a:t>7.19%</a:t>
                      </a:r>
                    </a:p>
                  </a:txBody>
                  <a:tcPr anchor="ctr"/>
                </a:tc>
                <a:tc>
                  <a:txBody>
                    <a:bodyPr/>
                    <a:lstStyle/>
                    <a:p>
                      <a:pPr algn="ctr"/>
                      <a:r>
                        <a:rPr lang="en-US" altLang="zh-TW" dirty="0"/>
                        <a:t>5.62%</a:t>
                      </a:r>
                    </a:p>
                  </a:txBody>
                  <a:tcPr anchor="ctr"/>
                </a:tc>
                <a:extLst>
                  <a:ext uri="{0D108BD9-81ED-4DB2-BD59-A6C34878D82A}">
                    <a16:rowId xmlns:a16="http://schemas.microsoft.com/office/drawing/2014/main" val="4165766225"/>
                  </a:ext>
                </a:extLst>
              </a:tr>
              <a:tr h="504904">
                <a:tc>
                  <a:txBody>
                    <a:bodyPr/>
                    <a:lstStyle/>
                    <a:p>
                      <a:pPr algn="ctr"/>
                      <a:r>
                        <a:rPr lang="en-US" altLang="zh-TW" dirty="0"/>
                        <a:t>PTB</a:t>
                      </a:r>
                    </a:p>
                  </a:txBody>
                  <a:tcPr anchor="ctr"/>
                </a:tc>
                <a:tc>
                  <a:txBody>
                    <a:bodyPr/>
                    <a:lstStyle/>
                    <a:p>
                      <a:pPr algn="ctr"/>
                      <a:r>
                        <a:rPr lang="en-US" altLang="zh-TW" dirty="0"/>
                        <a:t>13.82%</a:t>
                      </a:r>
                    </a:p>
                  </a:txBody>
                  <a:tcPr anchor="ctr"/>
                </a:tc>
                <a:tc>
                  <a:txBody>
                    <a:bodyPr/>
                    <a:lstStyle/>
                    <a:p>
                      <a:pPr algn="ctr"/>
                      <a:r>
                        <a:rPr lang="en-US" altLang="zh-TW" dirty="0"/>
                        <a:t>9.90%</a:t>
                      </a:r>
                    </a:p>
                  </a:txBody>
                  <a:tcPr anchor="ctr"/>
                </a:tc>
                <a:tc>
                  <a:txBody>
                    <a:bodyPr/>
                    <a:lstStyle/>
                    <a:p>
                      <a:pPr algn="ctr"/>
                      <a:r>
                        <a:rPr lang="en-US" altLang="zh-TW" dirty="0"/>
                        <a:t>10.53%</a:t>
                      </a:r>
                    </a:p>
                  </a:txBody>
                  <a:tcPr anchor="ctr"/>
                </a:tc>
                <a:tc>
                  <a:txBody>
                    <a:bodyPr/>
                    <a:lstStyle/>
                    <a:p>
                      <a:pPr algn="ctr"/>
                      <a:r>
                        <a:rPr lang="en-US" altLang="zh-TW" dirty="0"/>
                        <a:t>5.63%</a:t>
                      </a:r>
                    </a:p>
                  </a:txBody>
                  <a:tcPr anchor="ctr"/>
                </a:tc>
                <a:extLst>
                  <a:ext uri="{0D108BD9-81ED-4DB2-BD59-A6C34878D82A}">
                    <a16:rowId xmlns:a16="http://schemas.microsoft.com/office/drawing/2014/main" val="1088568622"/>
                  </a:ext>
                </a:extLst>
              </a:tr>
              <a:tr h="504904">
                <a:tc>
                  <a:txBody>
                    <a:bodyPr/>
                    <a:lstStyle/>
                    <a:p>
                      <a:pPr algn="ctr"/>
                      <a:r>
                        <a:rPr lang="en-US" altLang="zh-TW" dirty="0"/>
                        <a:t>LAMBADA</a:t>
                      </a:r>
                      <a:endParaRPr lang="zh-TW" altLang="en-US" dirty="0"/>
                    </a:p>
                  </a:txBody>
                  <a:tcPr anchor="ctr"/>
                </a:tc>
                <a:tc>
                  <a:txBody>
                    <a:bodyPr/>
                    <a:lstStyle/>
                    <a:p>
                      <a:pPr algn="ctr"/>
                      <a:r>
                        <a:rPr lang="en-US" altLang="zh-TW" dirty="0"/>
                        <a:t>38.53%</a:t>
                      </a:r>
                    </a:p>
                  </a:txBody>
                  <a:tcPr anchor="ctr"/>
                </a:tc>
                <a:tc>
                  <a:txBody>
                    <a:bodyPr/>
                    <a:lstStyle/>
                    <a:p>
                      <a:pPr algn="ctr"/>
                      <a:r>
                        <a:rPr lang="en-US" altLang="zh-TW" dirty="0"/>
                        <a:t>10.43%</a:t>
                      </a:r>
                    </a:p>
                  </a:txBody>
                  <a:tcPr anchor="ctr"/>
                </a:tc>
                <a:tc>
                  <a:txBody>
                    <a:bodyPr/>
                    <a:lstStyle/>
                    <a:p>
                      <a:pPr algn="ctr"/>
                      <a:r>
                        <a:rPr lang="en-US" altLang="zh-TW" dirty="0"/>
                        <a:t>4.44%</a:t>
                      </a:r>
                    </a:p>
                  </a:txBody>
                  <a:tcPr anchor="ctr"/>
                </a:tc>
                <a:tc>
                  <a:txBody>
                    <a:bodyPr/>
                    <a:lstStyle/>
                    <a:p>
                      <a:pPr algn="ctr"/>
                      <a:r>
                        <a:rPr lang="en-US" altLang="zh-TW" dirty="0"/>
                        <a:t>3.27%</a:t>
                      </a:r>
                    </a:p>
                  </a:txBody>
                  <a:tcPr anchor="ctr"/>
                </a:tc>
                <a:extLst>
                  <a:ext uri="{0D108BD9-81ED-4DB2-BD59-A6C34878D82A}">
                    <a16:rowId xmlns:a16="http://schemas.microsoft.com/office/drawing/2014/main" val="3427155248"/>
                  </a:ext>
                </a:extLst>
              </a:tr>
              <a:tr h="504904">
                <a:tc>
                  <a:txBody>
                    <a:bodyPr/>
                    <a:lstStyle/>
                    <a:p>
                      <a:pPr algn="ctr"/>
                      <a:r>
                        <a:rPr lang="en-US" altLang="zh-TW" dirty="0" err="1"/>
                        <a:t>arXiv</a:t>
                      </a:r>
                      <a:endParaRPr lang="en-US" altLang="zh-TW" dirty="0"/>
                    </a:p>
                  </a:txBody>
                  <a:tcPr anchor="ctr"/>
                </a:tc>
                <a:tc>
                  <a:txBody>
                    <a:bodyPr/>
                    <a:lstStyle/>
                    <a:p>
                      <a:pPr algn="ctr"/>
                      <a:r>
                        <a:rPr lang="en-US" altLang="zh-TW" dirty="0"/>
                        <a:t>1.48%</a:t>
                      </a:r>
                    </a:p>
                  </a:txBody>
                  <a:tcPr anchor="ctr"/>
                </a:tc>
                <a:tc>
                  <a:txBody>
                    <a:bodyPr/>
                    <a:lstStyle/>
                    <a:p>
                      <a:pPr algn="ctr"/>
                      <a:r>
                        <a:rPr lang="en-US" altLang="zh-TW" dirty="0"/>
                        <a:t>3.94%</a:t>
                      </a:r>
                    </a:p>
                  </a:txBody>
                  <a:tcPr anchor="ctr"/>
                </a:tc>
                <a:tc>
                  <a:txBody>
                    <a:bodyPr/>
                    <a:lstStyle/>
                    <a:p>
                      <a:pPr algn="ctr"/>
                      <a:r>
                        <a:rPr lang="en-US" altLang="zh-TW" dirty="0"/>
                        <a:t>3.71%</a:t>
                      </a:r>
                    </a:p>
                  </a:txBody>
                  <a:tcPr anchor="ctr"/>
                </a:tc>
                <a:tc>
                  <a:txBody>
                    <a:bodyPr/>
                    <a:lstStyle/>
                    <a:p>
                      <a:pPr algn="ctr"/>
                      <a:r>
                        <a:rPr lang="en-US" altLang="zh-TW" dirty="0"/>
                        <a:t>0.27%</a:t>
                      </a:r>
                    </a:p>
                  </a:txBody>
                  <a:tcPr anchor="ctr"/>
                </a:tc>
                <a:extLst>
                  <a:ext uri="{0D108BD9-81ED-4DB2-BD59-A6C34878D82A}">
                    <a16:rowId xmlns:a16="http://schemas.microsoft.com/office/drawing/2014/main" val="678960123"/>
                  </a:ext>
                </a:extLst>
              </a:tr>
              <a:tr h="504904">
                <a:tc>
                  <a:txBody>
                    <a:bodyPr/>
                    <a:lstStyle/>
                    <a:p>
                      <a:pPr algn="ctr"/>
                      <a:r>
                        <a:rPr lang="en-US" altLang="zh-TW" dirty="0"/>
                        <a:t>PubMed</a:t>
                      </a:r>
                      <a:endParaRPr lang="zh-TW" altLang="en-US" dirty="0"/>
                    </a:p>
                  </a:txBody>
                  <a:tcPr anchor="ctr"/>
                </a:tc>
                <a:tc>
                  <a:txBody>
                    <a:bodyPr/>
                    <a:lstStyle/>
                    <a:p>
                      <a:pPr algn="ctr"/>
                      <a:r>
                        <a:rPr lang="en-US" altLang="zh-TW" dirty="0"/>
                        <a:t>7.04%</a:t>
                      </a:r>
                    </a:p>
                  </a:txBody>
                  <a:tcPr anchor="ctr"/>
                </a:tc>
                <a:tc>
                  <a:txBody>
                    <a:bodyPr/>
                    <a:lstStyle/>
                    <a:p>
                      <a:pPr algn="ctr"/>
                      <a:r>
                        <a:rPr lang="en-US" altLang="zh-TW" dirty="0"/>
                        <a:t>7.76%</a:t>
                      </a:r>
                    </a:p>
                  </a:txBody>
                  <a:tcPr anchor="ctr"/>
                </a:tc>
                <a:tc>
                  <a:txBody>
                    <a:bodyPr/>
                    <a:lstStyle/>
                    <a:p>
                      <a:pPr algn="ctr"/>
                      <a:r>
                        <a:rPr lang="en-US" altLang="zh-TW" dirty="0"/>
                        <a:t>8.33%</a:t>
                      </a:r>
                    </a:p>
                  </a:txBody>
                  <a:tcPr anchor="ctr"/>
                </a:tc>
                <a:tc>
                  <a:txBody>
                    <a:bodyPr/>
                    <a:lstStyle/>
                    <a:p>
                      <a:pPr algn="ctr"/>
                      <a:r>
                        <a:rPr lang="en-US" altLang="zh-TW" dirty="0"/>
                        <a:t>8.26%</a:t>
                      </a:r>
                    </a:p>
                  </a:txBody>
                  <a:tcPr anchor="ctr"/>
                </a:tc>
                <a:extLst>
                  <a:ext uri="{0D108BD9-81ED-4DB2-BD59-A6C34878D82A}">
                    <a16:rowId xmlns:a16="http://schemas.microsoft.com/office/drawing/2014/main" val="1531699260"/>
                  </a:ext>
                </a:extLst>
              </a:tr>
            </a:tbl>
          </a:graphicData>
        </a:graphic>
      </p:graphicFrame>
      <p:sp>
        <p:nvSpPr>
          <p:cNvPr id="12" name="文字方塊 11">
            <a:extLst>
              <a:ext uri="{FF2B5EF4-FFF2-40B4-BE49-F238E27FC236}">
                <a16:creationId xmlns:a16="http://schemas.microsoft.com/office/drawing/2014/main" id="{19B868C5-8A25-E4D9-789D-8AD1F545214D}"/>
              </a:ext>
            </a:extLst>
          </p:cNvPr>
          <p:cNvSpPr txBox="1"/>
          <p:nvPr/>
        </p:nvSpPr>
        <p:spPr>
          <a:xfrm>
            <a:off x="347470" y="4921687"/>
            <a:ext cx="11475720" cy="1661993"/>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Observation</a:t>
            </a:r>
          </a:p>
          <a:p>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PPL improvements generalize to multiple unseen datasets.</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Heads 2–4 show relatively consistent gains on </a:t>
            </a:r>
            <a:r>
              <a:rPr lang="en-US" altLang="zh-TW" sz="1600" dirty="0" err="1">
                <a:latin typeface="微軟正黑體" panose="020B0604030504040204" pitchFamily="34" charset="-120"/>
                <a:ea typeface="微軟正黑體" panose="020B0604030504040204" pitchFamily="34" charset="-120"/>
              </a:rPr>
              <a:t>WikiText</a:t>
            </a:r>
            <a:r>
              <a:rPr lang="en-US" altLang="zh-TW" sz="1600" dirty="0">
                <a:latin typeface="微軟正黑體" panose="020B0604030504040204" pitchFamily="34" charset="-120"/>
                <a:ea typeface="微軟正黑體" panose="020B0604030504040204" pitchFamily="34" charset="-120"/>
              </a:rPr>
              <a:t> and PubMed.</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Head 1 shows the largest gain on LAMBADA (</a:t>
            </a:r>
            <a:r>
              <a:rPr lang="en-US" altLang="zh-TW" sz="1600" b="1" dirty="0">
                <a:latin typeface="微軟正黑體" panose="020B0604030504040204" pitchFamily="34" charset="-120"/>
                <a:ea typeface="微軟正黑體" panose="020B0604030504040204" pitchFamily="34" charset="-120"/>
              </a:rPr>
              <a:t>38.53%</a:t>
            </a:r>
            <a:r>
              <a:rPr lang="en-US" altLang="zh-TW" sz="1600" dirty="0">
                <a:latin typeface="微軟正黑體" panose="020B0604030504040204" pitchFamily="34" charset="-120"/>
                <a:ea typeface="微軟正黑體" panose="020B0604030504040204" pitchFamily="34" charset="-120"/>
              </a:rPr>
              <a:t>). </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The benefit varies across datasets but generalizes beyond the training domain.</a:t>
            </a:r>
          </a:p>
        </p:txBody>
      </p:sp>
      <p:sp>
        <p:nvSpPr>
          <p:cNvPr id="2" name="文字方塊 1">
            <a:extLst>
              <a:ext uri="{FF2B5EF4-FFF2-40B4-BE49-F238E27FC236}">
                <a16:creationId xmlns:a16="http://schemas.microsoft.com/office/drawing/2014/main" id="{6E5BE071-360E-AE51-1249-353C4320A3E3}"/>
              </a:ext>
            </a:extLst>
          </p:cNvPr>
          <p:cNvSpPr txBox="1"/>
          <p:nvPr/>
        </p:nvSpPr>
        <p:spPr>
          <a:xfrm>
            <a:off x="347470" y="914400"/>
            <a:ext cx="11193500" cy="830997"/>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To evaluate the generalization ability of the proposed method across different domains, zero-shot evaluation was conducted on </a:t>
            </a:r>
            <a:r>
              <a:rPr lang="en-US" altLang="zh-TW" sz="1600" dirty="0" err="1">
                <a:latin typeface="微軟正黑體" panose="020B0604030504040204" pitchFamily="34" charset="-120"/>
                <a:ea typeface="微軟正黑體" panose="020B0604030504040204" pitchFamily="34" charset="-120"/>
              </a:rPr>
              <a:t>WikiText</a:t>
            </a:r>
            <a:r>
              <a:rPr lang="en-US" altLang="zh-TW" sz="1600" dirty="0">
                <a:latin typeface="微軟正黑體" panose="020B0604030504040204" pitchFamily="34" charset="-120"/>
                <a:ea typeface="微軟正黑體" panose="020B0604030504040204" pitchFamily="34" charset="-120"/>
              </a:rPr>
              <a:t>[5], </a:t>
            </a:r>
            <a:r>
              <a:rPr lang="en-US" altLang="zh-TW" sz="1600" dirty="0" err="1">
                <a:latin typeface="微軟正黑體" panose="020B0604030504040204" pitchFamily="34" charset="-120"/>
                <a:ea typeface="微軟正黑體" panose="020B0604030504040204" pitchFamily="34" charset="-120"/>
              </a:rPr>
              <a:t>PennTreebank</a:t>
            </a:r>
            <a:r>
              <a:rPr lang="en-US" altLang="zh-TW" sz="1600" dirty="0">
                <a:latin typeface="微軟正黑體" panose="020B0604030504040204" pitchFamily="34" charset="-120"/>
                <a:ea typeface="微軟正黑體" panose="020B0604030504040204" pitchFamily="34" charset="-120"/>
              </a:rPr>
              <a:t>(PTB)[6], LAMBADA[7], and the </a:t>
            </a:r>
            <a:r>
              <a:rPr lang="en-US" altLang="zh-TW" sz="1600" dirty="0" err="1">
                <a:latin typeface="微軟正黑體" panose="020B0604030504040204" pitchFamily="34" charset="-120"/>
                <a:ea typeface="微軟正黑體" panose="020B0604030504040204" pitchFamily="34" charset="-120"/>
              </a:rPr>
              <a:t>arXiv</a:t>
            </a:r>
            <a:r>
              <a:rPr lang="en-US" altLang="zh-TW" sz="1600" dirty="0">
                <a:latin typeface="微軟正黑體" panose="020B0604030504040204" pitchFamily="34" charset="-120"/>
                <a:ea typeface="微軟正黑體" panose="020B0604030504040204" pitchFamily="34" charset="-120"/>
              </a:rPr>
              <a:t> and PubMed subsets of the Scientific Papers dataset[8]. </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74077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FC5117D9-E3F0-8AA3-651D-466A7CEF8745}"/>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7AA86D5A-097E-FB7C-0023-461209AEC35C}"/>
              </a:ext>
            </a:extLst>
          </p:cNvPr>
          <p:cNvSpPr txBox="1"/>
          <p:nvPr/>
        </p:nvSpPr>
        <p:spPr>
          <a:xfrm>
            <a:off x="347470" y="705057"/>
            <a:ext cx="10323490" cy="307777"/>
          </a:xfrm>
          <a:prstGeom prst="rect">
            <a:avLst/>
          </a:prstGeom>
          <a:noFill/>
        </p:spPr>
        <p:txBody>
          <a:bodyPr wrap="square" rtlCol="0">
            <a:spAutoFit/>
          </a:bodyPr>
          <a:lstStyle/>
          <a:p>
            <a:r>
              <a:rPr lang="en-US" altLang="zh-TW" sz="1400" b="1" dirty="0">
                <a:latin typeface="微軟正黑體" panose="020B0604030504040204" pitchFamily="34" charset="-120"/>
                <a:ea typeface="微軟正黑體" panose="020B0604030504040204" pitchFamily="34" charset="-120"/>
              </a:rPr>
              <a:t>Let S</a:t>
            </a:r>
            <a:r>
              <a:rPr lang="en-US" altLang="zh-TW" sz="1400" b="1" baseline="-25000" dirty="0">
                <a:latin typeface="微軟正黑體" panose="020B0604030504040204" pitchFamily="34" charset="-120"/>
                <a:ea typeface="微軟正黑體" panose="020B0604030504040204" pitchFamily="34" charset="-120"/>
              </a:rPr>
              <a:t>W</a:t>
            </a:r>
            <a:r>
              <a:rPr lang="en-US" altLang="zh-TW" sz="1400" b="1" dirty="0">
                <a:latin typeface="微軟正黑體" panose="020B0604030504040204" pitchFamily="34" charset="-120"/>
                <a:ea typeface="微軟正黑體" panose="020B0604030504040204" pitchFamily="34" charset="-120"/>
              </a:rPr>
              <a:t>, </a:t>
            </a:r>
            <a:r>
              <a:rPr lang="el-GR" altLang="zh-TW" sz="1400" b="1" dirty="0">
                <a:latin typeface="微軟正黑體" panose="020B0604030504040204" pitchFamily="34" charset="-120"/>
                <a:ea typeface="微軟正黑體" panose="020B0604030504040204" pitchFamily="34" charset="-120"/>
              </a:rPr>
              <a:t>τ</a:t>
            </a:r>
            <a:r>
              <a:rPr lang="en-US" altLang="zh-TW" sz="1400" b="1" dirty="0">
                <a:latin typeface="微軟正黑體" panose="020B0604030504040204" pitchFamily="34" charset="-120"/>
                <a:ea typeface="微軟正黑體" panose="020B0604030504040204" pitchFamily="34" charset="-120"/>
              </a:rPr>
              <a:t>, and L</a:t>
            </a:r>
            <a:r>
              <a:rPr lang="en-US" altLang="zh-TW" sz="1400" b="1" baseline="-25000" dirty="0">
                <a:latin typeface="微軟正黑體" panose="020B0604030504040204" pitchFamily="34" charset="-120"/>
                <a:ea typeface="微軟正黑體" panose="020B0604030504040204" pitchFamily="34" charset="-120"/>
              </a:rPr>
              <a:t>W</a:t>
            </a:r>
            <a:r>
              <a:rPr lang="en-US" altLang="zh-TW" sz="1400" b="1" dirty="0">
                <a:latin typeface="微軟正黑體" panose="020B0604030504040204" pitchFamily="34" charset="-120"/>
                <a:ea typeface="微軟正黑體" panose="020B0604030504040204" pitchFamily="34" charset="-120"/>
              </a:rPr>
              <a:t> denote the SDC term weight, confidence threshold, and LCM term weight, respectively.</a:t>
            </a:r>
            <a:endParaRPr lang="zh-TW" altLang="en-US" sz="1400" b="1"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660BEF78-BCAE-A094-9708-60A5D7276F10}"/>
              </a:ext>
            </a:extLst>
          </p:cNvPr>
          <p:cNvSpPr>
            <a:spLocks noGrp="1"/>
          </p:cNvSpPr>
          <p:nvPr>
            <p:ph type="sldNum" sz="quarter" idx="12"/>
          </p:nvPr>
        </p:nvSpPr>
        <p:spPr>
          <a:xfrm>
            <a:off x="9420929" y="6630152"/>
            <a:ext cx="2743200" cy="224065"/>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23</a:t>
            </a:fld>
            <a:endParaRPr lang="zh-TW" altLang="en-US" dirty="0">
              <a:solidFill>
                <a:schemeClr val="bg2"/>
              </a:solidFill>
              <a:latin typeface="微軟正黑體" panose="020B0604030504040204" pitchFamily="34" charset="-120"/>
              <a:ea typeface="微軟正黑體" panose="020B0604030504040204" pitchFamily="34" charset="-120"/>
            </a:endParaRPr>
          </a:p>
        </p:txBody>
      </p:sp>
      <p:sp>
        <p:nvSpPr>
          <p:cNvPr id="6" name="Text 2">
            <a:extLst>
              <a:ext uri="{FF2B5EF4-FFF2-40B4-BE49-F238E27FC236}">
                <a16:creationId xmlns:a16="http://schemas.microsoft.com/office/drawing/2014/main" id="{3AC5825D-35B9-5CD5-CD54-3F87E388EBAB}"/>
              </a:ext>
            </a:extLst>
          </p:cNvPr>
          <p:cNvSpPr/>
          <p:nvPr/>
        </p:nvSpPr>
        <p:spPr>
          <a:xfrm>
            <a:off x="347472" y="274320"/>
            <a:ext cx="306000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4: Experimental Results</a:t>
            </a:r>
          </a:p>
        </p:txBody>
      </p:sp>
      <p:sp>
        <p:nvSpPr>
          <p:cNvPr id="7" name="Text 3">
            <a:extLst>
              <a:ext uri="{FF2B5EF4-FFF2-40B4-BE49-F238E27FC236}">
                <a16:creationId xmlns:a16="http://schemas.microsoft.com/office/drawing/2014/main" id="{D3C4523A-8235-3ED7-6DE2-29CBC80B1335}"/>
              </a:ext>
            </a:extLst>
          </p:cNvPr>
          <p:cNvSpPr/>
          <p:nvPr/>
        </p:nvSpPr>
        <p:spPr>
          <a:xfrm>
            <a:off x="347470" y="476457"/>
            <a:ext cx="9373577" cy="228600"/>
          </a:xfrm>
          <a:prstGeom prst="rect">
            <a:avLst/>
          </a:prstGeom>
          <a:noFill/>
          <a:ln/>
        </p:spPr>
        <p:txBody>
          <a:bodyPr wrap="square" lIns="0" tIns="0" rIns="0" bIns="0" rtlCol="0" anchor="ctr"/>
          <a:lstStyle/>
          <a:p>
            <a:r>
              <a:rPr lang="en-US" sz="1600" dirty="0">
                <a:solidFill>
                  <a:schemeClr val="bg1">
                    <a:lumMod val="50000"/>
                  </a:schemeClr>
                </a:solidFill>
                <a:latin typeface="微軟正黑體" panose="020B0604030504040204" pitchFamily="34" charset="-120"/>
                <a:ea typeface="微軟正黑體" panose="020B0604030504040204" pitchFamily="34" charset="-120"/>
              </a:rPr>
              <a:t>Ablation Study — Oracle PPL </a:t>
            </a:r>
          </a:p>
        </p:txBody>
      </p:sp>
      <p:sp>
        <p:nvSpPr>
          <p:cNvPr id="8" name="Shape 5">
            <a:extLst>
              <a:ext uri="{FF2B5EF4-FFF2-40B4-BE49-F238E27FC236}">
                <a16:creationId xmlns:a16="http://schemas.microsoft.com/office/drawing/2014/main" id="{2B2A0058-1864-93F1-A9FC-1216E0990915}"/>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graphicFrame>
        <p:nvGraphicFramePr>
          <p:cNvPr id="10" name="表格 9">
            <a:extLst>
              <a:ext uri="{FF2B5EF4-FFF2-40B4-BE49-F238E27FC236}">
                <a16:creationId xmlns:a16="http://schemas.microsoft.com/office/drawing/2014/main" id="{2ABDC98F-C3A4-3E55-60C1-E7354E0FE934}"/>
              </a:ext>
            </a:extLst>
          </p:cNvPr>
          <p:cNvGraphicFramePr>
            <a:graphicFrameLocks noGrp="1"/>
          </p:cNvGraphicFramePr>
          <p:nvPr>
            <p:extLst>
              <p:ext uri="{D42A27DB-BD31-4B8C-83A1-F6EECF244321}">
                <p14:modId xmlns:p14="http://schemas.microsoft.com/office/powerpoint/2010/main" val="1102274016"/>
              </p:ext>
            </p:extLst>
          </p:nvPr>
        </p:nvGraphicFramePr>
        <p:xfrm>
          <a:off x="347470" y="1020571"/>
          <a:ext cx="8885307" cy="5251987"/>
        </p:xfrm>
        <a:graphic>
          <a:graphicData uri="http://schemas.openxmlformats.org/drawingml/2006/table">
            <a:tbl>
              <a:tblPr firstRow="1" bandRow="1">
                <a:tableStyleId>{5FD0F851-EC5A-4D38-B0AD-8093EC10F338}</a:tableStyleId>
              </a:tblPr>
              <a:tblGrid>
                <a:gridCol w="2005113">
                  <a:extLst>
                    <a:ext uri="{9D8B030D-6E8A-4147-A177-3AD203B41FA5}">
                      <a16:colId xmlns:a16="http://schemas.microsoft.com/office/drawing/2014/main" val="2880323015"/>
                    </a:ext>
                  </a:extLst>
                </a:gridCol>
                <a:gridCol w="1624613">
                  <a:extLst>
                    <a:ext uri="{9D8B030D-6E8A-4147-A177-3AD203B41FA5}">
                      <a16:colId xmlns:a16="http://schemas.microsoft.com/office/drawing/2014/main" val="3421584875"/>
                    </a:ext>
                  </a:extLst>
                </a:gridCol>
                <a:gridCol w="1740023">
                  <a:extLst>
                    <a:ext uri="{9D8B030D-6E8A-4147-A177-3AD203B41FA5}">
                      <a16:colId xmlns:a16="http://schemas.microsoft.com/office/drawing/2014/main" val="1184110547"/>
                    </a:ext>
                  </a:extLst>
                </a:gridCol>
                <a:gridCol w="1731146">
                  <a:extLst>
                    <a:ext uri="{9D8B030D-6E8A-4147-A177-3AD203B41FA5}">
                      <a16:colId xmlns:a16="http://schemas.microsoft.com/office/drawing/2014/main" val="3781708433"/>
                    </a:ext>
                  </a:extLst>
                </a:gridCol>
                <a:gridCol w="1784412">
                  <a:extLst>
                    <a:ext uri="{9D8B030D-6E8A-4147-A177-3AD203B41FA5}">
                      <a16:colId xmlns:a16="http://schemas.microsoft.com/office/drawing/2014/main" val="107327293"/>
                    </a:ext>
                  </a:extLst>
                </a:gridCol>
              </a:tblGrid>
              <a:tr h="403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solidFill>
                            <a:schemeClr val="tx1"/>
                          </a:solidFill>
                        </a:rPr>
                        <a:t>Setting</a:t>
                      </a:r>
                    </a:p>
                  </a:txBody>
                  <a:tcPr anchor="ctr"/>
                </a:tc>
                <a:tc>
                  <a:txBody>
                    <a:bodyPr/>
                    <a:lstStyle/>
                    <a:p>
                      <a:pPr algn="ctr"/>
                      <a:r>
                        <a:rPr lang="en-US" altLang="zh-TW" dirty="0">
                          <a:solidFill>
                            <a:schemeClr val="tx1"/>
                          </a:solidFill>
                        </a:rPr>
                        <a:t>Head 1 PPL</a:t>
                      </a:r>
                    </a:p>
                  </a:txBody>
                  <a:tcPr anchor="ctr"/>
                </a:tc>
                <a:tc>
                  <a:txBody>
                    <a:bodyPr/>
                    <a:lstStyle/>
                    <a:p>
                      <a:pPr algn="ctr"/>
                      <a:r>
                        <a:rPr lang="en-US" altLang="zh-TW" dirty="0">
                          <a:solidFill>
                            <a:schemeClr val="tx1"/>
                          </a:solidFill>
                        </a:rPr>
                        <a:t>Head 2 PPL</a:t>
                      </a:r>
                    </a:p>
                  </a:txBody>
                  <a:tcPr anchor="ctr"/>
                </a:tc>
                <a:tc>
                  <a:txBody>
                    <a:bodyPr/>
                    <a:lstStyle/>
                    <a:p>
                      <a:pPr algn="ctr"/>
                      <a:r>
                        <a:rPr lang="en-US" altLang="zh-TW" dirty="0">
                          <a:solidFill>
                            <a:schemeClr val="tx1"/>
                          </a:solidFill>
                        </a:rPr>
                        <a:t>Head 3 PPL</a:t>
                      </a:r>
                    </a:p>
                  </a:txBody>
                  <a:tcPr anchor="ctr"/>
                </a:tc>
                <a:tc>
                  <a:txBody>
                    <a:bodyPr/>
                    <a:lstStyle/>
                    <a:p>
                      <a:pPr algn="ctr"/>
                      <a:r>
                        <a:rPr lang="en-US" altLang="zh-TW" dirty="0">
                          <a:solidFill>
                            <a:schemeClr val="tx1"/>
                          </a:solidFill>
                        </a:rPr>
                        <a:t>Head 4 PPL</a:t>
                      </a:r>
                    </a:p>
                  </a:txBody>
                  <a:tcPr anchor="ctr"/>
                </a:tc>
                <a:extLst>
                  <a:ext uri="{0D108BD9-81ED-4DB2-BD59-A6C34878D82A}">
                    <a16:rowId xmlns:a16="http://schemas.microsoft.com/office/drawing/2014/main" val="57095099"/>
                  </a:ext>
                </a:extLst>
              </a:tr>
              <a:tr h="403999">
                <a:tc>
                  <a:txBody>
                    <a:bodyPr/>
                    <a:lstStyle/>
                    <a:p>
                      <a:pPr algn="ctr"/>
                      <a:r>
                        <a:rPr lang="en-US" altLang="zh-TW" sz="1600" dirty="0">
                          <a:solidFill>
                            <a:schemeClr val="tx1"/>
                          </a:solidFill>
                        </a:rPr>
                        <a:t>baseline</a:t>
                      </a:r>
                    </a:p>
                  </a:txBody>
                  <a:tcPr anchor="ctr"/>
                </a:tc>
                <a:tc>
                  <a:txBody>
                    <a:bodyPr/>
                    <a:lstStyle/>
                    <a:p>
                      <a:pPr algn="ctr">
                        <a:buNone/>
                      </a:pPr>
                      <a:r>
                        <a:rPr lang="en-US" altLang="zh-TW" sz="1600" dirty="0">
                          <a:solidFill>
                            <a:schemeClr val="tx1"/>
                          </a:solidFill>
                        </a:rPr>
                        <a:t>26.2356 ± 0.0000</a:t>
                      </a:r>
                    </a:p>
                  </a:txBody>
                  <a:tcPr anchor="ctr"/>
                </a:tc>
                <a:tc>
                  <a:txBody>
                    <a:bodyPr/>
                    <a:lstStyle/>
                    <a:p>
                      <a:pPr algn="ctr">
                        <a:buNone/>
                      </a:pPr>
                      <a:r>
                        <a:rPr lang="en-US" altLang="zh-TW" sz="1600" dirty="0">
                          <a:solidFill>
                            <a:schemeClr val="tx1"/>
                          </a:solidFill>
                        </a:rPr>
                        <a:t>121.8033 ± 0.0000</a:t>
                      </a:r>
                    </a:p>
                  </a:txBody>
                  <a:tcPr anchor="ctr"/>
                </a:tc>
                <a:tc>
                  <a:txBody>
                    <a:bodyPr/>
                    <a:lstStyle/>
                    <a:p>
                      <a:pPr algn="ctr">
                        <a:buNone/>
                      </a:pPr>
                      <a:r>
                        <a:rPr lang="en-US" altLang="zh-TW" sz="1600" dirty="0">
                          <a:solidFill>
                            <a:schemeClr val="tx1"/>
                          </a:solidFill>
                        </a:rPr>
                        <a:t>269.2450 ± 0.0000</a:t>
                      </a:r>
                    </a:p>
                  </a:txBody>
                  <a:tcPr anchor="ctr"/>
                </a:tc>
                <a:tc>
                  <a:txBody>
                    <a:bodyPr/>
                    <a:lstStyle/>
                    <a:p>
                      <a:pPr algn="ctr">
                        <a:buNone/>
                      </a:pPr>
                      <a:r>
                        <a:rPr lang="en-US" altLang="zh-TW" sz="1600" dirty="0">
                          <a:solidFill>
                            <a:schemeClr val="tx1"/>
                          </a:solidFill>
                        </a:rPr>
                        <a:t>406.6959 ± 0.0000</a:t>
                      </a:r>
                    </a:p>
                  </a:txBody>
                  <a:tcPr anchor="ctr"/>
                </a:tc>
                <a:extLst>
                  <a:ext uri="{0D108BD9-81ED-4DB2-BD59-A6C34878D82A}">
                    <a16:rowId xmlns:a16="http://schemas.microsoft.com/office/drawing/2014/main" val="4165766225"/>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r>
                        <a:rPr lang="el-GR" altLang="zh-TW" sz="1600" dirty="0">
                          <a:solidFill>
                            <a:schemeClr val="tx1"/>
                          </a:solidFill>
                          <a:latin typeface="+mn-lt"/>
                        </a:rPr>
                        <a:t> τ</a:t>
                      </a:r>
                      <a:r>
                        <a:rPr lang="en-US" altLang="zh-TW" sz="1600" dirty="0">
                          <a:solidFill>
                            <a:schemeClr val="tx1"/>
                          </a:solidFill>
                          <a:latin typeface="+mn-lt"/>
                        </a:rPr>
                        <a:t>=0.0,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26.7541 ± 0.0000</a:t>
                      </a:r>
                    </a:p>
                  </a:txBody>
                  <a:tcPr marL="33472" marR="33472" marT="16736" marB="16736" anchor="ctr"/>
                </a:tc>
                <a:tc>
                  <a:txBody>
                    <a:bodyPr/>
                    <a:lstStyle/>
                    <a:p>
                      <a:pPr algn="ctr">
                        <a:buNone/>
                      </a:pPr>
                      <a:r>
                        <a:rPr lang="en-US" altLang="zh-TW" sz="1600" dirty="0">
                          <a:solidFill>
                            <a:schemeClr val="tx1"/>
                          </a:solidFill>
                        </a:rPr>
                        <a:t>120.6687 ± 0.0000</a:t>
                      </a:r>
                    </a:p>
                  </a:txBody>
                  <a:tcPr marL="33472" marR="33472" marT="16736" marB="16736" anchor="ctr"/>
                </a:tc>
                <a:tc>
                  <a:txBody>
                    <a:bodyPr/>
                    <a:lstStyle/>
                    <a:p>
                      <a:pPr algn="ctr">
                        <a:buNone/>
                      </a:pPr>
                      <a:r>
                        <a:rPr lang="en-US" altLang="zh-TW" sz="1600" dirty="0">
                          <a:solidFill>
                            <a:schemeClr val="tx1"/>
                          </a:solidFill>
                        </a:rPr>
                        <a:t>261.6664 ± 0.0000</a:t>
                      </a:r>
                    </a:p>
                  </a:txBody>
                  <a:tcPr marL="33472" marR="33472" marT="16736" marB="16736" anchor="ctr"/>
                </a:tc>
                <a:tc>
                  <a:txBody>
                    <a:bodyPr/>
                    <a:lstStyle/>
                    <a:p>
                      <a:pPr algn="ctr">
                        <a:buNone/>
                      </a:pPr>
                      <a:r>
                        <a:rPr lang="en-US" altLang="zh-TW" sz="1600">
                          <a:solidFill>
                            <a:schemeClr val="tx1"/>
                          </a:solidFill>
                        </a:rPr>
                        <a:t>394.6503 ± 0.0000</a:t>
                      </a:r>
                    </a:p>
                  </a:txBody>
                  <a:tcPr marL="33472" marR="33472" marT="16736" marB="16736" anchor="ctr"/>
                </a:tc>
                <a:extLst>
                  <a:ext uri="{0D108BD9-81ED-4DB2-BD59-A6C34878D82A}">
                    <a16:rowId xmlns:a16="http://schemas.microsoft.com/office/drawing/2014/main" val="1088568622"/>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26.8150 ± 0.0000</a:t>
                      </a:r>
                    </a:p>
                  </a:txBody>
                  <a:tcPr marL="33472" marR="33472" marT="16736" marB="16736" anchor="ctr"/>
                </a:tc>
                <a:tc>
                  <a:txBody>
                    <a:bodyPr/>
                    <a:lstStyle/>
                    <a:p>
                      <a:pPr algn="ctr">
                        <a:buNone/>
                      </a:pPr>
                      <a:r>
                        <a:rPr lang="en-US" altLang="zh-TW" sz="1600" dirty="0">
                          <a:solidFill>
                            <a:schemeClr val="tx1"/>
                          </a:solidFill>
                        </a:rPr>
                        <a:t>120.5276 ± 0.0000</a:t>
                      </a:r>
                    </a:p>
                  </a:txBody>
                  <a:tcPr marL="33472" marR="33472" marT="16736" marB="16736" anchor="ctr"/>
                </a:tc>
                <a:tc>
                  <a:txBody>
                    <a:bodyPr/>
                    <a:lstStyle/>
                    <a:p>
                      <a:pPr algn="ctr">
                        <a:buNone/>
                      </a:pPr>
                      <a:r>
                        <a:rPr lang="en-US" altLang="zh-TW" sz="1600" dirty="0">
                          <a:solidFill>
                            <a:schemeClr val="tx1"/>
                          </a:solidFill>
                        </a:rPr>
                        <a:t>261.9479 ± 0.0000</a:t>
                      </a:r>
                    </a:p>
                  </a:txBody>
                  <a:tcPr marL="33472" marR="33472" marT="16736" marB="16736" anchor="ctr"/>
                </a:tc>
                <a:tc>
                  <a:txBody>
                    <a:bodyPr/>
                    <a:lstStyle/>
                    <a:p>
                      <a:pPr algn="ctr">
                        <a:buNone/>
                      </a:pPr>
                      <a:r>
                        <a:rPr lang="en-US" altLang="zh-TW" sz="1600" dirty="0">
                          <a:solidFill>
                            <a:schemeClr val="tx1"/>
                          </a:solidFill>
                        </a:rPr>
                        <a:t>394.7055 ± 0.0000</a:t>
                      </a:r>
                    </a:p>
                  </a:txBody>
                  <a:tcPr marL="33472" marR="33472" marT="16736" marB="16736" anchor="ctr"/>
                </a:tc>
                <a:extLst>
                  <a:ext uri="{0D108BD9-81ED-4DB2-BD59-A6C34878D82A}">
                    <a16:rowId xmlns:a16="http://schemas.microsoft.com/office/drawing/2014/main" val="3427155248"/>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r>
                        <a:rPr lang="el-GR" altLang="zh-TW" sz="1600" dirty="0">
                          <a:solidFill>
                            <a:schemeClr val="tx1"/>
                          </a:solidFill>
                          <a:latin typeface="+mn-lt"/>
                        </a:rPr>
                        <a:t> τ</a:t>
                      </a:r>
                      <a:r>
                        <a:rPr lang="en-US" altLang="zh-TW" sz="1600" dirty="0">
                          <a:solidFill>
                            <a:schemeClr val="tx1"/>
                          </a:solidFill>
                          <a:latin typeface="+mn-lt"/>
                        </a:rPr>
                        <a:t>=0.6,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27.7396 ± 0.0000</a:t>
                      </a:r>
                    </a:p>
                  </a:txBody>
                  <a:tcPr marL="33472" marR="33472" marT="16736" marB="16736" anchor="ctr"/>
                </a:tc>
                <a:tc>
                  <a:txBody>
                    <a:bodyPr/>
                    <a:lstStyle/>
                    <a:p>
                      <a:pPr algn="ctr">
                        <a:buNone/>
                      </a:pPr>
                      <a:r>
                        <a:rPr lang="en-US" altLang="zh-TW" sz="1600" dirty="0">
                          <a:solidFill>
                            <a:schemeClr val="tx1"/>
                          </a:solidFill>
                        </a:rPr>
                        <a:t>129.2922 ± 0.0001</a:t>
                      </a:r>
                    </a:p>
                  </a:txBody>
                  <a:tcPr marL="33472" marR="33472" marT="16736" marB="16736" anchor="ctr"/>
                </a:tc>
                <a:tc>
                  <a:txBody>
                    <a:bodyPr/>
                    <a:lstStyle/>
                    <a:p>
                      <a:pPr algn="ctr">
                        <a:buNone/>
                      </a:pPr>
                      <a:r>
                        <a:rPr lang="en-US" altLang="zh-TW" sz="1600" dirty="0">
                          <a:solidFill>
                            <a:schemeClr val="tx1"/>
                          </a:solidFill>
                        </a:rPr>
                        <a:t>278.8881 ± 0.0000</a:t>
                      </a:r>
                    </a:p>
                  </a:txBody>
                  <a:tcPr marL="33472" marR="33472" marT="16736" marB="16736" anchor="ctr"/>
                </a:tc>
                <a:tc>
                  <a:txBody>
                    <a:bodyPr/>
                    <a:lstStyle/>
                    <a:p>
                      <a:pPr algn="ctr">
                        <a:buNone/>
                      </a:pPr>
                      <a:r>
                        <a:rPr lang="en-US" altLang="zh-TW" sz="1600" dirty="0">
                          <a:solidFill>
                            <a:schemeClr val="tx1"/>
                          </a:solidFill>
                        </a:rPr>
                        <a:t>417.5874 ± 0.0000</a:t>
                      </a:r>
                    </a:p>
                  </a:txBody>
                  <a:tcPr marL="33472" marR="33472" marT="16736" marB="16736" anchor="ctr"/>
                </a:tc>
                <a:extLst>
                  <a:ext uri="{0D108BD9-81ED-4DB2-BD59-A6C34878D82A}">
                    <a16:rowId xmlns:a16="http://schemas.microsoft.com/office/drawing/2014/main" val="678960123"/>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=1.5,</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27.2684 ± 0.0000</a:t>
                      </a:r>
                    </a:p>
                  </a:txBody>
                  <a:tcPr marL="33472" marR="33472" marT="16736" marB="16736" anchor="ctr"/>
                </a:tc>
                <a:tc>
                  <a:txBody>
                    <a:bodyPr/>
                    <a:lstStyle/>
                    <a:p>
                      <a:pPr algn="ctr">
                        <a:buNone/>
                      </a:pPr>
                      <a:r>
                        <a:rPr lang="en-US" altLang="zh-TW" sz="1600">
                          <a:solidFill>
                            <a:schemeClr val="tx1"/>
                          </a:solidFill>
                        </a:rPr>
                        <a:t>122.5244 ± 0.0000</a:t>
                      </a:r>
                    </a:p>
                  </a:txBody>
                  <a:tcPr marL="33472" marR="33472" marT="16736" marB="16736" anchor="ctr"/>
                </a:tc>
                <a:tc>
                  <a:txBody>
                    <a:bodyPr/>
                    <a:lstStyle/>
                    <a:p>
                      <a:pPr algn="ctr">
                        <a:buNone/>
                      </a:pPr>
                      <a:r>
                        <a:rPr lang="en-US" altLang="zh-TW" sz="1600" dirty="0">
                          <a:solidFill>
                            <a:schemeClr val="tx1"/>
                          </a:solidFill>
                        </a:rPr>
                        <a:t>264.6119 ± 0.0000</a:t>
                      </a:r>
                    </a:p>
                  </a:txBody>
                  <a:tcPr marL="33472" marR="33472" marT="16736" marB="16736" anchor="ctr"/>
                </a:tc>
                <a:tc>
                  <a:txBody>
                    <a:bodyPr/>
                    <a:lstStyle/>
                    <a:p>
                      <a:pPr algn="ctr">
                        <a:buNone/>
                      </a:pPr>
                      <a:r>
                        <a:rPr lang="en-US" altLang="zh-TW" sz="1600" dirty="0">
                          <a:solidFill>
                            <a:schemeClr val="tx1"/>
                          </a:solidFill>
                        </a:rPr>
                        <a:t>397.3106 ± 0.0000</a:t>
                      </a:r>
                    </a:p>
                  </a:txBody>
                  <a:tcPr marL="33472" marR="33472" marT="16736" marB="16736" anchor="ctr"/>
                </a:tc>
                <a:extLst>
                  <a:ext uri="{0D108BD9-81ED-4DB2-BD59-A6C34878D82A}">
                    <a16:rowId xmlns:a16="http://schemas.microsoft.com/office/drawing/2014/main" val="1531699260"/>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=0.5,</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26.4587 ± 0.0000</a:t>
                      </a:r>
                    </a:p>
                  </a:txBody>
                  <a:tcPr marL="33472" marR="33472" marT="16736" marB="16736" anchor="ctr"/>
                </a:tc>
                <a:tc>
                  <a:txBody>
                    <a:bodyPr/>
                    <a:lstStyle/>
                    <a:p>
                      <a:pPr algn="ctr">
                        <a:buNone/>
                      </a:pPr>
                      <a:r>
                        <a:rPr lang="en-US" altLang="zh-TW" sz="1600" dirty="0">
                          <a:solidFill>
                            <a:schemeClr val="tx1"/>
                          </a:solidFill>
                        </a:rPr>
                        <a:t>120.7186 ± 0.0000</a:t>
                      </a:r>
                    </a:p>
                  </a:txBody>
                  <a:tcPr marL="33472" marR="33472" marT="16736" marB="16736" anchor="ctr"/>
                </a:tc>
                <a:tc>
                  <a:txBody>
                    <a:bodyPr/>
                    <a:lstStyle/>
                    <a:p>
                      <a:pPr algn="ctr">
                        <a:buNone/>
                      </a:pPr>
                      <a:r>
                        <a:rPr lang="en-US" altLang="zh-TW" sz="1600" dirty="0">
                          <a:solidFill>
                            <a:schemeClr val="tx1"/>
                          </a:solidFill>
                        </a:rPr>
                        <a:t>265.0660 ± 0.0000</a:t>
                      </a:r>
                    </a:p>
                  </a:txBody>
                  <a:tcPr marL="33472" marR="33472" marT="16736" marB="16736" anchor="ctr"/>
                </a:tc>
                <a:tc>
                  <a:txBody>
                    <a:bodyPr/>
                    <a:lstStyle/>
                    <a:p>
                      <a:pPr algn="ctr">
                        <a:buNone/>
                      </a:pPr>
                      <a:r>
                        <a:rPr lang="en-US" altLang="zh-TW" sz="1600" dirty="0">
                          <a:solidFill>
                            <a:schemeClr val="tx1"/>
                          </a:solidFill>
                        </a:rPr>
                        <a:t>402.0413 ± 0.0000</a:t>
                      </a:r>
                    </a:p>
                  </a:txBody>
                  <a:tcPr marL="33472" marR="33472" marT="16736" marB="16736" anchor="ctr"/>
                </a:tc>
                <a:extLst>
                  <a:ext uri="{0D108BD9-81ED-4DB2-BD59-A6C34878D82A}">
                    <a16:rowId xmlns:a16="http://schemas.microsoft.com/office/drawing/2014/main" val="318103260"/>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r>
                        <a:rPr lang="el-GR" altLang="zh-TW" sz="1600" dirty="0">
                          <a:solidFill>
                            <a:schemeClr val="tx1"/>
                          </a:solidFill>
                          <a:latin typeface="+mn-lt"/>
                        </a:rPr>
                        <a:t> τ</a:t>
                      </a:r>
                      <a:r>
                        <a:rPr lang="en-US" altLang="zh-TW" sz="1600" dirty="0">
                          <a:solidFill>
                            <a:schemeClr val="tx1"/>
                          </a:solidFill>
                          <a:latin typeface="+mn-lt"/>
                        </a:rPr>
                        <a:t>=0.0,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=0.5</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25.7096 ± 0.0000</a:t>
                      </a:r>
                    </a:p>
                  </a:txBody>
                  <a:tcPr marL="33472" marR="33472" marT="16736" marB="16736" anchor="ctr"/>
                </a:tc>
                <a:tc>
                  <a:txBody>
                    <a:bodyPr/>
                    <a:lstStyle/>
                    <a:p>
                      <a:pPr algn="ctr">
                        <a:buNone/>
                      </a:pPr>
                      <a:r>
                        <a:rPr lang="en-US" altLang="zh-TW" sz="1600" dirty="0">
                          <a:solidFill>
                            <a:schemeClr val="tx1"/>
                          </a:solidFill>
                        </a:rPr>
                        <a:t>118.9247 ± 0.0000</a:t>
                      </a:r>
                    </a:p>
                  </a:txBody>
                  <a:tcPr marL="33472" marR="33472" marT="16736" marB="16736" anchor="ctr"/>
                </a:tc>
                <a:tc>
                  <a:txBody>
                    <a:bodyPr/>
                    <a:lstStyle/>
                    <a:p>
                      <a:pPr algn="ctr">
                        <a:buNone/>
                      </a:pPr>
                      <a:r>
                        <a:rPr lang="en-US" altLang="zh-TW" sz="1600" dirty="0">
                          <a:solidFill>
                            <a:schemeClr val="tx1"/>
                          </a:solidFill>
                        </a:rPr>
                        <a:t>262.1637 ± 0.0000</a:t>
                      </a:r>
                    </a:p>
                  </a:txBody>
                  <a:tcPr marL="33472" marR="33472" marT="16736" marB="16736" anchor="ctr"/>
                </a:tc>
                <a:tc>
                  <a:txBody>
                    <a:bodyPr/>
                    <a:lstStyle/>
                    <a:p>
                      <a:pPr algn="ctr">
                        <a:buNone/>
                      </a:pPr>
                      <a:r>
                        <a:rPr lang="en-US" altLang="zh-TW" sz="1600" dirty="0">
                          <a:solidFill>
                            <a:schemeClr val="tx1"/>
                          </a:solidFill>
                        </a:rPr>
                        <a:t>397.9911 ± 0.0000</a:t>
                      </a:r>
                    </a:p>
                  </a:txBody>
                  <a:tcPr marL="33472" marR="33472" marT="16736" marB="16736" anchor="ctr"/>
                </a:tc>
                <a:extLst>
                  <a:ext uri="{0D108BD9-81ED-4DB2-BD59-A6C34878D82A}">
                    <a16:rowId xmlns:a16="http://schemas.microsoft.com/office/drawing/2014/main" val="1441213913"/>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r>
                        <a:rPr lang="el-GR" altLang="zh-TW" sz="1600" dirty="0">
                          <a:solidFill>
                            <a:schemeClr val="tx1"/>
                          </a:solidFill>
                          <a:latin typeface="+mn-lt"/>
                        </a:rPr>
                        <a:t> τ</a:t>
                      </a:r>
                      <a:r>
                        <a:rPr lang="en-US" altLang="zh-TW" sz="1600" dirty="0">
                          <a:solidFill>
                            <a:schemeClr val="tx1"/>
                          </a:solidFill>
                          <a:latin typeface="+mn-lt"/>
                        </a:rPr>
                        <a:t>=0.0,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25.5312 ± 0.0000</a:t>
                      </a:r>
                    </a:p>
                  </a:txBody>
                  <a:tcPr marL="33472" marR="33472" marT="16736" marB="16736" anchor="ctr"/>
                </a:tc>
                <a:tc>
                  <a:txBody>
                    <a:bodyPr/>
                    <a:lstStyle/>
                    <a:p>
                      <a:pPr algn="ctr">
                        <a:buNone/>
                      </a:pPr>
                      <a:r>
                        <a:rPr lang="en-US" altLang="zh-TW" sz="1600" dirty="0">
                          <a:solidFill>
                            <a:schemeClr val="tx1"/>
                          </a:solidFill>
                        </a:rPr>
                        <a:t>118.5823 ± 0.0000</a:t>
                      </a:r>
                    </a:p>
                  </a:txBody>
                  <a:tcPr marL="33472" marR="33472" marT="16736" marB="16736" anchor="ctr"/>
                </a:tc>
                <a:tc>
                  <a:txBody>
                    <a:bodyPr/>
                    <a:lstStyle/>
                    <a:p>
                      <a:pPr algn="ctr">
                        <a:buNone/>
                      </a:pPr>
                      <a:r>
                        <a:rPr lang="en-US" altLang="zh-TW" sz="1600" dirty="0">
                          <a:solidFill>
                            <a:schemeClr val="tx1"/>
                          </a:solidFill>
                        </a:rPr>
                        <a:t>261.1872 ± 0.0000</a:t>
                      </a:r>
                    </a:p>
                  </a:txBody>
                  <a:tcPr marL="33472" marR="33472" marT="16736" marB="16736" anchor="ctr"/>
                </a:tc>
                <a:tc>
                  <a:txBody>
                    <a:bodyPr/>
                    <a:lstStyle/>
                    <a:p>
                      <a:pPr algn="ctr">
                        <a:buNone/>
                      </a:pPr>
                      <a:r>
                        <a:rPr lang="en-US" altLang="zh-TW" sz="1600" dirty="0">
                          <a:solidFill>
                            <a:schemeClr val="tx1"/>
                          </a:solidFill>
                        </a:rPr>
                        <a:t>395.1838 ± 0.0000</a:t>
                      </a:r>
                    </a:p>
                  </a:txBody>
                  <a:tcPr marL="33472" marR="33472" marT="16736" marB="16736" anchor="ctr"/>
                </a:tc>
                <a:extLst>
                  <a:ext uri="{0D108BD9-81ED-4DB2-BD59-A6C34878D82A}">
                    <a16:rowId xmlns:a16="http://schemas.microsoft.com/office/drawing/2014/main" val="1591432723"/>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r>
                        <a:rPr lang="el-GR" altLang="zh-TW" sz="1600" dirty="0">
                          <a:solidFill>
                            <a:schemeClr val="tx1"/>
                          </a:solidFill>
                          <a:latin typeface="+mn-lt"/>
                        </a:rPr>
                        <a:t> τ</a:t>
                      </a:r>
                      <a:r>
                        <a:rPr lang="en-US" altLang="zh-TW" sz="1600" dirty="0">
                          <a:solidFill>
                            <a:schemeClr val="tx1"/>
                          </a:solidFill>
                          <a:latin typeface="+mn-lt"/>
                        </a:rPr>
                        <a:t>=0.0,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=1.5</a:t>
                      </a:r>
                      <a:endParaRPr lang="en-US" altLang="zh-TW" sz="1600" baseline="0" dirty="0">
                        <a:solidFill>
                          <a:schemeClr val="tx1"/>
                        </a:solidFill>
                        <a:latin typeface="+mn-lt"/>
                      </a:endParaRPr>
                    </a:p>
                  </a:txBody>
                  <a:tcPr anchor="ctr"/>
                </a:tc>
                <a:tc>
                  <a:txBody>
                    <a:bodyPr/>
                    <a:lstStyle/>
                    <a:p>
                      <a:pPr algn="ctr">
                        <a:buNone/>
                      </a:pPr>
                      <a:r>
                        <a:rPr lang="en-US" altLang="zh-TW" sz="1600" b="1" dirty="0">
                          <a:solidFill>
                            <a:schemeClr val="tx1"/>
                          </a:solidFill>
                        </a:rPr>
                        <a:t>25.4583 ± 0.0000</a:t>
                      </a:r>
                    </a:p>
                  </a:txBody>
                  <a:tcPr marL="33472" marR="33472" marT="16736" marB="16736" anchor="ctr"/>
                </a:tc>
                <a:tc>
                  <a:txBody>
                    <a:bodyPr/>
                    <a:lstStyle/>
                    <a:p>
                      <a:pPr algn="ctr">
                        <a:buNone/>
                      </a:pPr>
                      <a:r>
                        <a:rPr lang="en-US" altLang="zh-TW" sz="1600" dirty="0">
                          <a:solidFill>
                            <a:schemeClr val="tx1"/>
                          </a:solidFill>
                        </a:rPr>
                        <a:t>119.1595 ± 0.0000</a:t>
                      </a:r>
                    </a:p>
                  </a:txBody>
                  <a:tcPr marL="33472" marR="33472" marT="16736" marB="16736" anchor="ctr"/>
                </a:tc>
                <a:tc>
                  <a:txBody>
                    <a:bodyPr/>
                    <a:lstStyle/>
                    <a:p>
                      <a:pPr algn="ctr">
                        <a:buNone/>
                      </a:pPr>
                      <a:r>
                        <a:rPr lang="en-US" altLang="zh-TW" sz="1600" dirty="0">
                          <a:solidFill>
                            <a:schemeClr val="tx1"/>
                          </a:solidFill>
                        </a:rPr>
                        <a:t>263.2083 ± 0.0000</a:t>
                      </a:r>
                    </a:p>
                  </a:txBody>
                  <a:tcPr marL="33472" marR="33472" marT="16736" marB="16736" anchor="ctr"/>
                </a:tc>
                <a:tc>
                  <a:txBody>
                    <a:bodyPr/>
                    <a:lstStyle/>
                    <a:p>
                      <a:pPr algn="ctr">
                        <a:buNone/>
                      </a:pPr>
                      <a:r>
                        <a:rPr lang="en-US" altLang="zh-TW" sz="1600" dirty="0">
                          <a:solidFill>
                            <a:schemeClr val="tx1"/>
                          </a:solidFill>
                        </a:rPr>
                        <a:t>398.8679 ± 0.0000</a:t>
                      </a:r>
                    </a:p>
                  </a:txBody>
                  <a:tcPr marL="33472" marR="33472" marT="16736" marB="16736" anchor="ctr"/>
                </a:tc>
                <a:extLst>
                  <a:ext uri="{0D108BD9-81ED-4DB2-BD59-A6C34878D82A}">
                    <a16:rowId xmlns:a16="http://schemas.microsoft.com/office/drawing/2014/main" val="1309331485"/>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=0.5</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26.2402 ± 0.0000</a:t>
                      </a:r>
                    </a:p>
                  </a:txBody>
                  <a:tcPr marL="33472" marR="33472" marT="16736" marB="16736" anchor="ctr"/>
                </a:tc>
                <a:tc>
                  <a:txBody>
                    <a:bodyPr/>
                    <a:lstStyle/>
                    <a:p>
                      <a:pPr algn="ctr">
                        <a:buNone/>
                      </a:pPr>
                      <a:r>
                        <a:rPr lang="en-US" altLang="zh-TW" sz="1600" b="1" dirty="0">
                          <a:solidFill>
                            <a:schemeClr val="tx1"/>
                          </a:solidFill>
                        </a:rPr>
                        <a:t>118.2168 ± 0.0000</a:t>
                      </a:r>
                    </a:p>
                  </a:txBody>
                  <a:tcPr marL="33472" marR="33472" marT="16736" marB="16736" anchor="ctr"/>
                </a:tc>
                <a:tc>
                  <a:txBody>
                    <a:bodyPr/>
                    <a:lstStyle/>
                    <a:p>
                      <a:pPr algn="ctr">
                        <a:buNone/>
                      </a:pPr>
                      <a:r>
                        <a:rPr lang="en-US" altLang="zh-TW" sz="1600" dirty="0">
                          <a:solidFill>
                            <a:schemeClr val="tx1"/>
                          </a:solidFill>
                        </a:rPr>
                        <a:t>257.0344 ± 0.0000</a:t>
                      </a:r>
                    </a:p>
                  </a:txBody>
                  <a:tcPr marL="33472" marR="33472" marT="16736" marB="16736" anchor="ctr"/>
                </a:tc>
                <a:tc>
                  <a:txBody>
                    <a:bodyPr/>
                    <a:lstStyle/>
                    <a:p>
                      <a:pPr algn="ctr">
                        <a:buNone/>
                      </a:pPr>
                      <a:r>
                        <a:rPr lang="en-US" altLang="zh-TW" sz="1600" dirty="0">
                          <a:solidFill>
                            <a:schemeClr val="tx1"/>
                          </a:solidFill>
                        </a:rPr>
                        <a:t>387.7455 ± 0.0000</a:t>
                      </a:r>
                    </a:p>
                  </a:txBody>
                  <a:tcPr marL="33472" marR="33472" marT="16736" marB="16736" anchor="ctr"/>
                </a:tc>
                <a:extLst>
                  <a:ext uri="{0D108BD9-81ED-4DB2-BD59-A6C34878D82A}">
                    <a16:rowId xmlns:a16="http://schemas.microsoft.com/office/drawing/2014/main" val="3663042970"/>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26.4553 ± 0.0000</a:t>
                      </a:r>
                    </a:p>
                  </a:txBody>
                  <a:tcPr marL="33472" marR="33472" marT="16736" marB="16736" anchor="ctr"/>
                </a:tc>
                <a:tc>
                  <a:txBody>
                    <a:bodyPr/>
                    <a:lstStyle/>
                    <a:p>
                      <a:pPr algn="ctr">
                        <a:buNone/>
                      </a:pPr>
                      <a:r>
                        <a:rPr lang="en-US" altLang="zh-TW" sz="1600">
                          <a:solidFill>
                            <a:schemeClr val="tx1"/>
                          </a:solidFill>
                        </a:rPr>
                        <a:t>119.2975 ± 0.0000</a:t>
                      </a:r>
                    </a:p>
                  </a:txBody>
                  <a:tcPr marL="33472" marR="33472" marT="16736" marB="16736" anchor="ctr"/>
                </a:tc>
                <a:tc>
                  <a:txBody>
                    <a:bodyPr/>
                    <a:lstStyle/>
                    <a:p>
                      <a:pPr algn="ctr">
                        <a:buNone/>
                      </a:pPr>
                      <a:r>
                        <a:rPr lang="en-US" altLang="zh-TW" sz="1600">
                          <a:solidFill>
                            <a:schemeClr val="tx1"/>
                          </a:solidFill>
                        </a:rPr>
                        <a:t>258.4100 ± 0.0000</a:t>
                      </a:r>
                    </a:p>
                  </a:txBody>
                  <a:tcPr marL="33472" marR="33472" marT="16736" marB="16736" anchor="ctr"/>
                </a:tc>
                <a:tc>
                  <a:txBody>
                    <a:bodyPr/>
                    <a:lstStyle/>
                    <a:p>
                      <a:pPr algn="ctr">
                        <a:buNone/>
                      </a:pPr>
                      <a:r>
                        <a:rPr lang="en-US" altLang="zh-TW" sz="1600" dirty="0">
                          <a:solidFill>
                            <a:schemeClr val="tx1"/>
                          </a:solidFill>
                        </a:rPr>
                        <a:t>390.7829 ± 0.0000</a:t>
                      </a:r>
                    </a:p>
                  </a:txBody>
                  <a:tcPr marL="33472" marR="33472" marT="16736" marB="16736" anchor="ctr"/>
                </a:tc>
                <a:extLst>
                  <a:ext uri="{0D108BD9-81ED-4DB2-BD59-A6C34878D82A}">
                    <a16:rowId xmlns:a16="http://schemas.microsoft.com/office/drawing/2014/main" val="3253892573"/>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=1.5,</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26.5485 ± 0.0000</a:t>
                      </a:r>
                    </a:p>
                  </a:txBody>
                  <a:tcPr marL="33472" marR="33472" marT="16736" marB="16736" anchor="ctr"/>
                </a:tc>
                <a:tc>
                  <a:txBody>
                    <a:bodyPr/>
                    <a:lstStyle/>
                    <a:p>
                      <a:pPr algn="ctr">
                        <a:buNone/>
                      </a:pPr>
                      <a:r>
                        <a:rPr lang="en-US" altLang="zh-TW" sz="1600">
                          <a:solidFill>
                            <a:schemeClr val="tx1"/>
                          </a:solidFill>
                        </a:rPr>
                        <a:t>118.4341 ± 0.0000</a:t>
                      </a:r>
                    </a:p>
                  </a:txBody>
                  <a:tcPr marL="33472" marR="33472" marT="16736" marB="16736" anchor="ctr"/>
                </a:tc>
                <a:tc>
                  <a:txBody>
                    <a:bodyPr/>
                    <a:lstStyle/>
                    <a:p>
                      <a:pPr algn="ctr">
                        <a:buNone/>
                      </a:pPr>
                      <a:r>
                        <a:rPr lang="en-US" altLang="zh-TW" sz="1600" b="1" dirty="0">
                          <a:solidFill>
                            <a:schemeClr val="tx1"/>
                          </a:solidFill>
                        </a:rPr>
                        <a:t>254.9612 ± 0.0000</a:t>
                      </a:r>
                      <a:endParaRPr lang="zh-TW" altLang="en-US" sz="1600" dirty="0">
                        <a:solidFill>
                          <a:schemeClr val="tx1"/>
                        </a:solidFill>
                      </a:endParaRPr>
                    </a:p>
                  </a:txBody>
                  <a:tcPr marL="33472" marR="33472" marT="16736" marB="16736" anchor="ctr"/>
                </a:tc>
                <a:tc>
                  <a:txBody>
                    <a:bodyPr/>
                    <a:lstStyle/>
                    <a:p>
                      <a:pPr algn="ctr">
                        <a:buNone/>
                      </a:pPr>
                      <a:r>
                        <a:rPr lang="en-US" altLang="zh-TW" sz="1600" b="1" dirty="0">
                          <a:solidFill>
                            <a:schemeClr val="tx1"/>
                          </a:solidFill>
                        </a:rPr>
                        <a:t>383.7626 ± 0.0000</a:t>
                      </a:r>
                      <a:endParaRPr lang="zh-TW" altLang="en-US" sz="1600" dirty="0">
                        <a:solidFill>
                          <a:schemeClr val="tx1"/>
                        </a:solidFill>
                      </a:endParaRPr>
                    </a:p>
                  </a:txBody>
                  <a:tcPr marL="33472" marR="33472" marT="16736" marB="16736" anchor="ctr"/>
                </a:tc>
                <a:extLst>
                  <a:ext uri="{0D108BD9-81ED-4DB2-BD59-A6C34878D82A}">
                    <a16:rowId xmlns:a16="http://schemas.microsoft.com/office/drawing/2014/main" val="2083154564"/>
                  </a:ext>
                </a:extLst>
              </a:tr>
            </a:tbl>
          </a:graphicData>
        </a:graphic>
      </p:graphicFrame>
      <p:sp>
        <p:nvSpPr>
          <p:cNvPr id="29" name="文字方塊 28">
            <a:extLst>
              <a:ext uri="{FF2B5EF4-FFF2-40B4-BE49-F238E27FC236}">
                <a16:creationId xmlns:a16="http://schemas.microsoft.com/office/drawing/2014/main" id="{B5C35B6D-3CEF-2D98-CE64-708B5A0435B7}"/>
              </a:ext>
            </a:extLst>
          </p:cNvPr>
          <p:cNvSpPr txBox="1"/>
          <p:nvPr/>
        </p:nvSpPr>
        <p:spPr>
          <a:xfrm>
            <a:off x="9244413" y="1012834"/>
            <a:ext cx="2919716" cy="3105402"/>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Observation</a:t>
            </a:r>
          </a:p>
          <a:p>
            <a:endParaRPr lang="en-US" altLang="zh-TW" b="1" dirty="0">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Moderate SDC settings improve Heads 2–4, while Head 1 may slightly degrade.</a:t>
            </a:r>
          </a:p>
          <a:p>
            <a:pPr marL="285750" indent="-2857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Moderate LCM weights improve future-head PPL.</a:t>
            </a:r>
          </a:p>
          <a:p>
            <a:pPr marL="285750" indent="-2857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A high confidence threshold (τ = 0.6) consistently hurts PPL.</a:t>
            </a:r>
          </a:p>
          <a:p>
            <a:pPr marL="285750" indent="-2857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Joint SDC+LCM achieves the best overall future-head performance.</a:t>
            </a:r>
          </a:p>
        </p:txBody>
      </p:sp>
    </p:spTree>
    <p:extLst>
      <p:ext uri="{BB962C8B-B14F-4D97-AF65-F5344CB8AC3E}">
        <p14:creationId xmlns:p14="http://schemas.microsoft.com/office/powerpoint/2010/main" val="27716344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5ECFA86E-2881-6C1A-423C-F7BFABF5C154}"/>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6" name="Text 2">
            <a:extLst>
              <a:ext uri="{FF2B5EF4-FFF2-40B4-BE49-F238E27FC236}">
                <a16:creationId xmlns:a16="http://schemas.microsoft.com/office/drawing/2014/main" id="{0E0182C7-7A07-7C7E-CEBE-1A990AD52502}"/>
              </a:ext>
            </a:extLst>
          </p:cNvPr>
          <p:cNvSpPr/>
          <p:nvPr/>
        </p:nvSpPr>
        <p:spPr>
          <a:xfrm>
            <a:off x="347472" y="274320"/>
            <a:ext cx="306000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4: Experimental Results</a:t>
            </a:r>
          </a:p>
        </p:txBody>
      </p:sp>
      <p:sp>
        <p:nvSpPr>
          <p:cNvPr id="7" name="Text 3">
            <a:extLst>
              <a:ext uri="{FF2B5EF4-FFF2-40B4-BE49-F238E27FC236}">
                <a16:creationId xmlns:a16="http://schemas.microsoft.com/office/drawing/2014/main" id="{2BBEAC90-0E4A-F9AC-464B-387FDC13D47B}"/>
              </a:ext>
            </a:extLst>
          </p:cNvPr>
          <p:cNvSpPr/>
          <p:nvPr/>
        </p:nvSpPr>
        <p:spPr>
          <a:xfrm>
            <a:off x="347471" y="493483"/>
            <a:ext cx="9373577" cy="228600"/>
          </a:xfrm>
          <a:prstGeom prst="rect">
            <a:avLst/>
          </a:prstGeom>
          <a:noFill/>
          <a:ln/>
        </p:spPr>
        <p:txBody>
          <a:bodyPr wrap="square" lIns="0" tIns="0" rIns="0" bIns="0" rtlCol="0" anchor="ctr"/>
          <a:lstStyle/>
          <a:p>
            <a:r>
              <a:rPr lang="en-US" sz="1600" dirty="0">
                <a:solidFill>
                  <a:schemeClr val="bg1">
                    <a:lumMod val="50000"/>
                  </a:schemeClr>
                </a:solidFill>
                <a:latin typeface="微軟正黑體" panose="020B0604030504040204" pitchFamily="34" charset="-120"/>
                <a:ea typeface="微軟正黑體" panose="020B0604030504040204" pitchFamily="34" charset="-120"/>
              </a:rPr>
              <a:t>Ablation Study — Average Draft Tokens Accepted </a:t>
            </a:r>
          </a:p>
        </p:txBody>
      </p:sp>
      <p:sp>
        <p:nvSpPr>
          <p:cNvPr id="8" name="Shape 5">
            <a:extLst>
              <a:ext uri="{FF2B5EF4-FFF2-40B4-BE49-F238E27FC236}">
                <a16:creationId xmlns:a16="http://schemas.microsoft.com/office/drawing/2014/main" id="{931E18AC-3F04-D257-50A6-8CD794189839}"/>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graphicFrame>
        <p:nvGraphicFramePr>
          <p:cNvPr id="10" name="表格 9">
            <a:extLst>
              <a:ext uri="{FF2B5EF4-FFF2-40B4-BE49-F238E27FC236}">
                <a16:creationId xmlns:a16="http://schemas.microsoft.com/office/drawing/2014/main" id="{769948AD-2815-5587-DAE4-23AD1080378E}"/>
              </a:ext>
            </a:extLst>
          </p:cNvPr>
          <p:cNvGraphicFramePr>
            <a:graphicFrameLocks noGrp="1"/>
          </p:cNvGraphicFramePr>
          <p:nvPr>
            <p:extLst>
              <p:ext uri="{D42A27DB-BD31-4B8C-83A1-F6EECF244321}">
                <p14:modId xmlns:p14="http://schemas.microsoft.com/office/powerpoint/2010/main" val="3317001885"/>
              </p:ext>
            </p:extLst>
          </p:nvPr>
        </p:nvGraphicFramePr>
        <p:xfrm>
          <a:off x="347471" y="1143813"/>
          <a:ext cx="9453478" cy="5369140"/>
        </p:xfrm>
        <a:graphic>
          <a:graphicData uri="http://schemas.openxmlformats.org/drawingml/2006/table">
            <a:tbl>
              <a:tblPr firstRow="1" bandRow="1">
                <a:tableStyleId>{5FD0F851-EC5A-4D38-B0AD-8093EC10F338}</a:tableStyleId>
              </a:tblPr>
              <a:tblGrid>
                <a:gridCol w="1969602">
                  <a:extLst>
                    <a:ext uri="{9D8B030D-6E8A-4147-A177-3AD203B41FA5}">
                      <a16:colId xmlns:a16="http://schemas.microsoft.com/office/drawing/2014/main" val="2880323015"/>
                    </a:ext>
                  </a:extLst>
                </a:gridCol>
                <a:gridCol w="1624613">
                  <a:extLst>
                    <a:ext uri="{9D8B030D-6E8A-4147-A177-3AD203B41FA5}">
                      <a16:colId xmlns:a16="http://schemas.microsoft.com/office/drawing/2014/main" val="3421584875"/>
                    </a:ext>
                  </a:extLst>
                </a:gridCol>
                <a:gridCol w="1438183">
                  <a:extLst>
                    <a:ext uri="{9D8B030D-6E8A-4147-A177-3AD203B41FA5}">
                      <a16:colId xmlns:a16="http://schemas.microsoft.com/office/drawing/2014/main" val="1184110547"/>
                    </a:ext>
                  </a:extLst>
                </a:gridCol>
                <a:gridCol w="1411549">
                  <a:extLst>
                    <a:ext uri="{9D8B030D-6E8A-4147-A177-3AD203B41FA5}">
                      <a16:colId xmlns:a16="http://schemas.microsoft.com/office/drawing/2014/main" val="3781708433"/>
                    </a:ext>
                  </a:extLst>
                </a:gridCol>
                <a:gridCol w="1518082">
                  <a:extLst>
                    <a:ext uri="{9D8B030D-6E8A-4147-A177-3AD203B41FA5}">
                      <a16:colId xmlns:a16="http://schemas.microsoft.com/office/drawing/2014/main" val="107327293"/>
                    </a:ext>
                  </a:extLst>
                </a:gridCol>
                <a:gridCol w="1491449">
                  <a:extLst>
                    <a:ext uri="{9D8B030D-6E8A-4147-A177-3AD203B41FA5}">
                      <a16:colId xmlns:a16="http://schemas.microsoft.com/office/drawing/2014/main" val="3215815911"/>
                    </a:ext>
                  </a:extLst>
                </a:gridCol>
              </a:tblGrid>
              <a:tr h="403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solidFill>
                            <a:schemeClr val="tx1"/>
                          </a:solidFill>
                        </a:rPr>
                        <a:t>Setting</a:t>
                      </a:r>
                    </a:p>
                  </a:txBody>
                  <a:tcPr anchor="ctr"/>
                </a:tc>
                <a:tc>
                  <a:txBody>
                    <a:bodyPr/>
                    <a:lstStyle/>
                    <a:p>
                      <a:pPr algn="ctr">
                        <a:buNone/>
                      </a:pPr>
                      <a:r>
                        <a:rPr lang="en-US" sz="1600" dirty="0">
                          <a:solidFill>
                            <a:schemeClr val="tx1"/>
                          </a:solidFill>
                        </a:rPr>
                        <a:t>Average Draft Tokens Accepted</a:t>
                      </a:r>
                    </a:p>
                  </a:txBody>
                  <a:tcPr marL="33472" marR="33472" marT="16736" marB="16736" anchor="ctr"/>
                </a:tc>
                <a:tc>
                  <a:txBody>
                    <a:bodyPr/>
                    <a:lstStyle/>
                    <a:p>
                      <a:pPr algn="ctr">
                        <a:buNone/>
                      </a:pPr>
                      <a:r>
                        <a:rPr lang="en-US" sz="1600" dirty="0">
                          <a:solidFill>
                            <a:schemeClr val="tx1"/>
                          </a:solidFill>
                        </a:rPr>
                        <a:t>Prefix 128</a:t>
                      </a:r>
                    </a:p>
                  </a:txBody>
                  <a:tcPr marL="33472" marR="33472" marT="16736" marB="16736" anchor="ctr"/>
                </a:tc>
                <a:tc>
                  <a:txBody>
                    <a:bodyPr/>
                    <a:lstStyle/>
                    <a:p>
                      <a:pPr algn="ctr">
                        <a:buNone/>
                      </a:pPr>
                      <a:r>
                        <a:rPr lang="en-US" sz="1600" dirty="0">
                          <a:solidFill>
                            <a:schemeClr val="tx1"/>
                          </a:solidFill>
                        </a:rPr>
                        <a:t>Prefix 256</a:t>
                      </a:r>
                    </a:p>
                  </a:txBody>
                  <a:tcPr marL="33472" marR="33472" marT="16736" marB="16736" anchor="ctr"/>
                </a:tc>
                <a:tc>
                  <a:txBody>
                    <a:bodyPr/>
                    <a:lstStyle/>
                    <a:p>
                      <a:pPr algn="ctr">
                        <a:buNone/>
                      </a:pPr>
                      <a:r>
                        <a:rPr lang="en-US" sz="1600">
                          <a:solidFill>
                            <a:schemeClr val="tx1"/>
                          </a:solidFill>
                        </a:rPr>
                        <a:t>Prefix 512</a:t>
                      </a:r>
                    </a:p>
                  </a:txBody>
                  <a:tcPr marL="33472" marR="33472" marT="16736" marB="16736" anchor="ctr"/>
                </a:tc>
                <a:tc>
                  <a:txBody>
                    <a:bodyPr/>
                    <a:lstStyle/>
                    <a:p>
                      <a:pPr algn="ctr">
                        <a:buNone/>
                      </a:pPr>
                      <a:r>
                        <a:rPr lang="en-US" sz="1600">
                          <a:solidFill>
                            <a:schemeClr val="tx1"/>
                          </a:solidFill>
                        </a:rPr>
                        <a:t>Prefix 768</a:t>
                      </a:r>
                    </a:p>
                  </a:txBody>
                  <a:tcPr marL="33472" marR="33472" marT="16736" marB="16736" anchor="ctr"/>
                </a:tc>
                <a:extLst>
                  <a:ext uri="{0D108BD9-81ED-4DB2-BD59-A6C34878D82A}">
                    <a16:rowId xmlns:a16="http://schemas.microsoft.com/office/drawing/2014/main" val="57095099"/>
                  </a:ext>
                </a:extLst>
              </a:tr>
              <a:tr h="403999">
                <a:tc>
                  <a:txBody>
                    <a:bodyPr/>
                    <a:lstStyle/>
                    <a:p>
                      <a:pPr algn="ctr"/>
                      <a:r>
                        <a:rPr lang="en-US" altLang="zh-TW" sz="1600" dirty="0">
                          <a:solidFill>
                            <a:schemeClr val="tx1"/>
                          </a:solidFill>
                        </a:rPr>
                        <a:t>baseline</a:t>
                      </a:r>
                    </a:p>
                  </a:txBody>
                  <a:tcPr anchor="ctr"/>
                </a:tc>
                <a:tc>
                  <a:txBody>
                    <a:bodyPr/>
                    <a:lstStyle/>
                    <a:p>
                      <a:pPr algn="ctr">
                        <a:buNone/>
                      </a:pPr>
                      <a:r>
                        <a:rPr lang="en-US" altLang="zh-TW" sz="1600" dirty="0">
                          <a:solidFill>
                            <a:schemeClr val="tx1"/>
                          </a:solidFill>
                        </a:rPr>
                        <a:t>0.6238 ± 0.0000</a:t>
                      </a:r>
                    </a:p>
                  </a:txBody>
                  <a:tcPr marL="33472" marR="33472" marT="16736" marB="16736" anchor="ctr"/>
                </a:tc>
                <a:tc>
                  <a:txBody>
                    <a:bodyPr/>
                    <a:lstStyle/>
                    <a:p>
                      <a:pPr algn="ctr">
                        <a:buNone/>
                      </a:pPr>
                      <a:r>
                        <a:rPr lang="en-US" altLang="zh-TW" sz="1600" dirty="0">
                          <a:solidFill>
                            <a:schemeClr val="tx1"/>
                          </a:solidFill>
                        </a:rPr>
                        <a:t>0.8251 ± 0.0140</a:t>
                      </a:r>
                    </a:p>
                  </a:txBody>
                  <a:tcPr marL="33472" marR="33472" marT="16736" marB="16736" anchor="ctr"/>
                </a:tc>
                <a:tc>
                  <a:txBody>
                    <a:bodyPr/>
                    <a:lstStyle/>
                    <a:p>
                      <a:pPr algn="ctr">
                        <a:buNone/>
                      </a:pPr>
                      <a:r>
                        <a:rPr lang="en-US" altLang="zh-TW" sz="1600" dirty="0">
                          <a:solidFill>
                            <a:schemeClr val="tx1"/>
                          </a:solidFill>
                        </a:rPr>
                        <a:t>0.8205 ± 0.0062</a:t>
                      </a:r>
                    </a:p>
                  </a:txBody>
                  <a:tcPr marL="33472" marR="33472" marT="16736" marB="16736" anchor="ctr"/>
                </a:tc>
                <a:tc>
                  <a:txBody>
                    <a:bodyPr/>
                    <a:lstStyle/>
                    <a:p>
                      <a:pPr algn="ctr">
                        <a:buNone/>
                      </a:pPr>
                      <a:r>
                        <a:rPr lang="en-US" altLang="zh-TW" sz="1600" dirty="0">
                          <a:solidFill>
                            <a:schemeClr val="tx1"/>
                          </a:solidFill>
                        </a:rPr>
                        <a:t>0.8519 ± 0.0195</a:t>
                      </a:r>
                    </a:p>
                  </a:txBody>
                  <a:tcPr marL="33472" marR="33472" marT="16736" marB="16736" anchor="ctr"/>
                </a:tc>
                <a:tc>
                  <a:txBody>
                    <a:bodyPr/>
                    <a:lstStyle/>
                    <a:p>
                      <a:pPr algn="ctr">
                        <a:buNone/>
                      </a:pPr>
                      <a:r>
                        <a:rPr lang="en-US" altLang="zh-TW" sz="1600" dirty="0">
                          <a:solidFill>
                            <a:schemeClr val="tx1"/>
                          </a:solidFill>
                        </a:rPr>
                        <a:t>0.8552 ± 0.0233</a:t>
                      </a:r>
                    </a:p>
                  </a:txBody>
                  <a:tcPr marL="33472" marR="33472" marT="16736" marB="16736" anchor="ctr"/>
                </a:tc>
                <a:extLst>
                  <a:ext uri="{0D108BD9-81ED-4DB2-BD59-A6C34878D82A}">
                    <a16:rowId xmlns:a16="http://schemas.microsoft.com/office/drawing/2014/main" val="4165766225"/>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r>
                        <a:rPr lang="el-GR" altLang="zh-TW" sz="1600" dirty="0">
                          <a:solidFill>
                            <a:schemeClr val="tx1"/>
                          </a:solidFill>
                          <a:latin typeface="+mn-lt"/>
                        </a:rPr>
                        <a:t> τ</a:t>
                      </a:r>
                      <a:r>
                        <a:rPr lang="en-US" altLang="zh-TW" sz="1600" dirty="0">
                          <a:solidFill>
                            <a:schemeClr val="tx1"/>
                          </a:solidFill>
                          <a:latin typeface="+mn-lt"/>
                        </a:rPr>
                        <a:t>=0.0,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0.6388 ± 0.0000</a:t>
                      </a:r>
                    </a:p>
                  </a:txBody>
                  <a:tcPr marL="33472" marR="33472" marT="16736" marB="16736" anchor="ctr"/>
                </a:tc>
                <a:tc>
                  <a:txBody>
                    <a:bodyPr/>
                    <a:lstStyle/>
                    <a:p>
                      <a:pPr algn="ctr">
                        <a:buNone/>
                      </a:pPr>
                      <a:r>
                        <a:rPr lang="en-US" altLang="zh-TW" sz="1600" dirty="0">
                          <a:solidFill>
                            <a:schemeClr val="tx1"/>
                          </a:solidFill>
                        </a:rPr>
                        <a:t>0.8374 ± 0.0165</a:t>
                      </a:r>
                    </a:p>
                  </a:txBody>
                  <a:tcPr marL="33472" marR="33472" marT="16736" marB="16736" anchor="ctr"/>
                </a:tc>
                <a:tc>
                  <a:txBody>
                    <a:bodyPr/>
                    <a:lstStyle/>
                    <a:p>
                      <a:pPr algn="ctr">
                        <a:buNone/>
                      </a:pPr>
                      <a:r>
                        <a:rPr lang="en-US" altLang="zh-TW" sz="1600" dirty="0">
                          <a:solidFill>
                            <a:schemeClr val="tx1"/>
                          </a:solidFill>
                        </a:rPr>
                        <a:t>0.8746 ± 0.0108</a:t>
                      </a:r>
                    </a:p>
                  </a:txBody>
                  <a:tcPr marL="33472" marR="33472" marT="16736" marB="16736" anchor="ctr"/>
                </a:tc>
                <a:tc>
                  <a:txBody>
                    <a:bodyPr/>
                    <a:lstStyle/>
                    <a:p>
                      <a:pPr algn="ctr">
                        <a:buNone/>
                      </a:pPr>
                      <a:r>
                        <a:rPr lang="en-US" altLang="zh-TW" sz="1600" dirty="0">
                          <a:solidFill>
                            <a:schemeClr val="tx1"/>
                          </a:solidFill>
                        </a:rPr>
                        <a:t>0.8736 ± 0.0158</a:t>
                      </a:r>
                    </a:p>
                  </a:txBody>
                  <a:tcPr marL="33472" marR="33472" marT="16736" marB="16736" anchor="ctr"/>
                </a:tc>
                <a:tc>
                  <a:txBody>
                    <a:bodyPr/>
                    <a:lstStyle/>
                    <a:p>
                      <a:pPr algn="ctr">
                        <a:buNone/>
                      </a:pPr>
                      <a:r>
                        <a:rPr lang="en-US" altLang="zh-TW" sz="1600" dirty="0">
                          <a:solidFill>
                            <a:schemeClr val="tx1"/>
                          </a:solidFill>
                        </a:rPr>
                        <a:t>0.8802 ± 0.0029</a:t>
                      </a:r>
                    </a:p>
                  </a:txBody>
                  <a:tcPr marL="33472" marR="33472" marT="16736" marB="16736" anchor="ctr"/>
                </a:tc>
                <a:extLst>
                  <a:ext uri="{0D108BD9-81ED-4DB2-BD59-A6C34878D82A}">
                    <a16:rowId xmlns:a16="http://schemas.microsoft.com/office/drawing/2014/main" val="1088568622"/>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0.6400 ± 0.0000</a:t>
                      </a:r>
                    </a:p>
                  </a:txBody>
                  <a:tcPr marL="33472" marR="33472" marT="16736" marB="16736" anchor="ctr"/>
                </a:tc>
                <a:tc>
                  <a:txBody>
                    <a:bodyPr/>
                    <a:lstStyle/>
                    <a:p>
                      <a:pPr algn="ctr">
                        <a:buNone/>
                      </a:pPr>
                      <a:r>
                        <a:rPr lang="en-US" altLang="zh-TW" sz="1600" dirty="0">
                          <a:solidFill>
                            <a:schemeClr val="tx1"/>
                          </a:solidFill>
                        </a:rPr>
                        <a:t>0.8406 ± 0.0131</a:t>
                      </a:r>
                    </a:p>
                  </a:txBody>
                  <a:tcPr marL="33472" marR="33472" marT="16736" marB="16736" anchor="ctr"/>
                </a:tc>
                <a:tc>
                  <a:txBody>
                    <a:bodyPr/>
                    <a:lstStyle/>
                    <a:p>
                      <a:pPr algn="ctr">
                        <a:buNone/>
                      </a:pPr>
                      <a:r>
                        <a:rPr lang="en-US" altLang="zh-TW" sz="1600">
                          <a:solidFill>
                            <a:schemeClr val="tx1"/>
                          </a:solidFill>
                        </a:rPr>
                        <a:t>0.8602 ± 0.0232</a:t>
                      </a:r>
                    </a:p>
                  </a:txBody>
                  <a:tcPr marL="33472" marR="33472" marT="16736" marB="16736" anchor="ctr"/>
                </a:tc>
                <a:tc>
                  <a:txBody>
                    <a:bodyPr/>
                    <a:lstStyle/>
                    <a:p>
                      <a:pPr algn="ctr">
                        <a:buNone/>
                      </a:pPr>
                      <a:r>
                        <a:rPr lang="en-US" altLang="zh-TW" sz="1600">
                          <a:solidFill>
                            <a:schemeClr val="tx1"/>
                          </a:solidFill>
                        </a:rPr>
                        <a:t>0.8720 ± 0.0233</a:t>
                      </a:r>
                    </a:p>
                  </a:txBody>
                  <a:tcPr marL="33472" marR="33472" marT="16736" marB="16736" anchor="ctr"/>
                </a:tc>
                <a:tc>
                  <a:txBody>
                    <a:bodyPr/>
                    <a:lstStyle/>
                    <a:p>
                      <a:pPr algn="ctr">
                        <a:buNone/>
                      </a:pPr>
                      <a:r>
                        <a:rPr lang="en-US" altLang="zh-TW" sz="1600" dirty="0">
                          <a:solidFill>
                            <a:schemeClr val="tx1"/>
                          </a:solidFill>
                        </a:rPr>
                        <a:t>0.8772 ± 0.0015</a:t>
                      </a:r>
                    </a:p>
                  </a:txBody>
                  <a:tcPr marL="33472" marR="33472" marT="16736" marB="16736" anchor="ctr"/>
                </a:tc>
                <a:extLst>
                  <a:ext uri="{0D108BD9-81ED-4DB2-BD59-A6C34878D82A}">
                    <a16:rowId xmlns:a16="http://schemas.microsoft.com/office/drawing/2014/main" val="3427155248"/>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r>
                        <a:rPr lang="el-GR" altLang="zh-TW" sz="1600" dirty="0">
                          <a:solidFill>
                            <a:schemeClr val="tx1"/>
                          </a:solidFill>
                          <a:latin typeface="+mn-lt"/>
                        </a:rPr>
                        <a:t> τ</a:t>
                      </a:r>
                      <a:r>
                        <a:rPr lang="en-US" altLang="zh-TW" sz="1600" dirty="0">
                          <a:solidFill>
                            <a:schemeClr val="tx1"/>
                          </a:solidFill>
                          <a:latin typeface="+mn-lt"/>
                        </a:rPr>
                        <a:t>=0.6,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0.6113 ± 0.0000</a:t>
                      </a:r>
                    </a:p>
                  </a:txBody>
                  <a:tcPr marL="33472" marR="33472" marT="16736" marB="16736" anchor="ctr"/>
                </a:tc>
                <a:tc>
                  <a:txBody>
                    <a:bodyPr/>
                    <a:lstStyle/>
                    <a:p>
                      <a:pPr algn="ctr">
                        <a:buNone/>
                      </a:pPr>
                      <a:r>
                        <a:rPr lang="en-US" altLang="zh-TW" sz="1600" dirty="0">
                          <a:solidFill>
                            <a:schemeClr val="tx1"/>
                          </a:solidFill>
                        </a:rPr>
                        <a:t>0.7908 ± 0.0074</a:t>
                      </a:r>
                    </a:p>
                  </a:txBody>
                  <a:tcPr marL="33472" marR="33472" marT="16736" marB="16736" anchor="ctr"/>
                </a:tc>
                <a:tc>
                  <a:txBody>
                    <a:bodyPr/>
                    <a:lstStyle/>
                    <a:p>
                      <a:pPr algn="ctr">
                        <a:buNone/>
                      </a:pPr>
                      <a:r>
                        <a:rPr lang="en-US" altLang="zh-TW" sz="1600" dirty="0">
                          <a:solidFill>
                            <a:schemeClr val="tx1"/>
                          </a:solidFill>
                        </a:rPr>
                        <a:t>0.7919 ± 0.0086</a:t>
                      </a:r>
                    </a:p>
                  </a:txBody>
                  <a:tcPr marL="33472" marR="33472" marT="16736" marB="16736" anchor="ctr"/>
                </a:tc>
                <a:tc>
                  <a:txBody>
                    <a:bodyPr/>
                    <a:lstStyle/>
                    <a:p>
                      <a:pPr algn="ctr">
                        <a:buNone/>
                      </a:pPr>
                      <a:r>
                        <a:rPr lang="en-US" altLang="zh-TW" sz="1600" dirty="0">
                          <a:solidFill>
                            <a:schemeClr val="tx1"/>
                          </a:solidFill>
                        </a:rPr>
                        <a:t>0.8009 ± 0.0035</a:t>
                      </a:r>
                    </a:p>
                  </a:txBody>
                  <a:tcPr marL="33472" marR="33472" marT="16736" marB="16736" anchor="ctr"/>
                </a:tc>
                <a:tc>
                  <a:txBody>
                    <a:bodyPr/>
                    <a:lstStyle/>
                    <a:p>
                      <a:pPr algn="ctr">
                        <a:buNone/>
                      </a:pPr>
                      <a:r>
                        <a:rPr lang="en-US" altLang="zh-TW" sz="1600" dirty="0">
                          <a:solidFill>
                            <a:schemeClr val="tx1"/>
                          </a:solidFill>
                        </a:rPr>
                        <a:t>0.8174 ± 0.0130</a:t>
                      </a:r>
                    </a:p>
                  </a:txBody>
                  <a:tcPr marL="33472" marR="33472" marT="16736" marB="16736" anchor="ctr"/>
                </a:tc>
                <a:extLst>
                  <a:ext uri="{0D108BD9-81ED-4DB2-BD59-A6C34878D82A}">
                    <a16:rowId xmlns:a16="http://schemas.microsoft.com/office/drawing/2014/main" val="678960123"/>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=1.5,</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0.6414 ± 0.0000</a:t>
                      </a:r>
                    </a:p>
                  </a:txBody>
                  <a:tcPr marL="33472" marR="33472" marT="16736" marB="16736" anchor="ctr"/>
                </a:tc>
                <a:tc>
                  <a:txBody>
                    <a:bodyPr/>
                    <a:lstStyle/>
                    <a:p>
                      <a:pPr algn="ctr">
                        <a:buNone/>
                      </a:pPr>
                      <a:r>
                        <a:rPr lang="en-US" altLang="zh-TW" sz="1600">
                          <a:solidFill>
                            <a:schemeClr val="tx1"/>
                          </a:solidFill>
                        </a:rPr>
                        <a:t>0.8522 ± 0.0098</a:t>
                      </a:r>
                    </a:p>
                  </a:txBody>
                  <a:tcPr marL="33472" marR="33472" marT="16736" marB="16736" anchor="ctr"/>
                </a:tc>
                <a:tc>
                  <a:txBody>
                    <a:bodyPr/>
                    <a:lstStyle/>
                    <a:p>
                      <a:pPr algn="ctr">
                        <a:buNone/>
                      </a:pPr>
                      <a:r>
                        <a:rPr lang="en-US" altLang="zh-TW" sz="1600" dirty="0">
                          <a:solidFill>
                            <a:schemeClr val="tx1"/>
                          </a:solidFill>
                        </a:rPr>
                        <a:t>0.8581 ± 0.0139</a:t>
                      </a:r>
                    </a:p>
                  </a:txBody>
                  <a:tcPr marL="33472" marR="33472" marT="16736" marB="16736" anchor="ctr"/>
                </a:tc>
                <a:tc>
                  <a:txBody>
                    <a:bodyPr/>
                    <a:lstStyle/>
                    <a:p>
                      <a:pPr algn="ctr">
                        <a:buNone/>
                      </a:pPr>
                      <a:r>
                        <a:rPr lang="en-US" altLang="zh-TW" sz="1600">
                          <a:solidFill>
                            <a:schemeClr val="tx1"/>
                          </a:solidFill>
                        </a:rPr>
                        <a:t>0.8897 ± 0.0043</a:t>
                      </a:r>
                    </a:p>
                  </a:txBody>
                  <a:tcPr marL="33472" marR="33472" marT="16736" marB="16736" anchor="ctr"/>
                </a:tc>
                <a:tc>
                  <a:txBody>
                    <a:bodyPr/>
                    <a:lstStyle/>
                    <a:p>
                      <a:pPr algn="ctr">
                        <a:buNone/>
                      </a:pPr>
                      <a:r>
                        <a:rPr lang="en-US" altLang="zh-TW" sz="1600" b="1" dirty="0">
                          <a:solidFill>
                            <a:schemeClr val="tx1"/>
                          </a:solidFill>
                        </a:rPr>
                        <a:t>0.9082 ± 0.0204</a:t>
                      </a:r>
                    </a:p>
                  </a:txBody>
                  <a:tcPr marL="33472" marR="33472" marT="16736" marB="16736" anchor="ctr"/>
                </a:tc>
                <a:extLst>
                  <a:ext uri="{0D108BD9-81ED-4DB2-BD59-A6C34878D82A}">
                    <a16:rowId xmlns:a16="http://schemas.microsoft.com/office/drawing/2014/main" val="1531699260"/>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=0.5,</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0.6345 ± 0.0000</a:t>
                      </a:r>
                    </a:p>
                  </a:txBody>
                  <a:tcPr marL="33472" marR="33472" marT="16736" marB="16736" anchor="ctr"/>
                </a:tc>
                <a:tc>
                  <a:txBody>
                    <a:bodyPr/>
                    <a:lstStyle/>
                    <a:p>
                      <a:pPr algn="ctr">
                        <a:buNone/>
                      </a:pPr>
                      <a:r>
                        <a:rPr lang="en-US" altLang="zh-TW" sz="1600" dirty="0">
                          <a:solidFill>
                            <a:schemeClr val="tx1"/>
                          </a:solidFill>
                        </a:rPr>
                        <a:t>0.8195 ± 0.0122</a:t>
                      </a:r>
                    </a:p>
                  </a:txBody>
                  <a:tcPr marL="33472" marR="33472" marT="16736" marB="16736" anchor="ctr"/>
                </a:tc>
                <a:tc>
                  <a:txBody>
                    <a:bodyPr/>
                    <a:lstStyle/>
                    <a:p>
                      <a:pPr algn="ctr">
                        <a:buNone/>
                      </a:pPr>
                      <a:r>
                        <a:rPr lang="en-US" altLang="zh-TW" sz="1600" dirty="0">
                          <a:solidFill>
                            <a:schemeClr val="tx1"/>
                          </a:solidFill>
                        </a:rPr>
                        <a:t>0.8416 ± 0.0115</a:t>
                      </a:r>
                    </a:p>
                  </a:txBody>
                  <a:tcPr marL="33472" marR="33472" marT="16736" marB="16736" anchor="ctr"/>
                </a:tc>
                <a:tc>
                  <a:txBody>
                    <a:bodyPr/>
                    <a:lstStyle/>
                    <a:p>
                      <a:pPr algn="ctr">
                        <a:buNone/>
                      </a:pPr>
                      <a:r>
                        <a:rPr lang="en-US" altLang="zh-TW" sz="1600" dirty="0">
                          <a:solidFill>
                            <a:schemeClr val="tx1"/>
                          </a:solidFill>
                        </a:rPr>
                        <a:t>0.8601 ± 0.0065</a:t>
                      </a:r>
                    </a:p>
                  </a:txBody>
                  <a:tcPr marL="33472" marR="33472" marT="16736" marB="16736" anchor="ctr"/>
                </a:tc>
                <a:tc>
                  <a:txBody>
                    <a:bodyPr/>
                    <a:lstStyle/>
                    <a:p>
                      <a:pPr algn="ctr">
                        <a:buNone/>
                      </a:pPr>
                      <a:r>
                        <a:rPr lang="en-US" altLang="zh-TW" sz="1600" dirty="0">
                          <a:solidFill>
                            <a:schemeClr val="tx1"/>
                          </a:solidFill>
                        </a:rPr>
                        <a:t>0.8644 ± 0.0304</a:t>
                      </a:r>
                    </a:p>
                  </a:txBody>
                  <a:tcPr marL="33472" marR="33472" marT="16736" marB="16736" anchor="ctr"/>
                </a:tc>
                <a:extLst>
                  <a:ext uri="{0D108BD9-81ED-4DB2-BD59-A6C34878D82A}">
                    <a16:rowId xmlns:a16="http://schemas.microsoft.com/office/drawing/2014/main" val="318103260"/>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r>
                        <a:rPr lang="el-GR" altLang="zh-TW" sz="1600" dirty="0">
                          <a:solidFill>
                            <a:schemeClr val="tx1"/>
                          </a:solidFill>
                          <a:latin typeface="+mn-lt"/>
                        </a:rPr>
                        <a:t> τ</a:t>
                      </a:r>
                      <a:r>
                        <a:rPr lang="en-US" altLang="zh-TW" sz="1600" dirty="0">
                          <a:solidFill>
                            <a:schemeClr val="tx1"/>
                          </a:solidFill>
                          <a:latin typeface="+mn-lt"/>
                        </a:rPr>
                        <a:t>=0.0,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=0.5</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0.6398 ± 0.0000</a:t>
                      </a:r>
                    </a:p>
                  </a:txBody>
                  <a:tcPr marL="33472" marR="33472" marT="16736" marB="16736" anchor="ctr"/>
                </a:tc>
                <a:tc>
                  <a:txBody>
                    <a:bodyPr/>
                    <a:lstStyle/>
                    <a:p>
                      <a:pPr algn="ctr">
                        <a:buNone/>
                      </a:pPr>
                      <a:r>
                        <a:rPr lang="en-US" altLang="zh-TW" sz="1600">
                          <a:solidFill>
                            <a:schemeClr val="tx1"/>
                          </a:solidFill>
                        </a:rPr>
                        <a:t>0.8517 ± 0.0156</a:t>
                      </a:r>
                    </a:p>
                  </a:txBody>
                  <a:tcPr marL="33472" marR="33472" marT="16736" marB="16736" anchor="ctr"/>
                </a:tc>
                <a:tc>
                  <a:txBody>
                    <a:bodyPr/>
                    <a:lstStyle/>
                    <a:p>
                      <a:pPr algn="ctr">
                        <a:buNone/>
                      </a:pPr>
                      <a:r>
                        <a:rPr lang="en-US" altLang="zh-TW" sz="1600" dirty="0">
                          <a:solidFill>
                            <a:schemeClr val="tx1"/>
                          </a:solidFill>
                        </a:rPr>
                        <a:t>0.8589 ± 0.0096</a:t>
                      </a:r>
                    </a:p>
                  </a:txBody>
                  <a:tcPr marL="33472" marR="33472" marT="16736" marB="16736" anchor="ctr"/>
                </a:tc>
                <a:tc>
                  <a:txBody>
                    <a:bodyPr/>
                    <a:lstStyle/>
                    <a:p>
                      <a:pPr algn="ctr">
                        <a:buNone/>
                      </a:pPr>
                      <a:r>
                        <a:rPr lang="en-US" altLang="zh-TW" sz="1600">
                          <a:solidFill>
                            <a:schemeClr val="tx1"/>
                          </a:solidFill>
                        </a:rPr>
                        <a:t>0.8794 ± 0.0050</a:t>
                      </a:r>
                    </a:p>
                  </a:txBody>
                  <a:tcPr marL="33472" marR="33472" marT="16736" marB="16736" anchor="ctr"/>
                </a:tc>
                <a:tc>
                  <a:txBody>
                    <a:bodyPr/>
                    <a:lstStyle/>
                    <a:p>
                      <a:pPr algn="ctr">
                        <a:buNone/>
                      </a:pPr>
                      <a:r>
                        <a:rPr lang="en-US" altLang="zh-TW" sz="1600" dirty="0">
                          <a:solidFill>
                            <a:schemeClr val="tx1"/>
                          </a:solidFill>
                        </a:rPr>
                        <a:t>0.8895 ± 0.0257</a:t>
                      </a:r>
                    </a:p>
                  </a:txBody>
                  <a:tcPr marL="33472" marR="33472" marT="16736" marB="16736" anchor="ctr"/>
                </a:tc>
                <a:extLst>
                  <a:ext uri="{0D108BD9-81ED-4DB2-BD59-A6C34878D82A}">
                    <a16:rowId xmlns:a16="http://schemas.microsoft.com/office/drawing/2014/main" val="1441213913"/>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r>
                        <a:rPr lang="el-GR" altLang="zh-TW" sz="1600" dirty="0">
                          <a:solidFill>
                            <a:schemeClr val="tx1"/>
                          </a:solidFill>
                          <a:latin typeface="+mn-lt"/>
                        </a:rPr>
                        <a:t> τ</a:t>
                      </a:r>
                      <a:r>
                        <a:rPr lang="en-US" altLang="zh-TW" sz="1600" dirty="0">
                          <a:solidFill>
                            <a:schemeClr val="tx1"/>
                          </a:solidFill>
                          <a:latin typeface="+mn-lt"/>
                        </a:rPr>
                        <a:t>=0.0,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0.6442 ± 0.0000</a:t>
                      </a:r>
                    </a:p>
                  </a:txBody>
                  <a:tcPr marL="33472" marR="33472" marT="16736" marB="16736" anchor="ctr"/>
                </a:tc>
                <a:tc>
                  <a:txBody>
                    <a:bodyPr/>
                    <a:lstStyle/>
                    <a:p>
                      <a:pPr algn="ctr">
                        <a:buNone/>
                      </a:pPr>
                      <a:r>
                        <a:rPr lang="en-US" altLang="zh-TW" sz="1600" dirty="0">
                          <a:solidFill>
                            <a:schemeClr val="tx1"/>
                          </a:solidFill>
                        </a:rPr>
                        <a:t>0.8491 ± 0.0130</a:t>
                      </a:r>
                    </a:p>
                  </a:txBody>
                  <a:tcPr marL="33472" marR="33472" marT="16736" marB="16736" anchor="ctr"/>
                </a:tc>
                <a:tc>
                  <a:txBody>
                    <a:bodyPr/>
                    <a:lstStyle/>
                    <a:p>
                      <a:pPr algn="ctr">
                        <a:buNone/>
                      </a:pPr>
                      <a:r>
                        <a:rPr lang="en-US" altLang="zh-TW" sz="1600" dirty="0">
                          <a:solidFill>
                            <a:schemeClr val="tx1"/>
                          </a:solidFill>
                        </a:rPr>
                        <a:t>0.8698 ± 0.0154</a:t>
                      </a:r>
                    </a:p>
                  </a:txBody>
                  <a:tcPr marL="33472" marR="33472" marT="16736" marB="16736" anchor="ctr"/>
                </a:tc>
                <a:tc>
                  <a:txBody>
                    <a:bodyPr/>
                    <a:lstStyle/>
                    <a:p>
                      <a:pPr algn="ctr">
                        <a:buNone/>
                      </a:pPr>
                      <a:r>
                        <a:rPr lang="en-US" altLang="zh-TW" sz="1600" dirty="0">
                          <a:solidFill>
                            <a:schemeClr val="tx1"/>
                          </a:solidFill>
                        </a:rPr>
                        <a:t>0.8919 ± 0.0168</a:t>
                      </a:r>
                    </a:p>
                  </a:txBody>
                  <a:tcPr marL="33472" marR="33472" marT="16736" marB="16736" anchor="ctr"/>
                </a:tc>
                <a:tc>
                  <a:txBody>
                    <a:bodyPr/>
                    <a:lstStyle/>
                    <a:p>
                      <a:pPr algn="ctr">
                        <a:buNone/>
                      </a:pPr>
                      <a:r>
                        <a:rPr lang="en-US" altLang="zh-TW" sz="1600" dirty="0">
                          <a:solidFill>
                            <a:schemeClr val="tx1"/>
                          </a:solidFill>
                        </a:rPr>
                        <a:t>0.8943 ± 0.0012</a:t>
                      </a:r>
                    </a:p>
                  </a:txBody>
                  <a:tcPr marL="33472" marR="33472" marT="16736" marB="16736" anchor="ctr"/>
                </a:tc>
                <a:extLst>
                  <a:ext uri="{0D108BD9-81ED-4DB2-BD59-A6C34878D82A}">
                    <a16:rowId xmlns:a16="http://schemas.microsoft.com/office/drawing/2014/main" val="1591432723"/>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=0.0,</a:t>
                      </a:r>
                      <a:r>
                        <a:rPr lang="el-GR" altLang="zh-TW" sz="1600" dirty="0">
                          <a:solidFill>
                            <a:schemeClr val="tx1"/>
                          </a:solidFill>
                          <a:latin typeface="+mn-lt"/>
                        </a:rPr>
                        <a:t> τ</a:t>
                      </a:r>
                      <a:r>
                        <a:rPr lang="en-US" altLang="zh-TW" sz="1600" dirty="0">
                          <a:solidFill>
                            <a:schemeClr val="tx1"/>
                          </a:solidFill>
                          <a:latin typeface="+mn-lt"/>
                        </a:rPr>
                        <a:t>=0.0,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=1.5</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0.6467 ± 0.0000</a:t>
                      </a:r>
                    </a:p>
                  </a:txBody>
                  <a:tcPr marL="33472" marR="33472" marT="16736" marB="16736" anchor="ctr"/>
                </a:tc>
                <a:tc>
                  <a:txBody>
                    <a:bodyPr/>
                    <a:lstStyle/>
                    <a:p>
                      <a:pPr algn="ctr">
                        <a:buNone/>
                      </a:pPr>
                      <a:r>
                        <a:rPr lang="en-US" altLang="zh-TW" sz="1600" dirty="0">
                          <a:solidFill>
                            <a:schemeClr val="tx1"/>
                          </a:solidFill>
                        </a:rPr>
                        <a:t>0.8510 ± 0.0112</a:t>
                      </a:r>
                    </a:p>
                  </a:txBody>
                  <a:tcPr marL="33472" marR="33472" marT="16736" marB="16736" anchor="ctr"/>
                </a:tc>
                <a:tc>
                  <a:txBody>
                    <a:bodyPr/>
                    <a:lstStyle/>
                    <a:p>
                      <a:pPr algn="ctr">
                        <a:buNone/>
                      </a:pPr>
                      <a:r>
                        <a:rPr lang="en-US" altLang="zh-TW" sz="1600" b="1" dirty="0">
                          <a:solidFill>
                            <a:schemeClr val="tx1"/>
                          </a:solidFill>
                        </a:rPr>
                        <a:t>0.8862 ± 0.0054</a:t>
                      </a:r>
                    </a:p>
                  </a:txBody>
                  <a:tcPr marL="33472" marR="33472" marT="16736" marB="16736" anchor="ctr"/>
                </a:tc>
                <a:tc>
                  <a:txBody>
                    <a:bodyPr/>
                    <a:lstStyle/>
                    <a:p>
                      <a:pPr algn="ctr">
                        <a:buNone/>
                      </a:pPr>
                      <a:r>
                        <a:rPr lang="en-US" altLang="zh-TW" sz="1600" dirty="0">
                          <a:solidFill>
                            <a:schemeClr val="tx1"/>
                          </a:solidFill>
                        </a:rPr>
                        <a:t>0.8951 ± 0.0129</a:t>
                      </a:r>
                    </a:p>
                  </a:txBody>
                  <a:tcPr marL="33472" marR="33472" marT="16736" marB="16736" anchor="ctr"/>
                </a:tc>
                <a:tc>
                  <a:txBody>
                    <a:bodyPr/>
                    <a:lstStyle/>
                    <a:p>
                      <a:pPr algn="ctr">
                        <a:buNone/>
                      </a:pPr>
                      <a:r>
                        <a:rPr lang="en-US" altLang="zh-TW" sz="1600" dirty="0">
                          <a:solidFill>
                            <a:schemeClr val="tx1"/>
                          </a:solidFill>
                        </a:rPr>
                        <a:t>0.9028 ± 0.0327</a:t>
                      </a:r>
                    </a:p>
                  </a:txBody>
                  <a:tcPr marL="33472" marR="33472" marT="16736" marB="16736" anchor="ctr"/>
                </a:tc>
                <a:extLst>
                  <a:ext uri="{0D108BD9-81ED-4DB2-BD59-A6C34878D82A}">
                    <a16:rowId xmlns:a16="http://schemas.microsoft.com/office/drawing/2014/main" val="1309331485"/>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=0.5</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0.6507 ± 0.0000</a:t>
                      </a:r>
                    </a:p>
                  </a:txBody>
                  <a:tcPr marL="33472" marR="33472" marT="16736" marB="16736" anchor="ctr"/>
                </a:tc>
                <a:tc>
                  <a:txBody>
                    <a:bodyPr/>
                    <a:lstStyle/>
                    <a:p>
                      <a:pPr algn="ctr">
                        <a:buNone/>
                      </a:pPr>
                      <a:r>
                        <a:rPr lang="en-US" altLang="zh-TW" sz="1600" dirty="0">
                          <a:solidFill>
                            <a:schemeClr val="tx1"/>
                          </a:solidFill>
                        </a:rPr>
                        <a:t>0.8498 ± 0.0339</a:t>
                      </a:r>
                    </a:p>
                  </a:txBody>
                  <a:tcPr marL="33472" marR="33472" marT="16736" marB="16736" anchor="ctr"/>
                </a:tc>
                <a:tc>
                  <a:txBody>
                    <a:bodyPr/>
                    <a:lstStyle/>
                    <a:p>
                      <a:pPr algn="ctr">
                        <a:buNone/>
                      </a:pPr>
                      <a:r>
                        <a:rPr lang="en-US" altLang="zh-TW" sz="1600" dirty="0">
                          <a:solidFill>
                            <a:schemeClr val="tx1"/>
                          </a:solidFill>
                        </a:rPr>
                        <a:t>0.8615 ± 0.0179</a:t>
                      </a:r>
                    </a:p>
                  </a:txBody>
                  <a:tcPr marL="33472" marR="33472" marT="16736" marB="16736" anchor="ctr"/>
                </a:tc>
                <a:tc>
                  <a:txBody>
                    <a:bodyPr/>
                    <a:lstStyle/>
                    <a:p>
                      <a:pPr algn="ctr">
                        <a:buNone/>
                      </a:pPr>
                      <a:r>
                        <a:rPr lang="en-US" altLang="zh-TW" sz="1600" dirty="0">
                          <a:solidFill>
                            <a:schemeClr val="tx1"/>
                          </a:solidFill>
                        </a:rPr>
                        <a:t>0.8987 ± 0.0103</a:t>
                      </a:r>
                    </a:p>
                  </a:txBody>
                  <a:tcPr marL="33472" marR="33472" marT="16736" marB="16736" anchor="ctr"/>
                </a:tc>
                <a:tc>
                  <a:txBody>
                    <a:bodyPr/>
                    <a:lstStyle/>
                    <a:p>
                      <a:pPr algn="ctr">
                        <a:buNone/>
                      </a:pPr>
                      <a:r>
                        <a:rPr lang="en-US" altLang="zh-TW" sz="1600" dirty="0">
                          <a:solidFill>
                            <a:schemeClr val="tx1"/>
                          </a:solidFill>
                        </a:rPr>
                        <a:t>0.8862 ± 0.0151</a:t>
                      </a:r>
                    </a:p>
                  </a:txBody>
                  <a:tcPr marL="33472" marR="33472" marT="16736" marB="16736" anchor="ctr"/>
                </a:tc>
                <a:extLst>
                  <a:ext uri="{0D108BD9-81ED-4DB2-BD59-A6C34878D82A}">
                    <a16:rowId xmlns:a16="http://schemas.microsoft.com/office/drawing/2014/main" val="3663042970"/>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endParaRPr lang="en-US" altLang="zh-TW" sz="1600" baseline="0" dirty="0">
                        <a:solidFill>
                          <a:schemeClr val="tx1"/>
                        </a:solidFill>
                        <a:latin typeface="+mn-lt"/>
                      </a:endParaRPr>
                    </a:p>
                  </a:txBody>
                  <a:tcPr anchor="ctr"/>
                </a:tc>
                <a:tc>
                  <a:txBody>
                    <a:bodyPr/>
                    <a:lstStyle/>
                    <a:p>
                      <a:pPr algn="ctr">
                        <a:buNone/>
                      </a:pPr>
                      <a:r>
                        <a:rPr lang="en-US" altLang="zh-TW" sz="1600" dirty="0">
                          <a:solidFill>
                            <a:schemeClr val="tx1"/>
                          </a:solidFill>
                        </a:rPr>
                        <a:t>0.6495 ± 0.0000</a:t>
                      </a:r>
                    </a:p>
                  </a:txBody>
                  <a:tcPr marL="33472" marR="33472" marT="16736" marB="16736" anchor="ctr"/>
                </a:tc>
                <a:tc>
                  <a:txBody>
                    <a:bodyPr/>
                    <a:lstStyle/>
                    <a:p>
                      <a:pPr algn="ctr">
                        <a:buNone/>
                      </a:pPr>
                      <a:r>
                        <a:rPr lang="en-US" altLang="zh-TW" sz="1600">
                          <a:solidFill>
                            <a:schemeClr val="tx1"/>
                          </a:solidFill>
                        </a:rPr>
                        <a:t>0.8402 ± 0.0209</a:t>
                      </a:r>
                    </a:p>
                  </a:txBody>
                  <a:tcPr marL="33472" marR="33472" marT="16736" marB="16736" anchor="ctr"/>
                </a:tc>
                <a:tc>
                  <a:txBody>
                    <a:bodyPr/>
                    <a:lstStyle/>
                    <a:p>
                      <a:pPr algn="ctr">
                        <a:buNone/>
                      </a:pPr>
                      <a:r>
                        <a:rPr lang="en-US" altLang="zh-TW" sz="1600">
                          <a:solidFill>
                            <a:schemeClr val="tx1"/>
                          </a:solidFill>
                        </a:rPr>
                        <a:t>0.8612 ± 0.0043</a:t>
                      </a:r>
                    </a:p>
                  </a:txBody>
                  <a:tcPr marL="33472" marR="33472" marT="16736" marB="16736" anchor="ctr"/>
                </a:tc>
                <a:tc>
                  <a:txBody>
                    <a:bodyPr/>
                    <a:lstStyle/>
                    <a:p>
                      <a:pPr algn="ctr">
                        <a:buNone/>
                      </a:pPr>
                      <a:r>
                        <a:rPr lang="en-US" altLang="zh-TW" sz="1600">
                          <a:solidFill>
                            <a:schemeClr val="tx1"/>
                          </a:solidFill>
                        </a:rPr>
                        <a:t>0.8879 ± 0.0157</a:t>
                      </a:r>
                    </a:p>
                  </a:txBody>
                  <a:tcPr marL="33472" marR="33472" marT="16736" marB="16736" anchor="ctr"/>
                </a:tc>
                <a:tc>
                  <a:txBody>
                    <a:bodyPr/>
                    <a:lstStyle/>
                    <a:p>
                      <a:pPr algn="ctr">
                        <a:buNone/>
                      </a:pPr>
                      <a:r>
                        <a:rPr lang="en-US" altLang="zh-TW" sz="1600" dirty="0">
                          <a:solidFill>
                            <a:schemeClr val="tx1"/>
                          </a:solidFill>
                        </a:rPr>
                        <a:t>0.8950 ± 0.0071</a:t>
                      </a:r>
                    </a:p>
                  </a:txBody>
                  <a:tcPr marL="33472" marR="33472" marT="16736" marB="16736" anchor="ctr"/>
                </a:tc>
                <a:extLst>
                  <a:ext uri="{0D108BD9-81ED-4DB2-BD59-A6C34878D82A}">
                    <a16:rowId xmlns:a16="http://schemas.microsoft.com/office/drawing/2014/main" val="3253892573"/>
                  </a:ext>
                </a:extLst>
              </a:tr>
              <a:tr h="403999">
                <a:tc>
                  <a:txBody>
                    <a:bodyPr/>
                    <a:lstStyle/>
                    <a:p>
                      <a:pPr algn="ctr"/>
                      <a:r>
                        <a:rPr lang="en-US" altLang="zh-TW" sz="1600" dirty="0">
                          <a:solidFill>
                            <a:schemeClr val="tx1"/>
                          </a:solidFill>
                          <a:latin typeface="+mn-lt"/>
                          <a:ea typeface="微軟正黑體" panose="020B0604030504040204" pitchFamily="34" charset="-120"/>
                        </a:rPr>
                        <a:t>S</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=1.5,</a:t>
                      </a:r>
                      <a:r>
                        <a:rPr lang="el-GR" altLang="zh-TW" sz="1600" dirty="0">
                          <a:solidFill>
                            <a:schemeClr val="tx1"/>
                          </a:solidFill>
                          <a:latin typeface="+mn-lt"/>
                        </a:rPr>
                        <a:t> τ</a:t>
                      </a:r>
                      <a:r>
                        <a:rPr lang="en-US" altLang="zh-TW" sz="1600" dirty="0">
                          <a:solidFill>
                            <a:schemeClr val="tx1"/>
                          </a:solidFill>
                          <a:latin typeface="+mn-lt"/>
                        </a:rPr>
                        <a:t>=0.3, </a:t>
                      </a:r>
                      <a:r>
                        <a:rPr lang="en-US" altLang="zh-TW" sz="1600" dirty="0">
                          <a:solidFill>
                            <a:schemeClr val="tx1"/>
                          </a:solidFill>
                          <a:latin typeface="+mn-lt"/>
                          <a:ea typeface="微軟正黑體" panose="020B0604030504040204" pitchFamily="34" charset="-120"/>
                        </a:rPr>
                        <a:t>L</a:t>
                      </a:r>
                      <a:r>
                        <a:rPr lang="en-US" altLang="zh-TW" sz="1600" baseline="-25000" dirty="0">
                          <a:solidFill>
                            <a:schemeClr val="tx1"/>
                          </a:solidFill>
                          <a:latin typeface="+mn-lt"/>
                          <a:ea typeface="微軟正黑體" panose="020B0604030504040204" pitchFamily="34" charset="-120"/>
                        </a:rPr>
                        <a:t>W</a:t>
                      </a:r>
                      <a:r>
                        <a:rPr lang="en-US" altLang="zh-TW" sz="1600" baseline="0" dirty="0">
                          <a:solidFill>
                            <a:schemeClr val="tx1"/>
                          </a:solidFill>
                          <a:latin typeface="+mn-lt"/>
                          <a:ea typeface="微軟正黑體" panose="020B0604030504040204" pitchFamily="34" charset="-120"/>
                        </a:rPr>
                        <a:t>=1.0</a:t>
                      </a:r>
                      <a:endParaRPr lang="en-US" altLang="zh-TW" sz="1600" baseline="0" dirty="0">
                        <a:solidFill>
                          <a:schemeClr val="tx1"/>
                        </a:solidFill>
                        <a:latin typeface="+mn-lt"/>
                      </a:endParaRPr>
                    </a:p>
                  </a:txBody>
                  <a:tcPr anchor="ctr"/>
                </a:tc>
                <a:tc>
                  <a:txBody>
                    <a:bodyPr/>
                    <a:lstStyle/>
                    <a:p>
                      <a:pPr algn="ctr">
                        <a:buNone/>
                      </a:pPr>
                      <a:r>
                        <a:rPr lang="en-US" altLang="zh-TW" sz="1600" b="1" dirty="0">
                          <a:solidFill>
                            <a:schemeClr val="tx1"/>
                          </a:solidFill>
                        </a:rPr>
                        <a:t>0.6525 ± 0.0000</a:t>
                      </a:r>
                      <a:endParaRPr lang="zh-TW" altLang="en-US" sz="1600" dirty="0">
                        <a:solidFill>
                          <a:schemeClr val="tx1"/>
                        </a:solidFill>
                      </a:endParaRPr>
                    </a:p>
                  </a:txBody>
                  <a:tcPr marL="33472" marR="33472" marT="16736" marB="16736" anchor="ctr"/>
                </a:tc>
                <a:tc>
                  <a:txBody>
                    <a:bodyPr/>
                    <a:lstStyle/>
                    <a:p>
                      <a:pPr algn="ctr">
                        <a:buNone/>
                      </a:pPr>
                      <a:r>
                        <a:rPr lang="en-US" altLang="zh-TW" sz="1600" b="1" dirty="0">
                          <a:solidFill>
                            <a:schemeClr val="tx1"/>
                          </a:solidFill>
                        </a:rPr>
                        <a:t>0.8590 ± 0.0101</a:t>
                      </a:r>
                    </a:p>
                  </a:txBody>
                  <a:tcPr marL="33472" marR="33472" marT="16736" marB="16736" anchor="ctr"/>
                </a:tc>
                <a:tc>
                  <a:txBody>
                    <a:bodyPr/>
                    <a:lstStyle/>
                    <a:p>
                      <a:pPr algn="ctr">
                        <a:buNone/>
                      </a:pPr>
                      <a:r>
                        <a:rPr lang="en-US" altLang="zh-TW" sz="1600">
                          <a:solidFill>
                            <a:schemeClr val="tx1"/>
                          </a:solidFill>
                        </a:rPr>
                        <a:t>0.8656 ± 0.0214</a:t>
                      </a:r>
                    </a:p>
                  </a:txBody>
                  <a:tcPr marL="33472" marR="33472" marT="16736" marB="16736" anchor="ctr"/>
                </a:tc>
                <a:tc>
                  <a:txBody>
                    <a:bodyPr/>
                    <a:lstStyle/>
                    <a:p>
                      <a:pPr algn="ctr">
                        <a:buNone/>
                      </a:pPr>
                      <a:r>
                        <a:rPr lang="en-US" altLang="zh-TW" sz="1600" b="1" dirty="0">
                          <a:solidFill>
                            <a:schemeClr val="tx1"/>
                          </a:solidFill>
                        </a:rPr>
                        <a:t>0.9023 ± 0.0277</a:t>
                      </a:r>
                      <a:endParaRPr lang="zh-TW" altLang="en-US" sz="1600" dirty="0">
                        <a:solidFill>
                          <a:schemeClr val="tx1"/>
                        </a:solidFill>
                      </a:endParaRPr>
                    </a:p>
                  </a:txBody>
                  <a:tcPr marL="33472" marR="33472" marT="16736" marB="16736" anchor="ctr"/>
                </a:tc>
                <a:tc>
                  <a:txBody>
                    <a:bodyPr/>
                    <a:lstStyle/>
                    <a:p>
                      <a:pPr algn="ctr">
                        <a:buNone/>
                      </a:pPr>
                      <a:r>
                        <a:rPr lang="en-US" altLang="zh-TW" sz="1600" b="0" dirty="0">
                          <a:solidFill>
                            <a:schemeClr val="tx1"/>
                          </a:solidFill>
                        </a:rPr>
                        <a:t>0.9044 ± 0.0140</a:t>
                      </a:r>
                      <a:endParaRPr lang="zh-TW" altLang="en-US" sz="1600" b="0" dirty="0">
                        <a:solidFill>
                          <a:schemeClr val="tx1"/>
                        </a:solidFill>
                      </a:endParaRPr>
                    </a:p>
                  </a:txBody>
                  <a:tcPr marL="33472" marR="33472" marT="16736" marB="16736" anchor="ctr"/>
                </a:tc>
                <a:extLst>
                  <a:ext uri="{0D108BD9-81ED-4DB2-BD59-A6C34878D82A}">
                    <a16:rowId xmlns:a16="http://schemas.microsoft.com/office/drawing/2014/main" val="2083154564"/>
                  </a:ext>
                </a:extLst>
              </a:tr>
            </a:tbl>
          </a:graphicData>
        </a:graphic>
      </p:graphicFrame>
      <p:sp>
        <p:nvSpPr>
          <p:cNvPr id="11" name="文字方塊 10">
            <a:extLst>
              <a:ext uri="{FF2B5EF4-FFF2-40B4-BE49-F238E27FC236}">
                <a16:creationId xmlns:a16="http://schemas.microsoft.com/office/drawing/2014/main" id="{3940046D-72BA-82CB-8E92-F2F8504EDA92}"/>
              </a:ext>
            </a:extLst>
          </p:cNvPr>
          <p:cNvSpPr txBox="1"/>
          <p:nvPr/>
        </p:nvSpPr>
        <p:spPr>
          <a:xfrm>
            <a:off x="347471" y="805259"/>
            <a:ext cx="9361636" cy="307777"/>
          </a:xfrm>
          <a:prstGeom prst="rect">
            <a:avLst/>
          </a:prstGeom>
          <a:noFill/>
        </p:spPr>
        <p:txBody>
          <a:bodyPr wrap="square" rtlCol="0">
            <a:spAutoFit/>
          </a:bodyPr>
          <a:lstStyle/>
          <a:p>
            <a:r>
              <a:rPr lang="en-US" altLang="zh-TW" sz="1400" b="1" dirty="0">
                <a:latin typeface="微軟正黑體" panose="020B0604030504040204" pitchFamily="34" charset="-120"/>
                <a:ea typeface="微軟正黑體" panose="020B0604030504040204" pitchFamily="34" charset="-120"/>
              </a:rPr>
              <a:t>Let S</a:t>
            </a:r>
            <a:r>
              <a:rPr lang="en-US" altLang="zh-TW" sz="1400" b="1" baseline="-25000" dirty="0">
                <a:latin typeface="微軟正黑體" panose="020B0604030504040204" pitchFamily="34" charset="-120"/>
                <a:ea typeface="微軟正黑體" panose="020B0604030504040204" pitchFamily="34" charset="-120"/>
              </a:rPr>
              <a:t>W</a:t>
            </a:r>
            <a:r>
              <a:rPr lang="en-US" altLang="zh-TW" sz="1400" b="1" dirty="0">
                <a:latin typeface="微軟正黑體" panose="020B0604030504040204" pitchFamily="34" charset="-120"/>
                <a:ea typeface="微軟正黑體" panose="020B0604030504040204" pitchFamily="34" charset="-120"/>
              </a:rPr>
              <a:t>, </a:t>
            </a:r>
            <a:r>
              <a:rPr lang="el-GR" altLang="zh-TW" sz="1400" b="1" dirty="0">
                <a:latin typeface="微軟正黑體" panose="020B0604030504040204" pitchFamily="34" charset="-120"/>
                <a:ea typeface="微軟正黑體" panose="020B0604030504040204" pitchFamily="34" charset="-120"/>
              </a:rPr>
              <a:t>τ</a:t>
            </a:r>
            <a:r>
              <a:rPr lang="en-US" altLang="zh-TW" sz="1400" b="1" dirty="0">
                <a:latin typeface="微軟正黑體" panose="020B0604030504040204" pitchFamily="34" charset="-120"/>
                <a:ea typeface="微軟正黑體" panose="020B0604030504040204" pitchFamily="34" charset="-120"/>
              </a:rPr>
              <a:t>, and L</a:t>
            </a:r>
            <a:r>
              <a:rPr lang="en-US" altLang="zh-TW" sz="1400" b="1" baseline="-25000" dirty="0">
                <a:latin typeface="微軟正黑體" panose="020B0604030504040204" pitchFamily="34" charset="-120"/>
                <a:ea typeface="微軟正黑體" panose="020B0604030504040204" pitchFamily="34" charset="-120"/>
              </a:rPr>
              <a:t>W</a:t>
            </a:r>
            <a:r>
              <a:rPr lang="en-US" altLang="zh-TW" sz="1400" b="1" dirty="0">
                <a:latin typeface="微軟正黑體" panose="020B0604030504040204" pitchFamily="34" charset="-120"/>
                <a:ea typeface="微軟正黑體" panose="020B0604030504040204" pitchFamily="34" charset="-120"/>
              </a:rPr>
              <a:t> denote the SDC term weight, confidence threshold, and LCM term weight, respectively.</a:t>
            </a:r>
            <a:endParaRPr lang="zh-TW" altLang="en-US" sz="1400" b="1"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F9EF0724-6B01-B89E-5909-3D4084B01674}"/>
              </a:ext>
            </a:extLst>
          </p:cNvPr>
          <p:cNvSpPr>
            <a:spLocks noGrp="1"/>
          </p:cNvSpPr>
          <p:nvPr>
            <p:ph type="sldNum" sz="quarter" idx="12"/>
          </p:nvPr>
        </p:nvSpPr>
        <p:spPr>
          <a:xfrm>
            <a:off x="9448495" y="6630152"/>
            <a:ext cx="2743200" cy="246888"/>
          </a:xfrm>
        </p:spPr>
        <p:txBody>
          <a:bodyPr/>
          <a:lstStyle/>
          <a:p>
            <a:fld id="{A98399F2-4B7C-4808-8B27-A13C76E6A9FD}" type="slidenum">
              <a:rPr lang="zh-TW" altLang="en-US" smtClean="0">
                <a:solidFill>
                  <a:schemeClr val="bg2"/>
                </a:solidFill>
                <a:latin typeface="微軟正黑體" panose="020B0604030504040204" pitchFamily="34" charset="-120"/>
                <a:ea typeface="微軟正黑體" panose="020B0604030504040204" pitchFamily="34" charset="-120"/>
              </a:rPr>
              <a:t>24</a:t>
            </a:fld>
            <a:endParaRPr lang="zh-TW" altLang="en-US" dirty="0">
              <a:solidFill>
                <a:schemeClr val="bg2"/>
              </a:solidFill>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8754BD05-D9F1-0CF9-04D7-F0149164BCFD}"/>
              </a:ext>
            </a:extLst>
          </p:cNvPr>
          <p:cNvSpPr txBox="1"/>
          <p:nvPr/>
        </p:nvSpPr>
        <p:spPr>
          <a:xfrm>
            <a:off x="9800949" y="1113036"/>
            <a:ext cx="2379110" cy="3628622"/>
          </a:xfrm>
          <a:prstGeom prst="rect">
            <a:avLst/>
          </a:prstGeom>
          <a:noFill/>
        </p:spPr>
        <p:txBody>
          <a:bodyPr wrap="square" rtlCol="0">
            <a:spAutoFit/>
          </a:bodyPr>
          <a:lstStyle/>
          <a:p>
            <a:r>
              <a:rPr lang="en-US" altLang="zh-TW" sz="1600" b="1" dirty="0">
                <a:latin typeface="微軟正黑體" panose="020B0604030504040204" pitchFamily="34" charset="-120"/>
                <a:ea typeface="微軟正黑體" panose="020B0604030504040204" pitchFamily="34" charset="-120"/>
              </a:rPr>
              <a:t>Observation</a:t>
            </a:r>
          </a:p>
          <a:p>
            <a:endParaRPr lang="en-US" altLang="zh-TW" b="1" dirty="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Most consistency-loss settings outperform the baseline. </a:t>
            </a:r>
          </a:p>
          <a:p>
            <a:pPr marL="171450" indent="-1714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Increasing SDC/LCM</a:t>
            </a: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weights generally improves draft-token acceptance.</a:t>
            </a:r>
          </a:p>
          <a:p>
            <a:pPr marL="171450" indent="-1714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τ = 0.6 reduces acceptance noticeably.</a:t>
            </a:r>
          </a:p>
          <a:p>
            <a:pPr marL="171450" indent="-1714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Joint SDC+LCM achieves the highest average acceptance: 0.6525.</a:t>
            </a:r>
          </a:p>
        </p:txBody>
      </p:sp>
    </p:spTree>
    <p:extLst>
      <p:ext uri="{BB962C8B-B14F-4D97-AF65-F5344CB8AC3E}">
        <p14:creationId xmlns:p14="http://schemas.microsoft.com/office/powerpoint/2010/main" val="1481716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4A775969-FCB6-B159-41B0-ED4B3429871C}"/>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34B9E41B-FA85-B830-ACAC-6684E673F1B2}"/>
              </a:ext>
            </a:extLst>
          </p:cNvPr>
          <p:cNvSpPr>
            <a:spLocks noGrp="1"/>
          </p:cNvSpPr>
          <p:nvPr>
            <p:ph type="sldNum" sz="quarter" idx="12"/>
          </p:nvPr>
        </p:nvSpPr>
        <p:spPr>
          <a:xfrm>
            <a:off x="9448800" y="6611112"/>
            <a:ext cx="2743200" cy="246888"/>
          </a:xfrm>
        </p:spPr>
        <p:txBody>
          <a:bodyPr/>
          <a:lstStyle/>
          <a:p>
            <a:fld id="{A98399F2-4B7C-4808-8B27-A13C76E6A9FD}" type="slidenum">
              <a:rPr lang="zh-TW" altLang="en-US" smtClean="0">
                <a:solidFill>
                  <a:schemeClr val="bg1"/>
                </a:solidFill>
                <a:latin typeface="微軟正黑體" panose="020B0604030504040204" pitchFamily="34" charset="-120"/>
                <a:ea typeface="微軟正黑體" panose="020B0604030504040204" pitchFamily="34" charset="-120"/>
              </a:rPr>
              <a:t>25</a:t>
            </a:fld>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6" name="Text 2">
            <a:extLst>
              <a:ext uri="{FF2B5EF4-FFF2-40B4-BE49-F238E27FC236}">
                <a16:creationId xmlns:a16="http://schemas.microsoft.com/office/drawing/2014/main" id="{E5057707-2AFD-5ECF-3C7B-7A61B5E57DB8}"/>
              </a:ext>
            </a:extLst>
          </p:cNvPr>
          <p:cNvSpPr/>
          <p:nvPr/>
        </p:nvSpPr>
        <p:spPr>
          <a:xfrm>
            <a:off x="347472" y="274320"/>
            <a:ext cx="306000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4: Experimental Results</a:t>
            </a:r>
          </a:p>
        </p:txBody>
      </p:sp>
      <p:sp>
        <p:nvSpPr>
          <p:cNvPr id="7" name="Text 3">
            <a:extLst>
              <a:ext uri="{FF2B5EF4-FFF2-40B4-BE49-F238E27FC236}">
                <a16:creationId xmlns:a16="http://schemas.microsoft.com/office/drawing/2014/main" id="{8C06934D-368C-941F-BEA3-A2C9E3BCBFD8}"/>
              </a:ext>
            </a:extLst>
          </p:cNvPr>
          <p:cNvSpPr/>
          <p:nvPr/>
        </p:nvSpPr>
        <p:spPr>
          <a:xfrm>
            <a:off x="347470" y="505450"/>
            <a:ext cx="9373577" cy="228600"/>
          </a:xfrm>
          <a:prstGeom prst="rect">
            <a:avLst/>
          </a:prstGeom>
          <a:noFill/>
          <a:ln/>
        </p:spPr>
        <p:txBody>
          <a:bodyPr wrap="square" lIns="0" tIns="0" rIns="0" bIns="0" rtlCol="0" anchor="ctr"/>
          <a:lstStyle/>
          <a:p>
            <a:r>
              <a:rPr lang="en-US" sz="1600" dirty="0">
                <a:solidFill>
                  <a:schemeClr val="bg1">
                    <a:lumMod val="50000"/>
                  </a:schemeClr>
                </a:solidFill>
                <a:latin typeface="微軟正黑體" panose="020B0604030504040204" pitchFamily="34" charset="-120"/>
                <a:ea typeface="微軟正黑體" panose="020B0604030504040204" pitchFamily="34" charset="-120"/>
              </a:rPr>
              <a:t>Ablation Study — Generative Quality</a:t>
            </a:r>
          </a:p>
        </p:txBody>
      </p:sp>
      <p:sp>
        <p:nvSpPr>
          <p:cNvPr id="8" name="Shape 5">
            <a:extLst>
              <a:ext uri="{FF2B5EF4-FFF2-40B4-BE49-F238E27FC236}">
                <a16:creationId xmlns:a16="http://schemas.microsoft.com/office/drawing/2014/main" id="{058BC9D9-F6D8-01A6-E828-4EC70375FC2B}"/>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graphicFrame>
        <p:nvGraphicFramePr>
          <p:cNvPr id="10" name="表格 9">
            <a:extLst>
              <a:ext uri="{FF2B5EF4-FFF2-40B4-BE49-F238E27FC236}">
                <a16:creationId xmlns:a16="http://schemas.microsoft.com/office/drawing/2014/main" id="{C516F482-FC5B-69AB-595E-3D7730AD82F5}"/>
              </a:ext>
            </a:extLst>
          </p:cNvPr>
          <p:cNvGraphicFramePr>
            <a:graphicFrameLocks noGrp="1"/>
          </p:cNvGraphicFramePr>
          <p:nvPr>
            <p:extLst>
              <p:ext uri="{D42A27DB-BD31-4B8C-83A1-F6EECF244321}">
                <p14:modId xmlns:p14="http://schemas.microsoft.com/office/powerpoint/2010/main" val="4216719273"/>
              </p:ext>
            </p:extLst>
          </p:nvPr>
        </p:nvGraphicFramePr>
        <p:xfrm>
          <a:off x="347470" y="1063987"/>
          <a:ext cx="7020997" cy="5251987"/>
        </p:xfrm>
        <a:graphic>
          <a:graphicData uri="http://schemas.openxmlformats.org/drawingml/2006/table">
            <a:tbl>
              <a:tblPr firstRow="1" bandRow="1">
                <a:tableStyleId>{5FD0F851-EC5A-4D38-B0AD-8093EC10F338}</a:tableStyleId>
              </a:tblPr>
              <a:tblGrid>
                <a:gridCol w="2013990">
                  <a:extLst>
                    <a:ext uri="{9D8B030D-6E8A-4147-A177-3AD203B41FA5}">
                      <a16:colId xmlns:a16="http://schemas.microsoft.com/office/drawing/2014/main" val="2880323015"/>
                    </a:ext>
                  </a:extLst>
                </a:gridCol>
                <a:gridCol w="1589103">
                  <a:extLst>
                    <a:ext uri="{9D8B030D-6E8A-4147-A177-3AD203B41FA5}">
                      <a16:colId xmlns:a16="http://schemas.microsoft.com/office/drawing/2014/main" val="3421584875"/>
                    </a:ext>
                  </a:extLst>
                </a:gridCol>
                <a:gridCol w="1633491">
                  <a:extLst>
                    <a:ext uri="{9D8B030D-6E8A-4147-A177-3AD203B41FA5}">
                      <a16:colId xmlns:a16="http://schemas.microsoft.com/office/drawing/2014/main" val="1184110547"/>
                    </a:ext>
                  </a:extLst>
                </a:gridCol>
                <a:gridCol w="1784413">
                  <a:extLst>
                    <a:ext uri="{9D8B030D-6E8A-4147-A177-3AD203B41FA5}">
                      <a16:colId xmlns:a16="http://schemas.microsoft.com/office/drawing/2014/main" val="3781708433"/>
                    </a:ext>
                  </a:extLst>
                </a:gridCol>
              </a:tblGrid>
              <a:tr h="403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t>Setting</a:t>
                      </a:r>
                    </a:p>
                  </a:txBody>
                  <a:tcPr anchor="ctr"/>
                </a:tc>
                <a:tc>
                  <a:txBody>
                    <a:bodyPr/>
                    <a:lstStyle/>
                    <a:p>
                      <a:pPr algn="ctr">
                        <a:buNone/>
                      </a:pPr>
                      <a:r>
                        <a:rPr lang="en-US" altLang="zh-TW" sz="1800" dirty="0"/>
                        <a:t>Generative </a:t>
                      </a:r>
                      <a:r>
                        <a:rPr lang="en-US" sz="1800" dirty="0"/>
                        <a:t>PPL</a:t>
                      </a:r>
                    </a:p>
                  </a:txBody>
                  <a:tcPr marL="45804" marR="45804" marT="22902" marB="22902" anchor="ctr"/>
                </a:tc>
                <a:tc>
                  <a:txBody>
                    <a:bodyPr/>
                    <a:lstStyle/>
                    <a:p>
                      <a:pPr algn="ctr">
                        <a:buNone/>
                      </a:pPr>
                      <a:r>
                        <a:rPr lang="en-US" sz="1800" dirty="0"/>
                        <a:t>Entropy</a:t>
                      </a:r>
                    </a:p>
                  </a:txBody>
                  <a:tcPr marL="45804" marR="45804" marT="22902" marB="22902" anchor="ctr"/>
                </a:tc>
                <a:tc>
                  <a:txBody>
                    <a:bodyPr/>
                    <a:lstStyle/>
                    <a:p>
                      <a:pPr algn="ctr">
                        <a:buNone/>
                      </a:pPr>
                      <a:r>
                        <a:rPr lang="en-US" sz="1800" dirty="0"/>
                        <a:t>4-gram repetition</a:t>
                      </a:r>
                    </a:p>
                  </a:txBody>
                  <a:tcPr marL="45804" marR="45804" marT="22902" marB="22902" anchor="ctr"/>
                </a:tc>
                <a:extLst>
                  <a:ext uri="{0D108BD9-81ED-4DB2-BD59-A6C34878D82A}">
                    <a16:rowId xmlns:a16="http://schemas.microsoft.com/office/drawing/2014/main" val="57095099"/>
                  </a:ext>
                </a:extLst>
              </a:tr>
              <a:tr h="403999">
                <a:tc>
                  <a:txBody>
                    <a:bodyPr/>
                    <a:lstStyle/>
                    <a:p>
                      <a:pPr algn="ctr"/>
                      <a:r>
                        <a:rPr lang="en-US" altLang="zh-TW" sz="1600" dirty="0"/>
                        <a:t>baseline</a:t>
                      </a:r>
                    </a:p>
                  </a:txBody>
                  <a:tcPr anchor="ctr"/>
                </a:tc>
                <a:tc>
                  <a:txBody>
                    <a:bodyPr/>
                    <a:lstStyle/>
                    <a:p>
                      <a:pPr algn="ctr">
                        <a:buNone/>
                      </a:pPr>
                      <a:r>
                        <a:rPr lang="en-US" altLang="zh-TW" sz="1600" dirty="0"/>
                        <a:t>83.8285 ± 5.1409</a:t>
                      </a:r>
                    </a:p>
                  </a:txBody>
                  <a:tcPr marL="45804" marR="45804" marT="22902" marB="22902" anchor="ctr"/>
                </a:tc>
                <a:tc>
                  <a:txBody>
                    <a:bodyPr/>
                    <a:lstStyle/>
                    <a:p>
                      <a:pPr algn="ctr">
                        <a:buNone/>
                      </a:pPr>
                      <a:r>
                        <a:rPr lang="en-US" altLang="zh-TW" sz="1600" b="1" dirty="0">
                          <a:solidFill>
                            <a:schemeClr val="tx1"/>
                          </a:solidFill>
                        </a:rPr>
                        <a:t>7.4068 ± 0.0461</a:t>
                      </a:r>
                    </a:p>
                  </a:txBody>
                  <a:tcPr marL="45804" marR="45804" marT="22902" marB="22902" anchor="ctr"/>
                </a:tc>
                <a:tc>
                  <a:txBody>
                    <a:bodyPr/>
                    <a:lstStyle/>
                    <a:p>
                      <a:pPr algn="ctr">
                        <a:buNone/>
                      </a:pPr>
                      <a:r>
                        <a:rPr lang="en-US" altLang="zh-TW" sz="1600" b="1" dirty="0">
                          <a:solidFill>
                            <a:schemeClr val="tx1"/>
                          </a:solidFill>
                        </a:rPr>
                        <a:t>0.0119 ± 0.0097</a:t>
                      </a:r>
                    </a:p>
                  </a:txBody>
                  <a:tcPr marL="45804" marR="45804" marT="22902" marB="22902" anchor="ctr"/>
                </a:tc>
                <a:extLst>
                  <a:ext uri="{0D108BD9-81ED-4DB2-BD59-A6C34878D82A}">
                    <a16:rowId xmlns:a16="http://schemas.microsoft.com/office/drawing/2014/main" val="4165766225"/>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=1.0,</a:t>
                      </a:r>
                      <a:r>
                        <a:rPr lang="el-GR" altLang="zh-TW" sz="1600" dirty="0">
                          <a:latin typeface="+mn-lt"/>
                        </a:rPr>
                        <a:t> τ</a:t>
                      </a:r>
                      <a:r>
                        <a:rPr lang="en-US" altLang="zh-TW" sz="1600" dirty="0">
                          <a:latin typeface="+mn-lt"/>
                        </a:rPr>
                        <a:t>=0.0,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=0.0</a:t>
                      </a:r>
                      <a:endParaRPr lang="en-US" altLang="zh-TW" sz="1600" baseline="0" dirty="0">
                        <a:latin typeface="+mn-lt"/>
                      </a:endParaRPr>
                    </a:p>
                  </a:txBody>
                  <a:tcPr anchor="ctr"/>
                </a:tc>
                <a:tc>
                  <a:txBody>
                    <a:bodyPr/>
                    <a:lstStyle/>
                    <a:p>
                      <a:pPr algn="ctr">
                        <a:buNone/>
                      </a:pPr>
                      <a:r>
                        <a:rPr lang="en-US" altLang="zh-TW" sz="1600" dirty="0"/>
                        <a:t>68.0596 ± 4.5760</a:t>
                      </a:r>
                    </a:p>
                  </a:txBody>
                  <a:tcPr marL="45804" marR="45804" marT="22902" marB="22902" anchor="ctr"/>
                </a:tc>
                <a:tc>
                  <a:txBody>
                    <a:bodyPr/>
                    <a:lstStyle/>
                    <a:p>
                      <a:pPr algn="ctr">
                        <a:buNone/>
                      </a:pPr>
                      <a:r>
                        <a:rPr lang="en-US" altLang="zh-TW" sz="1600" dirty="0"/>
                        <a:t>7.3141 ± 0.0519</a:t>
                      </a:r>
                    </a:p>
                  </a:txBody>
                  <a:tcPr marL="45804" marR="45804" marT="22902" marB="22902" anchor="ctr"/>
                </a:tc>
                <a:tc>
                  <a:txBody>
                    <a:bodyPr/>
                    <a:lstStyle/>
                    <a:p>
                      <a:pPr algn="ctr">
                        <a:buNone/>
                      </a:pPr>
                      <a:r>
                        <a:rPr lang="en-US" altLang="zh-TW" sz="1600" dirty="0"/>
                        <a:t>0.0193 ± 0.0154</a:t>
                      </a:r>
                    </a:p>
                  </a:txBody>
                  <a:tcPr marL="45804" marR="45804" marT="22902" marB="22902" anchor="ctr"/>
                </a:tc>
                <a:extLst>
                  <a:ext uri="{0D108BD9-81ED-4DB2-BD59-A6C34878D82A}">
                    <a16:rowId xmlns:a16="http://schemas.microsoft.com/office/drawing/2014/main" val="1088568622"/>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=1.0,</a:t>
                      </a:r>
                      <a:r>
                        <a:rPr lang="el-GR" altLang="zh-TW" sz="1600" dirty="0">
                          <a:latin typeface="+mn-lt"/>
                        </a:rPr>
                        <a:t> τ</a:t>
                      </a:r>
                      <a:r>
                        <a:rPr lang="en-US" altLang="zh-TW" sz="1600" dirty="0">
                          <a:latin typeface="+mn-lt"/>
                        </a:rPr>
                        <a:t>=0.3,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=0.0</a:t>
                      </a:r>
                      <a:endParaRPr lang="en-US" altLang="zh-TW" sz="1600" baseline="0" dirty="0">
                        <a:latin typeface="+mn-lt"/>
                      </a:endParaRPr>
                    </a:p>
                  </a:txBody>
                  <a:tcPr anchor="ctr"/>
                </a:tc>
                <a:tc>
                  <a:txBody>
                    <a:bodyPr/>
                    <a:lstStyle/>
                    <a:p>
                      <a:pPr algn="ctr">
                        <a:buNone/>
                      </a:pPr>
                      <a:r>
                        <a:rPr lang="en-US" altLang="zh-TW" sz="1600" dirty="0"/>
                        <a:t>48.4875 ± 1.2280</a:t>
                      </a:r>
                    </a:p>
                  </a:txBody>
                  <a:tcPr marL="45804" marR="45804" marT="22902" marB="22902" anchor="ctr"/>
                </a:tc>
                <a:tc>
                  <a:txBody>
                    <a:bodyPr/>
                    <a:lstStyle/>
                    <a:p>
                      <a:pPr algn="ctr">
                        <a:buNone/>
                      </a:pPr>
                      <a:r>
                        <a:rPr lang="en-US" altLang="zh-TW" sz="1600" dirty="0"/>
                        <a:t>7.1184 ± 0.0336</a:t>
                      </a:r>
                    </a:p>
                  </a:txBody>
                  <a:tcPr marL="45804" marR="45804" marT="22902" marB="22902" anchor="ctr"/>
                </a:tc>
                <a:tc>
                  <a:txBody>
                    <a:bodyPr/>
                    <a:lstStyle/>
                    <a:p>
                      <a:pPr algn="ctr">
                        <a:buNone/>
                      </a:pPr>
                      <a:r>
                        <a:rPr lang="en-US" altLang="zh-TW" sz="1600" dirty="0"/>
                        <a:t>0.0183 ± 0.0055</a:t>
                      </a:r>
                    </a:p>
                  </a:txBody>
                  <a:tcPr marL="45804" marR="45804" marT="22902" marB="22902" anchor="ctr"/>
                </a:tc>
                <a:extLst>
                  <a:ext uri="{0D108BD9-81ED-4DB2-BD59-A6C34878D82A}">
                    <a16:rowId xmlns:a16="http://schemas.microsoft.com/office/drawing/2014/main" val="3427155248"/>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=1.0,</a:t>
                      </a:r>
                      <a:r>
                        <a:rPr lang="el-GR" altLang="zh-TW" sz="1600" dirty="0">
                          <a:latin typeface="+mn-lt"/>
                        </a:rPr>
                        <a:t> τ</a:t>
                      </a:r>
                      <a:r>
                        <a:rPr lang="en-US" altLang="zh-TW" sz="1600" dirty="0">
                          <a:latin typeface="+mn-lt"/>
                        </a:rPr>
                        <a:t>=0.6,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=0.0</a:t>
                      </a:r>
                      <a:endParaRPr lang="en-US" altLang="zh-TW" sz="1600" baseline="0" dirty="0">
                        <a:latin typeface="+mn-lt"/>
                      </a:endParaRPr>
                    </a:p>
                  </a:txBody>
                  <a:tcPr anchor="ctr"/>
                </a:tc>
                <a:tc>
                  <a:txBody>
                    <a:bodyPr/>
                    <a:lstStyle/>
                    <a:p>
                      <a:pPr algn="ctr">
                        <a:buNone/>
                      </a:pPr>
                      <a:r>
                        <a:rPr lang="en-US" altLang="zh-TW" sz="1600" dirty="0"/>
                        <a:t>28.2332 ± 1.2754</a:t>
                      </a:r>
                    </a:p>
                  </a:txBody>
                  <a:tcPr marL="45804" marR="45804" marT="22902" marB="22902" anchor="ctr"/>
                </a:tc>
                <a:tc>
                  <a:txBody>
                    <a:bodyPr/>
                    <a:lstStyle/>
                    <a:p>
                      <a:pPr algn="ctr">
                        <a:buNone/>
                      </a:pPr>
                      <a:r>
                        <a:rPr lang="en-US" altLang="zh-TW" sz="1600" dirty="0"/>
                        <a:t>6.7789 ± 0.0178</a:t>
                      </a:r>
                    </a:p>
                  </a:txBody>
                  <a:tcPr marL="45804" marR="45804" marT="22902" marB="22902" anchor="ctr"/>
                </a:tc>
                <a:tc>
                  <a:txBody>
                    <a:bodyPr/>
                    <a:lstStyle/>
                    <a:p>
                      <a:pPr algn="ctr">
                        <a:buNone/>
                      </a:pPr>
                      <a:r>
                        <a:rPr lang="en-US" altLang="zh-TW" sz="1600" dirty="0"/>
                        <a:t>0.0393 ± 0.0080</a:t>
                      </a:r>
                    </a:p>
                  </a:txBody>
                  <a:tcPr marL="45804" marR="45804" marT="22902" marB="22902" anchor="ctr"/>
                </a:tc>
                <a:extLst>
                  <a:ext uri="{0D108BD9-81ED-4DB2-BD59-A6C34878D82A}">
                    <a16:rowId xmlns:a16="http://schemas.microsoft.com/office/drawing/2014/main" val="678960123"/>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=1.5,</a:t>
                      </a:r>
                      <a:r>
                        <a:rPr lang="el-GR" altLang="zh-TW" sz="1600" dirty="0">
                          <a:latin typeface="+mn-lt"/>
                        </a:rPr>
                        <a:t> τ</a:t>
                      </a:r>
                      <a:r>
                        <a:rPr lang="en-US" altLang="zh-TW" sz="1600" dirty="0">
                          <a:latin typeface="+mn-lt"/>
                        </a:rPr>
                        <a:t>=0.3,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=0.0</a:t>
                      </a:r>
                      <a:endParaRPr lang="en-US" altLang="zh-TW" sz="1600" baseline="0" dirty="0">
                        <a:latin typeface="+mn-lt"/>
                      </a:endParaRPr>
                    </a:p>
                  </a:txBody>
                  <a:tcPr anchor="ctr"/>
                </a:tc>
                <a:tc>
                  <a:txBody>
                    <a:bodyPr/>
                    <a:lstStyle/>
                    <a:p>
                      <a:pPr algn="ctr">
                        <a:buNone/>
                      </a:pPr>
                      <a:r>
                        <a:rPr lang="en-US" altLang="zh-TW" sz="1600" dirty="0"/>
                        <a:t>31.8082 ± 0.4503</a:t>
                      </a:r>
                    </a:p>
                  </a:txBody>
                  <a:tcPr marL="45804" marR="45804" marT="22902" marB="22902" anchor="ctr"/>
                </a:tc>
                <a:tc>
                  <a:txBody>
                    <a:bodyPr/>
                    <a:lstStyle/>
                    <a:p>
                      <a:pPr algn="ctr">
                        <a:buNone/>
                      </a:pPr>
                      <a:r>
                        <a:rPr lang="en-US" altLang="zh-TW" sz="1600" dirty="0"/>
                        <a:t>6.8248 ± 0.0353</a:t>
                      </a:r>
                    </a:p>
                  </a:txBody>
                  <a:tcPr marL="45804" marR="45804" marT="22902" marB="22902" anchor="ctr"/>
                </a:tc>
                <a:tc>
                  <a:txBody>
                    <a:bodyPr/>
                    <a:lstStyle/>
                    <a:p>
                      <a:pPr algn="ctr">
                        <a:buNone/>
                      </a:pPr>
                      <a:r>
                        <a:rPr lang="en-US" altLang="zh-TW" sz="1600" dirty="0"/>
                        <a:t>0.0485 ± 0.0159</a:t>
                      </a:r>
                    </a:p>
                  </a:txBody>
                  <a:tcPr marL="45804" marR="45804" marT="22902" marB="22902" anchor="ctr"/>
                </a:tc>
                <a:extLst>
                  <a:ext uri="{0D108BD9-81ED-4DB2-BD59-A6C34878D82A}">
                    <a16:rowId xmlns:a16="http://schemas.microsoft.com/office/drawing/2014/main" val="1531699260"/>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=0.5,</a:t>
                      </a:r>
                      <a:r>
                        <a:rPr lang="el-GR" altLang="zh-TW" sz="1600" dirty="0">
                          <a:latin typeface="+mn-lt"/>
                        </a:rPr>
                        <a:t> τ</a:t>
                      </a:r>
                      <a:r>
                        <a:rPr lang="en-US" altLang="zh-TW" sz="1600" dirty="0">
                          <a:latin typeface="+mn-lt"/>
                        </a:rPr>
                        <a:t>=0.3,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=0.0</a:t>
                      </a:r>
                      <a:endParaRPr lang="en-US" altLang="zh-TW" sz="1600" baseline="0" dirty="0">
                        <a:latin typeface="+mn-lt"/>
                      </a:endParaRPr>
                    </a:p>
                  </a:txBody>
                  <a:tcPr anchor="ctr"/>
                </a:tc>
                <a:tc>
                  <a:txBody>
                    <a:bodyPr/>
                    <a:lstStyle/>
                    <a:p>
                      <a:pPr algn="ctr">
                        <a:buNone/>
                      </a:pPr>
                      <a:r>
                        <a:rPr lang="en-US" altLang="zh-TW" sz="1600" dirty="0"/>
                        <a:t>52.7654 ± 2.2732</a:t>
                      </a:r>
                    </a:p>
                  </a:txBody>
                  <a:tcPr marL="45804" marR="45804" marT="22902" marB="22902" anchor="ctr"/>
                </a:tc>
                <a:tc>
                  <a:txBody>
                    <a:bodyPr/>
                    <a:lstStyle/>
                    <a:p>
                      <a:pPr algn="ctr">
                        <a:buNone/>
                      </a:pPr>
                      <a:r>
                        <a:rPr lang="en-US" altLang="zh-TW" sz="1600" dirty="0"/>
                        <a:t>7.1490 ± 0.0335</a:t>
                      </a:r>
                    </a:p>
                  </a:txBody>
                  <a:tcPr marL="45804" marR="45804" marT="22902" marB="22902" anchor="ctr"/>
                </a:tc>
                <a:tc>
                  <a:txBody>
                    <a:bodyPr/>
                    <a:lstStyle/>
                    <a:p>
                      <a:pPr algn="ctr">
                        <a:buNone/>
                      </a:pPr>
                      <a:r>
                        <a:rPr lang="en-US" altLang="zh-TW" sz="1600" dirty="0"/>
                        <a:t>0.0323 ± 0.0169</a:t>
                      </a:r>
                    </a:p>
                  </a:txBody>
                  <a:tcPr marL="45804" marR="45804" marT="22902" marB="22902" anchor="ctr"/>
                </a:tc>
                <a:extLst>
                  <a:ext uri="{0D108BD9-81ED-4DB2-BD59-A6C34878D82A}">
                    <a16:rowId xmlns:a16="http://schemas.microsoft.com/office/drawing/2014/main" val="318103260"/>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=0.0,</a:t>
                      </a:r>
                      <a:r>
                        <a:rPr lang="el-GR" altLang="zh-TW" sz="1600" dirty="0">
                          <a:latin typeface="+mn-lt"/>
                        </a:rPr>
                        <a:t> τ</a:t>
                      </a:r>
                      <a:r>
                        <a:rPr lang="en-US" altLang="zh-TW" sz="1600" dirty="0">
                          <a:latin typeface="+mn-lt"/>
                        </a:rPr>
                        <a:t>=0.0,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=0.5</a:t>
                      </a:r>
                      <a:endParaRPr lang="en-US" altLang="zh-TW" sz="1600" baseline="0" dirty="0">
                        <a:latin typeface="+mn-lt"/>
                      </a:endParaRPr>
                    </a:p>
                  </a:txBody>
                  <a:tcPr anchor="ctr"/>
                </a:tc>
                <a:tc>
                  <a:txBody>
                    <a:bodyPr/>
                    <a:lstStyle/>
                    <a:p>
                      <a:pPr algn="ctr">
                        <a:buNone/>
                      </a:pPr>
                      <a:r>
                        <a:rPr lang="en-US" altLang="zh-TW" sz="1600" dirty="0"/>
                        <a:t>26.2091 ± 1.5675</a:t>
                      </a:r>
                    </a:p>
                  </a:txBody>
                  <a:tcPr marL="45804" marR="45804" marT="22902" marB="22902" anchor="ctr"/>
                </a:tc>
                <a:tc>
                  <a:txBody>
                    <a:bodyPr/>
                    <a:lstStyle/>
                    <a:p>
                      <a:pPr algn="ctr">
                        <a:buNone/>
                      </a:pPr>
                      <a:r>
                        <a:rPr lang="en-US" altLang="zh-TW" sz="1600" dirty="0"/>
                        <a:t>6.8576 ± 0.0374</a:t>
                      </a:r>
                    </a:p>
                  </a:txBody>
                  <a:tcPr marL="45804" marR="45804" marT="22902" marB="22902" anchor="ctr"/>
                </a:tc>
                <a:tc>
                  <a:txBody>
                    <a:bodyPr/>
                    <a:lstStyle/>
                    <a:p>
                      <a:pPr algn="ctr">
                        <a:buNone/>
                      </a:pPr>
                      <a:r>
                        <a:rPr lang="en-US" altLang="zh-TW" sz="1600" dirty="0"/>
                        <a:t>0.0555 ± 0.0204</a:t>
                      </a:r>
                    </a:p>
                  </a:txBody>
                  <a:tcPr marL="45804" marR="45804" marT="22902" marB="22902" anchor="ctr"/>
                </a:tc>
                <a:extLst>
                  <a:ext uri="{0D108BD9-81ED-4DB2-BD59-A6C34878D82A}">
                    <a16:rowId xmlns:a16="http://schemas.microsoft.com/office/drawing/2014/main" val="1441213913"/>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=0.0,</a:t>
                      </a:r>
                      <a:r>
                        <a:rPr lang="el-GR" altLang="zh-TW" sz="1600" dirty="0">
                          <a:latin typeface="+mn-lt"/>
                        </a:rPr>
                        <a:t> τ</a:t>
                      </a:r>
                      <a:r>
                        <a:rPr lang="en-US" altLang="zh-TW" sz="1600" dirty="0">
                          <a:latin typeface="+mn-lt"/>
                        </a:rPr>
                        <a:t>=0.0,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=1.0</a:t>
                      </a:r>
                      <a:endParaRPr lang="en-US" altLang="zh-TW" sz="1600" baseline="0" dirty="0">
                        <a:latin typeface="+mn-lt"/>
                      </a:endParaRPr>
                    </a:p>
                  </a:txBody>
                  <a:tcPr anchor="ctr"/>
                </a:tc>
                <a:tc>
                  <a:txBody>
                    <a:bodyPr/>
                    <a:lstStyle/>
                    <a:p>
                      <a:pPr algn="ctr">
                        <a:buNone/>
                      </a:pPr>
                      <a:r>
                        <a:rPr lang="en-US" altLang="zh-TW" sz="1600" dirty="0"/>
                        <a:t>24.0955 ± 3.2440</a:t>
                      </a:r>
                    </a:p>
                  </a:txBody>
                  <a:tcPr marL="45804" marR="45804" marT="22902" marB="22902" anchor="ctr"/>
                </a:tc>
                <a:tc>
                  <a:txBody>
                    <a:bodyPr/>
                    <a:lstStyle/>
                    <a:p>
                      <a:pPr algn="ctr">
                        <a:buNone/>
                      </a:pPr>
                      <a:r>
                        <a:rPr lang="en-US" altLang="zh-TW" sz="1600" dirty="0"/>
                        <a:t>6.7935 ± 0.0828</a:t>
                      </a:r>
                    </a:p>
                  </a:txBody>
                  <a:tcPr marL="45804" marR="45804" marT="22902" marB="22902" anchor="ctr"/>
                </a:tc>
                <a:tc>
                  <a:txBody>
                    <a:bodyPr/>
                    <a:lstStyle/>
                    <a:p>
                      <a:pPr algn="ctr">
                        <a:buNone/>
                      </a:pPr>
                      <a:r>
                        <a:rPr lang="en-US" altLang="zh-TW" sz="1600" dirty="0"/>
                        <a:t>0.0657 ± 0.0388</a:t>
                      </a:r>
                    </a:p>
                  </a:txBody>
                  <a:tcPr marL="45804" marR="45804" marT="22902" marB="22902" anchor="ctr"/>
                </a:tc>
                <a:extLst>
                  <a:ext uri="{0D108BD9-81ED-4DB2-BD59-A6C34878D82A}">
                    <a16:rowId xmlns:a16="http://schemas.microsoft.com/office/drawing/2014/main" val="1591432723"/>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=0.0,</a:t>
                      </a:r>
                      <a:r>
                        <a:rPr lang="el-GR" altLang="zh-TW" sz="1600" dirty="0">
                          <a:latin typeface="+mn-lt"/>
                        </a:rPr>
                        <a:t> τ</a:t>
                      </a:r>
                      <a:r>
                        <a:rPr lang="en-US" altLang="zh-TW" sz="1600" dirty="0">
                          <a:latin typeface="+mn-lt"/>
                        </a:rPr>
                        <a:t>=0.0,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=1.5</a:t>
                      </a:r>
                      <a:endParaRPr lang="en-US" altLang="zh-TW" sz="1600" baseline="0" dirty="0">
                        <a:latin typeface="+mn-lt"/>
                      </a:endParaRPr>
                    </a:p>
                  </a:txBody>
                  <a:tcPr anchor="ctr"/>
                </a:tc>
                <a:tc>
                  <a:txBody>
                    <a:bodyPr/>
                    <a:lstStyle/>
                    <a:p>
                      <a:pPr algn="ctr">
                        <a:buNone/>
                      </a:pPr>
                      <a:r>
                        <a:rPr lang="en-US" altLang="zh-TW" sz="1600" dirty="0"/>
                        <a:t>29.9033 ± 0.5373</a:t>
                      </a:r>
                    </a:p>
                  </a:txBody>
                  <a:tcPr marL="45804" marR="45804" marT="22902" marB="22902" anchor="ctr"/>
                </a:tc>
                <a:tc>
                  <a:txBody>
                    <a:bodyPr/>
                    <a:lstStyle/>
                    <a:p>
                      <a:pPr algn="ctr">
                        <a:buNone/>
                      </a:pPr>
                      <a:r>
                        <a:rPr lang="en-US" altLang="zh-TW" sz="1600" dirty="0"/>
                        <a:t>6.8644 ± 0.0249</a:t>
                      </a:r>
                    </a:p>
                  </a:txBody>
                  <a:tcPr marL="45804" marR="45804" marT="22902" marB="22902" anchor="ctr"/>
                </a:tc>
                <a:tc>
                  <a:txBody>
                    <a:bodyPr/>
                    <a:lstStyle/>
                    <a:p>
                      <a:pPr algn="ctr">
                        <a:buNone/>
                      </a:pPr>
                      <a:r>
                        <a:rPr lang="en-US" altLang="zh-TW" sz="1600" b="0" dirty="0">
                          <a:solidFill>
                            <a:schemeClr val="tx1"/>
                          </a:solidFill>
                        </a:rPr>
                        <a:t>0.0215 ± 0.0049</a:t>
                      </a:r>
                      <a:endParaRPr lang="zh-TW" altLang="en-US" sz="1600" b="0" dirty="0">
                        <a:solidFill>
                          <a:schemeClr val="tx1"/>
                        </a:solidFill>
                      </a:endParaRPr>
                    </a:p>
                  </a:txBody>
                  <a:tcPr marL="45804" marR="45804" marT="22902" marB="22902" anchor="ctr"/>
                </a:tc>
                <a:extLst>
                  <a:ext uri="{0D108BD9-81ED-4DB2-BD59-A6C34878D82A}">
                    <a16:rowId xmlns:a16="http://schemas.microsoft.com/office/drawing/2014/main" val="1309331485"/>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=1.0,</a:t>
                      </a:r>
                      <a:r>
                        <a:rPr lang="el-GR" altLang="zh-TW" sz="1600" dirty="0">
                          <a:latin typeface="+mn-lt"/>
                        </a:rPr>
                        <a:t> τ</a:t>
                      </a:r>
                      <a:r>
                        <a:rPr lang="en-US" altLang="zh-TW" sz="1600" dirty="0">
                          <a:latin typeface="+mn-lt"/>
                        </a:rPr>
                        <a:t>=0.3,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=0.5</a:t>
                      </a:r>
                      <a:endParaRPr lang="en-US" altLang="zh-TW" sz="1600" baseline="0" dirty="0">
                        <a:latin typeface="+mn-lt"/>
                      </a:endParaRPr>
                    </a:p>
                  </a:txBody>
                  <a:tcPr anchor="ctr"/>
                </a:tc>
                <a:tc>
                  <a:txBody>
                    <a:bodyPr/>
                    <a:lstStyle/>
                    <a:p>
                      <a:pPr algn="ctr">
                        <a:buNone/>
                      </a:pPr>
                      <a:r>
                        <a:rPr lang="en-US" altLang="zh-TW" sz="1600" b="1" dirty="0">
                          <a:solidFill>
                            <a:schemeClr val="tx1"/>
                          </a:solidFill>
                        </a:rPr>
                        <a:t>21.4788 ± 0.0773</a:t>
                      </a:r>
                      <a:endParaRPr lang="zh-TW" altLang="en-US" sz="1600" dirty="0">
                        <a:solidFill>
                          <a:schemeClr val="tx1"/>
                        </a:solidFill>
                      </a:endParaRPr>
                    </a:p>
                  </a:txBody>
                  <a:tcPr marL="45804" marR="45804" marT="22902" marB="22902" anchor="ctr"/>
                </a:tc>
                <a:tc>
                  <a:txBody>
                    <a:bodyPr/>
                    <a:lstStyle/>
                    <a:p>
                      <a:pPr algn="ctr">
                        <a:buNone/>
                      </a:pPr>
                      <a:r>
                        <a:rPr lang="en-US" altLang="zh-TW" sz="1600" b="0" dirty="0">
                          <a:solidFill>
                            <a:schemeClr val="tx1"/>
                          </a:solidFill>
                        </a:rPr>
                        <a:t>6.6876 ± 0.0421</a:t>
                      </a:r>
                      <a:endParaRPr lang="zh-TW" altLang="en-US" sz="1600" b="0" dirty="0">
                        <a:solidFill>
                          <a:schemeClr val="tx1"/>
                        </a:solidFill>
                      </a:endParaRPr>
                    </a:p>
                  </a:txBody>
                  <a:tcPr marL="45804" marR="45804" marT="22902" marB="22902" anchor="ctr"/>
                </a:tc>
                <a:tc>
                  <a:txBody>
                    <a:bodyPr/>
                    <a:lstStyle/>
                    <a:p>
                      <a:pPr algn="ctr">
                        <a:buNone/>
                      </a:pPr>
                      <a:r>
                        <a:rPr lang="en-US" altLang="zh-TW" sz="1600" dirty="0"/>
                        <a:t>0.0720 ± 0.0062</a:t>
                      </a:r>
                    </a:p>
                  </a:txBody>
                  <a:tcPr marL="45804" marR="45804" marT="22902" marB="22902" anchor="ctr"/>
                </a:tc>
                <a:extLst>
                  <a:ext uri="{0D108BD9-81ED-4DB2-BD59-A6C34878D82A}">
                    <a16:rowId xmlns:a16="http://schemas.microsoft.com/office/drawing/2014/main" val="3663042970"/>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=1.0,</a:t>
                      </a:r>
                      <a:r>
                        <a:rPr lang="el-GR" altLang="zh-TW" sz="1600" dirty="0">
                          <a:latin typeface="+mn-lt"/>
                        </a:rPr>
                        <a:t> τ</a:t>
                      </a:r>
                      <a:r>
                        <a:rPr lang="en-US" altLang="zh-TW" sz="1600" dirty="0">
                          <a:latin typeface="+mn-lt"/>
                        </a:rPr>
                        <a:t>=0.3,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=1.0</a:t>
                      </a:r>
                      <a:endParaRPr lang="en-US" altLang="zh-TW" sz="1600" baseline="0" dirty="0">
                        <a:latin typeface="+mn-lt"/>
                      </a:endParaRPr>
                    </a:p>
                  </a:txBody>
                  <a:tcPr anchor="ctr"/>
                </a:tc>
                <a:tc>
                  <a:txBody>
                    <a:bodyPr/>
                    <a:lstStyle/>
                    <a:p>
                      <a:pPr algn="ctr">
                        <a:buNone/>
                      </a:pPr>
                      <a:r>
                        <a:rPr lang="en-US" altLang="zh-TW" sz="1600" dirty="0"/>
                        <a:t>26.3414 ± 0.3656</a:t>
                      </a:r>
                    </a:p>
                  </a:txBody>
                  <a:tcPr marL="45804" marR="45804" marT="22902" marB="22902" anchor="ctr"/>
                </a:tc>
                <a:tc>
                  <a:txBody>
                    <a:bodyPr/>
                    <a:lstStyle/>
                    <a:p>
                      <a:pPr algn="ctr">
                        <a:buNone/>
                      </a:pPr>
                      <a:r>
                        <a:rPr lang="en-US" altLang="zh-TW" sz="1600" dirty="0"/>
                        <a:t>6.7567 ± 0.0016</a:t>
                      </a:r>
                    </a:p>
                  </a:txBody>
                  <a:tcPr marL="45804" marR="45804" marT="22902" marB="22902" anchor="ctr"/>
                </a:tc>
                <a:tc>
                  <a:txBody>
                    <a:bodyPr/>
                    <a:lstStyle/>
                    <a:p>
                      <a:pPr algn="ctr">
                        <a:buNone/>
                      </a:pPr>
                      <a:r>
                        <a:rPr lang="en-US" altLang="zh-TW" sz="1600" dirty="0"/>
                        <a:t>0.0460 ± 0.0160</a:t>
                      </a:r>
                    </a:p>
                  </a:txBody>
                  <a:tcPr marL="45804" marR="45804" marT="22902" marB="22902" anchor="ctr"/>
                </a:tc>
                <a:extLst>
                  <a:ext uri="{0D108BD9-81ED-4DB2-BD59-A6C34878D82A}">
                    <a16:rowId xmlns:a16="http://schemas.microsoft.com/office/drawing/2014/main" val="3253892573"/>
                  </a:ext>
                </a:extLst>
              </a:tr>
              <a:tr h="403999">
                <a:tc>
                  <a:txBody>
                    <a:bodyPr/>
                    <a:lstStyle/>
                    <a:p>
                      <a:pPr algn="ctr"/>
                      <a:r>
                        <a:rPr lang="en-US" altLang="zh-TW" sz="1600" dirty="0">
                          <a:latin typeface="+mn-lt"/>
                          <a:ea typeface="微軟正黑體" panose="020B0604030504040204" pitchFamily="34" charset="-120"/>
                        </a:rPr>
                        <a:t>S</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=1.5,</a:t>
                      </a:r>
                      <a:r>
                        <a:rPr lang="el-GR" altLang="zh-TW" sz="1600" dirty="0">
                          <a:latin typeface="+mn-lt"/>
                        </a:rPr>
                        <a:t> τ</a:t>
                      </a:r>
                      <a:r>
                        <a:rPr lang="en-US" altLang="zh-TW" sz="1600" dirty="0">
                          <a:latin typeface="+mn-lt"/>
                        </a:rPr>
                        <a:t>=0.3, </a:t>
                      </a:r>
                      <a:r>
                        <a:rPr lang="en-US" altLang="zh-TW" sz="1600" dirty="0">
                          <a:latin typeface="+mn-lt"/>
                          <a:ea typeface="微軟正黑體" panose="020B0604030504040204" pitchFamily="34" charset="-120"/>
                        </a:rPr>
                        <a:t>L</a:t>
                      </a:r>
                      <a:r>
                        <a:rPr lang="en-US" altLang="zh-TW" sz="1600" baseline="-25000" dirty="0">
                          <a:latin typeface="+mn-lt"/>
                          <a:ea typeface="微軟正黑體" panose="020B0604030504040204" pitchFamily="34" charset="-120"/>
                        </a:rPr>
                        <a:t>W</a:t>
                      </a:r>
                      <a:r>
                        <a:rPr lang="en-US" altLang="zh-TW" sz="1600" baseline="0" dirty="0">
                          <a:latin typeface="+mn-lt"/>
                          <a:ea typeface="微軟正黑體" panose="020B0604030504040204" pitchFamily="34" charset="-120"/>
                        </a:rPr>
                        <a:t>=1.0</a:t>
                      </a:r>
                      <a:endParaRPr lang="en-US" altLang="zh-TW" sz="1600" baseline="0" dirty="0">
                        <a:latin typeface="+mn-lt"/>
                      </a:endParaRPr>
                    </a:p>
                  </a:txBody>
                  <a:tcPr anchor="ctr"/>
                </a:tc>
                <a:tc>
                  <a:txBody>
                    <a:bodyPr/>
                    <a:lstStyle/>
                    <a:p>
                      <a:pPr algn="ctr">
                        <a:buNone/>
                      </a:pPr>
                      <a:r>
                        <a:rPr lang="en-US" altLang="zh-TW" sz="1600" dirty="0"/>
                        <a:t>25.7832 ± 1.6338</a:t>
                      </a:r>
                    </a:p>
                  </a:txBody>
                  <a:tcPr marL="45804" marR="45804" marT="22902" marB="22902" anchor="ctr"/>
                </a:tc>
                <a:tc>
                  <a:txBody>
                    <a:bodyPr/>
                    <a:lstStyle/>
                    <a:p>
                      <a:pPr algn="ctr">
                        <a:buNone/>
                      </a:pPr>
                      <a:r>
                        <a:rPr lang="en-US" altLang="zh-TW" sz="1600" dirty="0"/>
                        <a:t>6.7177 ± 0.0455</a:t>
                      </a:r>
                    </a:p>
                  </a:txBody>
                  <a:tcPr marL="45804" marR="45804" marT="22902" marB="22902" anchor="ctr"/>
                </a:tc>
                <a:tc>
                  <a:txBody>
                    <a:bodyPr/>
                    <a:lstStyle/>
                    <a:p>
                      <a:pPr algn="ctr">
                        <a:buNone/>
                      </a:pPr>
                      <a:r>
                        <a:rPr lang="en-US" altLang="zh-TW" sz="1600" dirty="0"/>
                        <a:t>0.0453 ± 0.0197</a:t>
                      </a:r>
                    </a:p>
                  </a:txBody>
                  <a:tcPr marL="45804" marR="45804" marT="22902" marB="22902" anchor="ctr"/>
                </a:tc>
                <a:extLst>
                  <a:ext uri="{0D108BD9-81ED-4DB2-BD59-A6C34878D82A}">
                    <a16:rowId xmlns:a16="http://schemas.microsoft.com/office/drawing/2014/main" val="2083154564"/>
                  </a:ext>
                </a:extLst>
              </a:tr>
            </a:tbl>
          </a:graphicData>
        </a:graphic>
      </p:graphicFrame>
      <p:sp>
        <p:nvSpPr>
          <p:cNvPr id="11" name="文字方塊 10">
            <a:extLst>
              <a:ext uri="{FF2B5EF4-FFF2-40B4-BE49-F238E27FC236}">
                <a16:creationId xmlns:a16="http://schemas.microsoft.com/office/drawing/2014/main" id="{2EBAF181-8C61-1DC0-AE74-09A0F83D3663}"/>
              </a:ext>
            </a:extLst>
          </p:cNvPr>
          <p:cNvSpPr txBox="1"/>
          <p:nvPr/>
        </p:nvSpPr>
        <p:spPr>
          <a:xfrm>
            <a:off x="285326" y="747141"/>
            <a:ext cx="10971560" cy="338554"/>
          </a:xfrm>
          <a:prstGeom prst="rect">
            <a:avLst/>
          </a:prstGeom>
          <a:noFill/>
        </p:spPr>
        <p:txBody>
          <a:bodyPr wrap="square" rtlCol="0">
            <a:spAutoFit/>
          </a:bodyPr>
          <a:lstStyle/>
          <a:p>
            <a:r>
              <a:rPr lang="en-US" altLang="zh-TW" sz="1600" b="1" dirty="0">
                <a:latin typeface="微軟正黑體" panose="020B0604030504040204" pitchFamily="34" charset="-120"/>
                <a:ea typeface="微軟正黑體" panose="020B0604030504040204" pitchFamily="34" charset="-120"/>
              </a:rPr>
              <a:t>Let S</a:t>
            </a:r>
            <a:r>
              <a:rPr lang="en-US" altLang="zh-TW" sz="1600" b="1" baseline="-25000" dirty="0">
                <a:latin typeface="微軟正黑體" panose="020B0604030504040204" pitchFamily="34" charset="-120"/>
                <a:ea typeface="微軟正黑體" panose="020B0604030504040204" pitchFamily="34" charset="-120"/>
              </a:rPr>
              <a:t>W</a:t>
            </a:r>
            <a:r>
              <a:rPr lang="en-US" altLang="zh-TW" sz="1600" b="1" dirty="0">
                <a:latin typeface="微軟正黑體" panose="020B0604030504040204" pitchFamily="34" charset="-120"/>
                <a:ea typeface="微軟正黑體" panose="020B0604030504040204" pitchFamily="34" charset="-120"/>
              </a:rPr>
              <a:t>, </a:t>
            </a:r>
            <a:r>
              <a:rPr lang="el-GR" altLang="zh-TW" sz="1600" b="1" dirty="0">
                <a:latin typeface="微軟正黑體" panose="020B0604030504040204" pitchFamily="34" charset="-120"/>
                <a:ea typeface="微軟正黑體" panose="020B0604030504040204" pitchFamily="34" charset="-120"/>
              </a:rPr>
              <a:t>τ</a:t>
            </a:r>
            <a:r>
              <a:rPr lang="en-US" altLang="zh-TW" sz="1600" b="1" dirty="0">
                <a:latin typeface="微軟正黑體" panose="020B0604030504040204" pitchFamily="34" charset="-120"/>
                <a:ea typeface="微軟正黑體" panose="020B0604030504040204" pitchFamily="34" charset="-120"/>
              </a:rPr>
              <a:t>, and L</a:t>
            </a:r>
            <a:r>
              <a:rPr lang="en-US" altLang="zh-TW" sz="1600" b="1" baseline="-25000" dirty="0">
                <a:latin typeface="微軟正黑體" panose="020B0604030504040204" pitchFamily="34" charset="-120"/>
                <a:ea typeface="微軟正黑體" panose="020B0604030504040204" pitchFamily="34" charset="-120"/>
              </a:rPr>
              <a:t>W</a:t>
            </a:r>
            <a:r>
              <a:rPr lang="en-US" altLang="zh-TW" sz="1600" b="1" dirty="0">
                <a:latin typeface="微軟正黑體" panose="020B0604030504040204" pitchFamily="34" charset="-120"/>
                <a:ea typeface="微軟正黑體" panose="020B0604030504040204" pitchFamily="34" charset="-120"/>
              </a:rPr>
              <a:t> denote the SDC term weight, confidence threshold, and LCM term weight, respectively.</a:t>
            </a:r>
            <a:endParaRPr lang="zh-TW" altLang="en-US" sz="1600" b="1" dirty="0">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EE2D2E5A-5E54-C872-15B4-CC51DC4FB6A0}"/>
              </a:ext>
            </a:extLst>
          </p:cNvPr>
          <p:cNvSpPr txBox="1"/>
          <p:nvPr/>
        </p:nvSpPr>
        <p:spPr>
          <a:xfrm>
            <a:off x="7368467" y="3051936"/>
            <a:ext cx="4823228" cy="2274405"/>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Observation</a:t>
            </a:r>
          </a:p>
          <a:p>
            <a:endParaRPr lang="en-US" altLang="zh-TW" dirty="0">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All consistency settings reduce Generative PPL compared with the baseline. </a:t>
            </a:r>
          </a:p>
          <a:p>
            <a:pPr marL="285750" indent="-2857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Lower Generative PPL is often accompanied by lower entropy and higher repetition.</a:t>
            </a:r>
          </a:p>
          <a:p>
            <a:pPr marL="285750" indent="-285750">
              <a:lnSpc>
                <a:spcPct val="150000"/>
              </a:lnSpc>
              <a:buFont typeface="Arial" panose="020B0604020202020204" pitchFamily="34" charset="0"/>
              <a:buChar char="•"/>
            </a:pPr>
            <a:r>
              <a:rPr lang="en-US" altLang="zh-TW" sz="1200" dirty="0">
                <a:latin typeface="微軟正黑體" panose="020B0604030504040204" pitchFamily="34" charset="-120"/>
                <a:ea typeface="微軟正黑體" panose="020B0604030504040204" pitchFamily="34" charset="-120"/>
              </a:rPr>
              <a:t>S</a:t>
            </a:r>
            <a:r>
              <a:rPr lang="en-US" altLang="zh-TW" sz="1200" baseline="-25000" dirty="0">
                <a:latin typeface="微軟正黑體" panose="020B0604030504040204" pitchFamily="34" charset="-120"/>
                <a:ea typeface="微軟正黑體" panose="020B0604030504040204" pitchFamily="34" charset="-120"/>
              </a:rPr>
              <a:t>W</a:t>
            </a:r>
            <a:r>
              <a:rPr lang="en-US" altLang="zh-TW" sz="1200" dirty="0">
                <a:latin typeface="微軟正黑體" panose="020B0604030504040204" pitchFamily="34" charset="-120"/>
                <a:ea typeface="微軟正黑體" panose="020B0604030504040204" pitchFamily="34" charset="-120"/>
              </a:rPr>
              <a:t>=1.0, τ=0.3, L</a:t>
            </a:r>
            <a:r>
              <a:rPr lang="en-US" altLang="zh-TW" sz="1200" baseline="-25000" dirty="0">
                <a:latin typeface="微軟正黑體" panose="020B0604030504040204" pitchFamily="34" charset="-120"/>
                <a:ea typeface="微軟正黑體" panose="020B0604030504040204" pitchFamily="34" charset="-120"/>
              </a:rPr>
              <a:t>W</a:t>
            </a:r>
            <a:r>
              <a:rPr lang="en-US" altLang="zh-TW" sz="1200" dirty="0">
                <a:latin typeface="微軟正黑體" panose="020B0604030504040204" pitchFamily="34" charset="-120"/>
                <a:ea typeface="微軟正黑體" panose="020B0604030504040204" pitchFamily="34" charset="-120"/>
              </a:rPr>
              <a:t>=0.5 achieves the lowest Generative PPL (</a:t>
            </a:r>
            <a:r>
              <a:rPr lang="en-US" altLang="zh-TW" sz="1200" b="1" dirty="0">
                <a:latin typeface="微軟正黑體" panose="020B0604030504040204" pitchFamily="34" charset="-120"/>
                <a:ea typeface="微軟正黑體" panose="020B0604030504040204" pitchFamily="34" charset="-120"/>
              </a:rPr>
              <a:t>21.48</a:t>
            </a:r>
            <a:r>
              <a:rPr lang="en-US" altLang="zh-TW" sz="1200" dirty="0">
                <a:latin typeface="微軟正黑體" panose="020B0604030504040204" pitchFamily="34" charset="-120"/>
                <a:ea typeface="微軟正黑體" panose="020B0604030504040204" pitchFamily="34" charset="-120"/>
              </a:rPr>
              <a:t>), but also the highest 4-gram repetition (</a:t>
            </a:r>
            <a:r>
              <a:rPr lang="en-US" altLang="zh-TW" sz="1200" b="1" dirty="0">
                <a:latin typeface="微軟正黑體" panose="020B0604030504040204" pitchFamily="34" charset="-120"/>
                <a:ea typeface="微軟正黑體" panose="020B0604030504040204" pitchFamily="34" charset="-120"/>
              </a:rPr>
              <a:t>0.072</a:t>
            </a:r>
            <a:r>
              <a:rPr lang="en-US" altLang="zh-TW" sz="1200" dirty="0">
                <a:latin typeface="微軟正黑體" panose="020B0604030504040204" pitchFamily="34" charset="-120"/>
                <a:ea typeface="微軟正黑體" panose="020B0604030504040204" pitchFamily="34" charset="-120"/>
              </a:rPr>
              <a:t>).</a:t>
            </a:r>
          </a:p>
        </p:txBody>
      </p:sp>
      <p:sp>
        <p:nvSpPr>
          <p:cNvPr id="2" name="文字方塊 1">
            <a:extLst>
              <a:ext uri="{FF2B5EF4-FFF2-40B4-BE49-F238E27FC236}">
                <a16:creationId xmlns:a16="http://schemas.microsoft.com/office/drawing/2014/main" id="{C69129F1-CB5A-E1F3-4924-87CB03129740}"/>
              </a:ext>
            </a:extLst>
          </p:cNvPr>
          <p:cNvSpPr txBox="1"/>
          <p:nvPr/>
        </p:nvSpPr>
        <p:spPr>
          <a:xfrm>
            <a:off x="7516275" y="5940323"/>
            <a:ext cx="4527612" cy="523220"/>
          </a:xfrm>
          <a:prstGeom prst="rect">
            <a:avLst/>
          </a:prstGeom>
          <a:noFill/>
        </p:spPr>
        <p:txBody>
          <a:bodyPr wrap="square" rtlCol="0">
            <a:spAutoFit/>
          </a:bodyPr>
          <a:lstStyle/>
          <a:p>
            <a:r>
              <a:rPr lang="en-US" altLang="zh-TW" sz="1400" b="1" dirty="0">
                <a:latin typeface="微軟正黑體" panose="020B0604030504040204" pitchFamily="34" charset="-120"/>
                <a:ea typeface="微軟正黑體" panose="020B0604030504040204" pitchFamily="34" charset="-120"/>
              </a:rPr>
              <a:t>Generation quality shows a clear PPL–diversity trade-off.</a:t>
            </a:r>
            <a:endParaRPr lang="zh-TW" altLang="en-US" sz="14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135490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26F5FCB1-3475-E4BA-5198-CE191C6D1F0B}"/>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p>
        </p:txBody>
      </p:sp>
      <p:sp>
        <p:nvSpPr>
          <p:cNvPr id="7" name="Shape 4">
            <a:extLst>
              <a:ext uri="{FF2B5EF4-FFF2-40B4-BE49-F238E27FC236}">
                <a16:creationId xmlns:a16="http://schemas.microsoft.com/office/drawing/2014/main" id="{EC1383D0-CD29-D65E-A8FE-68FD8CC6E38F}"/>
              </a:ext>
            </a:extLst>
          </p:cNvPr>
          <p:cNvSpPr/>
          <p:nvPr/>
        </p:nvSpPr>
        <p:spPr>
          <a:xfrm>
            <a:off x="0" y="2496312"/>
            <a:ext cx="12191695" cy="676656"/>
          </a:xfrm>
          <a:prstGeom prst="rect">
            <a:avLst/>
          </a:prstGeom>
          <a:solidFill>
            <a:srgbClr val="5B839B"/>
          </a:solidFill>
          <a:ln w="12700">
            <a:solidFill>
              <a:srgbClr val="5B839B"/>
            </a:solidFill>
            <a:prstDash val="solid"/>
          </a:ln>
        </p:spPr>
        <p:txBody>
          <a:bodyPr/>
          <a:lstStyle/>
          <a:p>
            <a:endParaRPr lang="zh-TW" altLang="en-US"/>
          </a:p>
        </p:txBody>
      </p:sp>
      <p:sp>
        <p:nvSpPr>
          <p:cNvPr id="8" name="Text 5">
            <a:extLst>
              <a:ext uri="{FF2B5EF4-FFF2-40B4-BE49-F238E27FC236}">
                <a16:creationId xmlns:a16="http://schemas.microsoft.com/office/drawing/2014/main" id="{988930A7-81CB-E995-9864-0C85E29BD516}"/>
              </a:ext>
            </a:extLst>
          </p:cNvPr>
          <p:cNvSpPr/>
          <p:nvPr/>
        </p:nvSpPr>
        <p:spPr>
          <a:xfrm>
            <a:off x="457200" y="2660904"/>
            <a:ext cx="11274552" cy="292608"/>
          </a:xfrm>
          <a:prstGeom prst="rect">
            <a:avLst/>
          </a:prstGeom>
          <a:noFill/>
          <a:ln/>
        </p:spPr>
        <p:txBody>
          <a:bodyPr wrap="square" lIns="0" tIns="0" rIns="0" bIns="0" rtlCol="0" anchor="ctr"/>
          <a:lstStyle/>
          <a:p>
            <a:pPr marL="0" indent="0" algn="ctr">
              <a:buNone/>
            </a:pPr>
            <a:r>
              <a:rPr lang="en-US" sz="2000" b="1" dirty="0">
                <a:solidFill>
                  <a:srgbClr val="FFFFFF"/>
                </a:solidFill>
                <a:latin typeface="Noto Sans CJK TC" pitchFamily="34" charset="0"/>
                <a:ea typeface="Noto Sans CJK TC" pitchFamily="34" charset="-122"/>
                <a:cs typeface="Noto Sans CJK TC" pitchFamily="34" charset="-120"/>
              </a:rPr>
              <a:t>Conclusion</a:t>
            </a:r>
            <a:endParaRPr lang="en-US" sz="2000" dirty="0"/>
          </a:p>
        </p:txBody>
      </p:sp>
      <p:sp>
        <p:nvSpPr>
          <p:cNvPr id="4" name="投影片編號版面配置區 3">
            <a:extLst>
              <a:ext uri="{FF2B5EF4-FFF2-40B4-BE49-F238E27FC236}">
                <a16:creationId xmlns:a16="http://schemas.microsoft.com/office/drawing/2014/main" id="{70F1F236-566A-4CC2-2393-FDDC62B64735}"/>
              </a:ext>
            </a:extLst>
          </p:cNvPr>
          <p:cNvSpPr>
            <a:spLocks noGrp="1"/>
          </p:cNvSpPr>
          <p:nvPr>
            <p:ph type="sldNum" sz="quarter" idx="12"/>
          </p:nvPr>
        </p:nvSpPr>
        <p:spPr>
          <a:xfrm>
            <a:off x="9448495" y="6611112"/>
            <a:ext cx="2743200" cy="246888"/>
          </a:xfrm>
        </p:spPr>
        <p:txBody>
          <a:bodyPr/>
          <a:lstStyle/>
          <a:p>
            <a:fld id="{A98399F2-4B7C-4808-8B27-A13C76E6A9FD}" type="slidenum">
              <a:rPr lang="zh-TW" altLang="en-US" smtClean="0">
                <a:solidFill>
                  <a:schemeClr val="bg1"/>
                </a:solidFill>
              </a:rPr>
              <a:t>26</a:t>
            </a:fld>
            <a:endParaRPr lang="zh-TW" altLang="en-US" dirty="0">
              <a:solidFill>
                <a:schemeClr val="bg1"/>
              </a:solidFill>
            </a:endParaRPr>
          </a:p>
        </p:txBody>
      </p:sp>
    </p:spTree>
    <p:extLst>
      <p:ext uri="{BB962C8B-B14F-4D97-AF65-F5344CB8AC3E}">
        <p14:creationId xmlns:p14="http://schemas.microsoft.com/office/powerpoint/2010/main" val="972668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EEC64776-2E99-B6FB-5C8F-03197BC0449E}"/>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dirty="0">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DC6B1835-635C-4F80-612E-FCCFC22A546E}"/>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5: Conclusion</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30F11580-A42C-EDDD-3705-F11B9F2BFFC0}"/>
              </a:ext>
            </a:extLst>
          </p:cNvPr>
          <p:cNvSpPr/>
          <p:nvPr/>
        </p:nvSpPr>
        <p:spPr>
          <a:xfrm>
            <a:off x="347472" y="457200"/>
            <a:ext cx="7955280" cy="228600"/>
          </a:xfrm>
          <a:prstGeom prst="rect">
            <a:avLst/>
          </a:prstGeom>
          <a:noFill/>
          <a:ln/>
        </p:spPr>
        <p:txBody>
          <a:bodyPr wrap="square" lIns="0" tIns="0" rIns="0" bIns="0" rtlCol="0" anchor="ctr"/>
          <a:lstStyle/>
          <a:p>
            <a:pPr marL="0" indent="0">
              <a:buNone/>
            </a:pP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Conclusion</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C1BC89B1-DB69-B3D6-A0EB-269DB6465C26}"/>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0" name="Text 7">
            <a:extLst>
              <a:ext uri="{FF2B5EF4-FFF2-40B4-BE49-F238E27FC236}">
                <a16:creationId xmlns:a16="http://schemas.microsoft.com/office/drawing/2014/main" id="{03D1EFE5-CCE9-4DDD-3723-0D96BBF83B00}"/>
              </a:ext>
            </a:extLst>
          </p:cNvPr>
          <p:cNvSpPr/>
          <p:nvPr/>
        </p:nvSpPr>
        <p:spPr>
          <a:xfrm>
            <a:off x="347472" y="4892040"/>
            <a:ext cx="11475720" cy="502920"/>
          </a:xfrm>
          <a:prstGeom prst="rect">
            <a:avLst/>
          </a:prstGeom>
          <a:noFill/>
          <a:ln>
            <a:noFill/>
          </a:ln>
        </p:spPr>
        <p:txBody>
          <a:bodyPr wrap="square" lIns="1143" tIns="1143" rIns="1143" bIns="1143" rtlCol="0" anchor="ctr">
            <a:normAutofit/>
          </a:bodyPr>
          <a:lstStyle/>
          <a:p>
            <a:r>
              <a:rPr lang="en-US" altLang="zh-TW" sz="1600" b="1" dirty="0">
                <a:latin typeface="微軟正黑體" panose="020B0604030504040204" pitchFamily="34" charset="-120"/>
                <a:ea typeface="微軟正黑體" panose="020B0604030504040204" pitchFamily="34" charset="-120"/>
              </a:rPr>
              <a:t>SDC+LCM mainly improves Heads 2–4 and increases draft-token acceptance, suggesting better consistency among MTP heads.</a:t>
            </a:r>
          </a:p>
        </p:txBody>
      </p:sp>
      <p:sp>
        <p:nvSpPr>
          <p:cNvPr id="11" name="文字方塊 10">
            <a:extLst>
              <a:ext uri="{FF2B5EF4-FFF2-40B4-BE49-F238E27FC236}">
                <a16:creationId xmlns:a16="http://schemas.microsoft.com/office/drawing/2014/main" id="{E3128151-E7C4-035C-451C-1BBB0D1B31F6}"/>
              </a:ext>
            </a:extLst>
          </p:cNvPr>
          <p:cNvSpPr txBox="1"/>
          <p:nvPr/>
        </p:nvSpPr>
        <p:spPr>
          <a:xfrm>
            <a:off x="347472" y="1965960"/>
            <a:ext cx="11327019" cy="2062103"/>
          </a:xfrm>
          <a:prstGeom prst="rect">
            <a:avLst/>
          </a:prstGeom>
          <a:noFill/>
        </p:spPr>
        <p:txBody>
          <a:bodyPr wrap="square" rtlCol="0">
            <a:spAutoFit/>
          </a:bodyPr>
          <a:lstStyle/>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This study adds SDC and LCM to the MTP architecture and improves the prediction quality of prediction heads without changing the model architecture.</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In the main 1.3B model experiment, SDC+LCM reduces the PPL of Heads 1–4 across the board, with Head 4 showing the largest reduction at 5.89%.</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Average Draft Tokens Accepted increases from 0.7010 to 0.7302, indicating that self-speculative decoding can accept more draft tokens.</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Generative PPL decreases substantially from 39.5580 to 18.7180, representing the largest improvement among the main positive evaluation metrics.</a:t>
            </a:r>
          </a:p>
        </p:txBody>
      </p:sp>
      <p:sp>
        <p:nvSpPr>
          <p:cNvPr id="4" name="投影片編號版面配置區 3">
            <a:extLst>
              <a:ext uri="{FF2B5EF4-FFF2-40B4-BE49-F238E27FC236}">
                <a16:creationId xmlns:a16="http://schemas.microsoft.com/office/drawing/2014/main" id="{F4C3F506-AED1-581F-6918-6B50B89113DC}"/>
              </a:ext>
            </a:extLst>
          </p:cNvPr>
          <p:cNvSpPr>
            <a:spLocks noGrp="1"/>
          </p:cNvSpPr>
          <p:nvPr>
            <p:ph type="sldNum" sz="quarter" idx="12"/>
          </p:nvPr>
        </p:nvSpPr>
        <p:spPr>
          <a:xfrm>
            <a:off x="9448495" y="6611112"/>
            <a:ext cx="2743200" cy="246888"/>
          </a:xfrm>
        </p:spPr>
        <p:txBody>
          <a:bodyPr/>
          <a:lstStyle/>
          <a:p>
            <a:fld id="{A98399F2-4B7C-4808-8B27-A13C76E6A9FD}" type="slidenum">
              <a:rPr lang="zh-TW" altLang="en-US" smtClean="0">
                <a:solidFill>
                  <a:schemeClr val="bg1"/>
                </a:solidFill>
                <a:latin typeface="微軟正黑體" panose="020B0604030504040204" pitchFamily="34" charset="-120"/>
                <a:ea typeface="微軟正黑體" panose="020B0604030504040204" pitchFamily="34" charset="-120"/>
              </a:rPr>
              <a:t>27</a:t>
            </a:fld>
            <a:endParaRPr lang="zh-TW" altLang="en-US"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242964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42712DEE-27B9-6692-6665-C0F059ACF557}"/>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BA995A56-FEA0-A053-1F22-D9D3B3A3902C}"/>
              </a:ext>
            </a:extLst>
          </p:cNvPr>
          <p:cNvSpPr>
            <a:spLocks noGrp="1"/>
          </p:cNvSpPr>
          <p:nvPr>
            <p:ph type="sldNum" sz="quarter" idx="12"/>
          </p:nvPr>
        </p:nvSpPr>
        <p:spPr>
          <a:xfrm>
            <a:off x="9448495" y="6611112"/>
            <a:ext cx="2743200" cy="246888"/>
          </a:xfrm>
        </p:spPr>
        <p:txBody>
          <a:bodyPr/>
          <a:lstStyle/>
          <a:p>
            <a:fld id="{A98399F2-4B7C-4808-8B27-A13C76E6A9FD}" type="slidenum">
              <a:rPr lang="zh-TW" altLang="en-US" smtClean="0">
                <a:solidFill>
                  <a:schemeClr val="bg1"/>
                </a:solidFill>
                <a:latin typeface="微軟正黑體" panose="020B0604030504040204" pitchFamily="34" charset="-120"/>
                <a:ea typeface="微軟正黑體" panose="020B0604030504040204" pitchFamily="34" charset="-120"/>
              </a:rPr>
              <a:t>28</a:t>
            </a:fld>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5F26F63F-8532-04F1-9964-112805509495}"/>
              </a:ext>
            </a:extLst>
          </p:cNvPr>
          <p:cNvSpPr/>
          <p:nvPr/>
        </p:nvSpPr>
        <p:spPr>
          <a:xfrm>
            <a:off x="347472" y="274320"/>
            <a:ext cx="3017520" cy="164592"/>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Part</a:t>
            </a:r>
            <a:r>
              <a:rPr lang="zh-TW" alt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 </a:t>
            </a: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5: Conclusion</a:t>
            </a:r>
            <a:endParaRPr lang="en-US" dirty="0">
              <a:latin typeface="微軟正黑體" panose="020B0604030504040204" pitchFamily="34" charset="-120"/>
              <a:ea typeface="微軟正黑體" panose="020B0604030504040204" pitchFamily="34" charset="-120"/>
            </a:endParaRPr>
          </a:p>
        </p:txBody>
      </p:sp>
      <p:sp>
        <p:nvSpPr>
          <p:cNvPr id="8" name="Text 3">
            <a:extLst>
              <a:ext uri="{FF2B5EF4-FFF2-40B4-BE49-F238E27FC236}">
                <a16:creationId xmlns:a16="http://schemas.microsoft.com/office/drawing/2014/main" id="{A7E00D96-A7C5-FCFC-DAE8-B4ADA238E429}"/>
              </a:ext>
            </a:extLst>
          </p:cNvPr>
          <p:cNvSpPr/>
          <p:nvPr/>
        </p:nvSpPr>
        <p:spPr>
          <a:xfrm>
            <a:off x="347472" y="457200"/>
            <a:ext cx="7955280" cy="228600"/>
          </a:xfrm>
          <a:prstGeom prst="rect">
            <a:avLst/>
          </a:prstGeom>
          <a:noFill/>
          <a:ln/>
        </p:spPr>
        <p:txBody>
          <a:bodyPr wrap="square" lIns="0" tIns="0" rIns="0" bIns="0" rtlCol="0" anchor="ctr"/>
          <a:lstStyle/>
          <a:p>
            <a:pPr marL="0" indent="0">
              <a:buNone/>
            </a:pPr>
            <a:r>
              <a:rPr lang="en-US" sz="1600" dirty="0">
                <a:solidFill>
                  <a:srgbClr val="60707A"/>
                </a:solidFill>
                <a:latin typeface="微軟正黑體" panose="020B0604030504040204" pitchFamily="34" charset="-120"/>
                <a:ea typeface="微軟正黑體" panose="020B0604030504040204" pitchFamily="34" charset="-120"/>
                <a:cs typeface="Noto Sans CJK TC" pitchFamily="34" charset="-120"/>
              </a:rPr>
              <a:t>Future Work</a:t>
            </a:r>
            <a:endParaRPr lang="en-US" sz="1600"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8179D505-56D0-6892-BD03-000F5B5A3F3F}"/>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D7ABAA1D-76A5-0413-D261-1B18BAF75060}"/>
              </a:ext>
            </a:extLst>
          </p:cNvPr>
          <p:cNvSpPr txBox="1"/>
          <p:nvPr/>
        </p:nvSpPr>
        <p:spPr>
          <a:xfrm>
            <a:off x="905877" y="1965960"/>
            <a:ext cx="10768614" cy="1077218"/>
          </a:xfrm>
          <a:prstGeom prst="rect">
            <a:avLst/>
          </a:prstGeom>
          <a:noFill/>
        </p:spPr>
        <p:txBody>
          <a:bodyPr wrap="square" rtlCol="0">
            <a:spAutoFit/>
          </a:bodyPr>
          <a:lstStyle/>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Further test different model sizes, larger training data volumes, and more diverse datasets.</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Conduct follow-up training, including continued pre-training and supervised fine-tuning (SFT).</a:t>
            </a:r>
          </a:p>
          <a:p>
            <a:pPr marL="285750" indent="-285750">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After scaling up the training data, further implement a complete greedy self-speculative decoding pipeline and compare the actual speed-up with the oracle upper bound.</a:t>
            </a:r>
          </a:p>
        </p:txBody>
      </p:sp>
    </p:spTree>
    <p:extLst>
      <p:ext uri="{BB962C8B-B14F-4D97-AF65-F5344CB8AC3E}">
        <p14:creationId xmlns:p14="http://schemas.microsoft.com/office/powerpoint/2010/main" val="3515957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D843E-2A21-F116-A192-0E5A402D5847}"/>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6F087DB1-55E8-4312-743E-8237BC44211B}"/>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a:latin typeface="微軟正黑體" panose="020B0604030504040204" pitchFamily="34" charset="-120"/>
              <a:ea typeface="微軟正黑體" panose="020B0604030504040204" pitchFamily="34" charset="-120"/>
            </a:endParaRPr>
          </a:p>
        </p:txBody>
      </p:sp>
      <p:grpSp>
        <p:nvGrpSpPr>
          <p:cNvPr id="2" name="群組 1">
            <a:extLst>
              <a:ext uri="{FF2B5EF4-FFF2-40B4-BE49-F238E27FC236}">
                <a16:creationId xmlns:a16="http://schemas.microsoft.com/office/drawing/2014/main" id="{861EDC8B-A656-D42D-25FE-E9A5637D320A}"/>
              </a:ext>
            </a:extLst>
          </p:cNvPr>
          <p:cNvGrpSpPr/>
          <p:nvPr/>
        </p:nvGrpSpPr>
        <p:grpSpPr>
          <a:xfrm>
            <a:off x="305" y="2423604"/>
            <a:ext cx="12191695" cy="1289925"/>
            <a:chOff x="0" y="1544715"/>
            <a:chExt cx="12191695" cy="1289925"/>
          </a:xfrm>
        </p:grpSpPr>
        <p:sp>
          <p:nvSpPr>
            <p:cNvPr id="6" name="Shape 4">
              <a:extLst>
                <a:ext uri="{FF2B5EF4-FFF2-40B4-BE49-F238E27FC236}">
                  <a16:creationId xmlns:a16="http://schemas.microsoft.com/office/drawing/2014/main" id="{177B0129-D165-32B0-5FEA-0324D8A40E21}"/>
                </a:ext>
              </a:extLst>
            </p:cNvPr>
            <p:cNvSpPr/>
            <p:nvPr/>
          </p:nvSpPr>
          <p:spPr>
            <a:xfrm>
              <a:off x="0" y="1544715"/>
              <a:ext cx="12191695" cy="1289925"/>
            </a:xfrm>
            <a:prstGeom prst="rect">
              <a:avLst/>
            </a:prstGeom>
            <a:solidFill>
              <a:srgbClr val="5B839B"/>
            </a:solidFill>
            <a:ln w="12700">
              <a:solidFill>
                <a:srgbClr val="5B839B"/>
              </a:solidFill>
              <a:prstDash val="solid"/>
            </a:ln>
          </p:spPr>
          <p:txBody>
            <a:bodyPr/>
            <a:lstStyle/>
            <a:p>
              <a:endParaRPr lang="zh-TW" altLang="en-US"/>
            </a:p>
          </p:txBody>
        </p:sp>
        <p:sp>
          <p:nvSpPr>
            <p:cNvPr id="7" name="Text 5">
              <a:extLst>
                <a:ext uri="{FF2B5EF4-FFF2-40B4-BE49-F238E27FC236}">
                  <a16:creationId xmlns:a16="http://schemas.microsoft.com/office/drawing/2014/main" id="{A9090A8D-0CF4-6691-F957-9C9B92248594}"/>
                </a:ext>
              </a:extLst>
            </p:cNvPr>
            <p:cNvSpPr/>
            <p:nvPr/>
          </p:nvSpPr>
          <p:spPr>
            <a:xfrm>
              <a:off x="722376" y="1759910"/>
              <a:ext cx="10744200" cy="832370"/>
            </a:xfrm>
            <a:prstGeom prst="rect">
              <a:avLst/>
            </a:prstGeom>
            <a:noFill/>
            <a:ln/>
          </p:spPr>
          <p:txBody>
            <a:bodyPr wrap="square" lIns="0" tIns="0" rIns="0" bIns="0" rtlCol="0" anchor="ctr"/>
            <a:lstStyle/>
            <a:p>
              <a:pPr algn="ctr"/>
              <a:r>
                <a:rPr lang="en-US" altLang="zh-TW" sz="2000" b="1" dirty="0">
                  <a:solidFill>
                    <a:srgbClr val="FFFFFF"/>
                  </a:solidFill>
                  <a:latin typeface="微軟正黑體" panose="020B0604030504040204" pitchFamily="34" charset="-120"/>
                  <a:ea typeface="微軟正黑體" panose="020B0604030504040204" pitchFamily="34" charset="-120"/>
                  <a:cs typeface="Noto Sans CJK TC" pitchFamily="34" charset="-120"/>
                </a:rPr>
                <a:t>Thanks for listening</a:t>
              </a:r>
              <a:endParaRPr lang="en-US" sz="2000" dirty="0">
                <a:latin typeface="微軟正黑體" panose="020B0604030504040204" pitchFamily="34" charset="-120"/>
                <a:ea typeface="微軟正黑體" panose="020B0604030504040204" pitchFamily="34" charset="-120"/>
              </a:endParaRPr>
            </a:p>
          </p:txBody>
        </p:sp>
      </p:grpSp>
      <p:sp>
        <p:nvSpPr>
          <p:cNvPr id="11" name="投影片編號版面配置區 10">
            <a:extLst>
              <a:ext uri="{FF2B5EF4-FFF2-40B4-BE49-F238E27FC236}">
                <a16:creationId xmlns:a16="http://schemas.microsoft.com/office/drawing/2014/main" id="{10275917-8DBC-A1F3-E776-21C19760C635}"/>
              </a:ext>
            </a:extLst>
          </p:cNvPr>
          <p:cNvSpPr>
            <a:spLocks noGrp="1"/>
          </p:cNvSpPr>
          <p:nvPr>
            <p:ph type="sldNum" sz="quarter" idx="12"/>
          </p:nvPr>
        </p:nvSpPr>
        <p:spPr>
          <a:xfrm>
            <a:off x="9448800" y="6611112"/>
            <a:ext cx="2743200" cy="246888"/>
          </a:xfrm>
        </p:spPr>
        <p:txBody>
          <a:bodyPr/>
          <a:lstStyle/>
          <a:p>
            <a:fld id="{A98399F2-4B7C-4808-8B27-A13C76E6A9FD}" type="slidenum">
              <a:rPr lang="zh-TW" altLang="en-US" smtClean="0">
                <a:solidFill>
                  <a:schemeClr val="bg1"/>
                </a:solidFill>
              </a:rPr>
              <a:t>29</a:t>
            </a:fld>
            <a:endParaRPr lang="zh-TW" altLang="en-US" dirty="0">
              <a:solidFill>
                <a:schemeClr val="bg1"/>
              </a:solidFill>
            </a:endParaRPr>
          </a:p>
        </p:txBody>
      </p:sp>
    </p:spTree>
    <p:extLst>
      <p:ext uri="{BB962C8B-B14F-4D97-AF65-F5344CB8AC3E}">
        <p14:creationId xmlns:p14="http://schemas.microsoft.com/office/powerpoint/2010/main" val="41624120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484B6-41D0-DC12-C200-FE91BA4F7368}"/>
            </a:ext>
          </a:extLst>
        </p:cNvPr>
        <p:cNvGrpSpPr/>
        <p:nvPr/>
      </p:nvGrpSpPr>
      <p:grpSpPr>
        <a:xfrm>
          <a:off x="0" y="0"/>
          <a:ext cx="0" cy="0"/>
          <a:chOff x="0" y="0"/>
          <a:chExt cx="0" cy="0"/>
        </a:xfrm>
      </p:grpSpPr>
      <p:sp>
        <p:nvSpPr>
          <p:cNvPr id="5" name="Shape 0">
            <a:extLst>
              <a:ext uri="{FF2B5EF4-FFF2-40B4-BE49-F238E27FC236}">
                <a16:creationId xmlns:a16="http://schemas.microsoft.com/office/drawing/2014/main" id="{A41B1242-208B-9AC0-D769-F8AEF9B307AC}"/>
              </a:ext>
            </a:extLst>
          </p:cNvPr>
          <p:cNvSpPr/>
          <p:nvPr/>
        </p:nvSpPr>
        <p:spPr>
          <a:xfrm>
            <a:off x="0" y="6611112"/>
            <a:ext cx="12191695" cy="246888"/>
          </a:xfrm>
          <a:prstGeom prst="rect">
            <a:avLst/>
          </a:prstGeom>
          <a:solidFill>
            <a:srgbClr val="5B839B"/>
          </a:solidFill>
          <a:ln w="12700">
            <a:solidFill>
              <a:srgbClr val="5B839B"/>
            </a:solidFill>
            <a:prstDash val="solid"/>
          </a:ln>
        </p:spPr>
        <p:txBody>
          <a:bodyPr/>
          <a:lstStyle/>
          <a:p>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02D2BD8C-E1DF-F14B-2B7D-CC5B24D3A915}"/>
              </a:ext>
            </a:extLst>
          </p:cNvPr>
          <p:cNvSpPr>
            <a:spLocks noGrp="1"/>
          </p:cNvSpPr>
          <p:nvPr>
            <p:ph type="sldNum" sz="quarter" idx="12"/>
          </p:nvPr>
        </p:nvSpPr>
        <p:spPr>
          <a:xfrm>
            <a:off x="9448495" y="6611112"/>
            <a:ext cx="2743200" cy="246888"/>
          </a:xfrm>
        </p:spPr>
        <p:txBody>
          <a:bodyPr/>
          <a:lstStyle/>
          <a:p>
            <a:fld id="{A98399F2-4B7C-4808-8B27-A13C76E6A9FD}" type="slidenum">
              <a:rPr lang="zh-TW" altLang="en-US" smtClean="0">
                <a:solidFill>
                  <a:schemeClr val="bg1"/>
                </a:solidFill>
                <a:latin typeface="微軟正黑體" panose="020B0604030504040204" pitchFamily="34" charset="-120"/>
                <a:ea typeface="微軟正黑體" panose="020B0604030504040204" pitchFamily="34" charset="-120"/>
              </a:rPr>
              <a:t>30</a:t>
            </a:fld>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7" name="Text 2">
            <a:extLst>
              <a:ext uri="{FF2B5EF4-FFF2-40B4-BE49-F238E27FC236}">
                <a16:creationId xmlns:a16="http://schemas.microsoft.com/office/drawing/2014/main" id="{4512FFE1-C2BA-C2C1-6415-CEF399FB2B43}"/>
              </a:ext>
            </a:extLst>
          </p:cNvPr>
          <p:cNvSpPr/>
          <p:nvPr/>
        </p:nvSpPr>
        <p:spPr>
          <a:xfrm>
            <a:off x="347472" y="274320"/>
            <a:ext cx="3017520" cy="382628"/>
          </a:xfrm>
          <a:prstGeom prst="rect">
            <a:avLst/>
          </a:prstGeom>
          <a:noFill/>
          <a:ln/>
        </p:spPr>
        <p:txBody>
          <a:bodyPr wrap="square" lIns="0" tIns="0" rIns="0" bIns="0" rtlCol="0" anchor="ctr"/>
          <a:lstStyle/>
          <a:p>
            <a:pPr marL="0" indent="0">
              <a:buNone/>
            </a:pPr>
            <a:r>
              <a:rPr lang="en-US" b="1" dirty="0">
                <a:solidFill>
                  <a:srgbClr val="1B2E3A"/>
                </a:solidFill>
                <a:latin typeface="微軟正黑體" panose="020B0604030504040204" pitchFamily="34" charset="-120"/>
                <a:ea typeface="微軟正黑體" panose="020B0604030504040204" pitchFamily="34" charset="-120"/>
                <a:cs typeface="Noto Sans CJK TC" pitchFamily="34" charset="-120"/>
              </a:rPr>
              <a:t>Reference</a:t>
            </a:r>
            <a:endParaRPr lang="en-US" dirty="0">
              <a:latin typeface="微軟正黑體" panose="020B0604030504040204" pitchFamily="34" charset="-120"/>
              <a:ea typeface="微軟正黑體" panose="020B0604030504040204" pitchFamily="34" charset="-120"/>
            </a:endParaRPr>
          </a:p>
        </p:txBody>
      </p:sp>
      <p:sp>
        <p:nvSpPr>
          <p:cNvPr id="9" name="Shape 5">
            <a:extLst>
              <a:ext uri="{FF2B5EF4-FFF2-40B4-BE49-F238E27FC236}">
                <a16:creationId xmlns:a16="http://schemas.microsoft.com/office/drawing/2014/main" id="{F58CADA6-BFBC-9520-3835-0440A0F84849}"/>
              </a:ext>
            </a:extLst>
          </p:cNvPr>
          <p:cNvSpPr/>
          <p:nvPr/>
        </p:nvSpPr>
        <p:spPr>
          <a:xfrm>
            <a:off x="347472" y="749808"/>
            <a:ext cx="11475720" cy="0"/>
          </a:xfrm>
          <a:prstGeom prst="line">
            <a:avLst/>
          </a:prstGeom>
          <a:noFill/>
          <a:ln w="12700">
            <a:solidFill>
              <a:srgbClr val="C8D6DE"/>
            </a:solidFill>
            <a:prstDash val="solid"/>
          </a:ln>
        </p:spPr>
        <p:txBody>
          <a:bodyPr/>
          <a:lstStyle/>
          <a:p>
            <a:endParaRPr lang="zh-TW" altLang="en-US"/>
          </a:p>
        </p:txBody>
      </p:sp>
      <p:sp>
        <p:nvSpPr>
          <p:cNvPr id="2" name="文字方塊 1">
            <a:extLst>
              <a:ext uri="{FF2B5EF4-FFF2-40B4-BE49-F238E27FC236}">
                <a16:creationId xmlns:a16="http://schemas.microsoft.com/office/drawing/2014/main" id="{63C21DAE-045D-6C91-354D-3B52C15E668F}"/>
              </a:ext>
            </a:extLst>
          </p:cNvPr>
          <p:cNvSpPr txBox="1"/>
          <p:nvPr/>
        </p:nvSpPr>
        <p:spPr>
          <a:xfrm>
            <a:off x="347472" y="1313895"/>
            <a:ext cx="11475720" cy="369331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[1] F. </a:t>
            </a:r>
            <a:r>
              <a:rPr lang="en-US" altLang="zh-TW" dirty="0" err="1"/>
              <a:t>Gloeckle</a:t>
            </a:r>
            <a:r>
              <a:rPr lang="en-US" altLang="zh-TW" dirty="0"/>
              <a:t>, B. </a:t>
            </a:r>
            <a:r>
              <a:rPr lang="en-US" altLang="zh-TW" dirty="0" err="1"/>
              <a:t>Youbi</a:t>
            </a:r>
            <a:r>
              <a:rPr lang="en-US" altLang="zh-TW" dirty="0"/>
              <a:t> Idrissi, B. </a:t>
            </a:r>
            <a:r>
              <a:rPr lang="en-US" altLang="zh-TW" dirty="0" err="1"/>
              <a:t>Roziere</a:t>
            </a:r>
            <a:r>
              <a:rPr lang="en-US" altLang="zh-TW" dirty="0"/>
              <a:t>, D. Lopez-Paz, and G. </a:t>
            </a:r>
            <a:r>
              <a:rPr lang="en-US" altLang="zh-TW" dirty="0" err="1"/>
              <a:t>Synnaeve</a:t>
            </a:r>
            <a:r>
              <a:rPr lang="en-US" altLang="zh-TW" dirty="0"/>
              <a:t>, “Better &amp; faster large language models via Multi-token Prediction,”</a:t>
            </a:r>
          </a:p>
          <a:p>
            <a:pPr marL="285750" indent="-285750">
              <a:buFont typeface="Arial" panose="020B0604020202020204" pitchFamily="34" charset="0"/>
              <a:buChar char="•"/>
            </a:pPr>
            <a:r>
              <a:rPr lang="en-US" altLang="zh-TW" dirty="0"/>
              <a:t>[2] M. </a:t>
            </a:r>
            <a:r>
              <a:rPr lang="en-US" altLang="zh-TW" dirty="0" err="1"/>
              <a:t>Samraghetal</a:t>
            </a:r>
            <a:r>
              <a:rPr lang="en-US" altLang="zh-TW" dirty="0"/>
              <a:t>., “Your LLM knows the future: Uncovering its Multi-Token Prediction potential,”</a:t>
            </a:r>
          </a:p>
          <a:p>
            <a:pPr marL="285750" indent="-285750">
              <a:buFont typeface="Arial" panose="020B0604020202020204" pitchFamily="34" charset="0"/>
              <a:buChar char="•"/>
            </a:pPr>
            <a:r>
              <a:rPr lang="en-US" altLang="zh-TW" dirty="0"/>
              <a:t>[3] M. Stern, N. </a:t>
            </a:r>
            <a:r>
              <a:rPr lang="en-US" altLang="zh-TW" dirty="0" err="1"/>
              <a:t>Shazeer</a:t>
            </a:r>
            <a:r>
              <a:rPr lang="en-US" altLang="zh-TW" dirty="0"/>
              <a:t>, and J. </a:t>
            </a:r>
            <a:r>
              <a:rPr lang="en-US" altLang="zh-TW" dirty="0" err="1"/>
              <a:t>Uszkoreit</a:t>
            </a:r>
            <a:r>
              <a:rPr lang="en-US" altLang="zh-TW" dirty="0"/>
              <a:t>, “</a:t>
            </a:r>
            <a:r>
              <a:rPr lang="en-US" altLang="zh-TW" dirty="0" err="1"/>
              <a:t>Blockwise</a:t>
            </a:r>
            <a:r>
              <a:rPr lang="en-US" altLang="zh-TW" dirty="0"/>
              <a:t> parallel decoding for deep autoregressive models,”</a:t>
            </a:r>
          </a:p>
          <a:p>
            <a:pPr marL="285750" indent="-285750">
              <a:buFont typeface="Arial" panose="020B0604020202020204" pitchFamily="34" charset="0"/>
              <a:buChar char="•"/>
            </a:pPr>
            <a:r>
              <a:rPr lang="en-US" altLang="zh-TW" dirty="0"/>
              <a:t>[4] A. </a:t>
            </a:r>
            <a:r>
              <a:rPr lang="en-US" altLang="zh-TW" dirty="0" err="1"/>
              <a:t>Gokaslan</a:t>
            </a:r>
            <a:r>
              <a:rPr lang="en-US" altLang="zh-TW" dirty="0"/>
              <a:t> and V. Cohen, </a:t>
            </a:r>
            <a:r>
              <a:rPr lang="en-US" altLang="zh-TW" dirty="0" err="1"/>
              <a:t>OpenWebText</a:t>
            </a:r>
            <a:r>
              <a:rPr lang="en-US" altLang="zh-TW" dirty="0"/>
              <a:t> corpus</a:t>
            </a:r>
          </a:p>
          <a:p>
            <a:pPr marL="285750" indent="-285750">
              <a:buFont typeface="Arial" panose="020B0604020202020204" pitchFamily="34" charset="0"/>
              <a:buChar char="•"/>
            </a:pPr>
            <a:r>
              <a:rPr lang="en-US" altLang="zh-TW" dirty="0"/>
              <a:t>[5] S. </a:t>
            </a:r>
            <a:r>
              <a:rPr lang="en-US" altLang="zh-TW" dirty="0" err="1"/>
              <a:t>Merity</a:t>
            </a:r>
            <a:r>
              <a:rPr lang="en-US" altLang="zh-TW" dirty="0"/>
              <a:t>, C. Xiong, J. Bradbury, and R. Socher, “Pointer sentinel mixture models,”</a:t>
            </a:r>
          </a:p>
          <a:p>
            <a:pPr marL="285750" indent="-285750">
              <a:buFont typeface="Arial" panose="020B0604020202020204" pitchFamily="34" charset="0"/>
              <a:buChar char="•"/>
            </a:pPr>
            <a:r>
              <a:rPr lang="en-US" altLang="zh-TW" dirty="0"/>
              <a:t>[6] M. P. Marcus, B. Santorini, and M. A. Marcinkiewicz, “Building a large annotated corpus of English: The Penn      Treebank,”</a:t>
            </a:r>
          </a:p>
          <a:p>
            <a:pPr marL="285750" indent="-285750">
              <a:buFont typeface="Arial" panose="020B0604020202020204" pitchFamily="34" charset="0"/>
              <a:buChar char="•"/>
            </a:pPr>
            <a:r>
              <a:rPr lang="en-US" altLang="zh-TW" dirty="0"/>
              <a:t>[7] D. </a:t>
            </a:r>
            <a:r>
              <a:rPr lang="en-US" altLang="zh-TW" dirty="0" err="1"/>
              <a:t>Papernoetal</a:t>
            </a:r>
            <a:r>
              <a:rPr lang="en-US" altLang="zh-TW" dirty="0"/>
              <a:t>., “The LAMBADA dataset: Word prediction requiring a broad discourse context,”</a:t>
            </a:r>
          </a:p>
          <a:p>
            <a:pPr marL="285750" indent="-285750">
              <a:buFont typeface="Arial" panose="020B0604020202020204" pitchFamily="34" charset="0"/>
              <a:buChar char="•"/>
            </a:pPr>
            <a:r>
              <a:rPr lang="en-US" altLang="zh-TW" dirty="0"/>
              <a:t>[8] A. Cohan et al., “A discourse-aware attention model for abstractive summarization of long documents,”</a:t>
            </a:r>
          </a:p>
          <a:p>
            <a:pPr marL="285750" indent="-285750">
              <a:buFont typeface="Arial" panose="020B0604020202020204" pitchFamily="34" charset="0"/>
              <a:buChar char="•"/>
            </a:pPr>
            <a:r>
              <a:rPr lang="en-US" altLang="zh-TW" dirty="0"/>
              <a:t>[9] I. Loshchilov and F. Hutter, “Decoupled weight decay regularization,”</a:t>
            </a:r>
          </a:p>
          <a:p>
            <a:pPr marL="285750" indent="-285750">
              <a:buFont typeface="Arial" panose="020B0604020202020204" pitchFamily="34" charset="0"/>
              <a:buChar char="•"/>
            </a:pPr>
            <a:r>
              <a:rPr lang="en-US" altLang="zh-TW" dirty="0"/>
              <a:t>[10] I. Loshchilov and F. Hutter, “SGDR: Stochastic gradient descent with warm restarts,”</a:t>
            </a:r>
          </a:p>
          <a:p>
            <a:pPr marL="285750" indent="-285750">
              <a:buFont typeface="Arial" panose="020B0604020202020204" pitchFamily="34" charset="0"/>
              <a:buChar char="•"/>
            </a:pPr>
            <a:r>
              <a:rPr lang="en-US" altLang="zh-TW" dirty="0"/>
              <a:t>[11]DeepSeek-AI, “DeepSeek-V3 technical report,”</a:t>
            </a:r>
          </a:p>
        </p:txBody>
      </p:sp>
    </p:spTree>
    <p:extLst>
      <p:ext uri="{BB962C8B-B14F-4D97-AF65-F5344CB8AC3E}">
        <p14:creationId xmlns:p14="http://schemas.microsoft.com/office/powerpoint/2010/main" val="200483243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698</TotalTime>
  <Words>3491</Words>
  <Application>Microsoft Office PowerPoint</Application>
  <PresentationFormat>寬螢幕</PresentationFormat>
  <Paragraphs>648</Paragraphs>
  <Slides>30</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30</vt:i4>
      </vt:variant>
    </vt:vector>
  </HeadingPairs>
  <TitlesOfParts>
    <vt:vector size="37" baseType="lpstr">
      <vt:lpstr>Noto Sans CJK TC</vt:lpstr>
      <vt:lpstr>微軟正黑體</vt:lpstr>
      <vt:lpstr>Arial</vt:lpstr>
      <vt:lpstr>Calibri</vt:lpstr>
      <vt:lpstr>Calibri Light</vt:lpstr>
      <vt:lpstr>Cambria Math</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陳 九龍</dc:creator>
  <cp:lastModifiedBy>陳 九龍</cp:lastModifiedBy>
  <cp:revision>582</cp:revision>
  <dcterms:created xsi:type="dcterms:W3CDTF">2026-07-31T02:55:52Z</dcterms:created>
  <dcterms:modified xsi:type="dcterms:W3CDTF">2026-08-19T05:00:14Z</dcterms:modified>
</cp:coreProperties>
</file>