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6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Teacher latent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工作表1!$B$2:$B$4</c:f>
              <c:numCache>
                <c:formatCode>General</c:formatCode>
                <c:ptCount val="3"/>
                <c:pt idx="0">
                  <c:v>2.7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746-4C86-AF2C-9D1E5E7E2210}"/>
            </c:ext>
          </c:extLst>
        </c:ser>
        <c:ser>
          <c:idx val="1"/>
          <c:order val="1"/>
          <c:tx>
            <c:strRef>
              <c:f>工作表1!$C$1</c:f>
              <c:strCache>
                <c:ptCount val="1"/>
                <c:pt idx="0">
                  <c:v>Student latent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工作表1!$C$2:$C$4</c:f>
              <c:numCache>
                <c:formatCode>General</c:formatCode>
                <c:ptCount val="3"/>
                <c:pt idx="1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746-4C86-AF2C-9D1E5E7E22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16585256"/>
        <c:axId val="716586696"/>
      </c:scatterChart>
      <c:valAx>
        <c:axId val="7165852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16586696"/>
        <c:crosses val="autoZero"/>
        <c:crossBetween val="midCat"/>
      </c:valAx>
      <c:valAx>
        <c:axId val="71658669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1658525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79ACA5-036C-4CBB-B511-6278A555603E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B4CFE7-FE35-48A1-A28D-BD14B3B1F5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317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B4CFE7-FE35-48A1-A28D-BD14B3B1F5D0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2085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05453-120E-B62A-8C6E-11782EF88F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60D732A-7FC5-4FA4-F6E5-675824B78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440D8A-0214-9740-5454-F37CC0CD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A20A-AED8-411F-8362-4F08F634AD13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EADA05F-4D1E-1FE8-6DA7-D7B7409AF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2EDD09-E120-56C0-59FC-A04F55BE1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25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7BA8EB-CFA6-9283-40FB-B48F7F56D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9DF2B1-95CB-281D-2453-AF76011E5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72D0A76-3B18-05AB-DCC6-1F56AB38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2809C-5694-4ADE-A195-81F49E6CD71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3134FC-D89F-C825-D1C0-00BD62E5E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B40F05-6822-5C54-E755-01100611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19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B08E6C-CDD2-50B8-AB5F-539F9492F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802F37-170D-6E59-F57D-922A074DD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94C0AF-3EED-7BE1-0976-C677B37E2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4B31-F13D-4F82-B0AC-ED9396B0F17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1E8EE-A731-69F8-5AC5-2D07AC748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A2A35A-F070-7B63-E79F-5882DD8FB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7954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0C8A4C-297C-663E-25A2-6B922E6F7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451EB7-0FA8-188A-2F37-387723BD14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2EEB57-1FEB-D902-CE79-953655080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AF0ECC5-0145-1FAE-8D3E-E96723923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4DB4A-D224-408E-93AF-7640A6CD6C9E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DF4FD0B-3958-F349-BDDB-D024614D1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EF2A39D-DF82-3DFB-0799-3EC34190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723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BF1739-DCE6-04DE-03F4-9E8AFF235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400BE40-1D76-849D-C8F3-7CD164AA6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163CB68-42DC-14AC-8783-98C466DDF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9C448FE-3FB0-ECFD-4405-17DACDDED9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9A6F9D-7707-929A-6FFE-AC1AB893F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C65D084-486F-3E16-7258-B8D0DBFF1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8B68F-C8CE-4182-AD4D-6A41CE773149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5810BC7-D2EF-14D8-543F-C1DC820C8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22CC8F4-6BDC-3EBA-A67E-B5BF9AB9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6981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475704-81B1-D898-E07C-3E4C2A57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9E9AAF1-96AB-606B-28A1-847554BBB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1DB16-EF1C-4119-8174-C5B39ACBC5E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C126988-D822-CD82-7BD0-28A26CF0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144CF17-3FA3-CC9C-D9DA-2C3D20757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8077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FEC46EB-ED34-F0B4-3D53-5F1E92F3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C75B-D794-4B33-9008-BE85F7E8298A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158791E-E2DF-6728-78E5-30C5B826D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56C5C-3CD6-8DCF-F1B8-977376D6D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580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EC0274-A733-4F03-88B5-2F0B94CAA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43E46C-ADBA-D61C-44B7-10586550F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308E044-261E-C39E-67FB-2841876B3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B76DBDA-E524-1A1B-FD84-F6E55A44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D30AD-8DDE-43B1-992C-B21FDC46B22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D000D65-7526-E9ED-0C49-FBC8EBCF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3DCB23-5B42-78B8-7FC4-0A4BAD40E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0118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4F41FB-60B1-FF7B-3F2D-2C95D86A0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BBC5D3E-43F5-B137-6E48-D433DF65C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C2FD2C3-A8DC-D6FE-C3BC-8F57B498A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636DCFD-C092-B900-CC7D-010F36901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DA636-6424-4643-98FF-F3C5490949A2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CA433C7-4C32-5AE7-2FD7-086AF1494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AC1295-3F40-451F-DE2D-ADFB2C1D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947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F9A010-4E6F-471C-B88B-34C572CE8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95280E-C968-B697-9D10-E8EEEC00A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1000EE-B34F-184E-AA3C-964E374D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8CC40-9425-4E64-AAA4-82535E93515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743F59D-669C-1C7D-2D08-43D788904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6126CFC-8141-AA80-9141-682DD461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9802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2EC0529-D926-D85E-6FF6-3F1B93D854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F0DD41D-077F-C79A-C568-5F90D047A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2D2EC17-29C3-54CD-F141-327AF30D7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EA640-B2FF-4BA9-9C86-A049658D2DA6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4C610-41D1-A62B-59D0-0B9379E60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B3784E-A85C-505B-801D-29935939D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0239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B1F9BC2-85A4-58B6-D8E2-F7FDE28F3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B552726-F39D-3021-153C-1171BBC5C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ED67C3B-AF1F-8DD9-F07B-29A728E8A6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3A9E-DDF2-4F1E-94E6-D0F53021B38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97736DA-E4D6-9610-0FD3-8EF028CCA0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51E0767-E991-77C6-0DD1-F9ABCEB159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183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9CFAC8C9-7590-0200-DCFE-3DFA301CFCB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7265BD0-73DF-9CEB-5699-353C3412408D}"/>
              </a:ext>
            </a:extLst>
          </p:cNvPr>
          <p:cNvSpPr/>
          <p:nvPr/>
        </p:nvSpPr>
        <p:spPr>
          <a:xfrm>
            <a:off x="0" y="1544715"/>
            <a:ext cx="12191695" cy="1289925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CE6E196-A03F-AD9B-8D03-CF735C90E220}"/>
              </a:ext>
            </a:extLst>
          </p:cNvPr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with Consistency Method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76DD37-D6E1-7CE9-2B4D-08F12897688D}"/>
              </a:ext>
            </a:extLst>
          </p:cNvPr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A0583E1-C259-C9C0-A177-42AE46BD1764}"/>
              </a:ext>
            </a:extLst>
          </p:cNvPr>
          <p:cNvSpPr/>
          <p:nvPr/>
        </p:nvSpPr>
        <p:spPr>
          <a:xfrm>
            <a:off x="4334256" y="3703319"/>
            <a:ext cx="3520440" cy="868679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BB2ADE-B693-01EA-8BB3-C589692A379E}"/>
              </a:ext>
            </a:extLst>
          </p:cNvPr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Reporter：</a:t>
            </a:r>
            <a:r>
              <a: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陳九龍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11F3EFDC-DE25-6FD7-C144-F88D3692E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1314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329A6FC-C1A7-775E-A743-27DDEBC52046}"/>
              </a:ext>
            </a:extLst>
          </p:cNvPr>
          <p:cNvSpPr/>
          <p:nvPr/>
        </p:nvSpPr>
        <p:spPr>
          <a:xfrm>
            <a:off x="-1" y="6642171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074C62-AEEB-9427-7079-E732850B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42171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E72C0951-7906-ABE6-C805-821600186804}"/>
              </a:ext>
            </a:extLst>
          </p:cNvPr>
          <p:cNvSpPr/>
          <p:nvPr/>
        </p:nvSpPr>
        <p:spPr>
          <a:xfrm>
            <a:off x="-1" y="320040"/>
            <a:ext cx="12192001" cy="411480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1FEBC55-E661-59C0-AEE4-3A2F99FA2D10}"/>
              </a:ext>
            </a:extLst>
          </p:cNvPr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CONTENTS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077846D7-6381-1407-8F0F-8609E64624B3}"/>
              </a:ext>
            </a:extLst>
          </p:cNvPr>
          <p:cNvGrpSpPr/>
          <p:nvPr/>
        </p:nvGrpSpPr>
        <p:grpSpPr>
          <a:xfrm>
            <a:off x="1097280" y="1397367"/>
            <a:ext cx="2910543" cy="720000"/>
            <a:chOff x="1097280" y="1397367"/>
            <a:chExt cx="2910543" cy="720000"/>
          </a:xfrm>
        </p:grpSpPr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2C29625E-714D-E4BB-E545-EEC2DE82C16B}"/>
                </a:ext>
              </a:extLst>
            </p:cNvPr>
            <p:cNvSpPr/>
            <p:nvPr/>
          </p:nvSpPr>
          <p:spPr>
            <a:xfrm>
              <a:off x="1097280" y="1397367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431787C7-CA81-1006-4925-B56BE9618C47}"/>
                </a:ext>
              </a:extLst>
            </p:cNvPr>
            <p:cNvGrpSpPr/>
            <p:nvPr/>
          </p:nvGrpSpPr>
          <p:grpSpPr>
            <a:xfrm>
              <a:off x="1996143" y="1577340"/>
              <a:ext cx="2011680" cy="338328"/>
              <a:chOff x="1783080" y="1572768"/>
              <a:chExt cx="2011680" cy="338328"/>
            </a:xfrm>
          </p:grpSpPr>
          <p:sp>
            <p:nvSpPr>
              <p:cNvPr id="12" name="Text 5">
                <a:extLst>
                  <a:ext uri="{FF2B5EF4-FFF2-40B4-BE49-F238E27FC236}">
                    <a16:creationId xmlns:a16="http://schemas.microsoft.com/office/drawing/2014/main" id="{D212872F-958B-0EEF-0610-236C9EACE7D6}"/>
                  </a:ext>
                </a:extLst>
              </p:cNvPr>
              <p:cNvSpPr/>
              <p:nvPr/>
            </p:nvSpPr>
            <p:spPr>
              <a:xfrm>
                <a:off x="178308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Introduction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3" name="Text 6">
                <a:extLst>
                  <a:ext uri="{FF2B5EF4-FFF2-40B4-BE49-F238E27FC236}">
                    <a16:creationId xmlns:a16="http://schemas.microsoft.com/office/drawing/2014/main" id="{0015DCED-0E7A-12AA-213D-5E8323B5CAC9}"/>
                  </a:ext>
                </a:extLst>
              </p:cNvPr>
              <p:cNvSpPr/>
              <p:nvPr/>
            </p:nvSpPr>
            <p:spPr>
              <a:xfrm>
                <a:off x="178308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4 ~ Page 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8ED14A1A-D53F-8BF7-E955-187437DE2540}"/>
              </a:ext>
            </a:extLst>
          </p:cNvPr>
          <p:cNvGrpSpPr/>
          <p:nvPr/>
        </p:nvGrpSpPr>
        <p:grpSpPr>
          <a:xfrm>
            <a:off x="1097280" y="3055428"/>
            <a:ext cx="3084103" cy="720000"/>
            <a:chOff x="1097280" y="3055428"/>
            <a:chExt cx="2910543" cy="720000"/>
          </a:xfrm>
        </p:grpSpPr>
        <p:sp>
          <p:nvSpPr>
            <p:cNvPr id="15" name="Text 7">
              <a:extLst>
                <a:ext uri="{FF2B5EF4-FFF2-40B4-BE49-F238E27FC236}">
                  <a16:creationId xmlns:a16="http://schemas.microsoft.com/office/drawing/2014/main" id="{C0A6E5F1-7141-BE3B-6C2C-674C30C5BC8C}"/>
                </a:ext>
              </a:extLst>
            </p:cNvPr>
            <p:cNvSpPr/>
            <p:nvPr/>
          </p:nvSpPr>
          <p:spPr>
            <a:xfrm>
              <a:off x="1097280" y="30554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CCC1EB03-62E5-2D79-B131-8ACDF97FF41C}"/>
                </a:ext>
              </a:extLst>
            </p:cNvPr>
            <p:cNvGrpSpPr/>
            <p:nvPr/>
          </p:nvGrpSpPr>
          <p:grpSpPr>
            <a:xfrm>
              <a:off x="1996143" y="3180681"/>
              <a:ext cx="2011680" cy="338328"/>
              <a:chOff x="6995160" y="1572768"/>
              <a:chExt cx="2011680" cy="338328"/>
            </a:xfrm>
          </p:grpSpPr>
          <p:sp>
            <p:nvSpPr>
              <p:cNvPr id="17" name="Text 8">
                <a:extLst>
                  <a:ext uri="{FF2B5EF4-FFF2-40B4-BE49-F238E27FC236}">
                    <a16:creationId xmlns:a16="http://schemas.microsoft.com/office/drawing/2014/main" id="{8061B861-5832-0DE5-53B7-92BC747642D6}"/>
                  </a:ext>
                </a:extLst>
              </p:cNvPr>
              <p:cNvSpPr/>
              <p:nvPr/>
            </p:nvSpPr>
            <p:spPr>
              <a:xfrm>
                <a:off x="699516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Related works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8" name="Text 9">
                <a:extLst>
                  <a:ext uri="{FF2B5EF4-FFF2-40B4-BE49-F238E27FC236}">
                    <a16:creationId xmlns:a16="http://schemas.microsoft.com/office/drawing/2014/main" id="{0861138A-3B26-55EB-2D58-821001938493}"/>
                  </a:ext>
                </a:extLst>
              </p:cNvPr>
              <p:cNvSpPr/>
              <p:nvPr/>
            </p:nvSpPr>
            <p:spPr>
              <a:xfrm>
                <a:off x="699516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9 ~ Page 10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F670485D-049A-B8C8-7F89-26EC12828DCA}"/>
              </a:ext>
            </a:extLst>
          </p:cNvPr>
          <p:cNvGrpSpPr/>
          <p:nvPr/>
        </p:nvGrpSpPr>
        <p:grpSpPr>
          <a:xfrm>
            <a:off x="1087737" y="4745736"/>
            <a:ext cx="2920086" cy="720000"/>
            <a:chOff x="1087737" y="4745736"/>
            <a:chExt cx="2920086" cy="720000"/>
          </a:xfrm>
        </p:grpSpPr>
        <p:sp>
          <p:nvSpPr>
            <p:cNvPr id="20" name="Text 10">
              <a:extLst>
                <a:ext uri="{FF2B5EF4-FFF2-40B4-BE49-F238E27FC236}">
                  <a16:creationId xmlns:a16="http://schemas.microsoft.com/office/drawing/2014/main" id="{E7B38074-BB04-954C-54E3-5969C1475B71}"/>
                </a:ext>
              </a:extLst>
            </p:cNvPr>
            <p:cNvSpPr/>
            <p:nvPr/>
          </p:nvSpPr>
          <p:spPr>
            <a:xfrm>
              <a:off x="1087737" y="474573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0C95E397-2A87-A0EB-E5B5-61C07AF9CC14}"/>
                </a:ext>
              </a:extLst>
            </p:cNvPr>
            <p:cNvGrpSpPr/>
            <p:nvPr/>
          </p:nvGrpSpPr>
          <p:grpSpPr>
            <a:xfrm>
              <a:off x="1996143" y="4942332"/>
              <a:ext cx="2011680" cy="338328"/>
              <a:chOff x="1783080" y="3081528"/>
              <a:chExt cx="2011680" cy="338328"/>
            </a:xfrm>
          </p:grpSpPr>
          <p:sp>
            <p:nvSpPr>
              <p:cNvPr id="22" name="Text 11">
                <a:extLst>
                  <a:ext uri="{FF2B5EF4-FFF2-40B4-BE49-F238E27FC236}">
                    <a16:creationId xmlns:a16="http://schemas.microsoft.com/office/drawing/2014/main" id="{3A0B1129-0F08-E966-44A8-55A76AAB698D}"/>
                  </a:ext>
                </a:extLst>
              </p:cNvPr>
              <p:cNvSpPr/>
              <p:nvPr/>
            </p:nvSpPr>
            <p:spPr>
              <a:xfrm>
                <a:off x="178308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Proposed method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3" name="Text 12">
                <a:extLst>
                  <a:ext uri="{FF2B5EF4-FFF2-40B4-BE49-F238E27FC236}">
                    <a16:creationId xmlns:a16="http://schemas.microsoft.com/office/drawing/2014/main" id="{603FE6B0-AE64-F9AD-AB71-DA7D4965941C}"/>
                  </a:ext>
                </a:extLst>
              </p:cNvPr>
              <p:cNvSpPr/>
              <p:nvPr/>
            </p:nvSpPr>
            <p:spPr>
              <a:xfrm>
                <a:off x="178308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12 ~ Page 14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1A6A8B3-ECE6-74B1-B5C1-87650D0C126C}"/>
              </a:ext>
            </a:extLst>
          </p:cNvPr>
          <p:cNvGrpSpPr/>
          <p:nvPr/>
        </p:nvGrpSpPr>
        <p:grpSpPr>
          <a:xfrm>
            <a:off x="6365289" y="1429784"/>
            <a:ext cx="2916759" cy="720000"/>
            <a:chOff x="6365289" y="1540365"/>
            <a:chExt cx="2916759" cy="720000"/>
          </a:xfrm>
        </p:grpSpPr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562A25ED-0423-9AF2-5C2E-B56C406E85B8}"/>
                </a:ext>
              </a:extLst>
            </p:cNvPr>
            <p:cNvSpPr/>
            <p:nvPr/>
          </p:nvSpPr>
          <p:spPr>
            <a:xfrm>
              <a:off x="6365289" y="1540365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04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A9CCE95C-CA71-89A3-5867-1E876A223C5E}"/>
                </a:ext>
              </a:extLst>
            </p:cNvPr>
            <p:cNvGrpSpPr/>
            <p:nvPr/>
          </p:nvGrpSpPr>
          <p:grpSpPr>
            <a:xfrm>
              <a:off x="7270368" y="1744951"/>
              <a:ext cx="2011680" cy="338328"/>
              <a:chOff x="6995160" y="3081528"/>
              <a:chExt cx="2011680" cy="338328"/>
            </a:xfrm>
          </p:grpSpPr>
          <p:sp>
            <p:nvSpPr>
              <p:cNvPr id="27" name="Text 14">
                <a:extLst>
                  <a:ext uri="{FF2B5EF4-FFF2-40B4-BE49-F238E27FC236}">
                    <a16:creationId xmlns:a16="http://schemas.microsoft.com/office/drawing/2014/main" id="{D017DC80-8D4B-E2E5-57A9-F6ED86558D4B}"/>
                  </a:ext>
                </a:extLst>
              </p:cNvPr>
              <p:cNvSpPr/>
              <p:nvPr/>
            </p:nvSpPr>
            <p:spPr>
              <a:xfrm>
                <a:off x="699516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Experiment results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8" name="Text 15">
                <a:extLst>
                  <a:ext uri="{FF2B5EF4-FFF2-40B4-BE49-F238E27FC236}">
                    <a16:creationId xmlns:a16="http://schemas.microsoft.com/office/drawing/2014/main" id="{A3EBCB74-918C-B734-A10C-206195712713}"/>
                  </a:ext>
                </a:extLst>
              </p:cNvPr>
              <p:cNvSpPr/>
              <p:nvPr/>
            </p:nvSpPr>
            <p:spPr>
              <a:xfrm>
                <a:off x="699516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16 ~ Page 23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1C934879-3578-D0A8-AA90-E7C8DD7C988E}"/>
              </a:ext>
            </a:extLst>
          </p:cNvPr>
          <p:cNvGrpSpPr/>
          <p:nvPr/>
        </p:nvGrpSpPr>
        <p:grpSpPr>
          <a:xfrm>
            <a:off x="6365289" y="2912121"/>
            <a:ext cx="2916759" cy="720000"/>
            <a:chOff x="6365289" y="2995326"/>
            <a:chExt cx="2916759" cy="720000"/>
          </a:xfrm>
        </p:grpSpPr>
        <p:sp>
          <p:nvSpPr>
            <p:cNvPr id="30" name="Text 16">
              <a:extLst>
                <a:ext uri="{FF2B5EF4-FFF2-40B4-BE49-F238E27FC236}">
                  <a16:creationId xmlns:a16="http://schemas.microsoft.com/office/drawing/2014/main" id="{2FFBCAE1-3AE1-A72A-64D7-757469E86026}"/>
                </a:ext>
              </a:extLst>
            </p:cNvPr>
            <p:cNvSpPr/>
            <p:nvPr/>
          </p:nvSpPr>
          <p:spPr>
            <a:xfrm>
              <a:off x="6365289" y="299532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05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6293574-CA90-7414-98E4-56BAF96C0991}"/>
                </a:ext>
              </a:extLst>
            </p:cNvPr>
            <p:cNvGrpSpPr/>
            <p:nvPr/>
          </p:nvGrpSpPr>
          <p:grpSpPr>
            <a:xfrm>
              <a:off x="7270368" y="3215826"/>
              <a:ext cx="2011680" cy="338328"/>
              <a:chOff x="4389120" y="4773168"/>
              <a:chExt cx="2011680" cy="338328"/>
            </a:xfrm>
          </p:grpSpPr>
          <p:sp>
            <p:nvSpPr>
              <p:cNvPr id="32" name="Text 17">
                <a:extLst>
                  <a:ext uri="{FF2B5EF4-FFF2-40B4-BE49-F238E27FC236}">
                    <a16:creationId xmlns:a16="http://schemas.microsoft.com/office/drawing/2014/main" id="{0ACB1F84-B88B-3B42-4599-3E8CFDA868C8}"/>
                  </a:ext>
                </a:extLst>
              </p:cNvPr>
              <p:cNvSpPr/>
              <p:nvPr/>
            </p:nvSpPr>
            <p:spPr>
              <a:xfrm>
                <a:off x="4389120" y="47731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Conclusion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3" name="Text 18">
                <a:extLst>
                  <a:ext uri="{FF2B5EF4-FFF2-40B4-BE49-F238E27FC236}">
                    <a16:creationId xmlns:a16="http://schemas.microsoft.com/office/drawing/2014/main" id="{34D6F485-B800-906F-0C6F-EA2D7831E1C1}"/>
                  </a:ext>
                </a:extLst>
              </p:cNvPr>
              <p:cNvSpPr/>
              <p:nvPr/>
            </p:nvSpPr>
            <p:spPr>
              <a:xfrm>
                <a:off x="4389120" y="49834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25 ~ Page 26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05124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D5CB305-C0B7-ECDE-65CB-934184EAC56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6C51D5-D508-7D8A-315B-25B3B7538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3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B825AD1-FDE7-4076-EB04-1B612A3368E0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40E5B8-AF42-1C83-A684-DAE2C362DF4F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Introduction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1503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0524C61-136F-4B3F-630C-1224A5DE96C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F9592-AD71-8253-D2E4-BD701C8B3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16DC88-3FEE-E262-16AE-B4EDFB1337C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4CDAB86-9282-046C-57E9-7B895B8E2E18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537571F-7A16-42E5-F69A-462FD00B5BE7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DED8431-4931-F0CC-B1A1-46001C652552}"/>
              </a:ext>
            </a:extLst>
          </p:cNvPr>
          <p:cNvSpPr/>
          <p:nvPr/>
        </p:nvSpPr>
        <p:spPr>
          <a:xfrm>
            <a:off x="502920" y="960119"/>
            <a:ext cx="11155680" cy="44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(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MTP) (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Gloeckle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et al., 2024)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的目標：一次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forward 不只預測下一個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token，也讓多個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prediction heads 預測更遠的 future tokens。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5E2F5F3-E290-5966-C2E4-C199B3417298}"/>
              </a:ext>
            </a:extLst>
          </p:cNvPr>
          <p:cNvSpPr/>
          <p:nvPr/>
        </p:nvSpPr>
        <p:spPr>
          <a:xfrm>
            <a:off x="502921" y="4692814"/>
            <a:ext cx="11402034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若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next-token output head(Head 1) 與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其他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prediction heads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4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的預測一致，就能一次接受多個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token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4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降低實際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推論</a:t>
            </a:r>
            <a:r>
              <a:rPr lang="en-US" sz="14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成本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與加速推論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91F28A17-C89B-11A2-E672-6A81182DCB87}"/>
              </a:ext>
            </a:extLst>
          </p:cNvPr>
          <p:cNvGrpSpPr/>
          <p:nvPr/>
        </p:nvGrpSpPr>
        <p:grpSpPr>
          <a:xfrm>
            <a:off x="2335135" y="2328810"/>
            <a:ext cx="7049290" cy="957875"/>
            <a:chOff x="1008585" y="2264650"/>
            <a:chExt cx="7049290" cy="957875"/>
          </a:xfrm>
        </p:grpSpPr>
        <p:sp>
          <p:nvSpPr>
            <p:cNvPr id="11" name="Shape 8">
              <a:extLst>
                <a:ext uri="{FF2B5EF4-FFF2-40B4-BE49-F238E27FC236}">
                  <a16:creationId xmlns:a16="http://schemas.microsoft.com/office/drawing/2014/main" id="{BE2123A7-5657-506C-0440-C41A37A7C777}"/>
                </a:ext>
              </a:extLst>
            </p:cNvPr>
            <p:cNvSpPr/>
            <p:nvPr/>
          </p:nvSpPr>
          <p:spPr>
            <a:xfrm flipV="1">
              <a:off x="2297883" y="2752364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610B4AEF-9601-8981-AF8D-0A367E00D703}"/>
                </a:ext>
              </a:extLst>
            </p:cNvPr>
            <p:cNvSpPr/>
            <p:nvPr/>
          </p:nvSpPr>
          <p:spPr>
            <a:xfrm>
              <a:off x="1008585" y="2277973"/>
              <a:ext cx="128524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Input</a:t>
              </a:r>
              <a:r>
                <a: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 </a:t>
              </a: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t₀</a:t>
              </a:r>
              <a:endPara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3">
              <a:extLst>
                <a:ext uri="{FF2B5EF4-FFF2-40B4-BE49-F238E27FC236}">
                  <a16:creationId xmlns:a16="http://schemas.microsoft.com/office/drawing/2014/main" id="{78320403-216C-E725-4CC6-A86BC60C4514}"/>
                </a:ext>
              </a:extLst>
            </p:cNvPr>
            <p:cNvSpPr/>
            <p:nvPr/>
          </p:nvSpPr>
          <p:spPr>
            <a:xfrm>
              <a:off x="3377879" y="2322525"/>
              <a:ext cx="1800000" cy="900000"/>
            </a:xfrm>
            <a:prstGeom prst="rect">
              <a:avLst/>
            </a:prstGeom>
            <a:solidFill>
              <a:srgbClr val="FFF3C8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Model</a:t>
              </a: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(Head 1~k)</a:t>
              </a:r>
            </a:p>
          </p:txBody>
        </p:sp>
        <p:sp>
          <p:nvSpPr>
            <p:cNvPr id="14" name="Text 15">
              <a:extLst>
                <a:ext uri="{FF2B5EF4-FFF2-40B4-BE49-F238E27FC236}">
                  <a16:creationId xmlns:a16="http://schemas.microsoft.com/office/drawing/2014/main" id="{655F93E8-79DA-8CA5-012E-0FEA8456961F}"/>
                </a:ext>
              </a:extLst>
            </p:cNvPr>
            <p:cNvSpPr/>
            <p:nvPr/>
          </p:nvSpPr>
          <p:spPr>
            <a:xfrm>
              <a:off x="6257875" y="2264650"/>
              <a:ext cx="180000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algn="ctr"/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Output: 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1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… </a:t>
              </a:r>
              <a:r>
                <a:rPr lang="en-US" altLang="zh-TW" sz="1600" b="1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k</a:t>
              </a:r>
              <a:endParaRPr lang="en-US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Shape 8">
              <a:extLst>
                <a:ext uri="{FF2B5EF4-FFF2-40B4-BE49-F238E27FC236}">
                  <a16:creationId xmlns:a16="http://schemas.microsoft.com/office/drawing/2014/main" id="{D60F4829-8322-075A-A3AC-A78060E7551B}"/>
                </a:ext>
              </a:extLst>
            </p:cNvPr>
            <p:cNvSpPr/>
            <p:nvPr/>
          </p:nvSpPr>
          <p:spPr>
            <a:xfrm flipV="1">
              <a:off x="5177875" y="2718559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794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643A838-C983-CA9D-3C89-2EB04FD40E3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68D712A-BB1D-6FD7-776C-B4E0DA207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5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62EB79B-9B1A-E8E7-435D-831B5691E81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8AB1546-5B66-7847-E65F-E7C9D92FFC5E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Motivation — deeper draft model are harder to optimize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F39F71A-8AFD-2D32-76C7-BAE554EECD52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4265185-E37F-8978-2945-1BD5B7960B70}"/>
              </a:ext>
            </a:extLst>
          </p:cNvPr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標準 MTP 只用 CE loss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訓練每個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prediction </a:t>
            </a:r>
            <a:r>
              <a:rPr lang="en-US" altLang="zh-TW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heads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，但不同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heads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之間缺少明確的一致性約束。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D63BF917-9F12-7410-B10C-13A62A1DE237}"/>
              </a:ext>
            </a:extLst>
          </p:cNvPr>
          <p:cNvSpPr/>
          <p:nvPr/>
        </p:nvSpPr>
        <p:spPr>
          <a:xfrm>
            <a:off x="502920" y="4714241"/>
            <a:ext cx="10904886" cy="548353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pretrain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階段中，不改變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model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架構的前提下，僅在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loss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加入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regularization (Consistency Method)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，以此提升模型表現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8A39A0D6-F77F-BB9B-F9E0-9998245F2D06}"/>
              </a:ext>
            </a:extLst>
          </p:cNvPr>
          <p:cNvGrpSpPr/>
          <p:nvPr/>
        </p:nvGrpSpPr>
        <p:grpSpPr>
          <a:xfrm>
            <a:off x="4105611" y="2391690"/>
            <a:ext cx="5788241" cy="1037310"/>
            <a:chOff x="3191211" y="2318759"/>
            <a:chExt cx="5788241" cy="1037310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5F22F32-9F79-1900-9200-E3279BC2B37E}"/>
                </a:ext>
              </a:extLst>
            </p:cNvPr>
            <p:cNvSpPr txBox="1"/>
            <p:nvPr/>
          </p:nvSpPr>
          <p:spPr>
            <a:xfrm>
              <a:off x="3191211" y="2771294"/>
              <a:ext cx="578824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 預測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遠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 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不準確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 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預測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遠，越難最佳化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63703468-D680-15E2-2897-20BBEB579369}"/>
                </a:ext>
              </a:extLst>
            </p:cNvPr>
            <p:cNvSpPr txBox="1"/>
            <p:nvPr/>
          </p:nvSpPr>
          <p:spPr>
            <a:xfrm>
              <a:off x="3201726" y="2318759"/>
              <a:ext cx="35155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問題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5655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65E28B4-0C42-4B0F-4F86-AE8438520E8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329D13-8C2D-8A01-F830-8A416748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7352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6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EF7A3E8-8B39-2EF4-6B54-19403A1020E4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26A3816-AB75-DBA0-C23C-78CB2C7AACC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Research method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D144E7B-5822-E055-0D48-449ADCC4D321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40EEC3D-0ACD-3683-9F97-DAB6B9377848}"/>
              </a:ext>
            </a:extLst>
          </p:cNvPr>
          <p:cNvSpPr/>
          <p:nvPr/>
        </p:nvSpPr>
        <p:spPr>
          <a:xfrm>
            <a:off x="502920" y="932688"/>
            <a:ext cx="10972800" cy="548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在本實驗中所使用的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Method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共分為兩種：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selective distribution consistency(SDC), latent consistency matching(LCM)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6C7BC155-EFA9-40E4-8CF6-302F3F7F8958}"/>
              </a:ext>
            </a:extLst>
          </p:cNvPr>
          <p:cNvGrpSpPr/>
          <p:nvPr/>
        </p:nvGrpSpPr>
        <p:grpSpPr>
          <a:xfrm>
            <a:off x="573942" y="2660812"/>
            <a:ext cx="3207671" cy="1799425"/>
            <a:chOff x="801019" y="1982462"/>
            <a:chExt cx="3207671" cy="1799425"/>
          </a:xfrm>
        </p:grpSpPr>
        <p:pic>
          <p:nvPicPr>
            <p:cNvPr id="33" name="圖片 32">
              <a:extLst>
                <a:ext uri="{FF2B5EF4-FFF2-40B4-BE49-F238E27FC236}">
                  <a16:creationId xmlns:a16="http://schemas.microsoft.com/office/drawing/2014/main" id="{CE1FB8D8-D542-FE83-3886-59460AA74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1019" y="1982462"/>
              <a:ext cx="3207671" cy="1799425"/>
            </a:xfrm>
            <a:prstGeom prst="rect">
              <a:avLst/>
            </a:prstGeom>
          </p:spPr>
        </p:pic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2D7EF52F-F99D-4A4D-793A-DAEA230A32EF}"/>
                </a:ext>
              </a:extLst>
            </p:cNvPr>
            <p:cNvCxnSpPr/>
            <p:nvPr/>
          </p:nvCxnSpPr>
          <p:spPr>
            <a:xfrm flipH="1">
              <a:off x="1961965" y="3098307"/>
              <a:ext cx="692458" cy="0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57EDE27-1640-D95F-B719-540AA23B1D85}"/>
                </a:ext>
              </a:extLst>
            </p:cNvPr>
            <p:cNvSpPr txBox="1"/>
            <p:nvPr/>
          </p:nvSpPr>
          <p:spPr>
            <a:xfrm>
              <a:off x="2072935" y="2865448"/>
              <a:ext cx="4705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>
                  <a:solidFill>
                    <a:srgbClr val="FF0000"/>
                  </a:solidFill>
                </a:rPr>
                <a:t>shift</a:t>
              </a:r>
              <a:endParaRPr lang="zh-TW" altLang="en-US" sz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8FC2147-B8B0-1AB4-1690-F17AA96C0A72}"/>
              </a:ext>
            </a:extLst>
          </p:cNvPr>
          <p:cNvSpPr txBox="1"/>
          <p:nvPr/>
        </p:nvSpPr>
        <p:spPr>
          <a:xfrm>
            <a:off x="502919" y="1494551"/>
            <a:ext cx="575583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這是我們新研發的方法，目標是讓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student(Head 2~k) output probability distribution align teacher(Head 1) output probability distribution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4FCB0A22-76B0-2E1F-05AE-595EC8FB8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42" y="4997347"/>
            <a:ext cx="2586395" cy="1529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080F3B-F863-D9AE-864E-DF6914A77CE9}"/>
              </a:ext>
            </a:extLst>
          </p:cNvPr>
          <p:cNvSpPr txBox="1"/>
          <p:nvPr/>
        </p:nvSpPr>
        <p:spPr>
          <a:xfrm>
            <a:off x="502920" y="4474127"/>
            <a:ext cx="57558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並且，算法會把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低信心度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下圖所示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mask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掉，在計算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會忽略這個位置的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FB4FEDA-7E7E-B165-DFB7-D5C9891A38DC}"/>
              </a:ext>
            </a:extLst>
          </p:cNvPr>
          <p:cNvSpPr txBox="1"/>
          <p:nvPr/>
        </p:nvSpPr>
        <p:spPr>
          <a:xfrm>
            <a:off x="6356412" y="1481040"/>
            <a:ext cx="498925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LCM(</a:t>
            </a:r>
            <a:r>
              <a:rPr lang="en-US" altLang="zh-TW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Samragh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et al., 2025)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除了對齊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probability distribution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之外，我們還需要在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latent(embedding) layer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，讓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更靠近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下圖所示為多維壓縮成二維的展示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3B086969-918B-03A6-C18F-5E4B727871FD}"/>
              </a:ext>
            </a:extLst>
          </p:cNvPr>
          <p:cNvGrpSpPr/>
          <p:nvPr/>
        </p:nvGrpSpPr>
        <p:grpSpPr>
          <a:xfrm>
            <a:off x="6356412" y="2966890"/>
            <a:ext cx="3559296" cy="1942574"/>
            <a:chOff x="6369726" y="3090762"/>
            <a:chExt cx="3559296" cy="1942574"/>
          </a:xfrm>
        </p:grpSpPr>
        <p:graphicFrame>
          <p:nvGraphicFramePr>
            <p:cNvPr id="49" name="圖表 48">
              <a:extLst>
                <a:ext uri="{FF2B5EF4-FFF2-40B4-BE49-F238E27FC236}">
                  <a16:creationId xmlns:a16="http://schemas.microsoft.com/office/drawing/2014/main" id="{2C4969CF-8390-C9C1-10E9-4EB4AEC73F8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4314006"/>
                </p:ext>
              </p:extLst>
            </p:nvPr>
          </p:nvGraphicFramePr>
          <p:xfrm>
            <a:off x="6369726" y="3090762"/>
            <a:ext cx="3559296" cy="194257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4F5C9862-200E-4746-6DAC-A9DE397FDCE0}"/>
                </a:ext>
              </a:extLst>
            </p:cNvPr>
            <p:cNvGrpSpPr/>
            <p:nvPr/>
          </p:nvGrpSpPr>
          <p:grpSpPr>
            <a:xfrm>
              <a:off x="7208814" y="3584437"/>
              <a:ext cx="1049548" cy="923277"/>
              <a:chOff x="7190913" y="3346882"/>
              <a:chExt cx="1049548" cy="923277"/>
            </a:xfrm>
          </p:grpSpPr>
          <p:cxnSp>
            <p:nvCxnSpPr>
              <p:cNvPr id="51" name="直線單箭頭接點 50">
                <a:extLst>
                  <a:ext uri="{FF2B5EF4-FFF2-40B4-BE49-F238E27FC236}">
                    <a16:creationId xmlns:a16="http://schemas.microsoft.com/office/drawing/2014/main" id="{57FE0909-9229-6CAA-E7A7-2139EF6C66F9}"/>
                  </a:ext>
                </a:extLst>
              </p:cNvPr>
              <p:cNvCxnSpPr/>
              <p:nvPr/>
            </p:nvCxnSpPr>
            <p:spPr>
              <a:xfrm flipH="1">
                <a:off x="7190913" y="3346882"/>
                <a:ext cx="639192" cy="92327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1A947D1A-8AAF-ED7B-66C1-44862306DBA1}"/>
                  </a:ext>
                </a:extLst>
              </p:cNvPr>
              <p:cNvSpPr txBox="1"/>
              <p:nvPr/>
            </p:nvSpPr>
            <p:spPr>
              <a:xfrm>
                <a:off x="7448218" y="3761133"/>
                <a:ext cx="79224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200" dirty="0">
                    <a:solidFill>
                      <a:srgbClr val="FF0000"/>
                    </a:solidFill>
                  </a:rPr>
                  <a:t>get close</a:t>
                </a:r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3537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0F98701-068A-E34A-3621-B0B2FC9A63A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C4C60D-4673-68F8-2672-0C165C179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7</a:t>
            </a:fld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87E6918-D099-288F-7D25-B66039C42B20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7B5D365-1A43-9398-0370-DF4CA660DAA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Contributions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301E497-C61C-F8E2-EE67-81FE46D3664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EACF03F9-6510-7E2D-FCD0-2D3774770E79}"/>
              </a:ext>
            </a:extLst>
          </p:cNvPr>
          <p:cNvGrpSpPr/>
          <p:nvPr/>
        </p:nvGrpSpPr>
        <p:grpSpPr>
          <a:xfrm>
            <a:off x="653396" y="1099656"/>
            <a:ext cx="10885208" cy="787392"/>
            <a:chOff x="653396" y="1099656"/>
            <a:chExt cx="10885208" cy="787392"/>
          </a:xfrm>
        </p:grpSpPr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A27EBE22-AA8C-4952-CFF5-96FC7B524D01}"/>
                </a:ext>
              </a:extLst>
            </p:cNvPr>
            <p:cNvSpPr/>
            <p:nvPr/>
          </p:nvSpPr>
          <p:spPr>
            <a:xfrm>
              <a:off x="1600200" y="125272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Selective Distribution Consistency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A2E32A38-D527-508E-4DDA-0E61271BAB22}"/>
                </a:ext>
              </a:extLst>
            </p:cNvPr>
            <p:cNvSpPr/>
            <p:nvPr/>
          </p:nvSpPr>
          <p:spPr>
            <a:xfrm>
              <a:off x="1600200" y="1527048"/>
              <a:ext cx="9938404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在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pre-training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階段，我們引入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SDC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作為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consistency regularization term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，以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teacher model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的預測分布監督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student model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，提升兩者預測結果的一致性。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Text 4">
              <a:extLst>
                <a:ext uri="{FF2B5EF4-FFF2-40B4-BE49-F238E27FC236}">
                  <a16:creationId xmlns:a16="http://schemas.microsoft.com/office/drawing/2014/main" id="{5FE1590C-67F9-253A-7DF6-3E0F4F14DBEC}"/>
                </a:ext>
              </a:extLst>
            </p:cNvPr>
            <p:cNvSpPr/>
            <p:nvPr/>
          </p:nvSpPr>
          <p:spPr>
            <a:xfrm>
              <a:off x="653396" y="109965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6CD3D477-0CA5-62CF-F2B9-775538188776}"/>
              </a:ext>
            </a:extLst>
          </p:cNvPr>
          <p:cNvGrpSpPr/>
          <p:nvPr/>
        </p:nvGrpSpPr>
        <p:grpSpPr>
          <a:xfrm>
            <a:off x="653396" y="2401488"/>
            <a:ext cx="10730884" cy="720000"/>
            <a:chOff x="653396" y="2401488"/>
            <a:chExt cx="10730884" cy="720000"/>
          </a:xfrm>
        </p:grpSpPr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799F9D62-A68A-EBD4-AE7A-652C6E39F37A}"/>
                </a:ext>
              </a:extLst>
            </p:cNvPr>
            <p:cNvSpPr/>
            <p:nvPr/>
          </p:nvSpPr>
          <p:spPr>
            <a:xfrm>
              <a:off x="1600200" y="248716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Experimental Result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975B3921-78D2-F7CD-2557-9D9C5160C67E}"/>
                </a:ext>
              </a:extLst>
            </p:cNvPr>
            <p:cNvSpPr/>
            <p:nvPr/>
          </p:nvSpPr>
          <p:spPr>
            <a:xfrm>
              <a:off x="1600200" y="2761488"/>
              <a:ext cx="9784080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我們提供實驗結果包括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Oracle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Average draft token accepted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PPL…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，當作比起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baseline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改善證據，其中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提升約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52%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，改善幅度最大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6071DD21-283D-8125-2F68-557C651DB9C4}"/>
                </a:ext>
              </a:extLst>
            </p:cNvPr>
            <p:cNvSpPr/>
            <p:nvPr/>
          </p:nvSpPr>
          <p:spPr>
            <a:xfrm>
              <a:off x="653396" y="240148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0FFC557E-7866-5266-820D-B4C44FA922C3}"/>
              </a:ext>
            </a:extLst>
          </p:cNvPr>
          <p:cNvGrpSpPr/>
          <p:nvPr/>
        </p:nvGrpSpPr>
        <p:grpSpPr>
          <a:xfrm>
            <a:off x="664493" y="3635928"/>
            <a:ext cx="10719787" cy="720000"/>
            <a:chOff x="664493" y="3635928"/>
            <a:chExt cx="10719787" cy="720000"/>
          </a:xfrm>
        </p:grpSpPr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370B4A7F-846C-967B-592B-95E668A5EAEA}"/>
                </a:ext>
              </a:extLst>
            </p:cNvPr>
            <p:cNvSpPr/>
            <p:nvPr/>
          </p:nvSpPr>
          <p:spPr>
            <a:xfrm>
              <a:off x="1600200" y="372160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 + LCM joint training</a:t>
              </a:r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B8D34A56-7707-8C04-263A-2A589FD8A9A7}"/>
                </a:ext>
              </a:extLst>
            </p:cNvPr>
            <p:cNvSpPr/>
            <p:nvPr/>
          </p:nvSpPr>
          <p:spPr>
            <a:xfrm>
              <a:off x="1600200" y="399592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從實驗結果能發現，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LCM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並不會互相衝突造成反效果。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Text 4">
              <a:extLst>
                <a:ext uri="{FF2B5EF4-FFF2-40B4-BE49-F238E27FC236}">
                  <a16:creationId xmlns:a16="http://schemas.microsoft.com/office/drawing/2014/main" id="{BEA795F7-A9CE-4A56-E505-726CBE92E948}"/>
                </a:ext>
              </a:extLst>
            </p:cNvPr>
            <p:cNvSpPr/>
            <p:nvPr/>
          </p:nvSpPr>
          <p:spPr>
            <a:xfrm>
              <a:off x="664493" y="36359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8118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B21BCF0-A647-C109-D387-4A9D7395A01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DC25B2-F585-BC47-76CD-31E670851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8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3C2D4A6-B8DE-7882-B445-1E98D3F9012A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71432B8-DA5C-3121-008A-6E42332920F9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Related works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34359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675573D-71A7-C7E7-6353-46A18FE27AF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B18D6C-2B4A-5323-DAAB-0DBDE22E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8392"/>
            <a:ext cx="2743200" cy="246889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9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CC896F1-DC32-0CE9-E6CB-64C1DEBD272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Part2: Related works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F3A430A-4D92-6FE8-8045-7539BA22788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Multi-Token Prediction architecture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80453E2-05FB-EBC7-249B-38DCDACA493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26" name="群組 225">
            <a:extLst>
              <a:ext uri="{FF2B5EF4-FFF2-40B4-BE49-F238E27FC236}">
                <a16:creationId xmlns:a16="http://schemas.microsoft.com/office/drawing/2014/main" id="{134E8218-33DF-0B08-A698-76A1D867F740}"/>
              </a:ext>
            </a:extLst>
          </p:cNvPr>
          <p:cNvGrpSpPr/>
          <p:nvPr/>
        </p:nvGrpSpPr>
        <p:grpSpPr>
          <a:xfrm>
            <a:off x="2104559" y="991942"/>
            <a:ext cx="6985002" cy="4338267"/>
            <a:chOff x="421108" y="1001355"/>
            <a:chExt cx="6985002" cy="4338267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8A43683A-69A1-344F-4AFE-EE79E83272D3}"/>
                </a:ext>
              </a:extLst>
            </p:cNvPr>
            <p:cNvGrpSpPr/>
            <p:nvPr/>
          </p:nvGrpSpPr>
          <p:grpSpPr>
            <a:xfrm>
              <a:off x="1244114" y="1001355"/>
              <a:ext cx="6161996" cy="4338267"/>
              <a:chOff x="621346" y="1223297"/>
              <a:chExt cx="6161996" cy="4338267"/>
            </a:xfrm>
          </p:grpSpPr>
          <p:grpSp>
            <p:nvGrpSpPr>
              <p:cNvPr id="211" name="群組 210">
                <a:extLst>
                  <a:ext uri="{FF2B5EF4-FFF2-40B4-BE49-F238E27FC236}">
                    <a16:creationId xmlns:a16="http://schemas.microsoft.com/office/drawing/2014/main" id="{9123B5F6-9E81-4280-1AFE-6FF288C4422B}"/>
                  </a:ext>
                </a:extLst>
              </p:cNvPr>
              <p:cNvGrpSpPr/>
              <p:nvPr/>
            </p:nvGrpSpPr>
            <p:grpSpPr>
              <a:xfrm>
                <a:off x="621346" y="1223297"/>
                <a:ext cx="6161996" cy="3648720"/>
                <a:chOff x="347472" y="956968"/>
                <a:chExt cx="6161996" cy="3648720"/>
              </a:xfrm>
            </p:grpSpPr>
            <p:sp>
              <p:nvSpPr>
                <p:cNvPr id="69" name="矩形: 圓角 68">
                  <a:extLst>
                    <a:ext uri="{FF2B5EF4-FFF2-40B4-BE49-F238E27FC236}">
                      <a16:creationId xmlns:a16="http://schemas.microsoft.com/office/drawing/2014/main" id="{508D12DD-5A5E-A8A3-F8F5-422D6BAF4C86}"/>
                    </a:ext>
                  </a:extLst>
                </p:cNvPr>
                <p:cNvSpPr/>
                <p:nvPr/>
              </p:nvSpPr>
              <p:spPr>
                <a:xfrm>
                  <a:off x="410353" y="3664655"/>
                  <a:ext cx="6099115" cy="941033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162" name="群組 161">
                  <a:extLst>
                    <a:ext uri="{FF2B5EF4-FFF2-40B4-BE49-F238E27FC236}">
                      <a16:creationId xmlns:a16="http://schemas.microsoft.com/office/drawing/2014/main" id="{A4256F97-B0DF-7DE8-7602-F01198911C9A}"/>
                    </a:ext>
                  </a:extLst>
                </p:cNvPr>
                <p:cNvGrpSpPr/>
                <p:nvPr/>
              </p:nvGrpSpPr>
              <p:grpSpPr>
                <a:xfrm>
                  <a:off x="347472" y="956968"/>
                  <a:ext cx="6099117" cy="1942700"/>
                  <a:chOff x="712043" y="925926"/>
                  <a:chExt cx="6099117" cy="1942700"/>
                </a:xfrm>
              </p:grpSpPr>
              <p:grpSp>
                <p:nvGrpSpPr>
                  <p:cNvPr id="123" name="群組 122">
                    <a:extLst>
                      <a:ext uri="{FF2B5EF4-FFF2-40B4-BE49-F238E27FC236}">
                        <a16:creationId xmlns:a16="http://schemas.microsoft.com/office/drawing/2014/main" id="{F55C8E27-84BD-38A1-6485-590D058BEE7F}"/>
                      </a:ext>
                    </a:extLst>
                  </p:cNvPr>
                  <p:cNvGrpSpPr/>
                  <p:nvPr/>
                </p:nvGrpSpPr>
                <p:grpSpPr>
                  <a:xfrm>
                    <a:off x="2238870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24" name="群組 123">
                      <a:extLst>
                        <a:ext uri="{FF2B5EF4-FFF2-40B4-BE49-F238E27FC236}">
                          <a16:creationId xmlns:a16="http://schemas.microsoft.com/office/drawing/2014/main" id="{BD87DE83-AD80-EC17-524E-3E6252B830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4" name="直線接點 133">
                        <a:extLst>
                          <a:ext uri="{FF2B5EF4-FFF2-40B4-BE49-F238E27FC236}">
                            <a16:creationId xmlns:a16="http://schemas.microsoft.com/office/drawing/2014/main" id="{6CDA87EB-CC8E-1A03-F1B0-79964F1E50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5" name="橢圓 134">
                        <a:extLst>
                          <a:ext uri="{FF2B5EF4-FFF2-40B4-BE49-F238E27FC236}">
                            <a16:creationId xmlns:a16="http://schemas.microsoft.com/office/drawing/2014/main" id="{33103602-F3AD-CA6A-3CE1-A52138BCB6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5" name="群組 124">
                      <a:extLst>
                        <a:ext uri="{FF2B5EF4-FFF2-40B4-BE49-F238E27FC236}">
                          <a16:creationId xmlns:a16="http://schemas.microsoft.com/office/drawing/2014/main" id="{6E0BA7F8-192E-E277-EEE4-268E5DE7C5E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2" name="直線接點 131">
                        <a:extLst>
                          <a:ext uri="{FF2B5EF4-FFF2-40B4-BE49-F238E27FC236}">
                            <a16:creationId xmlns:a16="http://schemas.microsoft.com/office/drawing/2014/main" id="{B2C04BC8-BF74-8D92-2D06-546AF1CAADD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3" name="橢圓 132">
                        <a:extLst>
                          <a:ext uri="{FF2B5EF4-FFF2-40B4-BE49-F238E27FC236}">
                            <a16:creationId xmlns:a16="http://schemas.microsoft.com/office/drawing/2014/main" id="{101C5920-AB7B-DFD6-7223-097F9FD36C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6" name="群組 125">
                      <a:extLst>
                        <a:ext uri="{FF2B5EF4-FFF2-40B4-BE49-F238E27FC236}">
                          <a16:creationId xmlns:a16="http://schemas.microsoft.com/office/drawing/2014/main" id="{A223D9B4-E897-9E7D-82D7-ACEE7E4CC9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0" name="直線接點 129">
                        <a:extLst>
                          <a:ext uri="{FF2B5EF4-FFF2-40B4-BE49-F238E27FC236}">
                            <a16:creationId xmlns:a16="http://schemas.microsoft.com/office/drawing/2014/main" id="{84A33B36-8AD3-5138-C37D-CBA9B26E58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1" name="橢圓 130">
                        <a:extLst>
                          <a:ext uri="{FF2B5EF4-FFF2-40B4-BE49-F238E27FC236}">
                            <a16:creationId xmlns:a16="http://schemas.microsoft.com/office/drawing/2014/main" id="{F6E86E89-2319-12AD-8455-DE13756670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7" name="群組 126">
                      <a:extLst>
                        <a:ext uri="{FF2B5EF4-FFF2-40B4-BE49-F238E27FC236}">
                          <a16:creationId xmlns:a16="http://schemas.microsoft.com/office/drawing/2014/main" id="{255B5515-0123-D8A3-CCC1-6427505BBC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28" name="直線接點 127">
                        <a:extLst>
                          <a:ext uri="{FF2B5EF4-FFF2-40B4-BE49-F238E27FC236}">
                            <a16:creationId xmlns:a16="http://schemas.microsoft.com/office/drawing/2014/main" id="{0A3E48E6-8587-B63C-764D-AD6F6F0D60F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29" name="橢圓 128">
                        <a:extLst>
                          <a:ext uri="{FF2B5EF4-FFF2-40B4-BE49-F238E27FC236}">
                            <a16:creationId xmlns:a16="http://schemas.microsoft.com/office/drawing/2014/main" id="{E5FFF0B7-313F-7347-B102-3C88C835AC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36" name="群組 135">
                    <a:extLst>
                      <a:ext uri="{FF2B5EF4-FFF2-40B4-BE49-F238E27FC236}">
                        <a16:creationId xmlns:a16="http://schemas.microsoft.com/office/drawing/2014/main" id="{07C4A287-BF52-215D-11CE-E05E7D87EB72}"/>
                      </a:ext>
                    </a:extLst>
                  </p:cNvPr>
                  <p:cNvGrpSpPr/>
                  <p:nvPr/>
                </p:nvGrpSpPr>
                <p:grpSpPr>
                  <a:xfrm>
                    <a:off x="3716884" y="933729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37" name="群組 136">
                      <a:extLst>
                        <a:ext uri="{FF2B5EF4-FFF2-40B4-BE49-F238E27FC236}">
                          <a16:creationId xmlns:a16="http://schemas.microsoft.com/office/drawing/2014/main" id="{BB4E6736-EE96-F21A-B55F-3C31F00E07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7" name="直線接點 146">
                        <a:extLst>
                          <a:ext uri="{FF2B5EF4-FFF2-40B4-BE49-F238E27FC236}">
                            <a16:creationId xmlns:a16="http://schemas.microsoft.com/office/drawing/2014/main" id="{EE7A651B-10A5-D513-16D7-342FDA549C2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8" name="橢圓 147">
                        <a:extLst>
                          <a:ext uri="{FF2B5EF4-FFF2-40B4-BE49-F238E27FC236}">
                            <a16:creationId xmlns:a16="http://schemas.microsoft.com/office/drawing/2014/main" id="{D0920339-8B99-DB0F-52B2-18E8CF60EB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8" name="群組 137">
                      <a:extLst>
                        <a:ext uri="{FF2B5EF4-FFF2-40B4-BE49-F238E27FC236}">
                          <a16:creationId xmlns:a16="http://schemas.microsoft.com/office/drawing/2014/main" id="{C08B9242-C69A-8A88-4008-B999176C1F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5" name="直線接點 144">
                        <a:extLst>
                          <a:ext uri="{FF2B5EF4-FFF2-40B4-BE49-F238E27FC236}">
                            <a16:creationId xmlns:a16="http://schemas.microsoft.com/office/drawing/2014/main" id="{45DED895-5F69-83D8-3632-D03ACEC6F21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6" name="橢圓 145">
                        <a:extLst>
                          <a:ext uri="{FF2B5EF4-FFF2-40B4-BE49-F238E27FC236}">
                            <a16:creationId xmlns:a16="http://schemas.microsoft.com/office/drawing/2014/main" id="{7D96C37D-F4CC-1872-82AE-636C43036B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9" name="群組 138">
                      <a:extLst>
                        <a:ext uri="{FF2B5EF4-FFF2-40B4-BE49-F238E27FC236}">
                          <a16:creationId xmlns:a16="http://schemas.microsoft.com/office/drawing/2014/main" id="{4D87C621-4C58-71BE-E534-EA20C35690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3" name="直線接點 142">
                        <a:extLst>
                          <a:ext uri="{FF2B5EF4-FFF2-40B4-BE49-F238E27FC236}">
                            <a16:creationId xmlns:a16="http://schemas.microsoft.com/office/drawing/2014/main" id="{FF3FF954-7CBF-E5BE-F9ED-433D2A9C3C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4" name="橢圓 143">
                        <a:extLst>
                          <a:ext uri="{FF2B5EF4-FFF2-40B4-BE49-F238E27FC236}">
                            <a16:creationId xmlns:a16="http://schemas.microsoft.com/office/drawing/2014/main" id="{85086A87-F95A-772C-1755-84788473E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40" name="群組 139">
                      <a:extLst>
                        <a:ext uri="{FF2B5EF4-FFF2-40B4-BE49-F238E27FC236}">
                          <a16:creationId xmlns:a16="http://schemas.microsoft.com/office/drawing/2014/main" id="{F91D267B-2F4E-B2D4-49F4-6ECBFEC0DB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1" name="直線接點 140">
                        <a:extLst>
                          <a:ext uri="{FF2B5EF4-FFF2-40B4-BE49-F238E27FC236}">
                            <a16:creationId xmlns:a16="http://schemas.microsoft.com/office/drawing/2014/main" id="{461D8BC0-1B73-0448-450A-88583EBE81E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2" name="橢圓 141">
                        <a:extLst>
                          <a:ext uri="{FF2B5EF4-FFF2-40B4-BE49-F238E27FC236}">
                            <a16:creationId xmlns:a16="http://schemas.microsoft.com/office/drawing/2014/main" id="{391F0763-0928-B491-D352-CDC26C138D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22" name="群組 121">
                    <a:extLst>
                      <a:ext uri="{FF2B5EF4-FFF2-40B4-BE49-F238E27FC236}">
                        <a16:creationId xmlns:a16="http://schemas.microsoft.com/office/drawing/2014/main" id="{7EFBDC6C-5346-34AF-10A8-8378612F616E}"/>
                      </a:ext>
                    </a:extLst>
                  </p:cNvPr>
                  <p:cNvGrpSpPr/>
                  <p:nvPr/>
                </p:nvGrpSpPr>
                <p:grpSpPr>
                  <a:xfrm>
                    <a:off x="783802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99" name="群組 98">
                      <a:extLst>
                        <a:ext uri="{FF2B5EF4-FFF2-40B4-BE49-F238E27FC236}">
                          <a16:creationId xmlns:a16="http://schemas.microsoft.com/office/drawing/2014/main" id="{302BF107-CB0D-1AE9-C312-D059D25B36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3" name="直線接點 102">
                        <a:extLst>
                          <a:ext uri="{FF2B5EF4-FFF2-40B4-BE49-F238E27FC236}">
                            <a16:creationId xmlns:a16="http://schemas.microsoft.com/office/drawing/2014/main" id="{466722F8-1B5E-9D3F-78E1-DCB2D8397C5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4" name="橢圓 103">
                        <a:extLst>
                          <a:ext uri="{FF2B5EF4-FFF2-40B4-BE49-F238E27FC236}">
                            <a16:creationId xmlns:a16="http://schemas.microsoft.com/office/drawing/2014/main" id="{902EBA94-0178-EC73-1255-5467BCF5C7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00" name="群組 99">
                      <a:extLst>
                        <a:ext uri="{FF2B5EF4-FFF2-40B4-BE49-F238E27FC236}">
                          <a16:creationId xmlns:a16="http://schemas.microsoft.com/office/drawing/2014/main" id="{BF50610C-307C-7D7B-4609-65ACA07591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1" name="直線接點 100">
                        <a:extLst>
                          <a:ext uri="{FF2B5EF4-FFF2-40B4-BE49-F238E27FC236}">
                            <a16:creationId xmlns:a16="http://schemas.microsoft.com/office/drawing/2014/main" id="{66657AD4-3C95-8538-744C-E90BB072BDF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2" name="橢圓 101">
                        <a:extLst>
                          <a:ext uri="{FF2B5EF4-FFF2-40B4-BE49-F238E27FC236}">
                            <a16:creationId xmlns:a16="http://schemas.microsoft.com/office/drawing/2014/main" id="{D57BACA5-7304-B369-99FC-1AFEEBEB59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8" name="群組 97">
                      <a:extLst>
                        <a:ext uri="{FF2B5EF4-FFF2-40B4-BE49-F238E27FC236}">
                          <a16:creationId xmlns:a16="http://schemas.microsoft.com/office/drawing/2014/main" id="{22695A71-542F-821E-7F71-8057CE9AF3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5" name="直線接點 104">
                        <a:extLst>
                          <a:ext uri="{FF2B5EF4-FFF2-40B4-BE49-F238E27FC236}">
                            <a16:creationId xmlns:a16="http://schemas.microsoft.com/office/drawing/2014/main" id="{65A501D5-54EF-7610-C403-0B4D704BCA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6" name="橢圓 105">
                        <a:extLst>
                          <a:ext uri="{FF2B5EF4-FFF2-40B4-BE49-F238E27FC236}">
                            <a16:creationId xmlns:a16="http://schemas.microsoft.com/office/drawing/2014/main" id="{20E4B4EB-8405-39F3-DFBB-91895BC4A1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7" name="群組 96">
                      <a:extLst>
                        <a:ext uri="{FF2B5EF4-FFF2-40B4-BE49-F238E27FC236}">
                          <a16:creationId xmlns:a16="http://schemas.microsoft.com/office/drawing/2014/main" id="{122C298E-4821-61D8-607F-77568AB840A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7" name="直線接點 106">
                        <a:extLst>
                          <a:ext uri="{FF2B5EF4-FFF2-40B4-BE49-F238E27FC236}">
                            <a16:creationId xmlns:a16="http://schemas.microsoft.com/office/drawing/2014/main" id="{36A3DE4D-7434-7BB2-E067-13469EC51B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8" name="橢圓 107">
                        <a:extLst>
                          <a:ext uri="{FF2B5EF4-FFF2-40B4-BE49-F238E27FC236}">
                            <a16:creationId xmlns:a16="http://schemas.microsoft.com/office/drawing/2014/main" id="{D2799BDC-7AD9-861C-F971-4ADBC6F657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2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74" name="群組 73">
                    <a:extLst>
                      <a:ext uri="{FF2B5EF4-FFF2-40B4-BE49-F238E27FC236}">
                        <a16:creationId xmlns:a16="http://schemas.microsoft.com/office/drawing/2014/main" id="{39F464F3-7BB8-D188-C91B-D18F7453A10C}"/>
                      </a:ext>
                    </a:extLst>
                  </p:cNvPr>
                  <p:cNvGrpSpPr/>
                  <p:nvPr/>
                </p:nvGrpSpPr>
                <p:grpSpPr>
                  <a:xfrm>
                    <a:off x="712043" y="1831111"/>
                    <a:ext cx="6099117" cy="1037515"/>
                    <a:chOff x="1897599" y="1994704"/>
                    <a:chExt cx="5494904" cy="1037515"/>
                  </a:xfrm>
                </p:grpSpPr>
                <p:sp>
                  <p:nvSpPr>
                    <p:cNvPr id="72" name="矩形: 圓角 71">
                      <a:extLst>
                        <a:ext uri="{FF2B5EF4-FFF2-40B4-BE49-F238E27FC236}">
                          <a16:creationId xmlns:a16="http://schemas.microsoft.com/office/drawing/2014/main" id="{E6A49323-101D-CF52-4200-A88C771286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4992" y="242853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3" name="矩形: 圓角 72">
                      <a:extLst>
                        <a:ext uri="{FF2B5EF4-FFF2-40B4-BE49-F238E27FC236}">
                          <a16:creationId xmlns:a16="http://schemas.microsoft.com/office/drawing/2014/main" id="{98A9219D-F807-623A-491D-73EFE0E324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69271" y="2290821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矩形: 圓角 70">
                      <a:extLst>
                        <a:ext uri="{FF2B5EF4-FFF2-40B4-BE49-F238E27FC236}">
                          <a16:creationId xmlns:a16="http://schemas.microsoft.com/office/drawing/2014/main" id="{9760FEDF-6E46-BA00-7565-551C6D56B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83435" y="215882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70" name="矩形: 圓角 69">
                      <a:extLst>
                        <a:ext uri="{FF2B5EF4-FFF2-40B4-BE49-F238E27FC236}">
                          <a16:creationId xmlns:a16="http://schemas.microsoft.com/office/drawing/2014/main" id="{603D58DD-B1F1-3186-DC57-F766CA46ED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97599" y="1994704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49" name="群組 148">
                    <a:extLst>
                      <a:ext uri="{FF2B5EF4-FFF2-40B4-BE49-F238E27FC236}">
                        <a16:creationId xmlns:a16="http://schemas.microsoft.com/office/drawing/2014/main" id="{F2D7F6F8-865E-DCF4-4F28-64EEC0A88708}"/>
                      </a:ext>
                    </a:extLst>
                  </p:cNvPr>
                  <p:cNvGrpSpPr/>
                  <p:nvPr/>
                </p:nvGrpSpPr>
                <p:grpSpPr>
                  <a:xfrm>
                    <a:off x="5376254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50" name="群組 149">
                      <a:extLst>
                        <a:ext uri="{FF2B5EF4-FFF2-40B4-BE49-F238E27FC236}">
                          <a16:creationId xmlns:a16="http://schemas.microsoft.com/office/drawing/2014/main" id="{BE904228-A454-D35C-95F7-91793509BD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60" name="直線接點 159">
                        <a:extLst>
                          <a:ext uri="{FF2B5EF4-FFF2-40B4-BE49-F238E27FC236}">
                            <a16:creationId xmlns:a16="http://schemas.microsoft.com/office/drawing/2014/main" id="{22224128-BE10-0E23-CFA5-3E3438A5A9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61" name="橢圓 160">
                        <a:extLst>
                          <a:ext uri="{FF2B5EF4-FFF2-40B4-BE49-F238E27FC236}">
                            <a16:creationId xmlns:a16="http://schemas.microsoft.com/office/drawing/2014/main" id="{50C2AE3A-1335-DE73-E61B-17BB7F9792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8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1" name="群組 150">
                      <a:extLst>
                        <a:ext uri="{FF2B5EF4-FFF2-40B4-BE49-F238E27FC236}">
                          <a16:creationId xmlns:a16="http://schemas.microsoft.com/office/drawing/2014/main" id="{DAF0A728-3DD2-E2EF-557A-CA1829AE4A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8" name="直線接點 157">
                        <a:extLst>
                          <a:ext uri="{FF2B5EF4-FFF2-40B4-BE49-F238E27FC236}">
                            <a16:creationId xmlns:a16="http://schemas.microsoft.com/office/drawing/2014/main" id="{4031D07D-18B9-7687-C999-BE38223087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9" name="橢圓 158">
                        <a:extLst>
                          <a:ext uri="{FF2B5EF4-FFF2-40B4-BE49-F238E27FC236}">
                            <a16:creationId xmlns:a16="http://schemas.microsoft.com/office/drawing/2014/main" id="{309FCE1C-D8F5-2624-E2C6-AE825F0CC3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2" name="群組 151">
                      <a:extLst>
                        <a:ext uri="{FF2B5EF4-FFF2-40B4-BE49-F238E27FC236}">
                          <a16:creationId xmlns:a16="http://schemas.microsoft.com/office/drawing/2014/main" id="{D31E1631-8C7A-25D5-71EB-505E52452D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6" name="直線接點 155">
                        <a:extLst>
                          <a:ext uri="{FF2B5EF4-FFF2-40B4-BE49-F238E27FC236}">
                            <a16:creationId xmlns:a16="http://schemas.microsoft.com/office/drawing/2014/main" id="{398EB0FE-54AA-6853-5B51-6FB52FF0E6E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7" name="橢圓 156">
                        <a:extLst>
                          <a:ext uri="{FF2B5EF4-FFF2-40B4-BE49-F238E27FC236}">
                            <a16:creationId xmlns:a16="http://schemas.microsoft.com/office/drawing/2014/main" id="{CC512B09-A885-85B2-389B-DA0EBA9098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3" name="群組 152">
                      <a:extLst>
                        <a:ext uri="{FF2B5EF4-FFF2-40B4-BE49-F238E27FC236}">
                          <a16:creationId xmlns:a16="http://schemas.microsoft.com/office/drawing/2014/main" id="{8D3F4E6E-D646-0EDD-5B93-87228D6830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4" name="直線接點 153">
                        <a:extLst>
                          <a:ext uri="{FF2B5EF4-FFF2-40B4-BE49-F238E27FC236}">
                            <a16:creationId xmlns:a16="http://schemas.microsoft.com/office/drawing/2014/main" id="{66FA895D-0CDE-5094-9A1C-B64301FD9F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5" name="橢圓 154">
                        <a:extLst>
                          <a:ext uri="{FF2B5EF4-FFF2-40B4-BE49-F238E27FC236}">
                            <a16:creationId xmlns:a16="http://schemas.microsoft.com/office/drawing/2014/main" id="{4A5A02D9-FFE8-8369-DABE-BB7067F0FD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189" name="群組 188">
                  <a:extLst>
                    <a:ext uri="{FF2B5EF4-FFF2-40B4-BE49-F238E27FC236}">
                      <a16:creationId xmlns:a16="http://schemas.microsoft.com/office/drawing/2014/main" id="{938B6926-FC97-FB82-25A4-CB9B764440E4}"/>
                    </a:ext>
                  </a:extLst>
                </p:cNvPr>
                <p:cNvGrpSpPr/>
                <p:nvPr/>
              </p:nvGrpSpPr>
              <p:grpSpPr>
                <a:xfrm>
                  <a:off x="775053" y="2472563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86" name="群組 185">
                    <a:extLst>
                      <a:ext uri="{FF2B5EF4-FFF2-40B4-BE49-F238E27FC236}">
                        <a16:creationId xmlns:a16="http://schemas.microsoft.com/office/drawing/2014/main" id="{8AF1BBAB-47FC-148C-98EF-F8647FD89768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79" name="直線接點 178">
                      <a:extLst>
                        <a:ext uri="{FF2B5EF4-FFF2-40B4-BE49-F238E27FC236}">
                          <a16:creationId xmlns:a16="http://schemas.microsoft.com/office/drawing/2014/main" id="{BCC1BA2D-F7FD-CA43-17B2-06F0DD9B0E0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" name="直線接點 175">
                      <a:extLst>
                        <a:ext uri="{FF2B5EF4-FFF2-40B4-BE49-F238E27FC236}">
                          <a16:creationId xmlns:a16="http://schemas.microsoft.com/office/drawing/2014/main" id="{EEF08F4F-C876-E979-AD39-01153196F8C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" name="直線接點 176">
                      <a:extLst>
                        <a:ext uri="{FF2B5EF4-FFF2-40B4-BE49-F238E27FC236}">
                          <a16:creationId xmlns:a16="http://schemas.microsoft.com/office/drawing/2014/main" id="{5184DCA8-0036-1EE6-9FD6-AF7D0CA0D3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" name="直線接點 177">
                      <a:extLst>
                        <a:ext uri="{FF2B5EF4-FFF2-40B4-BE49-F238E27FC236}">
                          <a16:creationId xmlns:a16="http://schemas.microsoft.com/office/drawing/2014/main" id="{D8738012-4B3A-1366-50A7-28C17A75BD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87" name="直線接點 186">
                    <a:extLst>
                      <a:ext uri="{FF2B5EF4-FFF2-40B4-BE49-F238E27FC236}">
                        <a16:creationId xmlns:a16="http://schemas.microsoft.com/office/drawing/2014/main" id="{0D1E40BB-61E0-433C-6F05-3EAA82C388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群組 189">
                  <a:extLst>
                    <a:ext uri="{FF2B5EF4-FFF2-40B4-BE49-F238E27FC236}">
                      <a16:creationId xmlns:a16="http://schemas.microsoft.com/office/drawing/2014/main" id="{C2B00D14-2EE6-8EA0-EBE1-1959AF90ABD4}"/>
                    </a:ext>
                  </a:extLst>
                </p:cNvPr>
                <p:cNvGrpSpPr/>
                <p:nvPr/>
              </p:nvGrpSpPr>
              <p:grpSpPr>
                <a:xfrm>
                  <a:off x="2054299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1" name="群組 190">
                    <a:extLst>
                      <a:ext uri="{FF2B5EF4-FFF2-40B4-BE49-F238E27FC236}">
                        <a16:creationId xmlns:a16="http://schemas.microsoft.com/office/drawing/2014/main" id="{5E260B19-BCD6-ED27-3935-EE5DDCFBBB19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93" name="直線接點 192">
                      <a:extLst>
                        <a:ext uri="{FF2B5EF4-FFF2-40B4-BE49-F238E27FC236}">
                          <a16:creationId xmlns:a16="http://schemas.microsoft.com/office/drawing/2014/main" id="{A7CC6EAA-EF82-9BA6-B79C-3A1959A07C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" name="直線接點 193">
                      <a:extLst>
                        <a:ext uri="{FF2B5EF4-FFF2-40B4-BE49-F238E27FC236}">
                          <a16:creationId xmlns:a16="http://schemas.microsoft.com/office/drawing/2014/main" id="{6640FAD1-73F9-EE5D-8EEB-BA24176A5B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5" name="直線接點 194">
                      <a:extLst>
                        <a:ext uri="{FF2B5EF4-FFF2-40B4-BE49-F238E27FC236}">
                          <a16:creationId xmlns:a16="http://schemas.microsoft.com/office/drawing/2014/main" id="{BFB681C8-9251-0199-45B4-83CB04C43D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" name="直線接點 195">
                      <a:extLst>
                        <a:ext uri="{FF2B5EF4-FFF2-40B4-BE49-F238E27FC236}">
                          <a16:creationId xmlns:a16="http://schemas.microsoft.com/office/drawing/2014/main" id="{31F78B31-121C-5554-F540-E1B3ED637A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2" name="直線接點 191">
                    <a:extLst>
                      <a:ext uri="{FF2B5EF4-FFF2-40B4-BE49-F238E27FC236}">
                        <a16:creationId xmlns:a16="http://schemas.microsoft.com/office/drawing/2014/main" id="{D89E8FC3-0E14-8B29-43EF-695522C205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7" name="群組 196">
                  <a:extLst>
                    <a:ext uri="{FF2B5EF4-FFF2-40B4-BE49-F238E27FC236}">
                      <a16:creationId xmlns:a16="http://schemas.microsoft.com/office/drawing/2014/main" id="{F182CF94-D991-26C4-C408-3111BE742579}"/>
                    </a:ext>
                  </a:extLst>
                </p:cNvPr>
                <p:cNvGrpSpPr/>
                <p:nvPr/>
              </p:nvGrpSpPr>
              <p:grpSpPr>
                <a:xfrm>
                  <a:off x="3535957" y="2467079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8" name="群組 197">
                    <a:extLst>
                      <a:ext uri="{FF2B5EF4-FFF2-40B4-BE49-F238E27FC236}">
                        <a16:creationId xmlns:a16="http://schemas.microsoft.com/office/drawing/2014/main" id="{BC53B6D2-E975-0B65-B4AC-41670172D2CF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0" name="直線接點 199">
                      <a:extLst>
                        <a:ext uri="{FF2B5EF4-FFF2-40B4-BE49-F238E27FC236}">
                          <a16:creationId xmlns:a16="http://schemas.microsoft.com/office/drawing/2014/main" id="{D0ADA5F3-2E2E-FFD8-7FD2-68DFD8E6150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1" name="直線接點 200">
                      <a:extLst>
                        <a:ext uri="{FF2B5EF4-FFF2-40B4-BE49-F238E27FC236}">
                          <a16:creationId xmlns:a16="http://schemas.microsoft.com/office/drawing/2014/main" id="{AEFCAD0A-9D74-A515-44FB-FB0BD29223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2" name="直線接點 201">
                      <a:extLst>
                        <a:ext uri="{FF2B5EF4-FFF2-40B4-BE49-F238E27FC236}">
                          <a16:creationId xmlns:a16="http://schemas.microsoft.com/office/drawing/2014/main" id="{1ABAFB35-4146-26DF-17AD-6F57B905B3B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3" name="直線接點 202">
                      <a:extLst>
                        <a:ext uri="{FF2B5EF4-FFF2-40B4-BE49-F238E27FC236}">
                          <a16:creationId xmlns:a16="http://schemas.microsoft.com/office/drawing/2014/main" id="{31AE0891-5340-C2AF-8F67-ADFF5E4C693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9" name="直線接點 198">
                    <a:extLst>
                      <a:ext uri="{FF2B5EF4-FFF2-40B4-BE49-F238E27FC236}">
                        <a16:creationId xmlns:a16="http://schemas.microsoft.com/office/drawing/2014/main" id="{28034BCB-4E26-22C7-7B92-9EFFAEBB83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4" name="群組 203">
                  <a:extLst>
                    <a:ext uri="{FF2B5EF4-FFF2-40B4-BE49-F238E27FC236}">
                      <a16:creationId xmlns:a16="http://schemas.microsoft.com/office/drawing/2014/main" id="{CA777EBC-8139-5EC2-FC3B-A9A2624AF58C}"/>
                    </a:ext>
                  </a:extLst>
                </p:cNvPr>
                <p:cNvGrpSpPr/>
                <p:nvPr/>
              </p:nvGrpSpPr>
              <p:grpSpPr>
                <a:xfrm>
                  <a:off x="5194377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205" name="群組 204">
                    <a:extLst>
                      <a:ext uri="{FF2B5EF4-FFF2-40B4-BE49-F238E27FC236}">
                        <a16:creationId xmlns:a16="http://schemas.microsoft.com/office/drawing/2014/main" id="{7E7F5D3F-8BFE-5E71-F092-95683FB31127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7" name="直線接點 206">
                      <a:extLst>
                        <a:ext uri="{FF2B5EF4-FFF2-40B4-BE49-F238E27FC236}">
                          <a16:creationId xmlns:a16="http://schemas.microsoft.com/office/drawing/2014/main" id="{1FBF7DCF-EA44-E945-7B0F-6CEA2D736F9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8" name="直線接點 207">
                      <a:extLst>
                        <a:ext uri="{FF2B5EF4-FFF2-40B4-BE49-F238E27FC236}">
                          <a16:creationId xmlns:a16="http://schemas.microsoft.com/office/drawing/2014/main" id="{F5519612-BD62-973E-844E-28D26CA688A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9" name="直線接點 208">
                      <a:extLst>
                        <a:ext uri="{FF2B5EF4-FFF2-40B4-BE49-F238E27FC236}">
                          <a16:creationId xmlns:a16="http://schemas.microsoft.com/office/drawing/2014/main" id="{DD154046-BC3B-5D59-E7D9-D2C33CA93D0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" name="直線接點 209">
                      <a:extLst>
                        <a:ext uri="{FF2B5EF4-FFF2-40B4-BE49-F238E27FC236}">
                          <a16:creationId xmlns:a16="http://schemas.microsoft.com/office/drawing/2014/main" id="{EA6F9447-8F29-72E6-1374-D27245F2909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06" name="直線接點 205">
                    <a:extLst>
                      <a:ext uri="{FF2B5EF4-FFF2-40B4-BE49-F238E27FC236}">
                        <a16:creationId xmlns:a16="http://schemas.microsoft.com/office/drawing/2014/main" id="{E563166B-2BB7-8E9A-A6D0-67115051C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21" name="群組 220">
                <a:extLst>
                  <a:ext uri="{FF2B5EF4-FFF2-40B4-BE49-F238E27FC236}">
                    <a16:creationId xmlns:a16="http://schemas.microsoft.com/office/drawing/2014/main" id="{1AB4927E-B8BA-86E9-1A7C-8ED9F0D45B55}"/>
                  </a:ext>
                </a:extLst>
              </p:cNvPr>
              <p:cNvGrpSpPr/>
              <p:nvPr/>
            </p:nvGrpSpPr>
            <p:grpSpPr>
              <a:xfrm>
                <a:off x="1255878" y="4872017"/>
                <a:ext cx="4839969" cy="689547"/>
                <a:chOff x="1255878" y="4872017"/>
                <a:chExt cx="4839969" cy="689547"/>
              </a:xfrm>
            </p:grpSpPr>
            <p:sp>
              <p:nvSpPr>
                <p:cNvPr id="212" name="橢圓 211">
                  <a:extLst>
                    <a:ext uri="{FF2B5EF4-FFF2-40B4-BE49-F238E27FC236}">
                      <a16:creationId xmlns:a16="http://schemas.microsoft.com/office/drawing/2014/main" id="{11431317-B349-36BE-4903-99EFB1C85867}"/>
                    </a:ext>
                  </a:extLst>
                </p:cNvPr>
                <p:cNvSpPr/>
                <p:nvPr/>
              </p:nvSpPr>
              <p:spPr>
                <a:xfrm>
                  <a:off x="1255878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1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橢圓 212">
                  <a:extLst>
                    <a:ext uri="{FF2B5EF4-FFF2-40B4-BE49-F238E27FC236}">
                      <a16:creationId xmlns:a16="http://schemas.microsoft.com/office/drawing/2014/main" id="{3049E11F-3207-EDE5-EAFE-D95C3AF1D429}"/>
                    </a:ext>
                  </a:extLst>
                </p:cNvPr>
                <p:cNvSpPr/>
                <p:nvPr/>
              </p:nvSpPr>
              <p:spPr>
                <a:xfrm>
                  <a:off x="2525607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2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橢圓 213">
                  <a:extLst>
                    <a:ext uri="{FF2B5EF4-FFF2-40B4-BE49-F238E27FC236}">
                      <a16:creationId xmlns:a16="http://schemas.microsoft.com/office/drawing/2014/main" id="{01B20321-1A1B-0AAE-1CB3-072935AAE254}"/>
                    </a:ext>
                  </a:extLst>
                </p:cNvPr>
                <p:cNvSpPr/>
                <p:nvPr/>
              </p:nvSpPr>
              <p:spPr>
                <a:xfrm>
                  <a:off x="5735847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4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橢圓 214">
                  <a:extLst>
                    <a:ext uri="{FF2B5EF4-FFF2-40B4-BE49-F238E27FC236}">
                      <a16:creationId xmlns:a16="http://schemas.microsoft.com/office/drawing/2014/main" id="{C184DB9B-43F6-EAEF-9C18-A8349673F21C}"/>
                    </a:ext>
                  </a:extLst>
                </p:cNvPr>
                <p:cNvSpPr/>
                <p:nvPr/>
              </p:nvSpPr>
              <p:spPr>
                <a:xfrm>
                  <a:off x="4155336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3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16" name="直線接點 215">
                  <a:extLst>
                    <a:ext uri="{FF2B5EF4-FFF2-40B4-BE49-F238E27FC236}">
                      <a16:creationId xmlns:a16="http://schemas.microsoft.com/office/drawing/2014/main" id="{E542C5D8-956D-31AA-6D44-54AF636531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3086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線接點 217">
                  <a:extLst>
                    <a:ext uri="{FF2B5EF4-FFF2-40B4-BE49-F238E27FC236}">
                      <a16:creationId xmlns:a16="http://schemas.microsoft.com/office/drawing/2014/main" id="{0914FE01-D405-5639-561D-DAFCCBCFD2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0560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直線接點 218">
                  <a:extLst>
                    <a:ext uri="{FF2B5EF4-FFF2-40B4-BE49-F238E27FC236}">
                      <a16:creationId xmlns:a16="http://schemas.microsoft.com/office/drawing/2014/main" id="{D168BC7B-6B0C-F04C-FB79-73EEA64AC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3533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接點 219">
                  <a:extLst>
                    <a:ext uri="{FF2B5EF4-FFF2-40B4-BE49-F238E27FC236}">
                      <a16:creationId xmlns:a16="http://schemas.microsoft.com/office/drawing/2014/main" id="{0251D039-58CD-8965-849D-CFF26EB160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84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5" name="群組 224">
              <a:extLst>
                <a:ext uri="{FF2B5EF4-FFF2-40B4-BE49-F238E27FC236}">
                  <a16:creationId xmlns:a16="http://schemas.microsoft.com/office/drawing/2014/main" id="{F0BB29CE-5103-B12E-1B6A-36EBE208B524}"/>
                </a:ext>
              </a:extLst>
            </p:cNvPr>
            <p:cNvGrpSpPr/>
            <p:nvPr/>
          </p:nvGrpSpPr>
          <p:grpSpPr>
            <a:xfrm>
              <a:off x="421108" y="1161561"/>
              <a:ext cx="975613" cy="4175860"/>
              <a:chOff x="421108" y="1161561"/>
              <a:chExt cx="975613" cy="4175860"/>
            </a:xfrm>
          </p:grpSpPr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D7F00A91-289B-D2A1-E4FE-60A7FC2B4195}"/>
                  </a:ext>
                </a:extLst>
              </p:cNvPr>
              <p:cNvSpPr txBox="1"/>
              <p:nvPr/>
            </p:nvSpPr>
            <p:spPr>
              <a:xfrm>
                <a:off x="421109" y="4968089"/>
                <a:ext cx="885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Inputs:</a:t>
                </a:r>
                <a:endParaRPr lang="zh-TW" altLang="en-US" dirty="0"/>
              </a:p>
            </p:txBody>
          </p:sp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FBF99730-01F8-C895-9C6A-89E0B0010547}"/>
                  </a:ext>
                </a:extLst>
              </p:cNvPr>
              <p:cNvSpPr txBox="1"/>
              <p:nvPr/>
            </p:nvSpPr>
            <p:spPr>
              <a:xfrm>
                <a:off x="421108" y="1161561"/>
                <a:ext cx="975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outputs:</a:t>
                </a:r>
                <a:endParaRPr lang="zh-TW" altLang="en-US" dirty="0"/>
              </a:p>
            </p:txBody>
          </p:sp>
        </p:grpSp>
      </p:grpSp>
      <p:sp>
        <p:nvSpPr>
          <p:cNvPr id="227" name="文字方塊 226">
            <a:extLst>
              <a:ext uri="{FF2B5EF4-FFF2-40B4-BE49-F238E27FC236}">
                <a16:creationId xmlns:a16="http://schemas.microsoft.com/office/drawing/2014/main" id="{2CECFF8A-4FE6-61B0-20C2-0CF6610D5910}"/>
              </a:ext>
            </a:extLst>
          </p:cNvPr>
          <p:cNvSpPr txBox="1"/>
          <p:nvPr/>
        </p:nvSpPr>
        <p:spPr>
          <a:xfrm>
            <a:off x="350282" y="5572343"/>
            <a:ext cx="114729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計算成本主要來自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shared trunk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的額外成本相對有限，因此可透過一次預測多個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future tokens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加速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86810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DE07AD-13A0-2A8E-3C07-2F85A1FA04F6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2C52477-F705-FD06-FEC3-A0873DE68E3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Part2: </a:t>
            </a:r>
            <a:r>
              <a:rPr lang="en-US" b="1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Related works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17979C9-87ED-7BE5-4E5E-D7FF91BCD99C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Baseline training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DE8C5B00-025E-1617-CD8C-31F3167B97C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E713648-263A-2A5F-5E28-13D213A06B89}"/>
              </a:ext>
            </a:extLst>
          </p:cNvPr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未加入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時，各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僅針對對應的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ground-truth token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獨立計算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CE loss。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3F953AE-D463-A63B-D541-D8DDDED1AC4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優點：架構簡單，與標準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訓練流程相容。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限制：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distribution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可能與可靠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不一致。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E5BC8D6-A272-14A8-0DC0-D6539CA32A7A}"/>
              </a:ext>
            </a:extLst>
          </p:cNvPr>
          <p:cNvGrpSpPr/>
          <p:nvPr/>
        </p:nvGrpSpPr>
        <p:grpSpPr>
          <a:xfrm>
            <a:off x="793461" y="2624041"/>
            <a:ext cx="3756816" cy="2330611"/>
            <a:chOff x="997647" y="2064747"/>
            <a:chExt cx="3756816" cy="2330611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EEEB34FA-2893-8F34-5B86-60AC2D5F2369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Shared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F25EA1F2-8DAC-339C-A2D6-1A2C0679D00D}"/>
                </a:ext>
              </a:extLst>
            </p:cNvPr>
            <p:cNvGrpSpPr/>
            <p:nvPr/>
          </p:nvGrpSpPr>
          <p:grpSpPr>
            <a:xfrm>
              <a:off x="997647" y="2064747"/>
              <a:ext cx="3756816" cy="1577318"/>
              <a:chOff x="997647" y="2064747"/>
              <a:chExt cx="3756816" cy="1577318"/>
            </a:xfrm>
          </p:grpSpPr>
          <p:grpSp>
            <p:nvGrpSpPr>
              <p:cNvPr id="15" name="群組 14">
                <a:extLst>
                  <a:ext uri="{FF2B5EF4-FFF2-40B4-BE49-F238E27FC236}">
                    <a16:creationId xmlns:a16="http://schemas.microsoft.com/office/drawing/2014/main" id="{8327126C-F05C-6139-F352-2A1E33C8C764}"/>
                  </a:ext>
                </a:extLst>
              </p:cNvPr>
              <p:cNvGrpSpPr/>
              <p:nvPr/>
            </p:nvGrpSpPr>
            <p:grpSpPr>
              <a:xfrm>
                <a:off x="997647" y="2064747"/>
                <a:ext cx="3756816" cy="1577318"/>
                <a:chOff x="1189606" y="2432455"/>
                <a:chExt cx="3756816" cy="1577318"/>
              </a:xfrm>
            </p:grpSpPr>
            <p:grpSp>
              <p:nvGrpSpPr>
                <p:cNvPr id="17" name="群組 16">
                  <a:extLst>
                    <a:ext uri="{FF2B5EF4-FFF2-40B4-BE49-F238E27FC236}">
                      <a16:creationId xmlns:a16="http://schemas.microsoft.com/office/drawing/2014/main" id="{7B2EC2A7-1768-8B1D-1FBC-399795A83D3D}"/>
                    </a:ext>
                  </a:extLst>
                </p:cNvPr>
                <p:cNvGrpSpPr/>
                <p:nvPr/>
              </p:nvGrpSpPr>
              <p:grpSpPr>
                <a:xfrm>
                  <a:off x="1189606" y="2432455"/>
                  <a:ext cx="3756816" cy="996039"/>
                  <a:chOff x="1189606" y="2646026"/>
                  <a:chExt cx="3756816" cy="996039"/>
                </a:xfrm>
              </p:grpSpPr>
              <p:sp>
                <p:nvSpPr>
                  <p:cNvPr id="24" name="矩形: 圓角 23">
                    <a:extLst>
                      <a:ext uri="{FF2B5EF4-FFF2-40B4-BE49-F238E27FC236}">
                        <a16:creationId xmlns:a16="http://schemas.microsoft.com/office/drawing/2014/main" id="{B173B7A4-8000-C810-1398-F89860E722FF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" name="矩形: 圓角 24">
                    <a:extLst>
                      <a:ext uri="{FF2B5EF4-FFF2-40B4-BE49-F238E27FC236}">
                        <a16:creationId xmlns:a16="http://schemas.microsoft.com/office/drawing/2014/main" id="{619F46DE-D676-1C33-B286-39B225C931E8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" name="文字方塊 25">
                    <a:extLst>
                      <a:ext uri="{FF2B5EF4-FFF2-40B4-BE49-F238E27FC236}">
                        <a16:creationId xmlns:a16="http://schemas.microsoft.com/office/drawing/2014/main" id="{6046C5E0-BCC3-CA6D-7CC1-1BF47A9731D9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698844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27" name="矩形: 圓角 26">
                    <a:extLst>
                      <a:ext uri="{FF2B5EF4-FFF2-40B4-BE49-F238E27FC236}">
                        <a16:creationId xmlns:a16="http://schemas.microsoft.com/office/drawing/2014/main" id="{6A293CB9-0883-B24B-BEB6-CD5DD3AF81B0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箭號: 上彎 27">
                    <a:extLst>
                      <a:ext uri="{FF2B5EF4-FFF2-40B4-BE49-F238E27FC236}">
                        <a16:creationId xmlns:a16="http://schemas.microsoft.com/office/drawing/2014/main" id="{FD61E278-2EA3-EA08-3AD8-A2C0549A8BC1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9" name="箭號: 上彎 28">
                    <a:extLst>
                      <a:ext uri="{FF2B5EF4-FFF2-40B4-BE49-F238E27FC236}">
                        <a16:creationId xmlns:a16="http://schemas.microsoft.com/office/drawing/2014/main" id="{0D3C8C67-9A4D-6DEF-5A63-977BE7FEEA07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30" name="箭號: 上彎 29">
                    <a:extLst>
                      <a:ext uri="{FF2B5EF4-FFF2-40B4-BE49-F238E27FC236}">
                        <a16:creationId xmlns:a16="http://schemas.microsoft.com/office/drawing/2014/main" id="{309908DF-928A-44E2-F350-7DD4F4646E29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</p:grpSp>
            <p:grpSp>
              <p:nvGrpSpPr>
                <p:cNvPr id="18" name="群組 17">
                  <a:extLst>
                    <a:ext uri="{FF2B5EF4-FFF2-40B4-BE49-F238E27FC236}">
                      <a16:creationId xmlns:a16="http://schemas.microsoft.com/office/drawing/2014/main" id="{862D8634-4B05-C00E-7C28-29BFD742C411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19" name="矩形 18">
                    <a:extLst>
                      <a:ext uri="{FF2B5EF4-FFF2-40B4-BE49-F238E27FC236}">
                        <a16:creationId xmlns:a16="http://schemas.microsoft.com/office/drawing/2014/main" id="{7EFD04CA-935A-5775-973E-7A07CA80CC9F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0" name="矩形 19">
                    <a:extLst>
                      <a:ext uri="{FF2B5EF4-FFF2-40B4-BE49-F238E27FC236}">
                        <a16:creationId xmlns:a16="http://schemas.microsoft.com/office/drawing/2014/main" id="{F791B0EA-285F-F9AD-5704-157CE644FDA3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1" name="矩形 20">
                    <a:extLst>
                      <a:ext uri="{FF2B5EF4-FFF2-40B4-BE49-F238E27FC236}">
                        <a16:creationId xmlns:a16="http://schemas.microsoft.com/office/drawing/2014/main" id="{73B1DDA4-808F-230D-9AA2-D39F2B6E7902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BDC62DA5-8AE3-5A36-3901-EADC980912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23" name="箭號: 向下 22">
                    <a:extLst>
                      <a:ext uri="{FF2B5EF4-FFF2-40B4-BE49-F238E27FC236}">
                        <a16:creationId xmlns:a16="http://schemas.microsoft.com/office/drawing/2014/main" id="{9F8662B1-484F-49DB-2891-BB9F91B1B154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64C7616-92D2-7F7C-5687-95055867C59C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13D76BE9-0FE7-0261-9583-71484387C7FE}"/>
              </a:ext>
            </a:extLst>
          </p:cNvPr>
          <p:cNvGrpSpPr/>
          <p:nvPr/>
        </p:nvGrpSpPr>
        <p:grpSpPr>
          <a:xfrm>
            <a:off x="661764" y="1524859"/>
            <a:ext cx="3964602" cy="1067017"/>
            <a:chOff x="661764" y="1524859"/>
            <a:chExt cx="3964602" cy="1067017"/>
          </a:xfrm>
        </p:grpSpPr>
        <p:sp>
          <p:nvSpPr>
            <p:cNvPr id="32" name="矩形: 圓角 31">
              <a:extLst>
                <a:ext uri="{FF2B5EF4-FFF2-40B4-BE49-F238E27FC236}">
                  <a16:creationId xmlns:a16="http://schemas.microsoft.com/office/drawing/2014/main" id="{65EA22F7-442C-2F9C-57CB-552699B66B86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1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505EA2DC-C2D1-FE0A-88F7-BE18740E4005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2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7F6E45B6-37AF-45B1-B793-2AB3359CBEBF}"/>
                </a:ext>
              </a:extLst>
            </p:cNvPr>
            <p:cNvSpPr txBox="1"/>
            <p:nvPr/>
          </p:nvSpPr>
          <p:spPr>
            <a:xfrm>
              <a:off x="2983065" y="157767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A81DBE75-D33A-0DFE-BF8A-1D4C16C3502E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K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54D837D7-DCA7-F910-A693-EEDD0D29547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FEC7BD18-E720-D70F-AFDF-60548FF14174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9680672D-4AB8-E922-B110-7D75E774E36D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7" name="群組 36">
              <a:extLst>
                <a:ext uri="{FF2B5EF4-FFF2-40B4-BE49-F238E27FC236}">
                  <a16:creationId xmlns:a16="http://schemas.microsoft.com/office/drawing/2014/main" id="{72F289FD-26C5-E706-5894-952AAC7CD54E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1" name="箭號: 向上 40">
                <a:extLst>
                  <a:ext uri="{FF2B5EF4-FFF2-40B4-BE49-F238E27FC236}">
                    <a16:creationId xmlns:a16="http://schemas.microsoft.com/office/drawing/2014/main" id="{443D3998-6FE4-37C9-2B80-CCB1650B7F08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2" name="箭號: 向上 41">
                <a:extLst>
                  <a:ext uri="{FF2B5EF4-FFF2-40B4-BE49-F238E27FC236}">
                    <a16:creationId xmlns:a16="http://schemas.microsoft.com/office/drawing/2014/main" id="{2663853C-C3D1-FD9F-F005-EF522E23CD6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463A5FD0-5EEB-A66E-2930-C6B6DF801E6E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39" name="箭號: 向上 38">
                <a:extLst>
                  <a:ext uri="{FF2B5EF4-FFF2-40B4-BE49-F238E27FC236}">
                    <a16:creationId xmlns:a16="http://schemas.microsoft.com/office/drawing/2014/main" id="{EE5611D3-FCC3-9C4B-5CA6-93F51C27918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上 39">
                <a:extLst>
                  <a:ext uri="{FF2B5EF4-FFF2-40B4-BE49-F238E27FC236}">
                    <a16:creationId xmlns:a16="http://schemas.microsoft.com/office/drawing/2014/main" id="{1687B27C-A8CD-8E73-4F2F-1264259F7EC1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7D097BA6-9A0F-90AB-2319-26C147C59566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373B616B-0AC5-5E9D-DDC0-AEE7A0E5554C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/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/>
                <a:t>Backward</a:t>
              </a:r>
            </a:p>
          </p:txBody>
        </p:sp>
        <p:sp>
          <p:nvSpPr>
            <p:cNvPr id="47" name="箭號: 向上 46">
              <a:extLst>
                <a:ext uri="{FF2B5EF4-FFF2-40B4-BE49-F238E27FC236}">
                  <a16:creationId xmlns:a16="http://schemas.microsoft.com/office/drawing/2014/main" id="{1CA5CDD3-E55D-02F4-368B-1D7450E7C48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箭號: 向上 47">
              <a:extLst>
                <a:ext uri="{FF2B5EF4-FFF2-40B4-BE49-F238E27FC236}">
                  <a16:creationId xmlns:a16="http://schemas.microsoft.com/office/drawing/2014/main" id="{4437B719-3AB2-6CE3-EA5D-4B318D7BF182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B90194D-DCB9-8D91-AFB9-EFC5E82628A7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/>
              <a:t>z = </a:t>
            </a:r>
            <a:r>
              <a:rPr lang="en-US" altLang="zh-TW" dirty="0" err="1"/>
              <a:t>model.shared</a:t>
            </a:r>
            <a:r>
              <a:rPr lang="en-US" altLang="zh-TW" dirty="0"/>
              <a:t>(x)</a:t>
            </a:r>
          </a:p>
          <a:p>
            <a:r>
              <a:rPr lang="en-US" altLang="zh-TW" dirty="0"/>
              <a:t>d = </a:t>
            </a:r>
            <a:r>
              <a:rPr lang="en-US" altLang="zh-TW" dirty="0" err="1"/>
              <a:t>z.detach</a:t>
            </a:r>
            <a:r>
              <a:rPr lang="en-US" altLang="zh-TW" dirty="0"/>
              <a:t>()</a:t>
            </a:r>
          </a:p>
          <a:p>
            <a:r>
              <a:rPr lang="en-US" altLang="zh-TW" dirty="0" err="1"/>
              <a:t>d.requires_grad</a:t>
            </a:r>
            <a:r>
              <a:rPr lang="en-US" altLang="zh-TW" dirty="0"/>
              <a:t> = True</a:t>
            </a:r>
          </a:p>
          <a:p>
            <a:endParaRPr lang="en-US" altLang="zh-TW" dirty="0"/>
          </a:p>
          <a:p>
            <a:r>
              <a:rPr lang="en-US" altLang="zh-TW" dirty="0"/>
              <a:t>for </a:t>
            </a:r>
            <a:r>
              <a:rPr lang="en-US" altLang="zh-TW" dirty="0" err="1"/>
              <a:t>i</a:t>
            </a:r>
            <a:r>
              <a:rPr lang="en-US" altLang="zh-TW" dirty="0"/>
              <a:t> in range(n):</a:t>
            </a:r>
          </a:p>
          <a:p>
            <a:r>
              <a:rPr lang="en-US" altLang="zh-TW" dirty="0"/>
              <a:t>    p = </a:t>
            </a:r>
            <a:r>
              <a:rPr lang="en-US" altLang="zh-TW" dirty="0" err="1"/>
              <a:t>model.head</a:t>
            </a:r>
            <a:r>
              <a:rPr lang="en-US" altLang="zh-TW" dirty="0"/>
              <a:t>[</a:t>
            </a:r>
            <a:r>
              <a:rPr lang="en-US" altLang="zh-TW" dirty="0" err="1"/>
              <a:t>i</a:t>
            </a:r>
            <a:r>
              <a:rPr lang="en-US" altLang="zh-TW" dirty="0"/>
              <a:t>](d)</a:t>
            </a:r>
          </a:p>
          <a:p>
            <a:r>
              <a:rPr lang="en-US" altLang="zh-TW" dirty="0"/>
              <a:t>    loss(p, y[</a:t>
            </a:r>
            <a:r>
              <a:rPr lang="en-US" altLang="zh-TW" dirty="0" err="1"/>
              <a:t>i</a:t>
            </a:r>
            <a:r>
              <a:rPr lang="en-US" altLang="zh-TW" dirty="0"/>
              <a:t>]).backward()</a:t>
            </a:r>
          </a:p>
          <a:p>
            <a:r>
              <a:rPr lang="en-US" altLang="zh-TW" dirty="0"/>
              <a:t> </a:t>
            </a:r>
          </a:p>
          <a:p>
            <a:r>
              <a:rPr lang="en-US" altLang="zh-TW" dirty="0" err="1"/>
              <a:t>z.backward</a:t>
            </a:r>
            <a:r>
              <a:rPr lang="en-US" altLang="zh-TW" dirty="0"/>
              <a:t>(gradient=</a:t>
            </a:r>
            <a:r>
              <a:rPr lang="en-US" altLang="zh-TW" dirty="0" err="1"/>
              <a:t>d.grad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2E8ADC-552C-60BD-F702-F6CAED0F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6522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10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979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D1FF0A30-0594-EB2E-C03B-D6ECD1F5815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EE5B06C-E6D2-FD6A-7058-EE921DC7B422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4C5F3F7-6909-D322-DB3C-EEFA70F79481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Proposed method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E6882-B7B0-F2AF-719F-B27BC5D8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11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232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F3ECEC0-B1EA-EE1E-1D3A-F58873052B7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318ED0CB-9DF7-A8D5-AF9A-6A60ABE2765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811688-07B4-BC53-3A07-4C16D79B54C7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BB07815-CEB4-7046-D8A1-801EBA09383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63D5E1-9012-11EC-4EE2-E4FFC9B1F1E7}"/>
              </a:ext>
            </a:extLst>
          </p:cNvPr>
          <p:cNvSpPr txBox="1"/>
          <p:nvPr/>
        </p:nvSpPr>
        <p:spPr>
          <a:xfrm>
            <a:off x="347472" y="5908467"/>
            <a:ext cx="11304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控制噪聲遮罩閾值。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過高，會讓模型整體傾向高信心度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重複度的回答，可能造成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/ draft acceptance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下降，</a:t>
            </a:r>
            <a:r>
              <a:rPr lang="en-US" altLang="zh-TW" sz="16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GenPPL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 repetition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/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Teacher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/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/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Softmax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/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/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Confidence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ar-AE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ar-AE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/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Threshold mask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/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SDC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40C4B3F-241C-9EC7-55FE-9F48A24F1B70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2211245" y="156242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8DEC1A3-0469-6B45-B13B-BF8FD48AF5BF}"/>
              </a:ext>
            </a:extLst>
          </p:cNvPr>
          <p:cNvCxnSpPr/>
          <p:nvPr/>
        </p:nvCxnSpPr>
        <p:spPr>
          <a:xfrm flipV="1">
            <a:off x="5974453" y="1562419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6837BB5D-B718-3747-2628-6CB19D7D4233}"/>
              </a:ext>
            </a:extLst>
          </p:cNvPr>
          <p:cNvCxnSpPr>
            <a:cxnSpLocks/>
          </p:cNvCxnSpPr>
          <p:nvPr/>
        </p:nvCxnSpPr>
        <p:spPr>
          <a:xfrm>
            <a:off x="7967381" y="1562419"/>
            <a:ext cx="60487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58775742-89EC-F042-2DA1-C3CD5AAC9D5C}"/>
              </a:ext>
            </a:extLst>
          </p:cNvPr>
          <p:cNvCxnSpPr/>
          <p:nvPr/>
        </p:nvCxnSpPr>
        <p:spPr>
          <a:xfrm flipV="1">
            <a:off x="2211245" y="2638861"/>
            <a:ext cx="419411" cy="4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D5AC57CF-6153-9B30-9875-4EAF8F8481C1}"/>
              </a:ext>
            </a:extLst>
          </p:cNvPr>
          <p:cNvCxnSpPr>
            <a:cxnSpLocks/>
          </p:cNvCxnSpPr>
          <p:nvPr/>
        </p:nvCxnSpPr>
        <p:spPr>
          <a:xfrm>
            <a:off x="4050600" y="2638865"/>
            <a:ext cx="4521656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/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 altLang="zh-TW" sz="140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func>
                        <m:func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400" i="1" dirty="0"/>
              </a:p>
              <a:p>
                <a:endParaRPr lang="en-US" altLang="zh-TW" sz="1400" i="1" dirty="0"/>
              </a:p>
              <a:p>
                <a:r>
                  <a:rPr lang="en-US" altLang="zh-TW" sz="1400" i="1" dirty="0"/>
                  <a:t>V = vocabulary size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Confidence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 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threshold</m:t>
                      </m:r>
                    </m:oMath>
                  </m:oMathPara>
                </a14:m>
                <a:endParaRPr lang="en-US" altLang="zh-TW" sz="14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𝐾𝐿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𝑖𝑣𝑒𝑟𝑔𝑒𝑛𝑐𝑒</m:t>
                      </m:r>
                    </m:oMath>
                  </m:oMathPara>
                </a14:m>
                <a:endParaRPr lang="en-US" altLang="zh-TW" sz="1400" i="1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blipFill>
                <a:blip r:embed="rId9"/>
                <a:stretch>
                  <a:fillRect l="-14917" t="-20882" b="-297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20151D9A-B4EC-8617-3889-429C1C2FC035}"/>
              </a:ext>
            </a:extLst>
          </p:cNvPr>
          <p:cNvCxnSpPr/>
          <p:nvPr/>
        </p:nvCxnSpPr>
        <p:spPr>
          <a:xfrm flipV="1">
            <a:off x="4054722" y="156029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9A939F9-FB72-797D-294A-69028F5FF531}"/>
              </a:ext>
            </a:extLst>
          </p:cNvPr>
          <p:cNvSpPr/>
          <p:nvPr/>
        </p:nvSpPr>
        <p:spPr>
          <a:xfrm>
            <a:off x="8233651" y="3264400"/>
            <a:ext cx="3402089" cy="24340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sz="1400" dirty="0">
                <a:solidFill>
                  <a:schemeClr val="tx1"/>
                </a:solidFill>
              </a:rPr>
              <a:t>t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[0](d).detach())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for 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s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](d))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= 0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r>
              <a:rPr lang="en-US" altLang="zh-TW" sz="1400" dirty="0">
                <a:solidFill>
                  <a:schemeClr val="tx1"/>
                </a:solidFill>
              </a:rPr>
              <a:t>    for j in range(</a:t>
            </a:r>
            <a:r>
              <a:rPr lang="en-US" altLang="zh-TW" sz="1400" dirty="0" err="1">
                <a:solidFill>
                  <a:schemeClr val="tx1"/>
                </a:solidFill>
              </a:rPr>
              <a:t>c.length</a:t>
            </a:r>
            <a:r>
              <a:rPr lang="en-US" altLang="zh-TW" sz="1400" dirty="0">
                <a:solidFill>
                  <a:schemeClr val="tx1"/>
                </a:solidFill>
              </a:rPr>
              <a:t>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if c[j] &gt;= threshold: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+= kl(t[j],  s[j])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total_loss</a:t>
            </a:r>
            <a:r>
              <a:rPr lang="en-US" altLang="zh-TW" sz="1400" dirty="0">
                <a:solidFill>
                  <a:schemeClr val="tx1"/>
                </a:solidFill>
              </a:rPr>
              <a:t> +=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endParaRPr lang="en-US" altLang="zh-TW" sz="14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F5527B-0C1C-AA8C-CFC7-84114A1DB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12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506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573D0EA-AF46-A3FF-B054-585EBFA0928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F29EAD-D533-0B61-2726-3E8377AE68C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791945F-3741-A814-1ED6-881AC78AEB8D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286C9BB0-08CF-1710-CAD3-6992250DA91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01170F5-6B4F-2AC4-ABE4-99011DDF0B29}"/>
              </a:ext>
            </a:extLst>
          </p:cNvPr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不直接對齊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distribution，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而是在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/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length</m:t>
                      </m:r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dimension</m:t>
                      </m:r>
                    </m:oMath>
                  </m:oMathPara>
                </a14:m>
                <a:endParaRPr lang="en-US" altLang="zh-TW" sz="1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>
                        <a:latin typeface="Cambria Math" panose="02040503050406030204" pitchFamily="18" charset="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state</m:t>
                    </m:r>
                  </m:oMath>
                </a14:m>
                <a:r>
                  <a:rPr lang="en-US" altLang="zh-TW" sz="1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blipFill>
                <a:blip r:embed="rId2"/>
                <a:stretch>
                  <a:fillRect l="-2778" b="-7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/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teacher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/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/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LCM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63D84166-2218-1401-C1DF-6ECBE34F62C6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2778710" y="1883598"/>
            <a:ext cx="52280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81D7C412-98DB-2623-3C77-04A4CAB611E4}"/>
              </a:ext>
            </a:extLst>
          </p:cNvPr>
          <p:cNvCxnSpPr>
            <a:cxnSpLocks/>
          </p:cNvCxnSpPr>
          <p:nvPr/>
        </p:nvCxnSpPr>
        <p:spPr>
          <a:xfrm>
            <a:off x="2778710" y="2763967"/>
            <a:ext cx="522805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FEC60A1-208A-D87A-E4BC-806E02DA99AA}"/>
              </a:ext>
            </a:extLst>
          </p:cNvPr>
          <p:cNvSpPr/>
          <p:nvPr/>
        </p:nvSpPr>
        <p:spPr>
          <a:xfrm>
            <a:off x="7133119" y="3665823"/>
            <a:ext cx="4690073" cy="240629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[0](d).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last_hidden_state.detach</a:t>
            </a:r>
            <a:r>
              <a:rPr lang="en-US" altLang="zh-TW" sz="1600" dirty="0">
                <a:solidFill>
                  <a:schemeClr val="tx1"/>
                </a:solidFill>
              </a:rPr>
              <a:t>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for 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</a:t>
            </a:r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r>
              <a:rPr lang="en-US" altLang="zh-TW" sz="1600" dirty="0">
                <a:solidFill>
                  <a:schemeClr val="tx1"/>
                </a:solidFill>
              </a:rPr>
              <a:t> = (</a:t>
            </a:r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-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).pow(2).mean().mean()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total_loss</a:t>
            </a:r>
            <a:r>
              <a:rPr lang="en-US" altLang="zh-TW" sz="1600" dirty="0">
                <a:solidFill>
                  <a:schemeClr val="tx1"/>
                </a:solidFill>
              </a:rPr>
              <a:t> += lcm _loss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29E285-5C11-3673-8EBB-687CDC918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13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30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7C9F098-DE57-3A42-CA10-9CE52E003229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64AFC7C3-1290-0262-914D-63F3E40C9B83}"/>
                  </a:ext>
                </a:extLst>
              </p:cNvPr>
              <p:cNvSpPr txBox="1"/>
              <p:nvPr/>
            </p:nvSpPr>
            <p:spPr>
              <a:xfrm>
                <a:off x="6584535" y="5046388"/>
                <a:ext cx="552697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16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: loss weight</a:t>
                </a: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64AFC7C3-1290-0262-914D-63F3E40C9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5046388"/>
                <a:ext cx="5526970" cy="338554"/>
              </a:xfrm>
              <a:prstGeom prst="rect">
                <a:avLst/>
              </a:prstGeom>
              <a:blipFill>
                <a:blip r:embed="rId2"/>
                <a:stretch>
                  <a:fillRect l="-441" t="-7273" b="-218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AD38D-E914-B210-DA90-FA0657E1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5184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90D5411-92F0-3E9B-36F9-6AC52512691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37EA2C1-24DB-8A86-2095-D482CE46196B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Method overview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6BAD6AB-2481-BA5C-2827-7ED3AEAB2E28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F026A3A-B314-B966-B845-2DEF84AD9331}"/>
              </a:ext>
            </a:extLst>
          </p:cNvPr>
          <p:cNvSpPr/>
          <p:nvPr/>
        </p:nvSpPr>
        <p:spPr>
          <a:xfrm>
            <a:off x="502920" y="914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本研究將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CE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SDC / LCM consistency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結合，對齊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和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的分佈。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00054B5-782B-0391-DD00-B726944066FC}"/>
              </a:ext>
            </a:extLst>
          </p:cNvPr>
          <p:cNvGrpSpPr/>
          <p:nvPr/>
        </p:nvGrpSpPr>
        <p:grpSpPr>
          <a:xfrm>
            <a:off x="8352520" y="1309035"/>
            <a:ext cx="3776308" cy="2776787"/>
            <a:chOff x="8243995" y="1035356"/>
            <a:chExt cx="3776308" cy="2776787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1A52BF00-3821-3994-2787-4FBD4EC13920}"/>
                </a:ext>
              </a:extLst>
            </p:cNvPr>
            <p:cNvGrpSpPr/>
            <p:nvPr/>
          </p:nvGrpSpPr>
          <p:grpSpPr>
            <a:xfrm>
              <a:off x="8243995" y="1035356"/>
              <a:ext cx="3776308" cy="2776787"/>
              <a:chOff x="4831951" y="1346844"/>
              <a:chExt cx="3776308" cy="1849730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E6B8F08-19D0-531E-B08A-98C871885590}"/>
                  </a:ext>
                </a:extLst>
              </p:cNvPr>
              <p:cNvSpPr txBox="1"/>
              <p:nvPr/>
            </p:nvSpPr>
            <p:spPr>
              <a:xfrm>
                <a:off x="4831951" y="1346844"/>
                <a:ext cx="3776308" cy="1849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Teacher probability or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probability</a:t>
                </a:r>
              </a:p>
            </p:txBody>
          </p:sp>
          <p:sp>
            <p:nvSpPr>
              <p:cNvPr id="16" name="箭號: 向上 15">
                <a:extLst>
                  <a:ext uri="{FF2B5EF4-FFF2-40B4-BE49-F238E27FC236}">
                    <a16:creationId xmlns:a16="http://schemas.microsoft.com/office/drawing/2014/main" id="{1A089C36-FE2B-BE41-7BEF-4E3BE8ACF6AA}"/>
                  </a:ext>
                </a:extLst>
              </p:cNvPr>
              <p:cNvSpPr/>
              <p:nvPr/>
            </p:nvSpPr>
            <p:spPr>
              <a:xfrm>
                <a:off x="4861741" y="1446963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7" name="箭號: 向上 16">
                <a:extLst>
                  <a:ext uri="{FF2B5EF4-FFF2-40B4-BE49-F238E27FC236}">
                    <a16:creationId xmlns:a16="http://schemas.microsoft.com/office/drawing/2014/main" id="{70AD19A1-857D-CC17-BB70-B9FEF815E57B}"/>
                  </a:ext>
                </a:extLst>
              </p:cNvPr>
              <p:cNvSpPr/>
              <p:nvPr/>
            </p:nvSpPr>
            <p:spPr>
              <a:xfrm>
                <a:off x="4861741" y="1796970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13" name="箭號: 向上 12">
              <a:extLst>
                <a:ext uri="{FF2B5EF4-FFF2-40B4-BE49-F238E27FC236}">
                  <a16:creationId xmlns:a16="http://schemas.microsoft.com/office/drawing/2014/main" id="{035184CF-F636-7677-D1A7-F06A0C8C036C}"/>
                </a:ext>
              </a:extLst>
            </p:cNvPr>
            <p:cNvSpPr/>
            <p:nvPr/>
          </p:nvSpPr>
          <p:spPr>
            <a:xfrm>
              <a:off x="8273785" y="2243078"/>
              <a:ext cx="215809" cy="432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箭號: 向上 13">
              <a:extLst>
                <a:ext uri="{FF2B5EF4-FFF2-40B4-BE49-F238E27FC236}">
                  <a16:creationId xmlns:a16="http://schemas.microsoft.com/office/drawing/2014/main" id="{19F64B9C-B725-CD0D-1A09-EF2FA9C964B7}"/>
                </a:ext>
              </a:extLst>
            </p:cNvPr>
            <p:cNvSpPr/>
            <p:nvPr/>
          </p:nvSpPr>
          <p:spPr>
            <a:xfrm>
              <a:off x="8273784" y="2779166"/>
              <a:ext cx="215809" cy="432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ABEDE5F4-CF9C-7C53-F2E8-59EA9F61C57F}"/>
              </a:ext>
            </a:extLst>
          </p:cNvPr>
          <p:cNvGrpSpPr/>
          <p:nvPr/>
        </p:nvGrpSpPr>
        <p:grpSpPr>
          <a:xfrm>
            <a:off x="57720" y="1359977"/>
            <a:ext cx="7955280" cy="4523313"/>
            <a:chOff x="605936" y="1262331"/>
            <a:chExt cx="10121382" cy="4523313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B3D166D-013A-8D43-0247-96F9FE9B323B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E842CD2-BD40-510E-9020-F1DC2816F00D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84" name="箭號: 向上 83">
                <a:extLst>
                  <a:ext uri="{FF2B5EF4-FFF2-40B4-BE49-F238E27FC236}">
                    <a16:creationId xmlns:a16="http://schemas.microsoft.com/office/drawing/2014/main" id="{A173EDCC-DE15-4B9D-BBE1-B5B198BFB8F9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5" name="箭號: 向上 84">
                <a:extLst>
                  <a:ext uri="{FF2B5EF4-FFF2-40B4-BE49-F238E27FC236}">
                    <a16:creationId xmlns:a16="http://schemas.microsoft.com/office/drawing/2014/main" id="{44AB310F-56A1-8F94-4C59-7887EE6BF6BE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21" name="箭號: 向上 20">
              <a:extLst>
                <a:ext uri="{FF2B5EF4-FFF2-40B4-BE49-F238E27FC236}">
                  <a16:creationId xmlns:a16="http://schemas.microsoft.com/office/drawing/2014/main" id="{63C84C60-E543-0998-396B-43BBE6A17344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B3EA01F-9D24-745B-16DE-6B55174E0970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82" name="箭號: 向上 81">
                <a:extLst>
                  <a:ext uri="{FF2B5EF4-FFF2-40B4-BE49-F238E27FC236}">
                    <a16:creationId xmlns:a16="http://schemas.microsoft.com/office/drawing/2014/main" id="{904AA130-27FF-D0FE-5A18-443DF50ADDC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3" name="箭號: 向上 82">
                <a:extLst>
                  <a:ext uri="{FF2B5EF4-FFF2-40B4-BE49-F238E27FC236}">
                    <a16:creationId xmlns:a16="http://schemas.microsoft.com/office/drawing/2014/main" id="{9035ECEB-0BF3-75CF-9E59-44B69259ABA1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83EA5CE0-7BEE-6DD4-6F4C-B0377CCB274E}"/>
                </a:ext>
              </a:extLst>
            </p:cNvPr>
            <p:cNvGrpSpPr/>
            <p:nvPr/>
          </p:nvGrpSpPr>
          <p:grpSpPr>
            <a:xfrm>
              <a:off x="605936" y="1262331"/>
              <a:ext cx="10121382" cy="4523313"/>
              <a:chOff x="605936" y="1262331"/>
              <a:chExt cx="10121382" cy="4523313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D0027A6E-A654-D0FD-F500-0FF0DE1F0AE4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LCM 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E606BAC3-F8EA-C1ED-EB93-03B7DB2A8494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CE</a:t>
                </a:r>
                <a:r>
                  <a: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6" name="箭號: 向上 25">
                <a:extLst>
                  <a:ext uri="{FF2B5EF4-FFF2-40B4-BE49-F238E27FC236}">
                    <a16:creationId xmlns:a16="http://schemas.microsoft.com/office/drawing/2014/main" id="{084A4308-6B27-1624-81E3-98425AA28A92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7" name="箭號: 向上 26">
                <a:extLst>
                  <a:ext uri="{FF2B5EF4-FFF2-40B4-BE49-F238E27FC236}">
                    <a16:creationId xmlns:a16="http://schemas.microsoft.com/office/drawing/2014/main" id="{8BFF931C-9E9F-462B-6CF1-451B642699F4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grpSp>
            <p:nvGrpSpPr>
              <p:cNvPr id="28" name="群組 27">
                <a:extLst>
                  <a:ext uri="{FF2B5EF4-FFF2-40B4-BE49-F238E27FC236}">
                    <a16:creationId xmlns:a16="http://schemas.microsoft.com/office/drawing/2014/main" id="{56D9BB14-0A18-40C0-730E-6373AEEB997F}"/>
                  </a:ext>
                </a:extLst>
              </p:cNvPr>
              <p:cNvGrpSpPr/>
              <p:nvPr/>
            </p:nvGrpSpPr>
            <p:grpSpPr>
              <a:xfrm>
                <a:off x="605936" y="1262331"/>
                <a:ext cx="10121382" cy="4523313"/>
                <a:chOff x="605936" y="1262331"/>
                <a:chExt cx="10121382" cy="4523313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D71E5A92-F395-3C5C-A083-184E38D69030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sp>
              <p:nvSpPr>
                <p:cNvPr id="32" name="矩形: 圓角 31">
                  <a:extLst>
                    <a:ext uri="{FF2B5EF4-FFF2-40B4-BE49-F238E27FC236}">
                      <a16:creationId xmlns:a16="http://schemas.microsoft.com/office/drawing/2014/main" id="{BECEECDF-421B-68C7-36BE-3A97A56AC0AA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4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Head 1</a:t>
                  </a:r>
                  <a:endParaRPr lang="zh-TW" altLang="en-US" sz="14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3608CAB-C64C-6A56-8F31-AD7B86B139A3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71" name="群組 70">
                    <a:extLst>
                      <a:ext uri="{FF2B5EF4-FFF2-40B4-BE49-F238E27FC236}">
                        <a16:creationId xmlns:a16="http://schemas.microsoft.com/office/drawing/2014/main" id="{B8750EE4-010D-B544-A221-BF2BB2C321E6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0A1222BF-1E48-5561-CCEA-BDBB1ACE82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CA65722C-D2E7-2B26-4FB3-F3E1E110A3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12856073-4E8F-724F-F877-9C2C49D10C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511BE064-4C00-38B6-AE27-7003C47E2D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1" name="箭號: 向下 80">
                      <a:extLst>
                        <a:ext uri="{FF2B5EF4-FFF2-40B4-BE49-F238E27FC236}">
                          <a16:creationId xmlns:a16="http://schemas.microsoft.com/office/drawing/2014/main" id="{985BA7CC-CCCA-4E6D-2B97-7895F315C7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grpSp>
                <p:nvGrpSpPr>
                  <p:cNvPr id="72" name="群組 71">
                    <a:extLst>
                      <a:ext uri="{FF2B5EF4-FFF2-40B4-BE49-F238E27FC236}">
                        <a16:creationId xmlns:a16="http://schemas.microsoft.com/office/drawing/2014/main" id="{544F6709-B540-5E6F-AD73-44C8CC584E28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EC26C22B-613D-EEAB-69A3-16E4AF5CC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4" name="箭號: 上彎 73">
                      <a:extLst>
                        <a:ext uri="{FF2B5EF4-FFF2-40B4-BE49-F238E27FC236}">
                          <a16:creationId xmlns:a16="http://schemas.microsoft.com/office/drawing/2014/main" id="{334EBA7C-1D12-C528-8A3B-4827EB8BA1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5" name="箭號: 上彎 74">
                      <a:extLst>
                        <a:ext uri="{FF2B5EF4-FFF2-40B4-BE49-F238E27FC236}">
                          <a16:creationId xmlns:a16="http://schemas.microsoft.com/office/drawing/2014/main" id="{B69358BB-4561-002F-7891-6126DB4DCE5C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E058954E-C539-AD43-5D48-108391B325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</p:grpSp>
            <p:sp>
              <p:nvSpPr>
                <p:cNvPr id="34" name="矩形: 圓角 33">
                  <a:extLst>
                    <a:ext uri="{FF2B5EF4-FFF2-40B4-BE49-F238E27FC236}">
                      <a16:creationId xmlns:a16="http://schemas.microsoft.com/office/drawing/2014/main" id="{71E181DE-1993-41ED-ADC8-C3D6192B967F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CE</a:t>
                  </a:r>
                  <a:r>
                    <a: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 </a:t>
                  </a:r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Loss 1</a:t>
                  </a:r>
                  <a:endPara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5" name="群組 34">
                  <a:extLst>
                    <a:ext uri="{FF2B5EF4-FFF2-40B4-BE49-F238E27FC236}">
                      <a16:creationId xmlns:a16="http://schemas.microsoft.com/office/drawing/2014/main" id="{A0CEF7BF-F705-CFDC-D5B1-419775BA8F8B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7" name="群組 66">
                    <a:extLst>
                      <a:ext uri="{FF2B5EF4-FFF2-40B4-BE49-F238E27FC236}">
                        <a16:creationId xmlns:a16="http://schemas.microsoft.com/office/drawing/2014/main" id="{DDB0F865-4A95-2265-1853-A8D7AD49EF0C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9" name="箭號: 向上 68">
                      <a:extLst>
                        <a:ext uri="{FF2B5EF4-FFF2-40B4-BE49-F238E27FC236}">
                          <a16:creationId xmlns:a16="http://schemas.microsoft.com/office/drawing/2014/main" id="{ED9B7001-5180-618A-6869-D914D7A71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0" name="箭號: 向上 69">
                      <a:extLst>
                        <a:ext uri="{FF2B5EF4-FFF2-40B4-BE49-F238E27FC236}">
                          <a16:creationId xmlns:a16="http://schemas.microsoft.com/office/drawing/2014/main" id="{CA355550-243B-F420-B982-D89AC23476B9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68" name="矩形 67">
                    <a:extLst>
                      <a:ext uri="{FF2B5EF4-FFF2-40B4-BE49-F238E27FC236}">
                        <a16:creationId xmlns:a16="http://schemas.microsoft.com/office/drawing/2014/main" id="{33699C96-2DE7-8F8F-E083-7C05201B4DF5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6" name="群組 35">
                  <a:extLst>
                    <a:ext uri="{FF2B5EF4-FFF2-40B4-BE49-F238E27FC236}">
                      <a16:creationId xmlns:a16="http://schemas.microsoft.com/office/drawing/2014/main" id="{0750793B-AAEE-3280-3FE1-36F8EA1E5C5D}"/>
                    </a:ext>
                  </a:extLst>
                </p:cNvPr>
                <p:cNvGrpSpPr/>
                <p:nvPr/>
              </p:nvGrpSpPr>
              <p:grpSpPr>
                <a:xfrm>
                  <a:off x="6062367" y="1262331"/>
                  <a:ext cx="571221" cy="2823813"/>
                  <a:chOff x="4361572" y="1328190"/>
                  <a:chExt cx="571221" cy="2823813"/>
                </a:xfrm>
              </p:grpSpPr>
              <p:sp>
                <p:nvSpPr>
                  <p:cNvPr id="64" name="文字方塊 63">
                    <a:extLst>
                      <a:ext uri="{FF2B5EF4-FFF2-40B4-BE49-F238E27FC236}">
                        <a16:creationId xmlns:a16="http://schemas.microsoft.com/office/drawing/2014/main" id="{C69C4A1B-7173-EB49-E84E-60390F596D80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50567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5" name="文字方塊 64">
                    <a:extLst>
                      <a:ext uri="{FF2B5EF4-FFF2-40B4-BE49-F238E27FC236}">
                        <a16:creationId xmlns:a16="http://schemas.microsoft.com/office/drawing/2014/main" id="{38181FA2-00FB-26EA-BA26-513D24CCB3A5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221331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2576391F-9DB9-3493-3EF2-DAE8676ED55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328190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7" name="群組 36">
                  <a:extLst>
                    <a:ext uri="{FF2B5EF4-FFF2-40B4-BE49-F238E27FC236}">
                      <a16:creationId xmlns:a16="http://schemas.microsoft.com/office/drawing/2014/main" id="{EBE49EDA-0AFA-00C8-1B24-8DCC0A63B8CB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57" name="矩形: 圓角 56">
                    <a:extLst>
                      <a:ext uri="{FF2B5EF4-FFF2-40B4-BE49-F238E27FC236}">
                        <a16:creationId xmlns:a16="http://schemas.microsoft.com/office/drawing/2014/main" id="{55F74A24-C87C-9388-E7CE-5304840C498E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2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8" name="矩形: 圓角 57">
                    <a:extLst>
                      <a:ext uri="{FF2B5EF4-FFF2-40B4-BE49-F238E27FC236}">
                        <a16:creationId xmlns:a16="http://schemas.microsoft.com/office/drawing/2014/main" id="{0F5F5805-BBD4-6702-9562-2F776DC9A5A4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59" name="群組 58">
                    <a:extLst>
                      <a:ext uri="{FF2B5EF4-FFF2-40B4-BE49-F238E27FC236}">
                        <a16:creationId xmlns:a16="http://schemas.microsoft.com/office/drawing/2014/main" id="{AFEF954C-3329-1C5E-27AF-472D8812056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60" name="矩形 59">
                      <a:extLst>
                        <a:ext uri="{FF2B5EF4-FFF2-40B4-BE49-F238E27FC236}">
                          <a16:creationId xmlns:a16="http://schemas.microsoft.com/office/drawing/2014/main" id="{7049A5A6-3E88-E7B3-7401-C348DE1998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grpSp>
                  <p:nvGrpSpPr>
                    <p:cNvPr id="61" name="群組 60">
                      <a:extLst>
                        <a:ext uri="{FF2B5EF4-FFF2-40B4-BE49-F238E27FC236}">
                          <a16:creationId xmlns:a16="http://schemas.microsoft.com/office/drawing/2014/main" id="{33656695-902B-13CE-AF46-91B0C2C23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62" name="矩形 61">
                        <a:extLst>
                          <a:ext uri="{FF2B5EF4-FFF2-40B4-BE49-F238E27FC236}">
                            <a16:creationId xmlns:a16="http://schemas.microsoft.com/office/drawing/2014/main" id="{11BB2F8F-0226-3B69-9F7D-353969A44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  <p:sp>
                    <p:nvSpPr>
                      <p:cNvPr id="63" name="箭號: 向左 62">
                        <a:extLst>
                          <a:ext uri="{FF2B5EF4-FFF2-40B4-BE49-F238E27FC236}">
                            <a16:creationId xmlns:a16="http://schemas.microsoft.com/office/drawing/2014/main" id="{65BDC8C3-AAE8-B309-89D1-2EBB2E4DF1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8" name="群組 37">
                  <a:extLst>
                    <a:ext uri="{FF2B5EF4-FFF2-40B4-BE49-F238E27FC236}">
                      <a16:creationId xmlns:a16="http://schemas.microsoft.com/office/drawing/2014/main" id="{ABC573B0-D8E3-7481-A0FF-097851200FE8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39" name="矩形: 圓角 38">
                    <a:extLst>
                      <a:ext uri="{FF2B5EF4-FFF2-40B4-BE49-F238E27FC236}">
                        <a16:creationId xmlns:a16="http://schemas.microsoft.com/office/drawing/2014/main" id="{1FC3DA65-E2E6-14DD-67BC-7EE5F1A590DE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CE</a:t>
                    </a:r>
                    <a:r>
                      <a:rPr lang="zh-TW" altLang="en-US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 </a:t>
                    </a:r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0" name="群組 39">
                    <a:extLst>
                      <a:ext uri="{FF2B5EF4-FFF2-40B4-BE49-F238E27FC236}">
                        <a16:creationId xmlns:a16="http://schemas.microsoft.com/office/drawing/2014/main" id="{6AD31FD9-CFC9-3BC6-DAA9-4BA363EEF52C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5" name="箭號: 向上 54">
                      <a:extLst>
                        <a:ext uri="{FF2B5EF4-FFF2-40B4-BE49-F238E27FC236}">
                          <a16:creationId xmlns:a16="http://schemas.microsoft.com/office/drawing/2014/main" id="{9EE21966-B3AD-3C8F-923E-329C070806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779FDD16-A83A-3C5F-9569-4923C899FC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1" name="箭號: 向上 40">
                    <a:extLst>
                      <a:ext uri="{FF2B5EF4-FFF2-40B4-BE49-F238E27FC236}">
                        <a16:creationId xmlns:a16="http://schemas.microsoft.com/office/drawing/2014/main" id="{AA3F0EB9-080C-EB04-42F5-AC1F024EC1FE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2" name="箭號: 向上 41">
                    <a:extLst>
                      <a:ext uri="{FF2B5EF4-FFF2-40B4-BE49-F238E27FC236}">
                        <a16:creationId xmlns:a16="http://schemas.microsoft.com/office/drawing/2014/main" id="{A85BE5B5-C490-1D33-0D5D-CCB43FE4BF59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3" name="箭號: 向上 42">
                    <a:extLst>
                      <a:ext uri="{FF2B5EF4-FFF2-40B4-BE49-F238E27FC236}">
                        <a16:creationId xmlns:a16="http://schemas.microsoft.com/office/drawing/2014/main" id="{A334D02C-5A7E-7BC5-3DD6-815FD87C566C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4" name="矩形: 圓角 43">
                    <a:extLst>
                      <a:ext uri="{FF2B5EF4-FFF2-40B4-BE49-F238E27FC236}">
                        <a16:creationId xmlns:a16="http://schemas.microsoft.com/office/drawing/2014/main" id="{85CFA479-001F-0F49-5FBF-0EB96FBBD5A0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K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5" name="群組 44">
                    <a:extLst>
                      <a:ext uri="{FF2B5EF4-FFF2-40B4-BE49-F238E27FC236}">
                        <a16:creationId xmlns:a16="http://schemas.microsoft.com/office/drawing/2014/main" id="{C01835E1-C7A3-AA46-CECE-06514EB0096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53" name="矩形 52">
                      <a:extLst>
                        <a:ext uri="{FF2B5EF4-FFF2-40B4-BE49-F238E27FC236}">
                          <a16:creationId xmlns:a16="http://schemas.microsoft.com/office/drawing/2014/main" id="{B52811F9-156B-8D2D-CDF1-7DC2E62D08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4" name="箭號: 向左 53">
                      <a:extLst>
                        <a:ext uri="{FF2B5EF4-FFF2-40B4-BE49-F238E27FC236}">
                          <a16:creationId xmlns:a16="http://schemas.microsoft.com/office/drawing/2014/main" id="{C1AB85D7-8D07-959F-546C-18711124BC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6" name="矩形: 圓角 45">
                    <a:extLst>
                      <a:ext uri="{FF2B5EF4-FFF2-40B4-BE49-F238E27FC236}">
                        <a16:creationId xmlns:a16="http://schemas.microsoft.com/office/drawing/2014/main" id="{0CEFFEE3-513E-954C-0097-93A32C4703B3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7" name="矩形 46">
                    <a:extLst>
                      <a:ext uri="{FF2B5EF4-FFF2-40B4-BE49-F238E27FC236}">
                        <a16:creationId xmlns:a16="http://schemas.microsoft.com/office/drawing/2014/main" id="{5EC48091-B2E7-5434-E138-CCC4B773A822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8" name="矩形: 圓角 47">
                    <a:extLst>
                      <a:ext uri="{FF2B5EF4-FFF2-40B4-BE49-F238E27FC236}">
                        <a16:creationId xmlns:a16="http://schemas.microsoft.com/office/drawing/2014/main" id="{C050283C-EF63-902E-DF81-124B17048713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LCM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9" name="矩形: 圓角 48">
                    <a:extLst>
                      <a:ext uri="{FF2B5EF4-FFF2-40B4-BE49-F238E27FC236}">
                        <a16:creationId xmlns:a16="http://schemas.microsoft.com/office/drawing/2014/main" id="{64958959-8FC5-B8E9-F36C-1FC4FF8A5E60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SDC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0" name="箭號: 向上 49">
                    <a:extLst>
                      <a:ext uri="{FF2B5EF4-FFF2-40B4-BE49-F238E27FC236}">
                        <a16:creationId xmlns:a16="http://schemas.microsoft.com/office/drawing/2014/main" id="{0185C914-59C8-02B7-8D94-0D37B872E0BC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1" name="箭號: 向上 50">
                    <a:extLst>
                      <a:ext uri="{FF2B5EF4-FFF2-40B4-BE49-F238E27FC236}">
                        <a16:creationId xmlns:a16="http://schemas.microsoft.com/office/drawing/2014/main" id="{CB23C83F-8767-A781-C50C-20E612CC195A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2" name="箭號: 向上 51">
                    <a:extLst>
                      <a:ext uri="{FF2B5EF4-FFF2-40B4-BE49-F238E27FC236}">
                        <a16:creationId xmlns:a16="http://schemas.microsoft.com/office/drawing/2014/main" id="{FF5780A4-09FC-8A66-4A17-0C73DE62B4A5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</p:grpSp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EC2B0BC-8D2E-A8F4-AC3D-29F7774CB9B0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SDC Loss K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0" name="箭號: 向上 29">
                <a:extLst>
                  <a:ext uri="{FF2B5EF4-FFF2-40B4-BE49-F238E27FC236}">
                    <a16:creationId xmlns:a16="http://schemas.microsoft.com/office/drawing/2014/main" id="{C01E838F-A7FE-9FFF-153D-B6372FFA1FB4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sp>
        <p:nvSpPr>
          <p:cNvPr id="86" name="箭號: 向上 85">
            <a:extLst>
              <a:ext uri="{FF2B5EF4-FFF2-40B4-BE49-F238E27FC236}">
                <a16:creationId xmlns:a16="http://schemas.microsoft.com/office/drawing/2014/main" id="{3A0FF195-172A-423E-ABC8-97F08035DFDB}"/>
              </a:ext>
            </a:extLst>
          </p:cNvPr>
          <p:cNvSpPr/>
          <p:nvPr/>
        </p:nvSpPr>
        <p:spPr>
          <a:xfrm>
            <a:off x="8396782" y="3591107"/>
            <a:ext cx="215809" cy="432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D40F25B6-DEBA-E63B-0D4D-200DD1605C63}"/>
                  </a:ext>
                </a:extLst>
              </p:cNvPr>
              <p:cNvSpPr txBox="1"/>
              <p:nvPr/>
            </p:nvSpPr>
            <p:spPr>
              <a:xfrm>
                <a:off x="6584535" y="4608216"/>
                <a:ext cx="41636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𝐶𝐸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D40F25B6-DEBA-E63B-0D4D-200DD1605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4608216"/>
                <a:ext cx="416362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3949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CE5BD35F-12A9-164B-112C-34537F4AA4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805A2C2-4192-126E-F6A5-83058157C425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F71064F-0026-1663-C4BE-F4C3FC855C5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Experiment results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F05858-5EB9-4A74-6134-3FF790FAC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6604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0D209D6A-B14A-41D2-4AE8-F5FEA4A5712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1B6FAB-7337-3B14-55C8-52607EA57591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1402FD1-BD31-030F-DBA9-8492CA693046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ACF4955-644B-C071-6077-65889268307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397367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2816560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5779363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2606455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head 1~K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從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1~1024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依次遞增，後加總取平均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Tokens Accepted vs. Prefix Length</a:t>
                          </a:r>
                          <a:endParaRPr lang="zh-TW" altLang="en-US" sz="16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128, 256, 512, 768 length with random continue slicing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gpt2-large,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  <m:t>𝑝𝑙𝑜𝑔𝑝</m:t>
                                  </m:r>
                                </m:e>
                              </m:nary>
                              <m:r>
                                <a:rPr lang="zh-TW" altLang="en-US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，</m:t>
                              </m:r>
                            </m:oMath>
                          </a14:m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生成分佈的不確定性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/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多樣性指標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397367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2816560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5779363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2606455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head 1~K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從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1~1024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依次遞增，後加總取平均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Tokens Accepted vs. Prefix Length</a:t>
                          </a:r>
                          <a:endParaRPr lang="zh-TW" altLang="en-US" sz="16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128, 256, 512, 768 length with random continue slicing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gpt2-large,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8734" t="-497321" r="-45253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518777-C1C4-3C28-E21E-ABF43152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fld>
            <a:endParaRPr lang="zh-TW" altLang="en-US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00775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EDDD34D-DF9C-339C-ED94-CEAAFBB621A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B5C3920-06C1-C4C8-1162-7F38DE3FF843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12858C2F-BF00-D14D-E98B-F5A9C620513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Oracle PPL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9377490-C045-655E-918C-E2AFC8CCC4B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2D882C5-AF48-E86D-E103-90CD67259B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906047"/>
              </p:ext>
            </p:extLst>
          </p:nvPr>
        </p:nvGraphicFramePr>
        <p:xfrm>
          <a:off x="347472" y="1008835"/>
          <a:ext cx="11475720" cy="2950605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19.4293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87.2351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200.0813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299.5625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318.3247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DECC76E3-BF7B-343A-CA81-874DBFE509F0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FF09F6-7F17-A49F-D2F3-AA4CB1A40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592072"/>
            <a:ext cx="2743200" cy="26561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17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92EDA1D-CEF4-9B2B-D5F3-D9CD329047CE}"/>
              </a:ext>
            </a:extLst>
          </p:cNvPr>
          <p:cNvSpPr txBox="1"/>
          <p:nvPr/>
        </p:nvSpPr>
        <p:spPr>
          <a:xfrm>
            <a:off x="347472" y="4692420"/>
            <a:ext cx="799842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預測越遠的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perplexity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顯著降低達到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，符合假設。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特別注意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也有些許提升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16391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B1710DA8-7949-89DC-9392-328DBF882438}"/>
              </a:ext>
            </a:extLst>
          </p:cNvPr>
          <p:cNvSpPr/>
          <p:nvPr/>
        </p:nvSpPr>
        <p:spPr>
          <a:xfrm>
            <a:off x="0" y="6607903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AC42501-20AC-D714-D933-D726611F3B3B}"/>
              </a:ext>
            </a:extLst>
          </p:cNvPr>
          <p:cNvSpPr/>
          <p:nvPr/>
        </p:nvSpPr>
        <p:spPr>
          <a:xfrm>
            <a:off x="347472" y="271111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E2A625E-7505-7F37-9A13-70255328D5FC}"/>
              </a:ext>
            </a:extLst>
          </p:cNvPr>
          <p:cNvSpPr/>
          <p:nvPr/>
        </p:nvSpPr>
        <p:spPr>
          <a:xfrm>
            <a:off x="347472" y="453991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Avg Draft Tokens Accepted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36841D6-5F46-9BE4-B918-3883BA94AAAB}"/>
              </a:ext>
            </a:extLst>
          </p:cNvPr>
          <p:cNvSpPr/>
          <p:nvPr/>
        </p:nvSpPr>
        <p:spPr>
          <a:xfrm>
            <a:off x="347472" y="746599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07E366-F3EF-F511-30F9-B9F33F9E93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683489"/>
              </p:ext>
            </p:extLst>
          </p:nvPr>
        </p:nvGraphicFramePr>
        <p:xfrm>
          <a:off x="347471" y="1005625"/>
          <a:ext cx="11475720" cy="280485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Avg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DB80DC-7FDC-5336-E751-B1ABC526DAC4}"/>
              </a:ext>
            </a:extLst>
          </p:cNvPr>
          <p:cNvSpPr txBox="1"/>
          <p:nvPr/>
        </p:nvSpPr>
        <p:spPr>
          <a:xfrm>
            <a:off x="9170634" y="457863"/>
            <a:ext cx="2831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56437A-C648-5521-F50A-A25F3E745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7903"/>
            <a:ext cx="2743200" cy="250097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18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DDE939C-85E6-2293-24EC-4E21D1B6C14A}"/>
              </a:ext>
            </a:extLst>
          </p:cNvPr>
          <p:cNvSpPr txBox="1"/>
          <p:nvPr/>
        </p:nvSpPr>
        <p:spPr>
          <a:xfrm>
            <a:off x="347472" y="4689211"/>
            <a:ext cx="799842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Avg Draft Tokens Accepted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4.17%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 768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Accepted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顯著提升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D63EA3F-9FD6-5560-A84D-79952FD791B6}"/>
              </a:ext>
            </a:extLst>
          </p:cNvPr>
          <p:cNvSpPr txBox="1"/>
          <p:nvPr/>
        </p:nvSpPr>
        <p:spPr>
          <a:xfrm>
            <a:off x="6904618" y="5450090"/>
            <a:ext cx="52870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self-speculative decoding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每次只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forward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一次後統計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6786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D45E23F-159B-9074-D77D-40B1DF0E608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279BDBC-2DF0-841D-1B15-28B1C6A5097A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B7BDA6E-255A-BB65-DAB0-87E0B48A6A5C}"/>
              </a:ext>
            </a:extLst>
          </p:cNvPr>
          <p:cNvSpPr/>
          <p:nvPr/>
        </p:nvSpPr>
        <p:spPr>
          <a:xfrm>
            <a:off x="347472" y="457200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Generative quality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B931DF6-CFB6-8BB0-C816-BB1AD8CA62B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74E11C9-B436-FCC9-3F1A-BBA38604E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15062"/>
              </p:ext>
            </p:extLst>
          </p:nvPr>
        </p:nvGraphicFramePr>
        <p:xfrm>
          <a:off x="347471" y="1008834"/>
          <a:ext cx="11475720" cy="281814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4C09DC31-8D76-606A-7915-91BDBD34C6AB}"/>
              </a:ext>
            </a:extLst>
          </p:cNvPr>
          <p:cNvSpPr/>
          <p:nvPr/>
        </p:nvSpPr>
        <p:spPr>
          <a:xfrm>
            <a:off x="11042342" y="2601086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5601E793-191B-D7A6-95D2-697066244270}"/>
              </a:ext>
            </a:extLst>
          </p:cNvPr>
          <p:cNvSpPr/>
          <p:nvPr/>
        </p:nvSpPr>
        <p:spPr>
          <a:xfrm>
            <a:off x="11042342" y="3325837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D79ECB9-C2D5-0E2C-7463-003E9D99FD34}"/>
              </a:ext>
            </a:extLst>
          </p:cNvPr>
          <p:cNvSpPr/>
          <p:nvPr/>
        </p:nvSpPr>
        <p:spPr>
          <a:xfrm rot="10800000">
            <a:off x="11042342" y="1875240"/>
            <a:ext cx="150920" cy="363985"/>
          </a:xfrm>
          <a:prstGeom prst="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8896C54-110C-1BFA-D35D-E8B3FB79767F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39565D-C13D-6AF8-6C29-7E7BF6E4F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6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19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CF20E4C-1F91-BFF6-7963-F44ACBFD985C}"/>
              </a:ext>
            </a:extLst>
          </p:cNvPr>
          <p:cNvSpPr txBox="1"/>
          <p:nvPr/>
        </p:nvSpPr>
        <p:spPr>
          <a:xfrm>
            <a:off x="347472" y="4692420"/>
            <a:ext cx="799842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52.68%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雖然下降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130.17%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，但是實際數值只差約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0.03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2F81284-C265-D3D1-19FD-4871829C7CAF}"/>
              </a:ext>
            </a:extLst>
          </p:cNvPr>
          <p:cNvSpPr txBox="1"/>
          <p:nvPr/>
        </p:nvSpPr>
        <p:spPr>
          <a:xfrm>
            <a:off x="6904618" y="5450090"/>
            <a:ext cx="52870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Top-p and temperature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生成直到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max sequence length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altLang="zh-TW" sz="160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EOS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0191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AC1399F-93FD-7791-5F1D-CC0F85DED1E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1EA32-D208-544F-534D-7B2308B8C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76D77E34-9335-8D14-9AC4-2DFEB285887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ACE38E2-E61F-F518-1FFF-813C8E95BD90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Zero-shot PPL improvement by head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09752B9-1841-EC52-CDAC-E803B6D4869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60614E0-D186-D22F-C08A-AD50C47AE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8035455"/>
              </p:ext>
            </p:extLst>
          </p:nvPr>
        </p:nvGraphicFramePr>
        <p:xfrm>
          <a:off x="347470" y="1020570"/>
          <a:ext cx="11475720" cy="359511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1262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27322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20736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23399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358283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4490235">
                  <a:extLst>
                    <a:ext uri="{9D8B030D-6E8A-4147-A177-3AD203B41FA5}">
                      <a16:colId xmlns:a16="http://schemas.microsoft.com/office/drawing/2014/main" val="2185817678"/>
                    </a:ext>
                  </a:extLst>
                </a:gridCol>
              </a:tblGrid>
              <a:tr h="5991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Observation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Wikitext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WikiText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與 </a:t>
                      </a:r>
                      <a:r>
                        <a:rPr lang="en-US" altLang="zh-TW" sz="14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OpenWebText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均屬於涵蓋多主題的一般英文文本，因此可能呈現相似的表現趨勢。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較正式且規則的句子結構，可能有助於所有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都獲得一致的改善。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Lambada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對長距離上下文的高度依賴，可能是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Head 1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改善幅度較大的原因。</a:t>
                      </a:r>
                      <a:endParaRPr lang="en-US" altLang="zh-TW" sz="14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Arxiv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有許多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latex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程式碼，可能限制各個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的改善幅度。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PubMed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8.26%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結構化且領域一致的寫作風格，可能有助於所有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獲得穩定改善。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34E2D6-EDB1-9E22-7D60-8A2D33EC84F0}"/>
              </a:ext>
            </a:extLst>
          </p:cNvPr>
          <p:cNvSpPr txBox="1"/>
          <p:nvPr/>
        </p:nvSpPr>
        <p:spPr>
          <a:xfrm>
            <a:off x="9161756" y="461072"/>
            <a:ext cx="2840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9B868C5-8A25-E4D9-789D-8AD1F545214D}"/>
              </a:ext>
            </a:extLst>
          </p:cNvPr>
          <p:cNvSpPr txBox="1"/>
          <p:nvPr/>
        </p:nvSpPr>
        <p:spPr>
          <a:xfrm>
            <a:off x="347470" y="5044009"/>
            <a:ext cx="1119350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的改善程度與資料集特性高度相關，其中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PTB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LAMBADA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PubMed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的提升較明顯。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WikiText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OpenWebText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均屬於一般領域英文文本，可能因此呈現相似的表現趨勢；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改善有限，提升主要集中於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～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雖然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直接約束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～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在不同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unseen datasets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上的改善幅度並不一致，尤其在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arXiv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上僅提升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0.27%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4077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FC5117D9-E3F0-8AA3-651D-466A7CEF8745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AA86D5A-097E-FB7C-0023-461209AEC35C}"/>
              </a:ext>
            </a:extLst>
          </p:cNvPr>
          <p:cNvSpPr txBox="1"/>
          <p:nvPr/>
        </p:nvSpPr>
        <p:spPr>
          <a:xfrm>
            <a:off x="347470" y="705057"/>
            <a:ext cx="10323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0BEF78-BCAE-A094-9708-60A5D7276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929" y="6630152"/>
            <a:ext cx="2743200" cy="224065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21</a:t>
            </a:fld>
            <a:endParaRPr lang="zh-TW" altLang="en-US" dirty="0">
              <a:solidFill>
                <a:schemeClr val="bg2"/>
              </a:solidFill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AC5825D-35B9-5CD5-CD54-3F87E388EBAB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3C4523A-8235-3ED7-6DE2-29CBC80B1335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Oracle PPL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B2A0058-1864-93F1-A9FC-1216E0990915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ABDC98F-C3A4-3E55-60C1-E7354E0FE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686297"/>
              </p:ext>
            </p:extLst>
          </p:nvPr>
        </p:nvGraphicFramePr>
        <p:xfrm>
          <a:off x="347470" y="1020571"/>
          <a:ext cx="888530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0511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74002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3114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78441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254.9612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383.7626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09E7A320-DACF-E165-DF46-E8D587A76B28}"/>
              </a:ext>
            </a:extLst>
          </p:cNvPr>
          <p:cNvSpPr txBox="1"/>
          <p:nvPr/>
        </p:nvSpPr>
        <p:spPr>
          <a:xfrm>
            <a:off x="9135122" y="461072"/>
            <a:ext cx="2867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5C35B6D-3CEF-2D98-CE64-708B5A0435B7}"/>
              </a:ext>
            </a:extLst>
          </p:cNvPr>
          <p:cNvSpPr txBox="1"/>
          <p:nvPr/>
        </p:nvSpPr>
        <p:spPr>
          <a:xfrm>
            <a:off x="9244413" y="1012834"/>
            <a:ext cx="3096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0A9E9440-0D67-4E18-9787-17F7242972D4}"/>
              </a:ext>
            </a:extLst>
          </p:cNvPr>
          <p:cNvSpPr txBox="1"/>
          <p:nvPr/>
        </p:nvSpPr>
        <p:spPr>
          <a:xfrm>
            <a:off x="9244412" y="1441485"/>
            <a:ext cx="2947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較不受影響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576B6D-14B0-3F44-7BFC-4A7EFCBA7717}"/>
              </a:ext>
            </a:extLst>
          </p:cNvPr>
          <p:cNvSpPr txBox="1"/>
          <p:nvPr/>
        </p:nvSpPr>
        <p:spPr>
          <a:xfrm>
            <a:off x="9244108" y="2443484"/>
            <a:ext cx="2947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較不受影響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E9A6C7-4F86-9F1D-EC57-6FDF9AC56298}"/>
              </a:ext>
            </a:extLst>
          </p:cNvPr>
          <p:cNvSpPr txBox="1"/>
          <p:nvPr/>
        </p:nvSpPr>
        <p:spPr>
          <a:xfrm>
            <a:off x="9232777" y="3459147"/>
            <a:ext cx="294758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All Head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9E24CA18-DFA5-64CA-0922-EF8B0EDCFD27}"/>
              </a:ext>
            </a:extLst>
          </p:cNvPr>
          <p:cNvSpPr txBox="1"/>
          <p:nvPr/>
        </p:nvSpPr>
        <p:spPr>
          <a:xfrm>
            <a:off x="9244107" y="4534129"/>
            <a:ext cx="2947587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會使除了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外的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至於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上升，推測是訓練資料不夠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71634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CFA86E-2881-6C1A-423C-F7BFABF5C15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0E0182C7-7A07-7C7E-CEBE-1A990AD5250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2BBEAC90-0E4A-F9AC-464B-387FDC13D47B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Avg Draft Tokens Accepted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31E18AC-3F04-D257-50A6-8CD794189839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69948AD-2815-5587-DAE4-23AD108037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7746666"/>
              </p:ext>
            </p:extLst>
          </p:nvPr>
        </p:nvGraphicFramePr>
        <p:xfrm>
          <a:off x="347471" y="1143813"/>
          <a:ext cx="9453478" cy="536914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69602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43818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411549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51808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491449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Avg Draft Token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0.6525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0.9023 ± 0.0277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0.9044 ± 0.0140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3940046D-72BA-82CB-8E92-F2F8504EDA92}"/>
              </a:ext>
            </a:extLst>
          </p:cNvPr>
          <p:cNvSpPr txBox="1"/>
          <p:nvPr/>
        </p:nvSpPr>
        <p:spPr>
          <a:xfrm>
            <a:off x="347471" y="805259"/>
            <a:ext cx="9361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FD5CC4-4698-16E3-237A-CD98F27E3C63}"/>
              </a:ext>
            </a:extLst>
          </p:cNvPr>
          <p:cNvSpPr txBox="1"/>
          <p:nvPr/>
        </p:nvSpPr>
        <p:spPr>
          <a:xfrm>
            <a:off x="9516862" y="461072"/>
            <a:ext cx="24857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0724-6B01-B89E-5909-3D4084B0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3015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22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754BD05-D9F1-0CF9-04D7-F0149164BCFD}"/>
              </a:ext>
            </a:extLst>
          </p:cNvPr>
          <p:cNvSpPr txBox="1"/>
          <p:nvPr/>
        </p:nvSpPr>
        <p:spPr>
          <a:xfrm>
            <a:off x="9812890" y="4604738"/>
            <a:ext cx="237911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SDC, LCM weight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上升都能提升表現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上升到特定值，表現下降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跟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一樣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會最大程度提升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1716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A775969-FCB6-B159-41B0-ED4B342987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B9E41B-FA85-B830-ACAC-6684E673F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23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5057707-2AFD-5ECF-3C7B-7A61B5E57DB8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C06934D-368C-941F-BEA3-A2C9E3BCBFD8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Generative quality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58BC9D9-F6D8-01A6-E828-4EC70375FC2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516F482-FC5B-69AB-595E-3D7730AD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80340"/>
              </p:ext>
            </p:extLst>
          </p:nvPr>
        </p:nvGraphicFramePr>
        <p:xfrm>
          <a:off x="347470" y="1063987"/>
          <a:ext cx="702099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1399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58910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33491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8441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800" dirty="0"/>
                        <a:t>Generative </a:t>
                      </a:r>
                      <a:r>
                        <a:rPr lang="en-US" sz="1800" dirty="0"/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0.0215 ± 0.0049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21.4788 ± 0.0773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6.6876 ± 0.0421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BAF181-8C61-1DC0-AE74-09A0F83D3663}"/>
              </a:ext>
            </a:extLst>
          </p:cNvPr>
          <p:cNvSpPr txBox="1"/>
          <p:nvPr/>
        </p:nvSpPr>
        <p:spPr>
          <a:xfrm>
            <a:off x="285326" y="747141"/>
            <a:ext cx="10971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63CE1AD-3B9C-58B4-C1AC-C8E97F22BE81}"/>
              </a:ext>
            </a:extLst>
          </p:cNvPr>
          <p:cNvSpPr txBox="1"/>
          <p:nvPr/>
        </p:nvSpPr>
        <p:spPr>
          <a:xfrm>
            <a:off x="9448800" y="461072"/>
            <a:ext cx="2553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E2D2E5A-5E54-C872-15B4-CC51DC4FB6A0}"/>
              </a:ext>
            </a:extLst>
          </p:cNvPr>
          <p:cNvSpPr txBox="1"/>
          <p:nvPr/>
        </p:nvSpPr>
        <p:spPr>
          <a:xfrm>
            <a:off x="7430611" y="5023312"/>
            <a:ext cx="482322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只要使用到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Method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會下降，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4-gram repetition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所有參數都有一個最佳值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35490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6F5FCB1-3475-E4BA-5198-CE191C6D1F0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C1383D0-CD29-D65E-A8FE-68FD8CC6E38F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88930A7-81CB-E995-9864-0C85E29BD51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F236-566A-4CC2-2393-FDDC62B6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24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2668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EEC64776-2E99-B6FB-5C8F-03197BC0449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DC6B1835-635C-4F80-612E-FCCFC22A546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0F11580-A42C-EDDD-3705-F11B9F2BFFC0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Conclusion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1BC89B1-DB69-B3D6-A0EB-269DB6465C2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3D1EFE5-CCE9-4DDD-3723-0D96BBF83B00}"/>
              </a:ext>
            </a:extLst>
          </p:cNvPr>
          <p:cNvSpPr/>
          <p:nvPr/>
        </p:nvSpPr>
        <p:spPr>
          <a:xfrm>
            <a:off x="347472" y="4892040"/>
            <a:ext cx="11475720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Consistency-based training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透過加強各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之間的一致性，提升模型的最佳化效果，進而穩定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autoregressive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semi-autoregressive generation。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128151-E7C4-035C-451C-1BBB0D1B31F6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本研究在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架構中加入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，不改變架構即能改善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品質。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正式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1.3B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比較中，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SDC+LCM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1~4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全部下降，且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降幅達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 accept rate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0.7010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提升到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0.7302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，代表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self-speculative decoding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有更好的接受潛力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39.5580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大幅降至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18.7180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，顯示生成品質改善最明顯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C3F506-AED1-581F-6918-6B50B891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25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429643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2712DEE-27B9-6692-6665-C0F059ACF55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995A56-FEA0-A053-1F22-D9D3B3A39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26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F26F63F-8532-04F1-9964-112805509495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7E00D96-A7C5-FCFC-DAE8-B4ADA238E42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work &amp; references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179D505-56D0-6892-BD03-000F5B5A3F3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ABAA1D-76A5-0413-D261-1B18BAF75060}"/>
              </a:ext>
            </a:extLst>
          </p:cNvPr>
          <p:cNvSpPr txBox="1"/>
          <p:nvPr/>
        </p:nvSpPr>
        <p:spPr>
          <a:xfrm>
            <a:off x="905877" y="1965960"/>
            <a:ext cx="1076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進一步測試不同模型規模、更多資料量、不同種類資料集。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繼續下一步訓練計畫如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Continue training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SFT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訓練足夠多資料量後補上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self-speculative decoding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，測試實際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speed-up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speed test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對照。</a:t>
            </a:r>
          </a:p>
        </p:txBody>
      </p:sp>
    </p:spTree>
    <p:extLst>
      <p:ext uri="{BB962C8B-B14F-4D97-AF65-F5344CB8AC3E}">
        <p14:creationId xmlns:p14="http://schemas.microsoft.com/office/powerpoint/2010/main" val="3515957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</TotalTime>
  <Words>2986</Words>
  <Application>Microsoft Office PowerPoint</Application>
  <PresentationFormat>寬螢幕</PresentationFormat>
  <Paragraphs>627</Paragraphs>
  <Slides>26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3" baseType="lpstr">
      <vt:lpstr>Noto Sans CJK TC</vt:lpstr>
      <vt:lpstr>微軟正黑體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196</cp:revision>
  <dcterms:created xsi:type="dcterms:W3CDTF">2026-07-31T02:55:52Z</dcterms:created>
  <dcterms:modified xsi:type="dcterms:W3CDTF">2026-08-03T11:04:46Z</dcterms:modified>
</cp:coreProperties>
</file>