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Presenter</a:t>
            </a:r>
            <a:r>
              <a:rPr lang="en-US" altLang="zh-TW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: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4–7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9–10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12–14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16–23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3551067" cy="720000"/>
            <a:chOff x="6365289" y="2995326"/>
            <a:chExt cx="3551067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7" y="3215826"/>
              <a:ext cx="2645989" cy="411480"/>
              <a:chOff x="4389119" y="4773168"/>
              <a:chExt cx="2645989" cy="411480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19" y="4773168"/>
                <a:ext cx="2645989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 &amp;</a:t>
                </a:r>
                <a:r>
                  <a:rPr lang="zh-TW" alt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</a:t>
                </a: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Future Work</a:t>
                </a: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 </a:t>
                </a: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25–26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MTP;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是透過一次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forward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，不僅預測下一個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也利用多個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heads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預測更遠位置的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1" y="4692814"/>
            <a:ext cx="11402034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</a:t>
            </a:r>
            <a:r>
              <a:rPr lang="en-US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head（Head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1）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與其他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的預測一致，便可一次接受多個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進而降低推論成本並加速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decoding。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1F28A17-C89B-11A2-E672-6A81182DCB87}"/>
              </a:ext>
            </a:extLst>
          </p:cNvPr>
          <p:cNvGrpSpPr/>
          <p:nvPr/>
        </p:nvGrpSpPr>
        <p:grpSpPr>
          <a:xfrm>
            <a:off x="2556115" y="2328968"/>
            <a:ext cx="7049290" cy="957875"/>
            <a:chOff x="1008585" y="2264650"/>
            <a:chExt cx="7049290" cy="957875"/>
          </a:xfrm>
        </p:grpSpPr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BE2123A7-5657-506C-0440-C41A37A7C777}"/>
                </a:ext>
              </a:extLst>
            </p:cNvPr>
            <p:cNvSpPr/>
            <p:nvPr/>
          </p:nvSpPr>
          <p:spPr>
            <a:xfrm flipV="1">
              <a:off x="2297883" y="2752364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10B4AEF-9601-8981-AF8D-0A367E00D703}"/>
                </a:ext>
              </a:extLst>
            </p:cNvPr>
            <p:cNvSpPr/>
            <p:nvPr/>
          </p:nvSpPr>
          <p:spPr>
            <a:xfrm>
              <a:off x="1008585" y="2277973"/>
              <a:ext cx="128524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Input</a:t>
              </a:r>
              <a:r>
                <a: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 </a:t>
              </a: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t₀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78320403-216C-E725-4CC6-A86BC60C4514}"/>
                </a:ext>
              </a:extLst>
            </p:cNvPr>
            <p:cNvSpPr/>
            <p:nvPr/>
          </p:nvSpPr>
          <p:spPr>
            <a:xfrm>
              <a:off x="3377879" y="2322525"/>
              <a:ext cx="1800000" cy="900000"/>
            </a:xfrm>
            <a:prstGeom prst="rect">
              <a:avLst/>
            </a:prstGeom>
            <a:solidFill>
              <a:srgbClr val="FFF3C8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(Head 1–k)</a:t>
              </a:r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655F93E8-79DA-8CA5-012E-0FEA8456961F}"/>
                </a:ext>
              </a:extLst>
            </p:cNvPr>
            <p:cNvSpPr/>
            <p:nvPr/>
          </p:nvSpPr>
          <p:spPr>
            <a:xfrm>
              <a:off x="6257875" y="2264650"/>
              <a:ext cx="180000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algn="ctr"/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Output: 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1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… </a:t>
              </a:r>
              <a:r>
                <a:rPr lang="en-US" altLang="zh-TW" sz="1600" b="1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k</a:t>
              </a:r>
              <a:endParaRPr lang="en-US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D60F4829-8322-075A-A3AC-A78060E7551B}"/>
                </a:ext>
              </a:extLst>
            </p:cNvPr>
            <p:cNvSpPr/>
            <p:nvPr/>
          </p:nvSpPr>
          <p:spPr>
            <a:xfrm flipV="1">
              <a:off x="5177875" y="2718559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Future-Token Prediction Heads Are Harder to Optimize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獨立訓練各個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但不同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之間缺乏明確的一致性約束。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72800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pre-training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階段，本研究在不改變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model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架構的前提下，於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loss function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中加入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regularization，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以提升模型表現。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3061242" y="2441969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預測的位置越遠，預測準確度越低。</a:t>
              </a:r>
              <a:endPara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預測的位置越遠，最佳化難度越高。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本實驗使用兩種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methods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Selective Distribution Consistency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Consistency Matching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60812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1575672" y="2839644"/>
              <a:ext cx="1811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Distribution Alignment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是本研究提出的方法，目標是使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output probability 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對齊。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853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此外，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會遮罩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信心度較低的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（如下圖所示），並在計算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時忽略這些位置。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也會在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層級縮小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下圖將多維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降維至二維，以視覺化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523104" y="350284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735711" cy="923277"/>
              <a:chOff x="7190913" y="3346882"/>
              <a:chExt cx="1735711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147840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Latent Alignment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885208" cy="787392"/>
            <a:chOff x="653396" y="1099656"/>
            <a:chExt cx="10885208" cy="787392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938404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pre-training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階段，本研究引入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作為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consistency regularization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，利用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 head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的預測分布監督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student heads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，以提升兩者預測結果的一致性。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Experimental Results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本研究使用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Tokens Accepted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等指標，評估所提方法相較於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的改善幅度。其中，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降低約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+ LCM joint Training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實驗結果顯示，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可進行聯合訓練，且未觀察到兩者相互衝突所造成的負面效果。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2: Related Work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1472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計算成本主要來自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的額外成本相對有限，因此可透過一次預測多個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future tokens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加速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0CB4890D-89D9-301A-3313-F16F05FC3CD0}"/>
              </a:ext>
            </a:extLst>
          </p:cNvPr>
          <p:cNvSpPr/>
          <p:nvPr/>
        </p:nvSpPr>
        <p:spPr>
          <a:xfrm>
            <a:off x="347472" y="474979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2: Related Work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 Training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未加入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僅針對對應的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ground-truth token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獨立計算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的預測分布可能與較可靠的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716106"/>
            <a:ext cx="11304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決定哪些低信心度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會被遮罩。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設定過高，過多低信心度位置將被排除，使訓練過度集中於高信心度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，可能導致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表現惡化，並使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 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399"/>
            <a:ext cx="11064240" cy="49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本研究結合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、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，使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層級保持一致。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147842" y="1303478"/>
            <a:ext cx="4204444" cy="2180212"/>
            <a:chOff x="8039317" y="1029799"/>
            <a:chExt cx="4204444" cy="218021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039317" y="1029799"/>
              <a:ext cx="4204444" cy="2180212"/>
              <a:chOff x="4627273" y="1343142"/>
              <a:chExt cx="4204444" cy="1452328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627273" y="1343142"/>
                <a:ext cx="4204444" cy="1452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/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 Distribution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655611" y="1387211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655611" y="1673937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067655" y="1966546"/>
              <a:ext cx="215809" cy="360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069786" y="2398459"/>
              <a:ext cx="215809" cy="360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182025" y="3094694"/>
            <a:ext cx="215809" cy="360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E55943C-4A22-96EC-0FE5-CE2CDA45B33F}"/>
              </a:ext>
            </a:extLst>
          </p:cNvPr>
          <p:cNvGrpSpPr/>
          <p:nvPr/>
        </p:nvGrpSpPr>
        <p:grpSpPr>
          <a:xfrm>
            <a:off x="7187811" y="5096926"/>
            <a:ext cx="5728232" cy="786364"/>
            <a:chOff x="6584535" y="4608216"/>
            <a:chExt cx="5728232" cy="78636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/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1600"/>
                            <m:t>S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: loss weights</a:t>
                  </a:r>
                </a:p>
              </p:txBody>
            </p:sp>
          </mc:Choice>
          <mc:Fallback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blipFill>
                  <a:blip r:embed="rId2"/>
                  <a:stretch>
                    <a:fillRect t="-7273" b="-218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/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𝑡𝑜𝑡𝑎𝑙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𝐶𝐸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TW"/>
                                  <m:t>S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𝑆𝐷𝐶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𝐿𝐶𝑀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</mc:Choice>
          <mc:Fallback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Experimental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1" y="274320"/>
            <a:ext cx="33900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1" y="49354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4322" t="-497321" r="-6670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97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50204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673288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223184" y="4696850"/>
            <a:ext cx="1177942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相較於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，預測位置較遠的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整體上獲得更大的改善，其中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，符合本研究假設。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值得注意的是，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也有小幅改善。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1" y="49206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Average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442722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Average</a:t>
                      </a:r>
                      <a:r>
                        <a:rPr lang="en-US" altLang="zh-TW" sz="1600" dirty="0"/>
                        <a:t>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133509"/>
            <a:ext cx="544964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768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5.25%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中改善幅度最大者。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5797117" y="5241948"/>
            <a:ext cx="63945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strategy: Greedy self-speculative decoding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每個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step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僅執行一次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，再統計可接受的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數量。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1" y="499048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805320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SDC+LCM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vs.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+130.17%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1" y="4213026"/>
            <a:ext cx="655714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降低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，顯示在外部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評估下，生成文本的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明顯改善。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，表示重複程度有所增加；但其絕對差值約為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245157"/>
            <a:ext cx="52870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生成過程在達到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maximum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或產生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 token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時停止。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0" y="517529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059764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WikiText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OpenWebText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均屬於涵蓋多主題的一般英文文本，因此可能呈現相似的表現趨勢。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較正式且規則的句子結構，可能有助於所有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都獲得一致的改善。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對長距離上下文的高度依賴，可能是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 1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改善幅度較大的原因。</a:t>
                      </a:r>
                      <a:endParaRPr lang="en-US" altLang="zh-TW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文本包含大量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LaTeX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公式與特殊符號，可能限制各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的改善幅度。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結構化且領域一致的寫作風格，可能有助於所有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獲得穩定改善。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的改善程度可能與資料集特性相關，其中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的提升較為明顯。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0" y="476457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74016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呈上升趨勢；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的變化相對較小，且未呈現明確的單調趨勢。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由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1.0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整體改善；但進一步增加至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後，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略微上升。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時，所有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均明顯上升；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之間的差異則相對有限。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Conclusion:</a:t>
            </a:r>
          </a:p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聯合訓練可穩定降低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並未同步改善。此現象可能與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training tokens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有關，仍需透過更大規模的訓練進一步驗證。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93483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Average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306459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Average Draft Tokens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448496" y="461072"/>
            <a:ext cx="2554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00949" y="1113036"/>
            <a:ext cx="2379110" cy="3628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在測試範圍內，提高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weight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整體上皆能增加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明顯下降。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趨勢一致，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聯合訓練可獲得較佳的整體表現。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0" y="50545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719273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48.4875 ± 1.2280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7.1184 ± 0.0336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0.0183 ± 0.0055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368772" y="4139830"/>
            <a:ext cx="48232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所有加入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的設定皆呈現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上升的趨勢。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不同超參數設定在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之間呈現明顯的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trade-off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。例如，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400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=1.0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l-GR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</a:t>
            </a:r>
            <a:r>
              <a:rPr lang="zh-TW" altLang="el-GR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4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=0.5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可取得最低的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，但同時具有最高的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347472" y="4892040"/>
            <a:ext cx="11475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Consistency-based 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透過強化各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之間的一致性，改善各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的最佳化效果，進而提升 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autoregressive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semi-autoregressive generation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的穩定性。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347472" y="1965960"/>
            <a:ext cx="11327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，並在不改變模型架構的情況下改善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的預測品質。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在正式的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 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實驗中，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1–4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全面下降，其中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能夠接受更多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大幅降低至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，為主要正向評估指標中改善幅度最大的一項。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進一步測試不同的模型規模、更大的訓練資料量，以及更多元的資料集。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進行後續訓練，包括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continued pre-training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supervised fine-tuning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在擴大訓練資料量後，進一步實作完整的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 pipeline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，並比較實際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upper bound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529</TotalTime>
  <Words>3407</Words>
  <Application>Microsoft Office PowerPoint</Application>
  <PresentationFormat>寬螢幕</PresentationFormat>
  <Paragraphs>620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408</cp:revision>
  <dcterms:created xsi:type="dcterms:W3CDTF">2026-07-31T02:55:52Z</dcterms:created>
  <dcterms:modified xsi:type="dcterms:W3CDTF">2026-08-03T12:40:31Z</dcterms:modified>
</cp:coreProperties>
</file>