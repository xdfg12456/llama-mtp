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81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76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Teacher latent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strRef>
              <c:f>工作表1!$A$2:$A$4</c:f>
              <c:strCache>
                <c:ptCount val="2"/>
                <c:pt idx="0">
                  <c:v>0.7</c:v>
                </c:pt>
                <c:pt idx="1">
                  <c:v>0,4</c:v>
                </c:pt>
              </c:strCache>
            </c:strRef>
          </c:xVal>
          <c:yVal>
            <c:numRef>
              <c:f>工作表1!$B$2:$B$4</c:f>
              <c:numCache>
                <c:formatCode>General</c:formatCode>
                <c:ptCount val="3"/>
                <c:pt idx="0">
                  <c:v>2.7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1746-4C86-AF2C-9D1E5E7E2210}"/>
            </c:ext>
          </c:extLst>
        </c:ser>
        <c:ser>
          <c:idx val="1"/>
          <c:order val="1"/>
          <c:tx>
            <c:strRef>
              <c:f>工作表1!$C$1</c:f>
              <c:strCache>
                <c:ptCount val="1"/>
                <c:pt idx="0">
                  <c:v>Student latent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strRef>
              <c:f>工作表1!$A$2:$A$4</c:f>
              <c:strCache>
                <c:ptCount val="2"/>
                <c:pt idx="0">
                  <c:v>0.7</c:v>
                </c:pt>
                <c:pt idx="1">
                  <c:v>0,4</c:v>
                </c:pt>
              </c:strCache>
            </c:strRef>
          </c:xVal>
          <c:yVal>
            <c:numRef>
              <c:f>工作表1!$C$2:$C$4</c:f>
              <c:numCache>
                <c:formatCode>General</c:formatCode>
                <c:ptCount val="3"/>
                <c:pt idx="1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1746-4C86-AF2C-9D1E5E7E22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16585256"/>
        <c:axId val="716586696"/>
      </c:scatterChart>
      <c:valAx>
        <c:axId val="71658525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716586696"/>
        <c:crosses val="autoZero"/>
        <c:crossBetween val="midCat"/>
      </c:valAx>
      <c:valAx>
        <c:axId val="71658669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716585256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79ACA5-036C-4CBB-B511-6278A555603E}" type="datetimeFigureOut">
              <a:rPr lang="zh-TW" altLang="en-US" smtClean="0"/>
              <a:t>2026/8/3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B4CFE7-FE35-48A1-A28D-BD14B3B1F5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2317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B4CFE7-FE35-48A1-A28D-BD14B3B1F5D0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20859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205453-120E-B62A-8C6E-11782EF88F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60D732A-7FC5-4FA4-F6E5-675824B787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1440D8A-0214-9740-5454-F37CC0CD6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FA20A-AED8-411F-8362-4F08F634AD13}" type="datetime1">
              <a:rPr lang="zh-TW" altLang="en-US" smtClean="0"/>
              <a:t>2026/8/3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EADA05F-4D1E-1FE8-6DA7-D7B7409AF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12EDD09-E120-56C0-59FC-A04F55BE1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399F2-4B7C-4808-8B27-A13C76E6A9F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1255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7BA8EB-CFA6-9283-40FB-B48F7F56D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39DF2B1-95CB-281D-2453-AF76011E56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72D0A76-3B18-05AB-DCC6-1F56AB38C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2809C-5694-4ADE-A195-81F49E6CD71C}" type="datetime1">
              <a:rPr lang="zh-TW" altLang="en-US" smtClean="0"/>
              <a:t>2026/8/3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C3134FC-D89F-C825-D1C0-00BD62E5E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3B40F05-6822-5C54-E755-01100611B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399F2-4B7C-4808-8B27-A13C76E6A9F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8319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B08E6C-CDD2-50B8-AB5F-539F9492F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7802F37-170D-6E59-F57D-922A074DD4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894C0AF-3EED-7BE1-0976-C677B37E2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D4B31-F13D-4F82-B0AC-ED9396B0F174}" type="datetime1">
              <a:rPr lang="zh-TW" altLang="en-US" smtClean="0"/>
              <a:t>2026/8/3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1D1E8EE-A731-69F8-5AC5-2D07AC748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7A2A35A-F070-7B63-E79F-5882DD8FB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399F2-4B7C-4808-8B27-A13C76E6A9F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37954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0C8A4C-297C-663E-25A2-6B922E6F7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1451EB7-0FA8-188A-2F37-387723BD14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62EEB57-1FEB-D902-CE79-9536550809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AF0ECC5-0145-1FAE-8D3E-E96723923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4DB4A-D224-408E-93AF-7640A6CD6C9E}" type="datetime1">
              <a:rPr lang="zh-TW" altLang="en-US" smtClean="0"/>
              <a:t>2026/8/3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DF4FD0B-3958-F349-BDDB-D024614D1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EF2A39D-DF82-3DFB-0799-3EC341907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399F2-4B7C-4808-8B27-A13C76E6A9F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1723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4BF1739-DCE6-04DE-03F4-9E8AFF235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400BE40-1D76-849D-C8F3-7CD164AA6C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163CB68-42DC-14AC-8783-98C466DDFE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9C448FE-3FB0-ECFD-4405-17DACDDED9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C99A6F9D-7707-929A-6FFE-AC1AB893F4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7C65D084-486F-3E16-7258-B8D0DBFF1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8B68F-C8CE-4182-AD4D-6A41CE773149}" type="datetime1">
              <a:rPr lang="zh-TW" altLang="en-US" smtClean="0"/>
              <a:t>2026/8/3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15810BC7-D2EF-14D8-543F-C1DC820C8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122CC8F4-6BDC-3EBA-A67E-B5BF9AB90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399F2-4B7C-4808-8B27-A13C76E6A9F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6981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475704-81B1-D898-E07C-3E4C2A57D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9E9AAF1-96AB-606B-28A1-847554BBB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1DB16-EF1C-4119-8174-C5B39ACBC5EC}" type="datetime1">
              <a:rPr lang="zh-TW" altLang="en-US" smtClean="0"/>
              <a:t>2026/8/3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DC126988-D822-CD82-7BD0-28A26CF01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144CF17-3FA3-CC9C-D9DA-2C3D20757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399F2-4B7C-4808-8B27-A13C76E6A9F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8077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FFEC46EB-ED34-F0B4-3D53-5F1E92F33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0C75B-D794-4B33-9008-BE85F7E8298A}" type="datetime1">
              <a:rPr lang="zh-TW" altLang="en-US" smtClean="0"/>
              <a:t>2026/8/3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6158791E-E2DF-6728-78E5-30C5B826D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6656C5C-3CD6-8DCF-F1B8-977376D6D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399F2-4B7C-4808-8B27-A13C76E6A9F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8580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EC0274-A733-4F03-88B5-2F0B94CAA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943E46C-ADBA-D61C-44B7-10586550FD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308E044-261E-C39E-67FB-2841876B3A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B76DBDA-E524-1A1B-FD84-F6E55A441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D30AD-8DDE-43B1-992C-B21FDC46B221}" type="datetime1">
              <a:rPr lang="zh-TW" altLang="en-US" smtClean="0"/>
              <a:t>2026/8/3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D000D65-7526-E9ED-0C49-FBC8EBCFC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F3DCB23-5B42-78B8-7FC4-0A4BAD40E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399F2-4B7C-4808-8B27-A13C76E6A9F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70118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4F41FB-60B1-FF7B-3F2D-2C95D86A0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8BBC5D3E-43F5-B137-6E48-D433DF65C7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C2FD2C3-A8DC-D6FE-C3BC-8F57B498A6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636DCFD-C092-B900-CC7D-010F36901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DA636-6424-4643-98FF-F3C5490949A2}" type="datetime1">
              <a:rPr lang="zh-TW" altLang="en-US" smtClean="0"/>
              <a:t>2026/8/3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CA433C7-4C32-5AE7-2FD7-086AF1494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7AC1295-3F40-451F-DE2D-ADFB2C1DC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399F2-4B7C-4808-8B27-A13C76E6A9F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2947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F9A010-4E6F-471C-B88B-34C572CE8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995280E-C968-B697-9D10-E8EEEC00A9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01000EE-B34F-184E-AA3C-964E374D7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8CC40-9425-4E64-AAA4-82535E935151}" type="datetime1">
              <a:rPr lang="zh-TW" altLang="en-US" smtClean="0"/>
              <a:t>2026/8/3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743F59D-669C-1C7D-2D08-43D788904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6126CFC-8141-AA80-9141-682DD4618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399F2-4B7C-4808-8B27-A13C76E6A9F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9802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A2EC0529-D926-D85E-6FF6-3F1B93D854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F0DD41D-077F-C79A-C568-5F90D047AF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2D2EC17-29C3-54CD-F141-327AF30D7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EA640-B2FF-4BA9-9C86-A049658D2DA6}" type="datetime1">
              <a:rPr lang="zh-TW" altLang="en-US" smtClean="0"/>
              <a:t>2026/8/3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274C610-41D1-A62B-59D0-0B9379E60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EB3784E-A85C-505B-801D-29935939D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399F2-4B7C-4808-8B27-A13C76E6A9F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0239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0B1F9BC2-85A4-58B6-D8E2-F7FDE28F3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B552726-F39D-3021-153C-1171BBC5C3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ED67C3B-AF1F-8DD9-F07B-29A728E8A6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203A9E-DDF2-4F1E-94E6-D0F53021B384}" type="datetime1">
              <a:rPr lang="zh-TW" altLang="en-US" smtClean="0"/>
              <a:t>2026/8/3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97736DA-E4D6-9610-0FD3-8EF028CCA0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51E0767-E991-77C6-0DD1-F9ABCEB159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8399F2-4B7C-4808-8B27-A13C76E6A9F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8183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9CFAC8C9-7590-0200-DCFE-3DFA301CFCBA}"/>
              </a:ext>
            </a:extLst>
          </p:cNvPr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5B839B"/>
          </a:solidFill>
          <a:ln w="12700">
            <a:solidFill>
              <a:srgbClr val="5B839B"/>
            </a:solidFill>
            <a:prstDash val="solid"/>
          </a:ln>
        </p:spPr>
        <p:txBody>
          <a:bodyPr/>
          <a:lstStyle/>
          <a:p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7265BD0-73DF-9CEB-5699-353C3412408D}"/>
              </a:ext>
            </a:extLst>
          </p:cNvPr>
          <p:cNvSpPr/>
          <p:nvPr/>
        </p:nvSpPr>
        <p:spPr>
          <a:xfrm>
            <a:off x="0" y="1544715"/>
            <a:ext cx="12191695" cy="1289925"/>
          </a:xfrm>
          <a:prstGeom prst="rect">
            <a:avLst/>
          </a:prstGeom>
          <a:solidFill>
            <a:srgbClr val="5B839B"/>
          </a:solidFill>
          <a:ln w="12700">
            <a:solidFill>
              <a:srgbClr val="5B839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CE6E196-A03F-AD9B-8D03-CF735C90E220}"/>
              </a:ext>
            </a:extLst>
          </p:cNvPr>
          <p:cNvSpPr/>
          <p:nvPr/>
        </p:nvSpPr>
        <p:spPr>
          <a:xfrm>
            <a:off x="722376" y="1759910"/>
            <a:ext cx="10744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Multi-Token Prediction with Consistency Methods</a:t>
            </a:r>
            <a:endParaRPr lang="en-US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676DD37-D6E1-7CE9-2B4D-08F12897688D}"/>
              </a:ext>
            </a:extLst>
          </p:cNvPr>
          <p:cNvSpPr/>
          <p:nvPr/>
        </p:nvSpPr>
        <p:spPr>
          <a:xfrm>
            <a:off x="928116" y="2358841"/>
            <a:ext cx="10332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Selective Distribution Consistency + Latent </a:t>
            </a:r>
            <a:r>
              <a:rPr lang="en-US" sz="160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Consistency Matching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0A0583E1-C259-C9C0-A177-42AE46BD1764}"/>
              </a:ext>
            </a:extLst>
          </p:cNvPr>
          <p:cNvSpPr/>
          <p:nvPr/>
        </p:nvSpPr>
        <p:spPr>
          <a:xfrm>
            <a:off x="4334256" y="3703319"/>
            <a:ext cx="3520440" cy="868679"/>
          </a:xfrm>
          <a:prstGeom prst="rect">
            <a:avLst/>
          </a:prstGeom>
          <a:solidFill>
            <a:srgbClr val="5B839B"/>
          </a:solidFill>
          <a:ln w="12700">
            <a:solidFill>
              <a:srgbClr val="5B839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8BB2ADE-B693-01EA-8BB3-C589692A379E}"/>
              </a:ext>
            </a:extLst>
          </p:cNvPr>
          <p:cNvSpPr/>
          <p:nvPr/>
        </p:nvSpPr>
        <p:spPr>
          <a:xfrm>
            <a:off x="4334256" y="3703318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Presenter</a:t>
            </a:r>
            <a:r>
              <a:rPr lang="en-US" altLang="zh-TW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:</a:t>
            </a:r>
            <a:r>
              <a:rPr lang="zh-TW" altLang="en-US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 陳九龍</a:t>
            </a:r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投影片編號版面配置區 10">
            <a:extLst>
              <a:ext uri="{FF2B5EF4-FFF2-40B4-BE49-F238E27FC236}">
                <a16:creationId xmlns:a16="http://schemas.microsoft.com/office/drawing/2014/main" id="{11F3EFDC-DE25-6FD7-C144-F88D3692E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611112"/>
            <a:ext cx="2743200" cy="246888"/>
          </a:xfrm>
        </p:spPr>
        <p:txBody>
          <a:bodyPr/>
          <a:lstStyle/>
          <a:p>
            <a:fld id="{A98399F2-4B7C-4808-8B27-A13C76E6A9FD}" type="slidenum">
              <a:rPr lang="zh-TW" altLang="en-US" smtClean="0">
                <a:solidFill>
                  <a:schemeClr val="bg1"/>
                </a:solidFill>
              </a:rPr>
              <a:t>1</a:t>
            </a:fld>
            <a:endParaRPr lang="zh-TW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1314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2329A6FC-C1A7-775E-A743-27DDEBC52046}"/>
              </a:ext>
            </a:extLst>
          </p:cNvPr>
          <p:cNvSpPr/>
          <p:nvPr/>
        </p:nvSpPr>
        <p:spPr>
          <a:xfrm>
            <a:off x="-1" y="6642171"/>
            <a:ext cx="12191695" cy="246888"/>
          </a:xfrm>
          <a:prstGeom prst="rect">
            <a:avLst/>
          </a:prstGeom>
          <a:solidFill>
            <a:srgbClr val="5B839B"/>
          </a:solidFill>
          <a:ln w="12700">
            <a:solidFill>
              <a:srgbClr val="5B839B"/>
            </a:solidFill>
            <a:prstDash val="solid"/>
          </a:ln>
        </p:spPr>
        <p:txBody>
          <a:bodyPr/>
          <a:lstStyle/>
          <a:p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6074C62-AEEB-9427-7079-E732850B5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642171"/>
            <a:ext cx="2743200" cy="246888"/>
          </a:xfrm>
        </p:spPr>
        <p:txBody>
          <a:bodyPr/>
          <a:lstStyle/>
          <a:p>
            <a:fld id="{A98399F2-4B7C-4808-8B27-A13C76E6A9FD}" type="slidenum">
              <a:rPr lang="zh-TW" altLang="en-US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fld>
            <a:endParaRPr lang="zh-TW" altLang="en-US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E72C0951-7906-ABE6-C805-821600186804}"/>
              </a:ext>
            </a:extLst>
          </p:cNvPr>
          <p:cNvSpPr/>
          <p:nvPr/>
        </p:nvSpPr>
        <p:spPr>
          <a:xfrm>
            <a:off x="-1" y="320040"/>
            <a:ext cx="12192001" cy="411480"/>
          </a:xfrm>
          <a:prstGeom prst="rect">
            <a:avLst/>
          </a:prstGeom>
          <a:solidFill>
            <a:srgbClr val="5B839B"/>
          </a:solidFill>
          <a:ln w="12700">
            <a:solidFill>
              <a:srgbClr val="5B839B"/>
            </a:solidFill>
            <a:prstDash val="solid"/>
          </a:ln>
        </p:spPr>
        <p:txBody>
          <a:bodyPr/>
          <a:lstStyle/>
          <a:p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71FEBC55-E661-59C0-AEE4-3A2F99FA2D10}"/>
              </a:ext>
            </a:extLst>
          </p:cNvPr>
          <p:cNvSpPr/>
          <p:nvPr/>
        </p:nvSpPr>
        <p:spPr>
          <a:xfrm>
            <a:off x="320040" y="411480"/>
            <a:ext cx="112919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CONTENTS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077846D7-6381-1407-8F0F-8609E64624B3}"/>
              </a:ext>
            </a:extLst>
          </p:cNvPr>
          <p:cNvGrpSpPr/>
          <p:nvPr/>
        </p:nvGrpSpPr>
        <p:grpSpPr>
          <a:xfrm>
            <a:off x="1097280" y="1397367"/>
            <a:ext cx="2910543" cy="720000"/>
            <a:chOff x="1097280" y="1397367"/>
            <a:chExt cx="2910543" cy="720000"/>
          </a:xfrm>
        </p:grpSpPr>
        <p:sp>
          <p:nvSpPr>
            <p:cNvPr id="10" name="Text 4">
              <a:extLst>
                <a:ext uri="{FF2B5EF4-FFF2-40B4-BE49-F238E27FC236}">
                  <a16:creationId xmlns:a16="http://schemas.microsoft.com/office/drawing/2014/main" id="{2C29625E-714D-E4BB-E545-EEC2DE82C16B}"/>
                </a:ext>
              </a:extLst>
            </p:cNvPr>
            <p:cNvSpPr/>
            <p:nvPr/>
          </p:nvSpPr>
          <p:spPr>
            <a:xfrm>
              <a:off x="1097280" y="1397367"/>
              <a:ext cx="720000" cy="720000"/>
            </a:xfrm>
            <a:prstGeom prst="rect">
              <a:avLst/>
            </a:prstGeom>
            <a:solidFill>
              <a:srgbClr val="5B839B"/>
            </a:solidFill>
            <a:ln>
              <a:solidFill>
                <a:srgbClr val="C8D6DE"/>
              </a:solidFill>
            </a:ln>
          </p:spPr>
          <p:txBody>
            <a:bodyPr wrap="square" lIns="635" tIns="635" rIns="635" bIns="63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Noto Sans CJK TC" pitchFamily="34" charset="-120"/>
                </a:rPr>
                <a:t>01</a:t>
              </a:r>
              <a:endParaRPr 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11" name="群組 10">
              <a:extLst>
                <a:ext uri="{FF2B5EF4-FFF2-40B4-BE49-F238E27FC236}">
                  <a16:creationId xmlns:a16="http://schemas.microsoft.com/office/drawing/2014/main" id="{431787C7-CA81-1006-4925-B56BE9618C47}"/>
                </a:ext>
              </a:extLst>
            </p:cNvPr>
            <p:cNvGrpSpPr/>
            <p:nvPr/>
          </p:nvGrpSpPr>
          <p:grpSpPr>
            <a:xfrm>
              <a:off x="1996143" y="1577340"/>
              <a:ext cx="2011680" cy="338328"/>
              <a:chOff x="1783080" y="1572768"/>
              <a:chExt cx="2011680" cy="338328"/>
            </a:xfrm>
          </p:grpSpPr>
          <p:sp>
            <p:nvSpPr>
              <p:cNvPr id="12" name="Text 5">
                <a:extLst>
                  <a:ext uri="{FF2B5EF4-FFF2-40B4-BE49-F238E27FC236}">
                    <a16:creationId xmlns:a16="http://schemas.microsoft.com/office/drawing/2014/main" id="{D212872F-958B-0EEF-0610-236C9EACE7D6}"/>
                  </a:ext>
                </a:extLst>
              </p:cNvPr>
              <p:cNvSpPr/>
              <p:nvPr/>
            </p:nvSpPr>
            <p:spPr>
              <a:xfrm>
                <a:off x="1783080" y="1572768"/>
                <a:ext cx="2011680" cy="1828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1B2E3A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Noto Sans CJK TC" pitchFamily="34" charset="-120"/>
                  </a:rPr>
                  <a:t>Introduction</a:t>
                </a:r>
                <a:endParaRPr lang="en-US" sz="160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13" name="Text 6">
                <a:extLst>
                  <a:ext uri="{FF2B5EF4-FFF2-40B4-BE49-F238E27FC236}">
                    <a16:creationId xmlns:a16="http://schemas.microsoft.com/office/drawing/2014/main" id="{0015DCED-0E7A-12AA-213D-5E8323B5CAC9}"/>
                  </a:ext>
                </a:extLst>
              </p:cNvPr>
              <p:cNvSpPr/>
              <p:nvPr/>
            </p:nvSpPr>
            <p:spPr>
              <a:xfrm>
                <a:off x="1783080" y="1783080"/>
                <a:ext cx="2011680" cy="12801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400" dirty="0">
                    <a:solidFill>
                      <a:srgbClr val="60707A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Noto Sans CJK TC" pitchFamily="34" charset="-120"/>
                  </a:rPr>
                  <a:t>Pages 4–7</a:t>
                </a:r>
                <a:endParaRPr 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</p:grp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8ED14A1A-D53F-8BF7-E955-187437DE2540}"/>
              </a:ext>
            </a:extLst>
          </p:cNvPr>
          <p:cNvGrpSpPr/>
          <p:nvPr/>
        </p:nvGrpSpPr>
        <p:grpSpPr>
          <a:xfrm>
            <a:off x="1097280" y="3055428"/>
            <a:ext cx="3084103" cy="720000"/>
            <a:chOff x="1097280" y="3055428"/>
            <a:chExt cx="2910543" cy="720000"/>
          </a:xfrm>
        </p:grpSpPr>
        <p:sp>
          <p:nvSpPr>
            <p:cNvPr id="15" name="Text 7">
              <a:extLst>
                <a:ext uri="{FF2B5EF4-FFF2-40B4-BE49-F238E27FC236}">
                  <a16:creationId xmlns:a16="http://schemas.microsoft.com/office/drawing/2014/main" id="{C0A6E5F1-7141-BE3B-6C2C-674C30C5BC8C}"/>
                </a:ext>
              </a:extLst>
            </p:cNvPr>
            <p:cNvSpPr/>
            <p:nvPr/>
          </p:nvSpPr>
          <p:spPr>
            <a:xfrm>
              <a:off x="1097280" y="3055428"/>
              <a:ext cx="720000" cy="720000"/>
            </a:xfrm>
            <a:prstGeom prst="rect">
              <a:avLst/>
            </a:prstGeom>
            <a:solidFill>
              <a:srgbClr val="5B839B"/>
            </a:solidFill>
            <a:ln>
              <a:solidFill>
                <a:srgbClr val="C8D6DE"/>
              </a:solidFill>
            </a:ln>
          </p:spPr>
          <p:txBody>
            <a:bodyPr wrap="square" lIns="635" tIns="635" rIns="635" bIns="63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Noto Sans CJK TC" pitchFamily="34" charset="-120"/>
                </a:rPr>
                <a:t>02</a:t>
              </a:r>
              <a:endParaRPr 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16" name="群組 15">
              <a:extLst>
                <a:ext uri="{FF2B5EF4-FFF2-40B4-BE49-F238E27FC236}">
                  <a16:creationId xmlns:a16="http://schemas.microsoft.com/office/drawing/2014/main" id="{CCC1EB03-62E5-2D79-B131-8ACDF97FF41C}"/>
                </a:ext>
              </a:extLst>
            </p:cNvPr>
            <p:cNvGrpSpPr/>
            <p:nvPr/>
          </p:nvGrpSpPr>
          <p:grpSpPr>
            <a:xfrm>
              <a:off x="1996143" y="3180681"/>
              <a:ext cx="2011680" cy="338328"/>
              <a:chOff x="6995160" y="1572768"/>
              <a:chExt cx="2011680" cy="338328"/>
            </a:xfrm>
          </p:grpSpPr>
          <p:sp>
            <p:nvSpPr>
              <p:cNvPr id="17" name="Text 8">
                <a:extLst>
                  <a:ext uri="{FF2B5EF4-FFF2-40B4-BE49-F238E27FC236}">
                    <a16:creationId xmlns:a16="http://schemas.microsoft.com/office/drawing/2014/main" id="{8061B861-5832-0DE5-53B7-92BC747642D6}"/>
                  </a:ext>
                </a:extLst>
              </p:cNvPr>
              <p:cNvSpPr/>
              <p:nvPr/>
            </p:nvSpPr>
            <p:spPr>
              <a:xfrm>
                <a:off x="6995160" y="1572768"/>
                <a:ext cx="2011680" cy="1828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1B2E3A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Noto Sans CJK TC" pitchFamily="34" charset="-120"/>
                  </a:rPr>
                  <a:t>Related Work</a:t>
                </a:r>
                <a:endParaRPr lang="en-US" sz="160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18" name="Text 9">
                <a:extLst>
                  <a:ext uri="{FF2B5EF4-FFF2-40B4-BE49-F238E27FC236}">
                    <a16:creationId xmlns:a16="http://schemas.microsoft.com/office/drawing/2014/main" id="{0861138A-3B26-55EB-2D58-821001938493}"/>
                  </a:ext>
                </a:extLst>
              </p:cNvPr>
              <p:cNvSpPr/>
              <p:nvPr/>
            </p:nvSpPr>
            <p:spPr>
              <a:xfrm>
                <a:off x="6995160" y="1783080"/>
                <a:ext cx="2011680" cy="12801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400" dirty="0">
                    <a:solidFill>
                      <a:srgbClr val="60707A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Noto Sans CJK TC" pitchFamily="34" charset="-120"/>
                  </a:rPr>
                  <a:t>Pages 9–10</a:t>
                </a:r>
                <a:endParaRPr 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</p:grp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F670485D-049A-B8C8-7F89-26EC12828DCA}"/>
              </a:ext>
            </a:extLst>
          </p:cNvPr>
          <p:cNvGrpSpPr/>
          <p:nvPr/>
        </p:nvGrpSpPr>
        <p:grpSpPr>
          <a:xfrm>
            <a:off x="1087737" y="4745736"/>
            <a:ext cx="2920086" cy="720000"/>
            <a:chOff x="1087737" y="4745736"/>
            <a:chExt cx="2920086" cy="720000"/>
          </a:xfrm>
        </p:grpSpPr>
        <p:sp>
          <p:nvSpPr>
            <p:cNvPr id="20" name="Text 10">
              <a:extLst>
                <a:ext uri="{FF2B5EF4-FFF2-40B4-BE49-F238E27FC236}">
                  <a16:creationId xmlns:a16="http://schemas.microsoft.com/office/drawing/2014/main" id="{E7B38074-BB04-954C-54E3-5969C1475B71}"/>
                </a:ext>
              </a:extLst>
            </p:cNvPr>
            <p:cNvSpPr/>
            <p:nvPr/>
          </p:nvSpPr>
          <p:spPr>
            <a:xfrm>
              <a:off x="1087737" y="4745736"/>
              <a:ext cx="720000" cy="720000"/>
            </a:xfrm>
            <a:prstGeom prst="rect">
              <a:avLst/>
            </a:prstGeom>
            <a:solidFill>
              <a:srgbClr val="5B839B"/>
            </a:solidFill>
            <a:ln>
              <a:solidFill>
                <a:srgbClr val="C8D6DE"/>
              </a:solidFill>
            </a:ln>
          </p:spPr>
          <p:txBody>
            <a:bodyPr wrap="square" lIns="635" tIns="635" rIns="635" bIns="63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Noto Sans CJK TC" pitchFamily="34" charset="-120"/>
                </a:rPr>
                <a:t>03</a:t>
              </a:r>
              <a:endParaRPr 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21" name="群組 20">
              <a:extLst>
                <a:ext uri="{FF2B5EF4-FFF2-40B4-BE49-F238E27FC236}">
                  <a16:creationId xmlns:a16="http://schemas.microsoft.com/office/drawing/2014/main" id="{0C95E397-2A87-A0EB-E5B5-61C07AF9CC14}"/>
                </a:ext>
              </a:extLst>
            </p:cNvPr>
            <p:cNvGrpSpPr/>
            <p:nvPr/>
          </p:nvGrpSpPr>
          <p:grpSpPr>
            <a:xfrm>
              <a:off x="1996143" y="4942332"/>
              <a:ext cx="2011680" cy="338328"/>
              <a:chOff x="1783080" y="3081528"/>
              <a:chExt cx="2011680" cy="338328"/>
            </a:xfrm>
          </p:grpSpPr>
          <p:sp>
            <p:nvSpPr>
              <p:cNvPr id="22" name="Text 11">
                <a:extLst>
                  <a:ext uri="{FF2B5EF4-FFF2-40B4-BE49-F238E27FC236}">
                    <a16:creationId xmlns:a16="http://schemas.microsoft.com/office/drawing/2014/main" id="{3A0B1129-0F08-E966-44A8-55A76AAB698D}"/>
                  </a:ext>
                </a:extLst>
              </p:cNvPr>
              <p:cNvSpPr/>
              <p:nvPr/>
            </p:nvSpPr>
            <p:spPr>
              <a:xfrm>
                <a:off x="1783080" y="3081528"/>
                <a:ext cx="2011680" cy="1828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1B2E3A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Noto Sans CJK TC" pitchFamily="34" charset="-120"/>
                  </a:rPr>
                  <a:t>Proposed Method</a:t>
                </a:r>
                <a:endParaRPr lang="en-US" sz="160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23" name="Text 12">
                <a:extLst>
                  <a:ext uri="{FF2B5EF4-FFF2-40B4-BE49-F238E27FC236}">
                    <a16:creationId xmlns:a16="http://schemas.microsoft.com/office/drawing/2014/main" id="{603FE6B0-AE64-F9AD-AB71-DA7D4965941C}"/>
                  </a:ext>
                </a:extLst>
              </p:cNvPr>
              <p:cNvSpPr/>
              <p:nvPr/>
            </p:nvSpPr>
            <p:spPr>
              <a:xfrm>
                <a:off x="1783080" y="3291840"/>
                <a:ext cx="2011680" cy="12801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400" dirty="0">
                    <a:solidFill>
                      <a:srgbClr val="60707A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Noto Sans CJK TC" pitchFamily="34" charset="-120"/>
                  </a:rPr>
                  <a:t>Pages 12–14</a:t>
                </a:r>
                <a:endParaRPr 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</p:grpSp>
      <p:grpSp>
        <p:nvGrpSpPr>
          <p:cNvPr id="24" name="群組 23">
            <a:extLst>
              <a:ext uri="{FF2B5EF4-FFF2-40B4-BE49-F238E27FC236}">
                <a16:creationId xmlns:a16="http://schemas.microsoft.com/office/drawing/2014/main" id="{D1A6A8B3-ECE6-74B1-B5C1-87650D0C126C}"/>
              </a:ext>
            </a:extLst>
          </p:cNvPr>
          <p:cNvGrpSpPr/>
          <p:nvPr/>
        </p:nvGrpSpPr>
        <p:grpSpPr>
          <a:xfrm>
            <a:off x="6365289" y="1429784"/>
            <a:ext cx="2916759" cy="720000"/>
            <a:chOff x="6365289" y="1540365"/>
            <a:chExt cx="2916759" cy="720000"/>
          </a:xfrm>
        </p:grpSpPr>
        <p:sp>
          <p:nvSpPr>
            <p:cNvPr id="25" name="Text 13">
              <a:extLst>
                <a:ext uri="{FF2B5EF4-FFF2-40B4-BE49-F238E27FC236}">
                  <a16:creationId xmlns:a16="http://schemas.microsoft.com/office/drawing/2014/main" id="{562A25ED-0423-9AF2-5C2E-B56C406E85B8}"/>
                </a:ext>
              </a:extLst>
            </p:cNvPr>
            <p:cNvSpPr/>
            <p:nvPr/>
          </p:nvSpPr>
          <p:spPr>
            <a:xfrm>
              <a:off x="6365289" y="1540365"/>
              <a:ext cx="720000" cy="720000"/>
            </a:xfrm>
            <a:prstGeom prst="rect">
              <a:avLst/>
            </a:prstGeom>
            <a:solidFill>
              <a:srgbClr val="5B839B"/>
            </a:solidFill>
            <a:ln>
              <a:solidFill>
                <a:srgbClr val="C8D6DE"/>
              </a:solidFill>
            </a:ln>
          </p:spPr>
          <p:txBody>
            <a:bodyPr wrap="square" lIns="635" tIns="635" rIns="635" bIns="63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Noto Sans CJK TC" pitchFamily="34" charset="-120"/>
                </a:rPr>
                <a:t>04</a:t>
              </a:r>
              <a:endParaRPr 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26" name="群組 25">
              <a:extLst>
                <a:ext uri="{FF2B5EF4-FFF2-40B4-BE49-F238E27FC236}">
                  <a16:creationId xmlns:a16="http://schemas.microsoft.com/office/drawing/2014/main" id="{A9CCE95C-CA71-89A3-5867-1E876A223C5E}"/>
                </a:ext>
              </a:extLst>
            </p:cNvPr>
            <p:cNvGrpSpPr/>
            <p:nvPr/>
          </p:nvGrpSpPr>
          <p:grpSpPr>
            <a:xfrm>
              <a:off x="7270368" y="1744951"/>
              <a:ext cx="2011680" cy="338328"/>
              <a:chOff x="6995160" y="3081528"/>
              <a:chExt cx="2011680" cy="338328"/>
            </a:xfrm>
          </p:grpSpPr>
          <p:sp>
            <p:nvSpPr>
              <p:cNvPr id="27" name="Text 14">
                <a:extLst>
                  <a:ext uri="{FF2B5EF4-FFF2-40B4-BE49-F238E27FC236}">
                    <a16:creationId xmlns:a16="http://schemas.microsoft.com/office/drawing/2014/main" id="{D017DC80-8D4B-E2E5-57A9-F6ED86558D4B}"/>
                  </a:ext>
                </a:extLst>
              </p:cNvPr>
              <p:cNvSpPr/>
              <p:nvPr/>
            </p:nvSpPr>
            <p:spPr>
              <a:xfrm>
                <a:off x="6995160" y="3081528"/>
                <a:ext cx="2011680" cy="1828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1B2E3A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Noto Sans CJK TC" pitchFamily="34" charset="-120"/>
                  </a:rPr>
                  <a:t>Experiment Results</a:t>
                </a:r>
                <a:endParaRPr lang="en-US" sz="160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28" name="Text 15">
                <a:extLst>
                  <a:ext uri="{FF2B5EF4-FFF2-40B4-BE49-F238E27FC236}">
                    <a16:creationId xmlns:a16="http://schemas.microsoft.com/office/drawing/2014/main" id="{A3EBCB74-918C-B734-A10C-206195712713}"/>
                  </a:ext>
                </a:extLst>
              </p:cNvPr>
              <p:cNvSpPr/>
              <p:nvPr/>
            </p:nvSpPr>
            <p:spPr>
              <a:xfrm>
                <a:off x="6995160" y="3291840"/>
                <a:ext cx="2011680" cy="12801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400" dirty="0">
                    <a:solidFill>
                      <a:srgbClr val="60707A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Noto Sans CJK TC" pitchFamily="34" charset="-120"/>
                  </a:rPr>
                  <a:t>Pages 16–23</a:t>
                </a:r>
                <a:endParaRPr 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</p:grpSp>
      <p:grpSp>
        <p:nvGrpSpPr>
          <p:cNvPr id="29" name="群組 28">
            <a:extLst>
              <a:ext uri="{FF2B5EF4-FFF2-40B4-BE49-F238E27FC236}">
                <a16:creationId xmlns:a16="http://schemas.microsoft.com/office/drawing/2014/main" id="{1C934879-3578-D0A8-AA90-E7C8DD7C988E}"/>
              </a:ext>
            </a:extLst>
          </p:cNvPr>
          <p:cNvGrpSpPr/>
          <p:nvPr/>
        </p:nvGrpSpPr>
        <p:grpSpPr>
          <a:xfrm>
            <a:off x="6365289" y="2912121"/>
            <a:ext cx="3551067" cy="720000"/>
            <a:chOff x="6365289" y="2995326"/>
            <a:chExt cx="3551067" cy="720000"/>
          </a:xfrm>
        </p:grpSpPr>
        <p:sp>
          <p:nvSpPr>
            <p:cNvPr id="30" name="Text 16">
              <a:extLst>
                <a:ext uri="{FF2B5EF4-FFF2-40B4-BE49-F238E27FC236}">
                  <a16:creationId xmlns:a16="http://schemas.microsoft.com/office/drawing/2014/main" id="{2FFBCAE1-3AE1-A72A-64D7-757469E86026}"/>
                </a:ext>
              </a:extLst>
            </p:cNvPr>
            <p:cNvSpPr/>
            <p:nvPr/>
          </p:nvSpPr>
          <p:spPr>
            <a:xfrm>
              <a:off x="6365289" y="2995326"/>
              <a:ext cx="720000" cy="720000"/>
            </a:xfrm>
            <a:prstGeom prst="rect">
              <a:avLst/>
            </a:prstGeom>
            <a:solidFill>
              <a:srgbClr val="5B839B"/>
            </a:solidFill>
            <a:ln>
              <a:solidFill>
                <a:srgbClr val="C8D6DE"/>
              </a:solidFill>
            </a:ln>
          </p:spPr>
          <p:txBody>
            <a:bodyPr wrap="square" lIns="635" tIns="635" rIns="635" bIns="63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Noto Sans CJK TC" pitchFamily="34" charset="-120"/>
                </a:rPr>
                <a:t>05</a:t>
              </a:r>
              <a:endParaRPr 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31" name="群組 30">
              <a:extLst>
                <a:ext uri="{FF2B5EF4-FFF2-40B4-BE49-F238E27FC236}">
                  <a16:creationId xmlns:a16="http://schemas.microsoft.com/office/drawing/2014/main" id="{36293574-CA90-7414-98E4-56BAF96C0991}"/>
                </a:ext>
              </a:extLst>
            </p:cNvPr>
            <p:cNvGrpSpPr/>
            <p:nvPr/>
          </p:nvGrpSpPr>
          <p:grpSpPr>
            <a:xfrm>
              <a:off x="7270367" y="3215826"/>
              <a:ext cx="2645989" cy="411480"/>
              <a:chOff x="4389119" y="4773168"/>
              <a:chExt cx="2645989" cy="411480"/>
            </a:xfrm>
          </p:grpSpPr>
          <p:sp>
            <p:nvSpPr>
              <p:cNvPr id="32" name="Text 17">
                <a:extLst>
                  <a:ext uri="{FF2B5EF4-FFF2-40B4-BE49-F238E27FC236}">
                    <a16:creationId xmlns:a16="http://schemas.microsoft.com/office/drawing/2014/main" id="{0ACB1F84-B88B-3B42-4599-3E8CFDA868C8}"/>
                  </a:ext>
                </a:extLst>
              </p:cNvPr>
              <p:cNvSpPr/>
              <p:nvPr/>
            </p:nvSpPr>
            <p:spPr>
              <a:xfrm>
                <a:off x="4389119" y="4773168"/>
                <a:ext cx="2645989" cy="4114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1B2E3A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Noto Sans CJK TC" pitchFamily="34" charset="-120"/>
                  </a:rPr>
                  <a:t>Conclusion &amp;</a:t>
                </a:r>
                <a:r>
                  <a:rPr lang="zh-TW" altLang="en-US" sz="1600" b="1" dirty="0">
                    <a:solidFill>
                      <a:srgbClr val="1B2E3A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Noto Sans CJK TC" pitchFamily="34" charset="-120"/>
                  </a:rPr>
                  <a:t> </a:t>
                </a:r>
                <a:r>
                  <a:rPr lang="en-US" sz="1600" b="1" dirty="0">
                    <a:solidFill>
                      <a:srgbClr val="1B2E3A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Noto Sans CJK TC" pitchFamily="34" charset="-120"/>
                  </a:rPr>
                  <a:t>Future Work</a:t>
                </a:r>
              </a:p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1B2E3A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Noto Sans CJK TC" pitchFamily="34" charset="-120"/>
                  </a:rPr>
                  <a:t>  </a:t>
                </a:r>
              </a:p>
            </p:txBody>
          </p:sp>
          <p:sp>
            <p:nvSpPr>
              <p:cNvPr id="33" name="Text 18">
                <a:extLst>
                  <a:ext uri="{FF2B5EF4-FFF2-40B4-BE49-F238E27FC236}">
                    <a16:creationId xmlns:a16="http://schemas.microsoft.com/office/drawing/2014/main" id="{34D6F485-B800-906F-0C6F-EA2D7831E1C1}"/>
                  </a:ext>
                </a:extLst>
              </p:cNvPr>
              <p:cNvSpPr/>
              <p:nvPr/>
            </p:nvSpPr>
            <p:spPr>
              <a:xfrm>
                <a:off x="4389120" y="4983480"/>
                <a:ext cx="2011680" cy="12801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400" dirty="0">
                    <a:solidFill>
                      <a:srgbClr val="60707A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Noto Sans CJK TC" pitchFamily="34" charset="-120"/>
                  </a:rPr>
                  <a:t>Pages 25–26</a:t>
                </a:r>
                <a:endParaRPr 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05124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6D5CB305-C0B7-ECDE-65CB-934184EAC564}"/>
              </a:ext>
            </a:extLst>
          </p:cNvPr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5B839B"/>
          </a:solidFill>
          <a:ln w="12700">
            <a:solidFill>
              <a:srgbClr val="5B839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F6C51D5-D508-7D8A-315B-25B3B7538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611112"/>
            <a:ext cx="2743200" cy="246888"/>
          </a:xfrm>
        </p:spPr>
        <p:txBody>
          <a:bodyPr/>
          <a:lstStyle/>
          <a:p>
            <a:fld id="{A98399F2-4B7C-4808-8B27-A13C76E6A9FD}" type="slidenum">
              <a:rPr lang="zh-TW" altLang="en-US" smtClean="0">
                <a:solidFill>
                  <a:schemeClr val="bg1"/>
                </a:solidFill>
              </a:rPr>
              <a:t>3</a:t>
            </a:fld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FB825AD1-FDE7-4076-EB04-1B612A3368E0}"/>
              </a:ext>
            </a:extLst>
          </p:cNvPr>
          <p:cNvSpPr/>
          <p:nvPr/>
        </p:nvSpPr>
        <p:spPr>
          <a:xfrm>
            <a:off x="0" y="2496312"/>
            <a:ext cx="12191695" cy="676656"/>
          </a:xfrm>
          <a:prstGeom prst="rect">
            <a:avLst/>
          </a:prstGeom>
          <a:solidFill>
            <a:srgbClr val="5B839B"/>
          </a:solidFill>
          <a:ln w="12700">
            <a:solidFill>
              <a:srgbClr val="5B839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3440E5B8-AF42-1C83-A684-DAE2C362DF4F}"/>
              </a:ext>
            </a:extLst>
          </p:cNvPr>
          <p:cNvSpPr/>
          <p:nvPr/>
        </p:nvSpPr>
        <p:spPr>
          <a:xfrm>
            <a:off x="457200" y="2660904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Introduction</a:t>
            </a:r>
            <a:endParaRPr lang="en-US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41503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50524C61-136F-4B3F-630C-1224A5DE96CF}"/>
              </a:ext>
            </a:extLst>
          </p:cNvPr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5B839B"/>
          </a:solidFill>
          <a:ln w="12700">
            <a:solidFill>
              <a:srgbClr val="5B839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8F9592-AD71-8253-D2E4-BD701C8B3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495" y="6610795"/>
            <a:ext cx="2743200" cy="246888"/>
          </a:xfrm>
        </p:spPr>
        <p:txBody>
          <a:bodyPr/>
          <a:lstStyle/>
          <a:p>
            <a:fld id="{A98399F2-4B7C-4808-8B27-A13C76E6A9FD}" type="slidenum">
              <a:rPr lang="zh-TW" altLang="en-US" smtClean="0">
                <a:solidFill>
                  <a:schemeClr val="bg1"/>
                </a:solidFill>
              </a:rPr>
              <a:t>4</a:t>
            </a:fld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ED16DC88-3FEE-E262-16AE-B4EDFB1337CD}"/>
              </a:ext>
            </a:extLst>
          </p:cNvPr>
          <p:cNvSpPr/>
          <p:nvPr/>
        </p:nvSpPr>
        <p:spPr>
          <a:xfrm>
            <a:off x="347472" y="27432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E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Part</a:t>
            </a:r>
            <a:r>
              <a:rPr lang="zh-TW" altLang="en-US" b="1" dirty="0">
                <a:solidFill>
                  <a:srgbClr val="1B2E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 </a:t>
            </a:r>
            <a:r>
              <a:rPr lang="en-US" b="1" dirty="0">
                <a:solidFill>
                  <a:srgbClr val="1B2E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1: Introduction</a:t>
            </a:r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F4CDAB86-9282-046C-57E9-7B895B8E2E18}"/>
              </a:ext>
            </a:extLst>
          </p:cNvPr>
          <p:cNvSpPr/>
          <p:nvPr/>
        </p:nvSpPr>
        <p:spPr>
          <a:xfrm>
            <a:off x="347472" y="45720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0707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Background — Multi-Token Prediction for Faster Generation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8537571F-7A16-42E5-F69A-462FD00B5BE7}"/>
              </a:ext>
            </a:extLst>
          </p:cNvPr>
          <p:cNvSpPr/>
          <p:nvPr/>
        </p:nvSpPr>
        <p:spPr>
          <a:xfrm>
            <a:off x="347472" y="749808"/>
            <a:ext cx="11475720" cy="0"/>
          </a:xfrm>
          <a:prstGeom prst="line">
            <a:avLst/>
          </a:prstGeom>
          <a:noFill/>
          <a:ln w="12700">
            <a:solidFill>
              <a:srgbClr val="C8D6D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2DED8431-4931-F0CC-B1A1-46001C652552}"/>
              </a:ext>
            </a:extLst>
          </p:cNvPr>
          <p:cNvSpPr/>
          <p:nvPr/>
        </p:nvSpPr>
        <p:spPr>
          <a:xfrm>
            <a:off x="502920" y="960119"/>
            <a:ext cx="11155680" cy="448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TW" sz="16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Multi-token prediction </a:t>
            </a:r>
            <a:r>
              <a:rPr lang="en-US" sz="16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(</a:t>
            </a:r>
            <a:r>
              <a:rPr lang="en-US" altLang="zh-TW" sz="16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MTP; </a:t>
            </a:r>
            <a:r>
              <a:rPr lang="en-US" sz="1600" b="1" dirty="0" err="1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Gloeckle</a:t>
            </a:r>
            <a:r>
              <a:rPr lang="en-US" sz="16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 et al., 2024) </a:t>
            </a:r>
            <a:r>
              <a:rPr lang="en-US" sz="1600" b="1" dirty="0" err="1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的目標</a:t>
            </a:r>
            <a:r>
              <a:rPr lang="zh-TW" altLang="en-US" sz="16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是透過一次</a:t>
            </a:r>
            <a:r>
              <a:rPr lang="en-US" altLang="zh-TW" sz="16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forward</a:t>
            </a:r>
            <a:r>
              <a:rPr lang="zh-TW" altLang="en-US" sz="16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，不僅預測下一個 </a:t>
            </a:r>
            <a:r>
              <a:rPr lang="en-US" altLang="zh-TW" sz="16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token</a:t>
            </a:r>
            <a:r>
              <a:rPr lang="en-US" sz="16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，</a:t>
            </a:r>
            <a:r>
              <a:rPr lang="zh-TW" altLang="en-US" sz="16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也利用多個 </a:t>
            </a:r>
            <a:r>
              <a:rPr lang="en-US" sz="16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prediction heads </a:t>
            </a:r>
            <a:r>
              <a:rPr lang="zh-TW" altLang="en-US" sz="16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預測更遠位置的 </a:t>
            </a:r>
            <a:r>
              <a:rPr lang="en-US" sz="16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future tokens。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Text 16">
            <a:extLst>
              <a:ext uri="{FF2B5EF4-FFF2-40B4-BE49-F238E27FC236}">
                <a16:creationId xmlns:a16="http://schemas.microsoft.com/office/drawing/2014/main" id="{45E2F5F3-E290-5966-C2E4-C199B3417298}"/>
              </a:ext>
            </a:extLst>
          </p:cNvPr>
          <p:cNvSpPr/>
          <p:nvPr/>
        </p:nvSpPr>
        <p:spPr>
          <a:xfrm>
            <a:off x="502921" y="4692814"/>
            <a:ext cx="11402034" cy="502920"/>
          </a:xfrm>
          <a:prstGeom prst="rect">
            <a:avLst/>
          </a:prstGeom>
          <a:noFill/>
          <a:ln>
            <a:noFill/>
          </a:ln>
        </p:spPr>
        <p:txBody>
          <a:bodyPr wrap="square" lIns="1143" tIns="1143" rIns="1143" bIns="1143" rtlCol="0" anchor="ctr">
            <a:normAutofit/>
          </a:bodyPr>
          <a:lstStyle/>
          <a:p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若 </a:t>
            </a:r>
            <a:r>
              <a:rPr 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next-token prediction </a:t>
            </a:r>
            <a:r>
              <a:rPr lang="en-US" sz="1600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head（Head</a:t>
            </a:r>
            <a:r>
              <a:rPr 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1）</a:t>
            </a: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與其他 </a:t>
            </a:r>
            <a:r>
              <a:rPr 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prediction heads </a:t>
            </a: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的預測一致，便可一次接受多個 </a:t>
            </a:r>
            <a:r>
              <a:rPr 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tokens，</a:t>
            </a: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進而降低推論成本並加速 </a:t>
            </a:r>
            <a:r>
              <a:rPr 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decoding。</a:t>
            </a:r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91F28A17-C89B-11A2-E672-6A81182DCB87}"/>
              </a:ext>
            </a:extLst>
          </p:cNvPr>
          <p:cNvGrpSpPr/>
          <p:nvPr/>
        </p:nvGrpSpPr>
        <p:grpSpPr>
          <a:xfrm>
            <a:off x="2556115" y="2328968"/>
            <a:ext cx="7049290" cy="957875"/>
            <a:chOff x="1008585" y="2264650"/>
            <a:chExt cx="7049290" cy="957875"/>
          </a:xfrm>
        </p:grpSpPr>
        <p:sp>
          <p:nvSpPr>
            <p:cNvPr id="11" name="Shape 8">
              <a:extLst>
                <a:ext uri="{FF2B5EF4-FFF2-40B4-BE49-F238E27FC236}">
                  <a16:creationId xmlns:a16="http://schemas.microsoft.com/office/drawing/2014/main" id="{BE2123A7-5657-506C-0440-C41A37A7C777}"/>
                </a:ext>
              </a:extLst>
            </p:cNvPr>
            <p:cNvSpPr/>
            <p:nvPr/>
          </p:nvSpPr>
          <p:spPr>
            <a:xfrm flipV="1">
              <a:off x="2297883" y="2752364"/>
              <a:ext cx="1080000" cy="5504"/>
            </a:xfrm>
            <a:prstGeom prst="line">
              <a:avLst/>
            </a:prstGeom>
            <a:noFill/>
            <a:ln w="12700">
              <a:solidFill>
                <a:srgbClr val="5B839B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" name="Text 11">
              <a:extLst>
                <a:ext uri="{FF2B5EF4-FFF2-40B4-BE49-F238E27FC236}">
                  <a16:creationId xmlns:a16="http://schemas.microsoft.com/office/drawing/2014/main" id="{610B4AEF-9601-8981-AF8D-0A367E00D703}"/>
                </a:ext>
              </a:extLst>
            </p:cNvPr>
            <p:cNvSpPr/>
            <p:nvPr/>
          </p:nvSpPr>
          <p:spPr>
            <a:xfrm>
              <a:off x="1008585" y="2277973"/>
              <a:ext cx="1285240" cy="90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635" tIns="635" rIns="635" bIns="63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27323A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Noto Sans CJK TC" pitchFamily="34" charset="-120"/>
                </a:rPr>
                <a:t>Input</a:t>
              </a:r>
              <a:r>
                <a:rPr lang="en-US" sz="16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: </a:t>
              </a:r>
              <a:r>
                <a:rPr lang="en-US" sz="1600" b="1" dirty="0">
                  <a:solidFill>
                    <a:srgbClr val="27323A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Noto Sans CJK TC" pitchFamily="34" charset="-120"/>
                </a:rPr>
                <a:t>t₀</a:t>
              </a:r>
              <a:endParaRPr 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3" name="Text 13">
              <a:extLst>
                <a:ext uri="{FF2B5EF4-FFF2-40B4-BE49-F238E27FC236}">
                  <a16:creationId xmlns:a16="http://schemas.microsoft.com/office/drawing/2014/main" id="{78320403-216C-E725-4CC6-A86BC60C4514}"/>
                </a:ext>
              </a:extLst>
            </p:cNvPr>
            <p:cNvSpPr/>
            <p:nvPr/>
          </p:nvSpPr>
          <p:spPr>
            <a:xfrm>
              <a:off x="3377879" y="2322525"/>
              <a:ext cx="1800000" cy="900000"/>
            </a:xfrm>
            <a:prstGeom prst="rect">
              <a:avLst/>
            </a:prstGeom>
            <a:solidFill>
              <a:srgbClr val="FFF3C8"/>
            </a:solidFill>
            <a:ln>
              <a:solidFill>
                <a:srgbClr val="C8D6DE"/>
              </a:solidFill>
            </a:ln>
          </p:spPr>
          <p:txBody>
            <a:bodyPr wrap="square" lIns="635" tIns="635" rIns="635" bIns="63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27323A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Noto Sans CJK TC" pitchFamily="34" charset="-120"/>
                </a:rPr>
                <a:t>Model</a:t>
              </a:r>
            </a:p>
            <a:p>
              <a:pPr marL="0" indent="0" algn="ctr">
                <a:buNone/>
              </a:pPr>
              <a:r>
                <a:rPr lang="en-US" sz="1600" dirty="0">
                  <a:solidFill>
                    <a:srgbClr val="27323A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Noto Sans CJK TC" pitchFamily="34" charset="-120"/>
                </a:rPr>
                <a:t>(Head 1–k)</a:t>
              </a:r>
            </a:p>
          </p:txBody>
        </p:sp>
        <p:sp>
          <p:nvSpPr>
            <p:cNvPr id="14" name="Text 15">
              <a:extLst>
                <a:ext uri="{FF2B5EF4-FFF2-40B4-BE49-F238E27FC236}">
                  <a16:creationId xmlns:a16="http://schemas.microsoft.com/office/drawing/2014/main" id="{655F93E8-79DA-8CA5-012E-0FEA8456961F}"/>
                </a:ext>
              </a:extLst>
            </p:cNvPr>
            <p:cNvSpPr/>
            <p:nvPr/>
          </p:nvSpPr>
          <p:spPr>
            <a:xfrm>
              <a:off x="6257875" y="2264650"/>
              <a:ext cx="1800000" cy="9000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635" tIns="635" rIns="635" bIns="635" rtlCol="0" anchor="ctr">
              <a:normAutofit/>
            </a:bodyPr>
            <a:lstStyle/>
            <a:p>
              <a:pPr algn="ctr"/>
              <a:r>
                <a:rPr lang="en-US" sz="1600" b="1" dirty="0">
                  <a:solidFill>
                    <a:srgbClr val="27323A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Noto Sans CJK TC" pitchFamily="34" charset="-120"/>
                </a:rPr>
                <a:t>Output: </a:t>
              </a:r>
              <a:r>
                <a:rPr lang="en-US" altLang="zh-TW" sz="1600" b="1" dirty="0">
                  <a:solidFill>
                    <a:srgbClr val="27323A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Noto Sans CJK TC" pitchFamily="34" charset="-120"/>
                </a:rPr>
                <a:t>t</a:t>
              </a:r>
              <a:r>
                <a:rPr lang="en-US" altLang="zh-TW" sz="1600" b="1" baseline="-25000" dirty="0">
                  <a:solidFill>
                    <a:srgbClr val="27323A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Noto Sans CJK TC" pitchFamily="34" charset="-120"/>
                </a:rPr>
                <a:t>1</a:t>
              </a:r>
              <a:r>
                <a:rPr lang="en-US" altLang="zh-TW" sz="1600" b="1" dirty="0">
                  <a:solidFill>
                    <a:srgbClr val="27323A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Noto Sans CJK TC" pitchFamily="34" charset="-120"/>
                </a:rPr>
                <a:t>… </a:t>
              </a:r>
              <a:r>
                <a:rPr lang="en-US" altLang="zh-TW" sz="1600" b="1" dirty="0" err="1">
                  <a:solidFill>
                    <a:srgbClr val="27323A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Noto Sans CJK TC" pitchFamily="34" charset="-120"/>
                </a:rPr>
                <a:t>t</a:t>
              </a:r>
              <a:r>
                <a:rPr lang="en-US" altLang="zh-TW" sz="1600" b="1" baseline="-25000" dirty="0" err="1">
                  <a:solidFill>
                    <a:srgbClr val="27323A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Noto Sans CJK TC" pitchFamily="34" charset="-120"/>
                </a:rPr>
                <a:t>k</a:t>
              </a:r>
              <a:endParaRPr lang="en-US" sz="1600" baseline="-250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8" name="Shape 8">
              <a:extLst>
                <a:ext uri="{FF2B5EF4-FFF2-40B4-BE49-F238E27FC236}">
                  <a16:creationId xmlns:a16="http://schemas.microsoft.com/office/drawing/2014/main" id="{D60F4829-8322-075A-A3AC-A78060E7551B}"/>
                </a:ext>
              </a:extLst>
            </p:cNvPr>
            <p:cNvSpPr/>
            <p:nvPr/>
          </p:nvSpPr>
          <p:spPr>
            <a:xfrm flipV="1">
              <a:off x="5177875" y="2718559"/>
              <a:ext cx="1080000" cy="5504"/>
            </a:xfrm>
            <a:prstGeom prst="line">
              <a:avLst/>
            </a:prstGeom>
            <a:noFill/>
            <a:ln w="12700">
              <a:solidFill>
                <a:srgbClr val="5B839B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79442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A643A838-C983-CA9D-3C89-2EB04FD40E34}"/>
              </a:ext>
            </a:extLst>
          </p:cNvPr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5B839B"/>
          </a:solidFill>
          <a:ln w="12700">
            <a:solidFill>
              <a:srgbClr val="5B839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68D712A-BB1D-6FD7-776C-B4E0DA207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495" y="6610795"/>
            <a:ext cx="2743200" cy="246888"/>
          </a:xfrm>
        </p:spPr>
        <p:txBody>
          <a:bodyPr/>
          <a:lstStyle/>
          <a:p>
            <a:fld id="{A98399F2-4B7C-4808-8B27-A13C76E6A9FD}" type="slidenum">
              <a:rPr lang="zh-TW" altLang="en-US" smtClean="0">
                <a:solidFill>
                  <a:schemeClr val="bg1"/>
                </a:solidFill>
              </a:rPr>
              <a:t>5</a:t>
            </a:fld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962EB79B-9B1A-E8E7-435D-831B5691E819}"/>
              </a:ext>
            </a:extLst>
          </p:cNvPr>
          <p:cNvSpPr/>
          <p:nvPr/>
        </p:nvSpPr>
        <p:spPr>
          <a:xfrm>
            <a:off x="347472" y="27432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E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Part</a:t>
            </a:r>
            <a:r>
              <a:rPr lang="zh-TW" altLang="en-US" b="1" dirty="0">
                <a:solidFill>
                  <a:srgbClr val="1B2E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 </a:t>
            </a:r>
            <a:r>
              <a:rPr lang="en-US" b="1" dirty="0">
                <a:solidFill>
                  <a:srgbClr val="1B2E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1: Introduction</a:t>
            </a:r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28AB1546-5B66-7847-E65F-E7C9D92FFC5E}"/>
              </a:ext>
            </a:extLst>
          </p:cNvPr>
          <p:cNvSpPr/>
          <p:nvPr/>
        </p:nvSpPr>
        <p:spPr>
          <a:xfrm>
            <a:off x="347472" y="45720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0707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Motivation — Future-Token Prediction Heads Are Harder to Optimize 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FF39F71A-8AFD-2D32-76C7-BAE554EECD52}"/>
              </a:ext>
            </a:extLst>
          </p:cNvPr>
          <p:cNvSpPr/>
          <p:nvPr/>
        </p:nvSpPr>
        <p:spPr>
          <a:xfrm>
            <a:off x="347472" y="749808"/>
            <a:ext cx="11475720" cy="0"/>
          </a:xfrm>
          <a:prstGeom prst="line">
            <a:avLst/>
          </a:prstGeom>
          <a:noFill/>
          <a:ln w="12700">
            <a:solidFill>
              <a:srgbClr val="C8D6D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B4265185-E37F-8978-2945-1BD5B7960B70}"/>
              </a:ext>
            </a:extLst>
          </p:cNvPr>
          <p:cNvSpPr/>
          <p:nvPr/>
        </p:nvSpPr>
        <p:spPr>
          <a:xfrm>
            <a:off x="502920" y="93268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標準 </a:t>
            </a:r>
            <a:r>
              <a:rPr 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MTP </a:t>
            </a: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僅使用 </a:t>
            </a:r>
            <a:r>
              <a:rPr 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CE loss </a:t>
            </a: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獨立訓練各個 </a:t>
            </a:r>
            <a:r>
              <a:rPr 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prediction head，</a:t>
            </a: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但不同 </a:t>
            </a:r>
            <a:r>
              <a:rPr 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heads </a:t>
            </a: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之間缺乏明確的一致性約束。</a:t>
            </a:r>
            <a:endParaRPr 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Text 17">
            <a:extLst>
              <a:ext uri="{FF2B5EF4-FFF2-40B4-BE49-F238E27FC236}">
                <a16:creationId xmlns:a16="http://schemas.microsoft.com/office/drawing/2014/main" id="{D63BF917-9F12-7410-B10C-13A62A1DE237}"/>
              </a:ext>
            </a:extLst>
          </p:cNvPr>
          <p:cNvSpPr/>
          <p:nvPr/>
        </p:nvSpPr>
        <p:spPr>
          <a:xfrm>
            <a:off x="502920" y="4714241"/>
            <a:ext cx="10972800" cy="548353"/>
          </a:xfrm>
          <a:prstGeom prst="rect">
            <a:avLst/>
          </a:prstGeom>
          <a:noFill/>
          <a:ln>
            <a:noFill/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>
              <a:buNone/>
            </a:pP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 </a:t>
            </a:r>
            <a:r>
              <a:rPr 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pre-training </a:t>
            </a: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階段，本研究在不改變 </a:t>
            </a:r>
            <a:r>
              <a:rPr 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MTP model </a:t>
            </a: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架構的前提下，於 </a:t>
            </a:r>
            <a:r>
              <a:rPr 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loss function </a:t>
            </a: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中加入 </a:t>
            </a:r>
            <a:r>
              <a:rPr 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consistency regularization，</a:t>
            </a: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以提升模型表現。</a:t>
            </a:r>
            <a:endParaRPr 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17" name="群組 16">
            <a:extLst>
              <a:ext uri="{FF2B5EF4-FFF2-40B4-BE49-F238E27FC236}">
                <a16:creationId xmlns:a16="http://schemas.microsoft.com/office/drawing/2014/main" id="{8A39A0D6-F77F-BB9B-F9E0-9998245F2D06}"/>
              </a:ext>
            </a:extLst>
          </p:cNvPr>
          <p:cNvGrpSpPr/>
          <p:nvPr/>
        </p:nvGrpSpPr>
        <p:grpSpPr>
          <a:xfrm>
            <a:off x="3061242" y="2441969"/>
            <a:ext cx="5788241" cy="1037310"/>
            <a:chOff x="3191211" y="2318759"/>
            <a:chExt cx="5788241" cy="1037310"/>
          </a:xfrm>
        </p:grpSpPr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85F22F32-9F79-1900-9200-E3279BC2B37E}"/>
                </a:ext>
              </a:extLst>
            </p:cNvPr>
            <p:cNvSpPr txBox="1"/>
            <p:nvPr/>
          </p:nvSpPr>
          <p:spPr>
            <a:xfrm>
              <a:off x="3191211" y="2771294"/>
              <a:ext cx="578824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+mj-lt"/>
                <a:buAutoNum type="arabicPeriod"/>
              </a:pPr>
              <a:r>
                <a:rPr lang="en-US" altLang="zh-TW" sz="1600" dirty="0">
                  <a:solidFill>
                    <a:srgbClr val="27323A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Noto Sans CJK TC" pitchFamily="34" charset="-120"/>
                </a:rPr>
                <a:t>Prediction heads </a:t>
              </a:r>
              <a:r>
                <a:rPr lang="zh-TW" altLang="en-US" sz="1600" dirty="0">
                  <a:solidFill>
                    <a:srgbClr val="27323A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Noto Sans CJK TC" pitchFamily="34" charset="-120"/>
                </a:rPr>
                <a:t>預測的位置越遠，預測準確度越低。</a:t>
              </a:r>
              <a:endParaRPr lang="en-US" altLang="zh-TW" sz="1600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endParaRPr>
            </a:p>
            <a:p>
              <a:pPr marL="342900" indent="-342900">
                <a:buFont typeface="+mj-lt"/>
                <a:buAutoNum type="arabicPeriod"/>
              </a:pPr>
              <a:r>
                <a:rPr lang="en-US" altLang="zh-TW" sz="1600" dirty="0">
                  <a:solidFill>
                    <a:srgbClr val="27323A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Noto Sans CJK TC" pitchFamily="34" charset="-120"/>
                </a:rPr>
                <a:t>Prediction heads </a:t>
              </a:r>
              <a:r>
                <a:rPr lang="zh-TW" altLang="en-US" sz="1600" dirty="0">
                  <a:solidFill>
                    <a:srgbClr val="27323A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Noto Sans CJK TC" pitchFamily="34" charset="-120"/>
                </a:rPr>
                <a:t>預測的位置越遠，最佳化難度越高。</a:t>
              </a:r>
              <a:endPara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63703468-D680-15E2-2897-20BBEB579369}"/>
                </a:ext>
              </a:extLst>
            </p:cNvPr>
            <p:cNvSpPr txBox="1"/>
            <p:nvPr/>
          </p:nvSpPr>
          <p:spPr>
            <a:xfrm>
              <a:off x="3201726" y="2318759"/>
              <a:ext cx="35155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問題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156552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865E28B4-0C42-4B0F-4F86-AE8438520E8E}"/>
              </a:ext>
            </a:extLst>
          </p:cNvPr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5B839B"/>
          </a:solidFill>
          <a:ln w="12700">
            <a:solidFill>
              <a:srgbClr val="5B839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3329D13-8C2D-8A01-F830-8A416748F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495" y="6611112"/>
            <a:ext cx="2743200" cy="273521"/>
          </a:xfrm>
        </p:spPr>
        <p:txBody>
          <a:bodyPr/>
          <a:lstStyle/>
          <a:p>
            <a:fld id="{A98399F2-4B7C-4808-8B27-A13C76E6A9FD}" type="slidenum">
              <a:rPr lang="zh-TW" altLang="en-US" smtClean="0">
                <a:solidFill>
                  <a:schemeClr val="bg1"/>
                </a:solidFill>
              </a:rPr>
              <a:t>6</a:t>
            </a:fld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7EF7A3E8-8B39-2EF4-6B54-19403A1020E4}"/>
              </a:ext>
            </a:extLst>
          </p:cNvPr>
          <p:cNvSpPr/>
          <p:nvPr/>
        </p:nvSpPr>
        <p:spPr>
          <a:xfrm>
            <a:off x="347472" y="27432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E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Part</a:t>
            </a:r>
            <a:r>
              <a:rPr lang="zh-TW" altLang="en-US" b="1" dirty="0">
                <a:solidFill>
                  <a:srgbClr val="1B2E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 </a:t>
            </a:r>
            <a:r>
              <a:rPr lang="en-US" b="1" dirty="0">
                <a:solidFill>
                  <a:srgbClr val="1B2E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1: Introduction</a:t>
            </a:r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B26A3816-AB75-DBA0-C23C-78CB2C7AACC4}"/>
              </a:ext>
            </a:extLst>
          </p:cNvPr>
          <p:cNvSpPr/>
          <p:nvPr/>
        </p:nvSpPr>
        <p:spPr>
          <a:xfrm>
            <a:off x="347472" y="45720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TW" sz="1600" dirty="0">
                <a:solidFill>
                  <a:srgbClr val="60707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Research Methods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BD144E7B-5822-E055-0D48-449ADCC4D321}"/>
              </a:ext>
            </a:extLst>
          </p:cNvPr>
          <p:cNvSpPr/>
          <p:nvPr/>
        </p:nvSpPr>
        <p:spPr>
          <a:xfrm>
            <a:off x="347472" y="749808"/>
            <a:ext cx="11475720" cy="0"/>
          </a:xfrm>
          <a:prstGeom prst="line">
            <a:avLst/>
          </a:prstGeom>
          <a:noFill/>
          <a:ln w="12700">
            <a:solidFill>
              <a:srgbClr val="C8D6D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840EEC3D-0ACD-3683-9F97-DAB6B9377848}"/>
              </a:ext>
            </a:extLst>
          </p:cNvPr>
          <p:cNvSpPr/>
          <p:nvPr/>
        </p:nvSpPr>
        <p:spPr>
          <a:xfrm>
            <a:off x="502920" y="932688"/>
            <a:ext cx="10972800" cy="548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本實驗使用兩種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consistency methods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Selective Distribution Consistency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SDC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）與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Latent Consistency Matching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LCM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）。</a:t>
            </a:r>
            <a:endParaRPr lang="en-US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37" name="群組 36">
            <a:extLst>
              <a:ext uri="{FF2B5EF4-FFF2-40B4-BE49-F238E27FC236}">
                <a16:creationId xmlns:a16="http://schemas.microsoft.com/office/drawing/2014/main" id="{6C7BC155-EFA9-40E4-8CF6-302F3F7F8958}"/>
              </a:ext>
            </a:extLst>
          </p:cNvPr>
          <p:cNvGrpSpPr/>
          <p:nvPr/>
        </p:nvGrpSpPr>
        <p:grpSpPr>
          <a:xfrm>
            <a:off x="573942" y="2660812"/>
            <a:ext cx="3207671" cy="1799425"/>
            <a:chOff x="801019" y="1982462"/>
            <a:chExt cx="3207671" cy="1799425"/>
          </a:xfrm>
        </p:grpSpPr>
        <p:pic>
          <p:nvPicPr>
            <p:cNvPr id="33" name="圖片 32">
              <a:extLst>
                <a:ext uri="{FF2B5EF4-FFF2-40B4-BE49-F238E27FC236}">
                  <a16:creationId xmlns:a16="http://schemas.microsoft.com/office/drawing/2014/main" id="{CE1FB8D8-D542-FE83-3886-59460AA744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1019" y="1982462"/>
              <a:ext cx="3207671" cy="1799425"/>
            </a:xfrm>
            <a:prstGeom prst="rect">
              <a:avLst/>
            </a:prstGeom>
          </p:spPr>
        </p:pic>
        <p:cxnSp>
          <p:nvCxnSpPr>
            <p:cNvPr id="35" name="直線單箭頭接點 34">
              <a:extLst>
                <a:ext uri="{FF2B5EF4-FFF2-40B4-BE49-F238E27FC236}">
                  <a16:creationId xmlns:a16="http://schemas.microsoft.com/office/drawing/2014/main" id="{2D7EF52F-F99D-4A4D-793A-DAEA230A32EF}"/>
                </a:ext>
              </a:extLst>
            </p:cNvPr>
            <p:cNvCxnSpPr/>
            <p:nvPr/>
          </p:nvCxnSpPr>
          <p:spPr>
            <a:xfrm flipH="1">
              <a:off x="1961965" y="3098307"/>
              <a:ext cx="692458" cy="0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文字方塊 35">
              <a:extLst>
                <a:ext uri="{FF2B5EF4-FFF2-40B4-BE49-F238E27FC236}">
                  <a16:creationId xmlns:a16="http://schemas.microsoft.com/office/drawing/2014/main" id="{657EDE27-1640-D95F-B719-540AA23B1D85}"/>
                </a:ext>
              </a:extLst>
            </p:cNvPr>
            <p:cNvSpPr txBox="1"/>
            <p:nvPr/>
          </p:nvSpPr>
          <p:spPr>
            <a:xfrm>
              <a:off x="1575672" y="2839644"/>
              <a:ext cx="181174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200" dirty="0">
                  <a:solidFill>
                    <a:srgbClr val="FF0000"/>
                  </a:solidFill>
                </a:rPr>
                <a:t>Distribution Alignment</a:t>
              </a:r>
              <a:endParaRPr lang="zh-TW" altLang="en-US" sz="1200" dirty="0">
                <a:solidFill>
                  <a:srgbClr val="FF0000"/>
                </a:solidFill>
              </a:endParaRPr>
            </a:p>
          </p:txBody>
        </p:sp>
      </p:grp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A8FC2147-B8B0-1AB4-1690-F17AA96C0A72}"/>
              </a:ext>
            </a:extLst>
          </p:cNvPr>
          <p:cNvSpPr txBox="1"/>
          <p:nvPr/>
        </p:nvSpPr>
        <p:spPr>
          <a:xfrm>
            <a:off x="502919" y="1494551"/>
            <a:ext cx="575583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SDC</a:t>
            </a:r>
          </a:p>
          <a:p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SDC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是本研究提出的方法，目標是使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student heads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Heads 2–K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）與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teacher head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Head 1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）的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output probability distribution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對齊。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0" name="圖片 39">
            <a:extLst>
              <a:ext uri="{FF2B5EF4-FFF2-40B4-BE49-F238E27FC236}">
                <a16:creationId xmlns:a16="http://schemas.microsoft.com/office/drawing/2014/main" id="{4FCB0A22-76B0-2E1F-05AE-595EC8FB8D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942" y="4997347"/>
            <a:ext cx="2586395" cy="152964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1" name="文字方塊 40">
            <a:extLst>
              <a:ext uri="{FF2B5EF4-FFF2-40B4-BE49-F238E27FC236}">
                <a16:creationId xmlns:a16="http://schemas.microsoft.com/office/drawing/2014/main" id="{86080F3B-F863-D9AE-864E-DF6914A77CE9}"/>
              </a:ext>
            </a:extLst>
          </p:cNvPr>
          <p:cNvSpPr txBox="1"/>
          <p:nvPr/>
        </p:nvSpPr>
        <p:spPr>
          <a:xfrm>
            <a:off x="502920" y="4474127"/>
            <a:ext cx="58534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此外，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SDC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會遮罩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teacher head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信心度較低的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tokens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（如下圖所示），並在計算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SDC loss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時忽略這些位置。</a:t>
            </a:r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AFB4FEDA-7E7E-B165-DFB7-D5C9891A38DC}"/>
              </a:ext>
            </a:extLst>
          </p:cNvPr>
          <p:cNvSpPr txBox="1"/>
          <p:nvPr/>
        </p:nvSpPr>
        <p:spPr>
          <a:xfrm>
            <a:off x="6356412" y="1481040"/>
            <a:ext cx="4989250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LCM (</a:t>
            </a:r>
            <a:r>
              <a:rPr lang="en-US" altLang="zh-TW" sz="1600" b="1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Samragh</a:t>
            </a:r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et al., 2025)</a:t>
            </a:r>
          </a:p>
          <a:p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除了對齊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probability distributions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之外，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LCM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也會在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latent representation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層級縮小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student heads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與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teacher head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之間的距離。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下圖將多維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latent representations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降維至二維，以視覺化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teacher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與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student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之間的距離。</a:t>
            </a:r>
            <a:endParaRPr lang="zh-TW" alt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54" name="群組 53">
            <a:extLst>
              <a:ext uri="{FF2B5EF4-FFF2-40B4-BE49-F238E27FC236}">
                <a16:creationId xmlns:a16="http://schemas.microsoft.com/office/drawing/2014/main" id="{3B086969-918B-03A6-C18F-5E4B727871FD}"/>
              </a:ext>
            </a:extLst>
          </p:cNvPr>
          <p:cNvGrpSpPr/>
          <p:nvPr/>
        </p:nvGrpSpPr>
        <p:grpSpPr>
          <a:xfrm>
            <a:off x="6523104" y="3502840"/>
            <a:ext cx="3559296" cy="1942574"/>
            <a:chOff x="6369726" y="3090762"/>
            <a:chExt cx="3559296" cy="1942574"/>
          </a:xfrm>
        </p:grpSpPr>
        <p:graphicFrame>
          <p:nvGraphicFramePr>
            <p:cNvPr id="49" name="圖表 48">
              <a:extLst>
                <a:ext uri="{FF2B5EF4-FFF2-40B4-BE49-F238E27FC236}">
                  <a16:creationId xmlns:a16="http://schemas.microsoft.com/office/drawing/2014/main" id="{2C4969CF-8390-C9C1-10E9-4EB4AEC73F8B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414314006"/>
                </p:ext>
              </p:extLst>
            </p:nvPr>
          </p:nvGraphicFramePr>
          <p:xfrm>
            <a:off x="6369726" y="3090762"/>
            <a:ext cx="3559296" cy="1942574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grpSp>
          <p:nvGrpSpPr>
            <p:cNvPr id="53" name="群組 52">
              <a:extLst>
                <a:ext uri="{FF2B5EF4-FFF2-40B4-BE49-F238E27FC236}">
                  <a16:creationId xmlns:a16="http://schemas.microsoft.com/office/drawing/2014/main" id="{4F5C9862-200E-4746-6DAC-A9DE397FDCE0}"/>
                </a:ext>
              </a:extLst>
            </p:cNvPr>
            <p:cNvGrpSpPr/>
            <p:nvPr/>
          </p:nvGrpSpPr>
          <p:grpSpPr>
            <a:xfrm>
              <a:off x="7208814" y="3584437"/>
              <a:ext cx="1735711" cy="923277"/>
              <a:chOff x="7190913" y="3346882"/>
              <a:chExt cx="1735711" cy="923277"/>
            </a:xfrm>
          </p:grpSpPr>
          <p:cxnSp>
            <p:nvCxnSpPr>
              <p:cNvPr id="51" name="直線單箭頭接點 50">
                <a:extLst>
                  <a:ext uri="{FF2B5EF4-FFF2-40B4-BE49-F238E27FC236}">
                    <a16:creationId xmlns:a16="http://schemas.microsoft.com/office/drawing/2014/main" id="{57FE0909-9229-6CAA-E7A7-2139EF6C66F9}"/>
                  </a:ext>
                </a:extLst>
              </p:cNvPr>
              <p:cNvCxnSpPr/>
              <p:nvPr/>
            </p:nvCxnSpPr>
            <p:spPr>
              <a:xfrm flipH="1">
                <a:off x="7190913" y="3346882"/>
                <a:ext cx="639192" cy="923277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1A947D1A-8AAF-ED7B-66C1-44862306DBA1}"/>
                  </a:ext>
                </a:extLst>
              </p:cNvPr>
              <p:cNvSpPr txBox="1"/>
              <p:nvPr/>
            </p:nvSpPr>
            <p:spPr>
              <a:xfrm>
                <a:off x="7448218" y="3761133"/>
                <a:ext cx="147840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1200" dirty="0">
                    <a:solidFill>
                      <a:srgbClr val="FF0000"/>
                    </a:solidFill>
                  </a:rPr>
                  <a:t>Latent Alignment</a:t>
                </a:r>
                <a:endParaRPr lang="zh-TW" altLang="en-US" sz="1200" dirty="0">
                  <a:solidFill>
                    <a:srgbClr val="FF0000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835371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80F98701-068A-E34A-3621-B0B2FC9A63AA}"/>
              </a:ext>
            </a:extLst>
          </p:cNvPr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5B839B"/>
          </a:solidFill>
          <a:ln w="12700">
            <a:solidFill>
              <a:srgbClr val="5B839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0C4C60D-4673-68F8-2672-0C165C179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495" y="6611112"/>
            <a:ext cx="2743200" cy="246888"/>
          </a:xfrm>
        </p:spPr>
        <p:txBody>
          <a:bodyPr/>
          <a:lstStyle/>
          <a:p>
            <a:fld id="{A98399F2-4B7C-4808-8B27-A13C76E6A9FD}" type="slidenum">
              <a:rPr lang="zh-TW" altLang="en-US" smtClean="0">
                <a:solidFill>
                  <a:schemeClr val="bg1"/>
                </a:solidFill>
              </a:rPr>
              <a:t>7</a:t>
            </a:fld>
            <a:endParaRPr lang="zh-TW" altLang="en-US">
              <a:solidFill>
                <a:schemeClr val="bg1"/>
              </a:solidFill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A87E6918-D099-288F-7D25-B66039C42B20}"/>
              </a:ext>
            </a:extLst>
          </p:cNvPr>
          <p:cNvSpPr/>
          <p:nvPr/>
        </p:nvSpPr>
        <p:spPr>
          <a:xfrm>
            <a:off x="347472" y="27432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E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Part</a:t>
            </a:r>
            <a:r>
              <a:rPr lang="zh-TW" altLang="en-US" b="1" dirty="0">
                <a:solidFill>
                  <a:srgbClr val="1B2E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 </a:t>
            </a:r>
            <a:r>
              <a:rPr lang="en-US" b="1" dirty="0">
                <a:solidFill>
                  <a:srgbClr val="1B2E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1: Introduction</a:t>
            </a:r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B7B5D365-1A43-9398-0370-DF4CA660DAA9}"/>
              </a:ext>
            </a:extLst>
          </p:cNvPr>
          <p:cNvSpPr/>
          <p:nvPr/>
        </p:nvSpPr>
        <p:spPr>
          <a:xfrm>
            <a:off x="347472" y="45720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0707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Contributions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7301E497-C61C-F8E2-EE67-81FE46D3664F}"/>
              </a:ext>
            </a:extLst>
          </p:cNvPr>
          <p:cNvSpPr/>
          <p:nvPr/>
        </p:nvSpPr>
        <p:spPr>
          <a:xfrm>
            <a:off x="347472" y="749808"/>
            <a:ext cx="11475720" cy="0"/>
          </a:xfrm>
          <a:prstGeom prst="line">
            <a:avLst/>
          </a:prstGeom>
          <a:noFill/>
          <a:ln w="12700">
            <a:solidFill>
              <a:srgbClr val="C8D6D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grpSp>
        <p:nvGrpSpPr>
          <p:cNvPr id="20" name="群組 19">
            <a:extLst>
              <a:ext uri="{FF2B5EF4-FFF2-40B4-BE49-F238E27FC236}">
                <a16:creationId xmlns:a16="http://schemas.microsoft.com/office/drawing/2014/main" id="{EACF03F9-6510-7E2D-FCD0-2D3774770E79}"/>
              </a:ext>
            </a:extLst>
          </p:cNvPr>
          <p:cNvGrpSpPr/>
          <p:nvPr/>
        </p:nvGrpSpPr>
        <p:grpSpPr>
          <a:xfrm>
            <a:off x="653396" y="1099656"/>
            <a:ext cx="10885208" cy="787392"/>
            <a:chOff x="653396" y="1099656"/>
            <a:chExt cx="10885208" cy="787392"/>
          </a:xfrm>
        </p:grpSpPr>
        <p:sp>
          <p:nvSpPr>
            <p:cNvPr id="10" name="Text 7">
              <a:extLst>
                <a:ext uri="{FF2B5EF4-FFF2-40B4-BE49-F238E27FC236}">
                  <a16:creationId xmlns:a16="http://schemas.microsoft.com/office/drawing/2014/main" id="{A27EBE22-AA8C-4952-CFF5-96FC7B524D01}"/>
                </a:ext>
              </a:extLst>
            </p:cNvPr>
            <p:cNvSpPr/>
            <p:nvPr/>
          </p:nvSpPr>
          <p:spPr>
            <a:xfrm>
              <a:off x="1600200" y="1252728"/>
              <a:ext cx="38404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B2E3A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Noto Sans CJK TC" pitchFamily="34" charset="-120"/>
                </a:rPr>
                <a:t>Selective Distribution Consistency</a:t>
              </a:r>
              <a:endParaRPr 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1" name="Text 8">
              <a:extLst>
                <a:ext uri="{FF2B5EF4-FFF2-40B4-BE49-F238E27FC236}">
                  <a16:creationId xmlns:a16="http://schemas.microsoft.com/office/drawing/2014/main" id="{A2E32A38-D527-508E-4DDA-0E61271BAB22}"/>
                </a:ext>
              </a:extLst>
            </p:cNvPr>
            <p:cNvSpPr/>
            <p:nvPr/>
          </p:nvSpPr>
          <p:spPr>
            <a:xfrm>
              <a:off x="1600200" y="1527048"/>
              <a:ext cx="9938404" cy="36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/>
            <a:p>
              <a:pPr marL="0" indent="0">
                <a:buNone/>
              </a:pPr>
              <a:r>
                <a:rPr lang="zh-TW" altLang="en-US" sz="1200" dirty="0">
                  <a:solidFill>
                    <a:srgbClr val="27323A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Noto Sans CJK TC" pitchFamily="34" charset="-120"/>
                </a:rPr>
                <a:t>在 </a:t>
              </a:r>
              <a:r>
                <a:rPr lang="en-US" altLang="zh-TW" sz="1200" dirty="0">
                  <a:solidFill>
                    <a:srgbClr val="27323A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Noto Sans CJK TC" pitchFamily="34" charset="-120"/>
                </a:rPr>
                <a:t>pre-training </a:t>
              </a:r>
              <a:r>
                <a:rPr lang="zh-TW" altLang="en-US" sz="1200" dirty="0">
                  <a:solidFill>
                    <a:srgbClr val="27323A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Noto Sans CJK TC" pitchFamily="34" charset="-120"/>
                </a:rPr>
                <a:t>階段，本研究引入 </a:t>
              </a:r>
              <a:r>
                <a:rPr lang="en-US" altLang="zh-TW" sz="1200" dirty="0">
                  <a:solidFill>
                    <a:srgbClr val="27323A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Noto Sans CJK TC" pitchFamily="34" charset="-120"/>
                </a:rPr>
                <a:t>SDC </a:t>
              </a:r>
              <a:r>
                <a:rPr lang="zh-TW" altLang="en-US" sz="1200" dirty="0">
                  <a:solidFill>
                    <a:srgbClr val="27323A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Noto Sans CJK TC" pitchFamily="34" charset="-120"/>
                </a:rPr>
                <a:t>作為 </a:t>
              </a:r>
              <a:r>
                <a:rPr lang="en-US" altLang="zh-TW" sz="1200" dirty="0">
                  <a:solidFill>
                    <a:srgbClr val="27323A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Noto Sans CJK TC" pitchFamily="34" charset="-120"/>
                </a:rPr>
                <a:t>consistency regularization term</a:t>
              </a:r>
              <a:r>
                <a:rPr lang="zh-TW" altLang="en-US" sz="1200" dirty="0">
                  <a:solidFill>
                    <a:srgbClr val="27323A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Noto Sans CJK TC" pitchFamily="34" charset="-120"/>
                </a:rPr>
                <a:t>，利用 </a:t>
              </a:r>
              <a:r>
                <a:rPr lang="en-US" altLang="zh-TW" sz="1200" dirty="0">
                  <a:solidFill>
                    <a:srgbClr val="27323A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Noto Sans CJK TC" pitchFamily="34" charset="-120"/>
                </a:rPr>
                <a:t>teacher head </a:t>
              </a:r>
              <a:r>
                <a:rPr lang="zh-TW" altLang="en-US" sz="1200" dirty="0">
                  <a:solidFill>
                    <a:srgbClr val="27323A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Noto Sans CJK TC" pitchFamily="34" charset="-120"/>
                </a:rPr>
                <a:t>的預測分布監督 </a:t>
              </a:r>
              <a:r>
                <a:rPr lang="en-US" altLang="zh-TW" sz="1200" dirty="0">
                  <a:solidFill>
                    <a:srgbClr val="27323A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Noto Sans CJK TC" pitchFamily="34" charset="-120"/>
                </a:rPr>
                <a:t>student heads</a:t>
              </a:r>
              <a:r>
                <a:rPr lang="zh-TW" altLang="en-US" sz="1200" dirty="0">
                  <a:solidFill>
                    <a:srgbClr val="27323A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Noto Sans CJK TC" pitchFamily="34" charset="-120"/>
                </a:rPr>
                <a:t>，以提升兩者預測結果的一致性。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6" name="Text 4">
              <a:extLst>
                <a:ext uri="{FF2B5EF4-FFF2-40B4-BE49-F238E27FC236}">
                  <a16:creationId xmlns:a16="http://schemas.microsoft.com/office/drawing/2014/main" id="{5FE1590C-67F9-253A-7DF6-3E0F4F14DBEC}"/>
                </a:ext>
              </a:extLst>
            </p:cNvPr>
            <p:cNvSpPr/>
            <p:nvPr/>
          </p:nvSpPr>
          <p:spPr>
            <a:xfrm>
              <a:off x="653396" y="1099656"/>
              <a:ext cx="720000" cy="720000"/>
            </a:xfrm>
            <a:prstGeom prst="rect">
              <a:avLst/>
            </a:prstGeom>
            <a:solidFill>
              <a:srgbClr val="5B839B"/>
            </a:solidFill>
            <a:ln>
              <a:solidFill>
                <a:srgbClr val="C8D6DE"/>
              </a:solidFill>
            </a:ln>
          </p:spPr>
          <p:txBody>
            <a:bodyPr wrap="square" lIns="635" tIns="635" rIns="635" bIns="63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Noto Sans CJK TC" pitchFamily="34" charset="-120"/>
                </a:rPr>
                <a:t>01</a:t>
              </a:r>
              <a:endParaRPr 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6CD3D477-0CA5-62CF-F2B9-775538188776}"/>
              </a:ext>
            </a:extLst>
          </p:cNvPr>
          <p:cNvGrpSpPr/>
          <p:nvPr/>
        </p:nvGrpSpPr>
        <p:grpSpPr>
          <a:xfrm>
            <a:off x="653396" y="2401488"/>
            <a:ext cx="10730884" cy="720000"/>
            <a:chOff x="653396" y="2401488"/>
            <a:chExt cx="10730884" cy="720000"/>
          </a:xfrm>
        </p:grpSpPr>
        <p:sp>
          <p:nvSpPr>
            <p:cNvPr id="12" name="Text 10">
              <a:extLst>
                <a:ext uri="{FF2B5EF4-FFF2-40B4-BE49-F238E27FC236}">
                  <a16:creationId xmlns:a16="http://schemas.microsoft.com/office/drawing/2014/main" id="{799F9D62-A68A-EBD4-AE7A-652C6E39F37A}"/>
                </a:ext>
              </a:extLst>
            </p:cNvPr>
            <p:cNvSpPr/>
            <p:nvPr/>
          </p:nvSpPr>
          <p:spPr>
            <a:xfrm>
              <a:off x="1600200" y="2487168"/>
              <a:ext cx="38404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B2E3A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Noto Sans CJK TC" pitchFamily="34" charset="-120"/>
                </a:rPr>
                <a:t>Comprehensive Experimental Validation</a:t>
              </a:r>
              <a:endParaRPr 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3" name="Text 11">
              <a:extLst>
                <a:ext uri="{FF2B5EF4-FFF2-40B4-BE49-F238E27FC236}">
                  <a16:creationId xmlns:a16="http://schemas.microsoft.com/office/drawing/2014/main" id="{975B3921-78D2-F7CD-2557-9D9C5160C67E}"/>
                </a:ext>
              </a:extLst>
            </p:cNvPr>
            <p:cNvSpPr/>
            <p:nvPr/>
          </p:nvSpPr>
          <p:spPr>
            <a:xfrm>
              <a:off x="1600200" y="2761488"/>
              <a:ext cx="9784080" cy="36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r>
                <a:rPr lang="zh-TW" altLang="en-US" sz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本研究使用 </a:t>
              </a:r>
              <a:r>
                <a:rPr lang="en-US" altLang="zh-TW" sz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Oracle PPL</a:t>
              </a:r>
              <a:r>
                <a:rPr lang="zh-TW" altLang="en-US" sz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、</a:t>
              </a:r>
              <a:r>
                <a:rPr lang="en-US" altLang="zh-TW" sz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Average Draft Tokens Accepted </a:t>
              </a:r>
              <a:r>
                <a:rPr lang="zh-TW" altLang="en-US" sz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與 </a:t>
              </a:r>
              <a:r>
                <a:rPr lang="en-US" altLang="zh-TW" sz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Generative PPL </a:t>
              </a:r>
              <a:r>
                <a:rPr lang="zh-TW" altLang="en-US" sz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等指標，評估所提方法相較於 </a:t>
              </a:r>
              <a:r>
                <a:rPr lang="en-US" altLang="zh-TW" sz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baseline </a:t>
              </a:r>
              <a:r>
                <a:rPr lang="zh-TW" altLang="en-US" sz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的改善幅度。其中，</a:t>
              </a:r>
              <a:r>
                <a:rPr lang="en-US" altLang="zh-TW" sz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Generative PPL </a:t>
              </a:r>
              <a:r>
                <a:rPr lang="zh-TW" altLang="en-US" sz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降低約 </a:t>
              </a:r>
              <a:r>
                <a:rPr lang="en-US" altLang="zh-TW" sz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52%</a:t>
              </a:r>
              <a:r>
                <a:rPr lang="zh-TW" altLang="en-US" sz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，改善幅度最大。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7" name="Text 4">
              <a:extLst>
                <a:ext uri="{FF2B5EF4-FFF2-40B4-BE49-F238E27FC236}">
                  <a16:creationId xmlns:a16="http://schemas.microsoft.com/office/drawing/2014/main" id="{6071DD21-283D-8125-2F68-557C651DB9C4}"/>
                </a:ext>
              </a:extLst>
            </p:cNvPr>
            <p:cNvSpPr/>
            <p:nvPr/>
          </p:nvSpPr>
          <p:spPr>
            <a:xfrm>
              <a:off x="653396" y="2401488"/>
              <a:ext cx="720000" cy="720000"/>
            </a:xfrm>
            <a:prstGeom prst="rect">
              <a:avLst/>
            </a:prstGeom>
            <a:solidFill>
              <a:srgbClr val="5B839B"/>
            </a:solidFill>
            <a:ln>
              <a:solidFill>
                <a:srgbClr val="C8D6DE"/>
              </a:solidFill>
            </a:ln>
          </p:spPr>
          <p:txBody>
            <a:bodyPr wrap="square" lIns="635" tIns="635" rIns="635" bIns="63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Noto Sans CJK TC" pitchFamily="34" charset="-120"/>
                </a:rPr>
                <a:t>02</a:t>
              </a:r>
              <a:endParaRPr 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0FFC557E-7866-5266-820D-B4C44FA922C3}"/>
              </a:ext>
            </a:extLst>
          </p:cNvPr>
          <p:cNvGrpSpPr/>
          <p:nvPr/>
        </p:nvGrpSpPr>
        <p:grpSpPr>
          <a:xfrm>
            <a:off x="664493" y="3635928"/>
            <a:ext cx="10719787" cy="720000"/>
            <a:chOff x="664493" y="3635928"/>
            <a:chExt cx="10719787" cy="720000"/>
          </a:xfrm>
        </p:grpSpPr>
        <p:sp>
          <p:nvSpPr>
            <p:cNvPr id="14" name="Text 13">
              <a:extLst>
                <a:ext uri="{FF2B5EF4-FFF2-40B4-BE49-F238E27FC236}">
                  <a16:creationId xmlns:a16="http://schemas.microsoft.com/office/drawing/2014/main" id="{370B4A7F-846C-967B-592B-95E668A5EAEA}"/>
                </a:ext>
              </a:extLst>
            </p:cNvPr>
            <p:cNvSpPr/>
            <p:nvPr/>
          </p:nvSpPr>
          <p:spPr>
            <a:xfrm>
              <a:off x="1600200" y="3721608"/>
              <a:ext cx="38404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Joint Training of SDC and LCM</a:t>
              </a:r>
            </a:p>
          </p:txBody>
        </p:sp>
        <p:sp>
          <p:nvSpPr>
            <p:cNvPr id="15" name="Text 14">
              <a:extLst>
                <a:ext uri="{FF2B5EF4-FFF2-40B4-BE49-F238E27FC236}">
                  <a16:creationId xmlns:a16="http://schemas.microsoft.com/office/drawing/2014/main" id="{B8D34A56-7707-8C04-263A-2A589FD8A9A7}"/>
                </a:ext>
              </a:extLst>
            </p:cNvPr>
            <p:cNvSpPr/>
            <p:nvPr/>
          </p:nvSpPr>
          <p:spPr>
            <a:xfrm>
              <a:off x="1600200" y="3995928"/>
              <a:ext cx="97840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zh-TW" altLang="en-US" sz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實驗結果顯示，</a:t>
              </a:r>
              <a:r>
                <a:rPr lang="en-US" altLang="zh-TW" sz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SDC </a:t>
              </a:r>
              <a:r>
                <a:rPr lang="zh-TW" altLang="en-US" sz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與 </a:t>
              </a:r>
              <a:r>
                <a:rPr lang="en-US" altLang="zh-TW" sz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LCM </a:t>
              </a:r>
              <a:r>
                <a:rPr lang="zh-TW" altLang="en-US" sz="12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可進行聯合訓練，且未觀察到兩者相互衝突所造成的負面效果。</a:t>
              </a:r>
              <a:endParaRPr 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8" name="Text 4">
              <a:extLst>
                <a:ext uri="{FF2B5EF4-FFF2-40B4-BE49-F238E27FC236}">
                  <a16:creationId xmlns:a16="http://schemas.microsoft.com/office/drawing/2014/main" id="{BEA795F7-A9CE-4A56-E505-726CBE92E948}"/>
                </a:ext>
              </a:extLst>
            </p:cNvPr>
            <p:cNvSpPr/>
            <p:nvPr/>
          </p:nvSpPr>
          <p:spPr>
            <a:xfrm>
              <a:off x="664493" y="3635928"/>
              <a:ext cx="720000" cy="720000"/>
            </a:xfrm>
            <a:prstGeom prst="rect">
              <a:avLst/>
            </a:prstGeom>
            <a:solidFill>
              <a:srgbClr val="5B839B"/>
            </a:solidFill>
            <a:ln>
              <a:solidFill>
                <a:srgbClr val="C8D6DE"/>
              </a:solidFill>
            </a:ln>
          </p:spPr>
          <p:txBody>
            <a:bodyPr wrap="square" lIns="635" tIns="635" rIns="635" bIns="635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Noto Sans CJK TC" pitchFamily="34" charset="-120"/>
                </a:rPr>
                <a:t>03</a:t>
              </a:r>
              <a:endParaRPr 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181188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5B21BCF0-A647-C109-D387-4A9D7395A017}"/>
              </a:ext>
            </a:extLst>
          </p:cNvPr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5B839B"/>
          </a:solidFill>
          <a:ln w="12700">
            <a:solidFill>
              <a:srgbClr val="5B839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ADC25B2-F585-BC47-76CD-31E670851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495" y="6611112"/>
            <a:ext cx="2743200" cy="246888"/>
          </a:xfrm>
        </p:spPr>
        <p:txBody>
          <a:bodyPr/>
          <a:lstStyle/>
          <a:p>
            <a:fld id="{A98399F2-4B7C-4808-8B27-A13C76E6A9FD}" type="slidenum">
              <a:rPr lang="zh-TW" altLang="en-US" smtClean="0">
                <a:solidFill>
                  <a:schemeClr val="bg1"/>
                </a:solidFill>
              </a:rPr>
              <a:t>8</a:t>
            </a:fld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83C2D4A6-B8DE-7882-B445-1E98D3F9012A}"/>
              </a:ext>
            </a:extLst>
          </p:cNvPr>
          <p:cNvSpPr/>
          <p:nvPr/>
        </p:nvSpPr>
        <p:spPr>
          <a:xfrm>
            <a:off x="0" y="2496312"/>
            <a:ext cx="12191695" cy="676656"/>
          </a:xfrm>
          <a:prstGeom prst="rect">
            <a:avLst/>
          </a:prstGeom>
          <a:solidFill>
            <a:srgbClr val="5B839B"/>
          </a:solidFill>
          <a:ln w="12700">
            <a:solidFill>
              <a:srgbClr val="5B839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271432B8-DA5C-3121-008A-6E42332920F9}"/>
              </a:ext>
            </a:extLst>
          </p:cNvPr>
          <p:cNvSpPr/>
          <p:nvPr/>
        </p:nvSpPr>
        <p:spPr>
          <a:xfrm>
            <a:off x="457200" y="2660904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Related Work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3343595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3675573D-71A7-C7E7-6353-46A18FE27AFF}"/>
              </a:ext>
            </a:extLst>
          </p:cNvPr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5B839B"/>
          </a:solidFill>
          <a:ln w="12700">
            <a:solidFill>
              <a:srgbClr val="5B839B"/>
            </a:solidFill>
            <a:prstDash val="solid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8B18D6C-2B4A-5323-DAAB-0DBDE22E8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495" y="6608392"/>
            <a:ext cx="2743200" cy="246889"/>
          </a:xfrm>
        </p:spPr>
        <p:txBody>
          <a:bodyPr/>
          <a:lstStyle/>
          <a:p>
            <a:fld id="{A98399F2-4B7C-4808-8B27-A13C76E6A9FD}" type="slidenum">
              <a:rPr lang="zh-TW" altLang="en-US" smtClean="0">
                <a:solidFill>
                  <a:schemeClr val="bg1"/>
                </a:solidFill>
              </a:rPr>
              <a:t>9</a:t>
            </a:fld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6CC896F1-DC32-0CE9-E6CB-64C1DEBD2727}"/>
              </a:ext>
            </a:extLst>
          </p:cNvPr>
          <p:cNvSpPr/>
          <p:nvPr/>
        </p:nvSpPr>
        <p:spPr>
          <a:xfrm>
            <a:off x="347472" y="27432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Part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2: Related Work</a:t>
            </a:r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780453E2-05FB-EBC7-249B-38DCDACA493C}"/>
              </a:ext>
            </a:extLst>
          </p:cNvPr>
          <p:cNvSpPr/>
          <p:nvPr/>
        </p:nvSpPr>
        <p:spPr>
          <a:xfrm>
            <a:off x="347472" y="749808"/>
            <a:ext cx="11475720" cy="0"/>
          </a:xfrm>
          <a:prstGeom prst="line">
            <a:avLst/>
          </a:prstGeom>
          <a:noFill/>
          <a:ln w="12700">
            <a:solidFill>
              <a:srgbClr val="C8D6D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grpSp>
        <p:nvGrpSpPr>
          <p:cNvPr id="226" name="群組 225">
            <a:extLst>
              <a:ext uri="{FF2B5EF4-FFF2-40B4-BE49-F238E27FC236}">
                <a16:creationId xmlns:a16="http://schemas.microsoft.com/office/drawing/2014/main" id="{134E8218-33DF-0B08-A698-76A1D867F740}"/>
              </a:ext>
            </a:extLst>
          </p:cNvPr>
          <p:cNvGrpSpPr/>
          <p:nvPr/>
        </p:nvGrpSpPr>
        <p:grpSpPr>
          <a:xfrm>
            <a:off x="2104559" y="991942"/>
            <a:ext cx="6985002" cy="4338267"/>
            <a:chOff x="421108" y="1001355"/>
            <a:chExt cx="6985002" cy="4338267"/>
          </a:xfrm>
        </p:grpSpPr>
        <p:grpSp>
          <p:nvGrpSpPr>
            <p:cNvPr id="222" name="群組 221">
              <a:extLst>
                <a:ext uri="{FF2B5EF4-FFF2-40B4-BE49-F238E27FC236}">
                  <a16:creationId xmlns:a16="http://schemas.microsoft.com/office/drawing/2014/main" id="{8A43683A-69A1-344F-4AFE-EE79E83272D3}"/>
                </a:ext>
              </a:extLst>
            </p:cNvPr>
            <p:cNvGrpSpPr/>
            <p:nvPr/>
          </p:nvGrpSpPr>
          <p:grpSpPr>
            <a:xfrm>
              <a:off x="1244114" y="1001355"/>
              <a:ext cx="6161996" cy="4338267"/>
              <a:chOff x="621346" y="1223297"/>
              <a:chExt cx="6161996" cy="4338267"/>
            </a:xfrm>
          </p:grpSpPr>
          <p:grpSp>
            <p:nvGrpSpPr>
              <p:cNvPr id="211" name="群組 210">
                <a:extLst>
                  <a:ext uri="{FF2B5EF4-FFF2-40B4-BE49-F238E27FC236}">
                    <a16:creationId xmlns:a16="http://schemas.microsoft.com/office/drawing/2014/main" id="{9123B5F6-9E81-4280-1AFE-6FF288C4422B}"/>
                  </a:ext>
                </a:extLst>
              </p:cNvPr>
              <p:cNvGrpSpPr/>
              <p:nvPr/>
            </p:nvGrpSpPr>
            <p:grpSpPr>
              <a:xfrm>
                <a:off x="621346" y="1223297"/>
                <a:ext cx="6161996" cy="3648720"/>
                <a:chOff x="347472" y="956968"/>
                <a:chExt cx="6161996" cy="3648720"/>
              </a:xfrm>
            </p:grpSpPr>
            <p:sp>
              <p:nvSpPr>
                <p:cNvPr id="69" name="矩形: 圓角 68">
                  <a:extLst>
                    <a:ext uri="{FF2B5EF4-FFF2-40B4-BE49-F238E27FC236}">
                      <a16:creationId xmlns:a16="http://schemas.microsoft.com/office/drawing/2014/main" id="{508D12DD-5A5E-A8A3-F8F5-422D6BAF4C86}"/>
                    </a:ext>
                  </a:extLst>
                </p:cNvPr>
                <p:cNvSpPr/>
                <p:nvPr/>
              </p:nvSpPr>
              <p:spPr>
                <a:xfrm>
                  <a:off x="410353" y="3664655"/>
                  <a:ext cx="6099115" cy="941033"/>
                </a:xfrm>
                <a:prstGeom prst="roundRect">
                  <a:avLst/>
                </a:prstGeom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dirty="0">
                      <a:solidFill>
                        <a:schemeClr val="tx1"/>
                      </a:solidFill>
                    </a:rPr>
                    <a:t>Shared</a:t>
                  </a:r>
                  <a:endParaRPr lang="zh-TW" altLang="en-US" dirty="0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62" name="群組 161">
                  <a:extLst>
                    <a:ext uri="{FF2B5EF4-FFF2-40B4-BE49-F238E27FC236}">
                      <a16:creationId xmlns:a16="http://schemas.microsoft.com/office/drawing/2014/main" id="{A4256F97-B0DF-7DE8-7602-F01198911C9A}"/>
                    </a:ext>
                  </a:extLst>
                </p:cNvPr>
                <p:cNvGrpSpPr/>
                <p:nvPr/>
              </p:nvGrpSpPr>
              <p:grpSpPr>
                <a:xfrm>
                  <a:off x="347472" y="956968"/>
                  <a:ext cx="6099117" cy="1942700"/>
                  <a:chOff x="712043" y="925926"/>
                  <a:chExt cx="6099117" cy="1942700"/>
                </a:xfrm>
              </p:grpSpPr>
              <p:grpSp>
                <p:nvGrpSpPr>
                  <p:cNvPr id="123" name="群組 122">
                    <a:extLst>
                      <a:ext uri="{FF2B5EF4-FFF2-40B4-BE49-F238E27FC236}">
                        <a16:creationId xmlns:a16="http://schemas.microsoft.com/office/drawing/2014/main" id="{F55C8E27-84BD-38A1-6485-590D058BEE7F}"/>
                      </a:ext>
                    </a:extLst>
                  </p:cNvPr>
                  <p:cNvGrpSpPr/>
                  <p:nvPr/>
                </p:nvGrpSpPr>
                <p:grpSpPr>
                  <a:xfrm>
                    <a:off x="2238870" y="925926"/>
                    <a:ext cx="1425794" cy="1337094"/>
                    <a:chOff x="783802" y="925926"/>
                    <a:chExt cx="1425794" cy="1337094"/>
                  </a:xfrm>
                </p:grpSpPr>
                <p:grpSp>
                  <p:nvGrpSpPr>
                    <p:cNvPr id="124" name="群組 123">
                      <a:extLst>
                        <a:ext uri="{FF2B5EF4-FFF2-40B4-BE49-F238E27FC236}">
                          <a16:creationId xmlns:a16="http://schemas.microsoft.com/office/drawing/2014/main" id="{BD87DE83-AD80-EC17-524E-3E6252B830B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849596" y="1359080"/>
                      <a:ext cx="360000" cy="903940"/>
                      <a:chOff x="4750107" y="1127508"/>
                      <a:chExt cx="360000" cy="903940"/>
                    </a:xfrm>
                  </p:grpSpPr>
                  <p:cxnSp>
                    <p:nvCxnSpPr>
                      <p:cNvPr id="134" name="直線接點 133">
                        <a:extLst>
                          <a:ext uri="{FF2B5EF4-FFF2-40B4-BE49-F238E27FC236}">
                            <a16:creationId xmlns:a16="http://schemas.microsoft.com/office/drawing/2014/main" id="{6CDA87EB-CC8E-1A03-F1B0-79964F1E506F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4939565" y="1491448"/>
                        <a:ext cx="0" cy="540000"/>
                      </a:xfrm>
                      <a:prstGeom prst="line">
                        <a:avLst/>
                      </a:prstGeom>
                      <a:ln w="19050"/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135" name="橢圓 134">
                        <a:extLst>
                          <a:ext uri="{FF2B5EF4-FFF2-40B4-BE49-F238E27FC236}">
                            <a16:creationId xmlns:a16="http://schemas.microsoft.com/office/drawing/2014/main" id="{33103602-F3AD-CA6A-3CE1-A52138BCB6B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50107" y="1127508"/>
                        <a:ext cx="360000" cy="36000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altLang="zh-TW" dirty="0">
                            <a:solidFill>
                              <a:schemeClr val="tx1"/>
                            </a:solidFill>
                          </a:rPr>
                          <a:t>6</a:t>
                        </a:r>
                        <a:endParaRPr lang="zh-TW" altLang="en-US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125" name="群組 124">
                      <a:extLst>
                        <a:ext uri="{FF2B5EF4-FFF2-40B4-BE49-F238E27FC236}">
                          <a16:creationId xmlns:a16="http://schemas.microsoft.com/office/drawing/2014/main" id="{6E0BA7F8-192E-E277-EEE4-268E5DE7C5E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486739" y="1232154"/>
                      <a:ext cx="360000" cy="903940"/>
                      <a:chOff x="4750107" y="1127508"/>
                      <a:chExt cx="360000" cy="903940"/>
                    </a:xfrm>
                  </p:grpSpPr>
                  <p:cxnSp>
                    <p:nvCxnSpPr>
                      <p:cNvPr id="132" name="直線接點 131">
                        <a:extLst>
                          <a:ext uri="{FF2B5EF4-FFF2-40B4-BE49-F238E27FC236}">
                            <a16:creationId xmlns:a16="http://schemas.microsoft.com/office/drawing/2014/main" id="{B2C04BC8-BF74-8D92-2D06-546AF1CAADD5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4939565" y="1491448"/>
                        <a:ext cx="0" cy="540000"/>
                      </a:xfrm>
                      <a:prstGeom prst="line">
                        <a:avLst/>
                      </a:prstGeom>
                      <a:ln w="19050"/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133" name="橢圓 132">
                        <a:extLst>
                          <a:ext uri="{FF2B5EF4-FFF2-40B4-BE49-F238E27FC236}">
                            <a16:creationId xmlns:a16="http://schemas.microsoft.com/office/drawing/2014/main" id="{101C5920-AB7B-DFD6-7223-097F9FD36C5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50107" y="1127508"/>
                        <a:ext cx="360000" cy="36000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altLang="zh-TW" dirty="0">
                            <a:solidFill>
                              <a:schemeClr val="tx1"/>
                            </a:solidFill>
                          </a:rPr>
                          <a:t>5</a:t>
                        </a:r>
                        <a:endParaRPr lang="zh-TW" altLang="en-US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126" name="群組 125">
                      <a:extLst>
                        <a:ext uri="{FF2B5EF4-FFF2-40B4-BE49-F238E27FC236}">
                          <a16:creationId xmlns:a16="http://schemas.microsoft.com/office/drawing/2014/main" id="{A223D9B4-E897-9E7D-82D7-ACEE7E4CC9F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125129" y="1101397"/>
                      <a:ext cx="360000" cy="903940"/>
                      <a:chOff x="4750107" y="1127508"/>
                      <a:chExt cx="360000" cy="903940"/>
                    </a:xfrm>
                  </p:grpSpPr>
                  <p:cxnSp>
                    <p:nvCxnSpPr>
                      <p:cNvPr id="130" name="直線接點 129">
                        <a:extLst>
                          <a:ext uri="{FF2B5EF4-FFF2-40B4-BE49-F238E27FC236}">
                            <a16:creationId xmlns:a16="http://schemas.microsoft.com/office/drawing/2014/main" id="{84A33B36-8AD3-5138-C37D-CBA9B26E581C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4939565" y="1491448"/>
                        <a:ext cx="0" cy="540000"/>
                      </a:xfrm>
                      <a:prstGeom prst="line">
                        <a:avLst/>
                      </a:prstGeom>
                      <a:ln w="19050"/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131" name="橢圓 130">
                        <a:extLst>
                          <a:ext uri="{FF2B5EF4-FFF2-40B4-BE49-F238E27FC236}">
                            <a16:creationId xmlns:a16="http://schemas.microsoft.com/office/drawing/2014/main" id="{F6E86E89-2319-12AD-8455-DE137566704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50107" y="1127508"/>
                        <a:ext cx="360000" cy="36000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altLang="zh-TW" dirty="0">
                            <a:solidFill>
                              <a:schemeClr val="tx1"/>
                            </a:solidFill>
                          </a:rPr>
                          <a:t>4</a:t>
                        </a:r>
                        <a:endParaRPr lang="zh-TW" altLang="en-US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127" name="群組 126">
                      <a:extLst>
                        <a:ext uri="{FF2B5EF4-FFF2-40B4-BE49-F238E27FC236}">
                          <a16:creationId xmlns:a16="http://schemas.microsoft.com/office/drawing/2014/main" id="{255B5515-0123-D8A3-CCC1-6427505BBCD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83802" y="925926"/>
                      <a:ext cx="360000" cy="903940"/>
                      <a:chOff x="4750107" y="1127508"/>
                      <a:chExt cx="360000" cy="903940"/>
                    </a:xfrm>
                  </p:grpSpPr>
                  <p:cxnSp>
                    <p:nvCxnSpPr>
                      <p:cNvPr id="128" name="直線接點 127">
                        <a:extLst>
                          <a:ext uri="{FF2B5EF4-FFF2-40B4-BE49-F238E27FC236}">
                            <a16:creationId xmlns:a16="http://schemas.microsoft.com/office/drawing/2014/main" id="{0A3E48E6-8587-B63C-764D-AD6F6F0D60FA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4939565" y="1491448"/>
                        <a:ext cx="0" cy="540000"/>
                      </a:xfrm>
                      <a:prstGeom prst="line">
                        <a:avLst/>
                      </a:prstGeom>
                      <a:ln w="19050"/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129" name="橢圓 128">
                        <a:extLst>
                          <a:ext uri="{FF2B5EF4-FFF2-40B4-BE49-F238E27FC236}">
                            <a16:creationId xmlns:a16="http://schemas.microsoft.com/office/drawing/2014/main" id="{E5FFF0B7-313F-7347-B102-3C88C835AC3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50107" y="1127508"/>
                        <a:ext cx="360000" cy="36000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altLang="zh-TW" dirty="0">
                            <a:solidFill>
                              <a:schemeClr val="tx1"/>
                            </a:solidFill>
                          </a:rPr>
                          <a:t>3</a:t>
                        </a:r>
                        <a:endParaRPr lang="zh-TW" altLang="en-US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</p:grpSp>
              <p:grpSp>
                <p:nvGrpSpPr>
                  <p:cNvPr id="136" name="群組 135">
                    <a:extLst>
                      <a:ext uri="{FF2B5EF4-FFF2-40B4-BE49-F238E27FC236}">
                        <a16:creationId xmlns:a16="http://schemas.microsoft.com/office/drawing/2014/main" id="{07C4A287-BF52-215D-11CE-E05E7D87EB72}"/>
                      </a:ext>
                    </a:extLst>
                  </p:cNvPr>
                  <p:cNvGrpSpPr/>
                  <p:nvPr/>
                </p:nvGrpSpPr>
                <p:grpSpPr>
                  <a:xfrm>
                    <a:off x="3716884" y="933729"/>
                    <a:ext cx="1425794" cy="1337094"/>
                    <a:chOff x="783802" y="925926"/>
                    <a:chExt cx="1425794" cy="1337094"/>
                  </a:xfrm>
                </p:grpSpPr>
                <p:grpSp>
                  <p:nvGrpSpPr>
                    <p:cNvPr id="137" name="群組 136">
                      <a:extLst>
                        <a:ext uri="{FF2B5EF4-FFF2-40B4-BE49-F238E27FC236}">
                          <a16:creationId xmlns:a16="http://schemas.microsoft.com/office/drawing/2014/main" id="{BB4E6736-EE96-F21A-B55F-3C31F00E07C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849596" y="1359080"/>
                      <a:ext cx="360000" cy="903940"/>
                      <a:chOff x="4750107" y="1127508"/>
                      <a:chExt cx="360000" cy="903940"/>
                    </a:xfrm>
                  </p:grpSpPr>
                  <p:cxnSp>
                    <p:nvCxnSpPr>
                      <p:cNvPr id="147" name="直線接點 146">
                        <a:extLst>
                          <a:ext uri="{FF2B5EF4-FFF2-40B4-BE49-F238E27FC236}">
                            <a16:creationId xmlns:a16="http://schemas.microsoft.com/office/drawing/2014/main" id="{EE7A651B-10A5-D513-16D7-342FDA549C2B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4939565" y="1491448"/>
                        <a:ext cx="0" cy="540000"/>
                      </a:xfrm>
                      <a:prstGeom prst="line">
                        <a:avLst/>
                      </a:prstGeom>
                      <a:ln w="19050"/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148" name="橢圓 147">
                        <a:extLst>
                          <a:ext uri="{FF2B5EF4-FFF2-40B4-BE49-F238E27FC236}">
                            <a16:creationId xmlns:a16="http://schemas.microsoft.com/office/drawing/2014/main" id="{D0920339-8B99-DB0F-52B2-18E8CF60EBA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50107" y="1127508"/>
                        <a:ext cx="360000" cy="36000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altLang="zh-TW" dirty="0">
                            <a:solidFill>
                              <a:schemeClr val="tx1"/>
                            </a:solidFill>
                          </a:rPr>
                          <a:t>7</a:t>
                        </a:r>
                        <a:endParaRPr lang="zh-TW" altLang="en-US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138" name="群組 137">
                      <a:extLst>
                        <a:ext uri="{FF2B5EF4-FFF2-40B4-BE49-F238E27FC236}">
                          <a16:creationId xmlns:a16="http://schemas.microsoft.com/office/drawing/2014/main" id="{C08B9242-C69A-8A88-4008-B999176C1FB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486739" y="1232154"/>
                      <a:ext cx="360000" cy="903940"/>
                      <a:chOff x="4750107" y="1127508"/>
                      <a:chExt cx="360000" cy="903940"/>
                    </a:xfrm>
                  </p:grpSpPr>
                  <p:cxnSp>
                    <p:nvCxnSpPr>
                      <p:cNvPr id="145" name="直線接點 144">
                        <a:extLst>
                          <a:ext uri="{FF2B5EF4-FFF2-40B4-BE49-F238E27FC236}">
                            <a16:creationId xmlns:a16="http://schemas.microsoft.com/office/drawing/2014/main" id="{45DED895-5F69-83D8-3632-D03ACEC6F21E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4939565" y="1491448"/>
                        <a:ext cx="0" cy="540000"/>
                      </a:xfrm>
                      <a:prstGeom prst="line">
                        <a:avLst/>
                      </a:prstGeom>
                      <a:ln w="19050"/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146" name="橢圓 145">
                        <a:extLst>
                          <a:ext uri="{FF2B5EF4-FFF2-40B4-BE49-F238E27FC236}">
                            <a16:creationId xmlns:a16="http://schemas.microsoft.com/office/drawing/2014/main" id="{7D96C37D-F4CC-1872-82AE-636C43036B0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50107" y="1127508"/>
                        <a:ext cx="360000" cy="36000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altLang="zh-TW" dirty="0">
                            <a:solidFill>
                              <a:schemeClr val="tx1"/>
                            </a:solidFill>
                          </a:rPr>
                          <a:t>6</a:t>
                        </a:r>
                        <a:endParaRPr lang="zh-TW" altLang="en-US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139" name="群組 138">
                      <a:extLst>
                        <a:ext uri="{FF2B5EF4-FFF2-40B4-BE49-F238E27FC236}">
                          <a16:creationId xmlns:a16="http://schemas.microsoft.com/office/drawing/2014/main" id="{4D87C621-4C58-71BE-E534-EA20C35690E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125129" y="1101397"/>
                      <a:ext cx="360000" cy="903940"/>
                      <a:chOff x="4750107" y="1127508"/>
                      <a:chExt cx="360000" cy="903940"/>
                    </a:xfrm>
                  </p:grpSpPr>
                  <p:cxnSp>
                    <p:nvCxnSpPr>
                      <p:cNvPr id="143" name="直線接點 142">
                        <a:extLst>
                          <a:ext uri="{FF2B5EF4-FFF2-40B4-BE49-F238E27FC236}">
                            <a16:creationId xmlns:a16="http://schemas.microsoft.com/office/drawing/2014/main" id="{FF3FF954-7CBF-E5BE-F9ED-433D2A9C3C0B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4939565" y="1491448"/>
                        <a:ext cx="0" cy="540000"/>
                      </a:xfrm>
                      <a:prstGeom prst="line">
                        <a:avLst/>
                      </a:prstGeom>
                      <a:ln w="19050"/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144" name="橢圓 143">
                        <a:extLst>
                          <a:ext uri="{FF2B5EF4-FFF2-40B4-BE49-F238E27FC236}">
                            <a16:creationId xmlns:a16="http://schemas.microsoft.com/office/drawing/2014/main" id="{85086A87-F95A-772C-1755-84788473ED2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50107" y="1127508"/>
                        <a:ext cx="360000" cy="36000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altLang="zh-TW" dirty="0">
                            <a:solidFill>
                              <a:schemeClr val="tx1"/>
                            </a:solidFill>
                          </a:rPr>
                          <a:t>5</a:t>
                        </a:r>
                        <a:endParaRPr lang="zh-TW" altLang="en-US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140" name="群組 139">
                      <a:extLst>
                        <a:ext uri="{FF2B5EF4-FFF2-40B4-BE49-F238E27FC236}">
                          <a16:creationId xmlns:a16="http://schemas.microsoft.com/office/drawing/2014/main" id="{F91D267B-2F4E-B2D4-49F4-6ECBFEC0DBB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83802" y="925926"/>
                      <a:ext cx="360000" cy="903940"/>
                      <a:chOff x="4750107" y="1127508"/>
                      <a:chExt cx="360000" cy="903940"/>
                    </a:xfrm>
                  </p:grpSpPr>
                  <p:cxnSp>
                    <p:nvCxnSpPr>
                      <p:cNvPr id="141" name="直線接點 140">
                        <a:extLst>
                          <a:ext uri="{FF2B5EF4-FFF2-40B4-BE49-F238E27FC236}">
                            <a16:creationId xmlns:a16="http://schemas.microsoft.com/office/drawing/2014/main" id="{461D8BC0-1B73-0448-450A-88583EBE81E8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4939565" y="1491448"/>
                        <a:ext cx="0" cy="540000"/>
                      </a:xfrm>
                      <a:prstGeom prst="line">
                        <a:avLst/>
                      </a:prstGeom>
                      <a:ln w="19050"/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142" name="橢圓 141">
                        <a:extLst>
                          <a:ext uri="{FF2B5EF4-FFF2-40B4-BE49-F238E27FC236}">
                            <a16:creationId xmlns:a16="http://schemas.microsoft.com/office/drawing/2014/main" id="{391F0763-0928-B491-D352-CDC26C138D2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50107" y="1127508"/>
                        <a:ext cx="360000" cy="36000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altLang="zh-TW" dirty="0">
                            <a:solidFill>
                              <a:schemeClr val="tx1"/>
                            </a:solidFill>
                          </a:rPr>
                          <a:t>4</a:t>
                        </a:r>
                        <a:endParaRPr lang="zh-TW" altLang="en-US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</p:grpSp>
              <p:grpSp>
                <p:nvGrpSpPr>
                  <p:cNvPr id="122" name="群組 121">
                    <a:extLst>
                      <a:ext uri="{FF2B5EF4-FFF2-40B4-BE49-F238E27FC236}">
                        <a16:creationId xmlns:a16="http://schemas.microsoft.com/office/drawing/2014/main" id="{7EFBDC6C-5346-34AF-10A8-8378612F616E}"/>
                      </a:ext>
                    </a:extLst>
                  </p:cNvPr>
                  <p:cNvGrpSpPr/>
                  <p:nvPr/>
                </p:nvGrpSpPr>
                <p:grpSpPr>
                  <a:xfrm>
                    <a:off x="783802" y="925926"/>
                    <a:ext cx="1425794" cy="1337094"/>
                    <a:chOff x="783802" y="925926"/>
                    <a:chExt cx="1425794" cy="1337094"/>
                  </a:xfrm>
                </p:grpSpPr>
                <p:grpSp>
                  <p:nvGrpSpPr>
                    <p:cNvPr id="99" name="群組 98">
                      <a:extLst>
                        <a:ext uri="{FF2B5EF4-FFF2-40B4-BE49-F238E27FC236}">
                          <a16:creationId xmlns:a16="http://schemas.microsoft.com/office/drawing/2014/main" id="{302BF107-CB0D-1AE9-C312-D059D25B36E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849596" y="1359080"/>
                      <a:ext cx="360000" cy="903940"/>
                      <a:chOff x="4750107" y="1127508"/>
                      <a:chExt cx="360000" cy="903940"/>
                    </a:xfrm>
                  </p:grpSpPr>
                  <p:cxnSp>
                    <p:nvCxnSpPr>
                      <p:cNvPr id="103" name="直線接點 102">
                        <a:extLst>
                          <a:ext uri="{FF2B5EF4-FFF2-40B4-BE49-F238E27FC236}">
                            <a16:creationId xmlns:a16="http://schemas.microsoft.com/office/drawing/2014/main" id="{466722F8-1B5E-9D3F-78E1-DCB2D8397C56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4939565" y="1491448"/>
                        <a:ext cx="0" cy="540000"/>
                      </a:xfrm>
                      <a:prstGeom prst="line">
                        <a:avLst/>
                      </a:prstGeom>
                      <a:ln w="19050"/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104" name="橢圓 103">
                        <a:extLst>
                          <a:ext uri="{FF2B5EF4-FFF2-40B4-BE49-F238E27FC236}">
                            <a16:creationId xmlns:a16="http://schemas.microsoft.com/office/drawing/2014/main" id="{902EBA94-0178-EC73-1255-5467BCF5C7A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50107" y="1127508"/>
                        <a:ext cx="360000" cy="36000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altLang="zh-TW" dirty="0">
                            <a:solidFill>
                              <a:schemeClr val="tx1"/>
                            </a:solidFill>
                          </a:rPr>
                          <a:t>5</a:t>
                        </a:r>
                        <a:endParaRPr lang="zh-TW" altLang="en-US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100" name="群組 99">
                      <a:extLst>
                        <a:ext uri="{FF2B5EF4-FFF2-40B4-BE49-F238E27FC236}">
                          <a16:creationId xmlns:a16="http://schemas.microsoft.com/office/drawing/2014/main" id="{BF50610C-307C-7D7B-4609-65ACA075913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486739" y="1232154"/>
                      <a:ext cx="360000" cy="903940"/>
                      <a:chOff x="4750107" y="1127508"/>
                      <a:chExt cx="360000" cy="903940"/>
                    </a:xfrm>
                  </p:grpSpPr>
                  <p:cxnSp>
                    <p:nvCxnSpPr>
                      <p:cNvPr id="101" name="直線接點 100">
                        <a:extLst>
                          <a:ext uri="{FF2B5EF4-FFF2-40B4-BE49-F238E27FC236}">
                            <a16:creationId xmlns:a16="http://schemas.microsoft.com/office/drawing/2014/main" id="{66657AD4-3C95-8538-744C-E90BB072BDF7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4939565" y="1491448"/>
                        <a:ext cx="0" cy="540000"/>
                      </a:xfrm>
                      <a:prstGeom prst="line">
                        <a:avLst/>
                      </a:prstGeom>
                      <a:ln w="19050"/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102" name="橢圓 101">
                        <a:extLst>
                          <a:ext uri="{FF2B5EF4-FFF2-40B4-BE49-F238E27FC236}">
                            <a16:creationId xmlns:a16="http://schemas.microsoft.com/office/drawing/2014/main" id="{D57BACA5-7304-B369-99FC-1AFEEBEB59A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50107" y="1127508"/>
                        <a:ext cx="360000" cy="36000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altLang="zh-TW" dirty="0">
                            <a:solidFill>
                              <a:schemeClr val="tx1"/>
                            </a:solidFill>
                          </a:rPr>
                          <a:t>4</a:t>
                        </a:r>
                        <a:endParaRPr lang="zh-TW" altLang="en-US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98" name="群組 97">
                      <a:extLst>
                        <a:ext uri="{FF2B5EF4-FFF2-40B4-BE49-F238E27FC236}">
                          <a16:creationId xmlns:a16="http://schemas.microsoft.com/office/drawing/2014/main" id="{22695A71-542F-821E-7F71-8057CE9AF33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125129" y="1101397"/>
                      <a:ext cx="360000" cy="903940"/>
                      <a:chOff x="4750107" y="1127508"/>
                      <a:chExt cx="360000" cy="903940"/>
                    </a:xfrm>
                  </p:grpSpPr>
                  <p:cxnSp>
                    <p:nvCxnSpPr>
                      <p:cNvPr id="105" name="直線接點 104">
                        <a:extLst>
                          <a:ext uri="{FF2B5EF4-FFF2-40B4-BE49-F238E27FC236}">
                            <a16:creationId xmlns:a16="http://schemas.microsoft.com/office/drawing/2014/main" id="{65A501D5-54EF-7610-C403-0B4D704BCA7A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4939565" y="1491448"/>
                        <a:ext cx="0" cy="540000"/>
                      </a:xfrm>
                      <a:prstGeom prst="line">
                        <a:avLst/>
                      </a:prstGeom>
                      <a:ln w="19050"/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106" name="橢圓 105">
                        <a:extLst>
                          <a:ext uri="{FF2B5EF4-FFF2-40B4-BE49-F238E27FC236}">
                            <a16:creationId xmlns:a16="http://schemas.microsoft.com/office/drawing/2014/main" id="{20E4B4EB-8405-39F3-DFBB-91895BC4A15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50107" y="1127508"/>
                        <a:ext cx="360000" cy="36000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altLang="zh-TW" dirty="0">
                            <a:solidFill>
                              <a:schemeClr val="tx1"/>
                            </a:solidFill>
                          </a:rPr>
                          <a:t>3</a:t>
                        </a:r>
                        <a:endParaRPr lang="zh-TW" altLang="en-US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97" name="群組 96">
                      <a:extLst>
                        <a:ext uri="{FF2B5EF4-FFF2-40B4-BE49-F238E27FC236}">
                          <a16:creationId xmlns:a16="http://schemas.microsoft.com/office/drawing/2014/main" id="{122C298E-4821-61D8-607F-77568AB840A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83802" y="925926"/>
                      <a:ext cx="360000" cy="903940"/>
                      <a:chOff x="4750107" y="1127508"/>
                      <a:chExt cx="360000" cy="903940"/>
                    </a:xfrm>
                  </p:grpSpPr>
                  <p:cxnSp>
                    <p:nvCxnSpPr>
                      <p:cNvPr id="107" name="直線接點 106">
                        <a:extLst>
                          <a:ext uri="{FF2B5EF4-FFF2-40B4-BE49-F238E27FC236}">
                            <a16:creationId xmlns:a16="http://schemas.microsoft.com/office/drawing/2014/main" id="{36A3DE4D-7434-7BB2-E067-13469EC51B1C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4939565" y="1491448"/>
                        <a:ext cx="0" cy="540000"/>
                      </a:xfrm>
                      <a:prstGeom prst="line">
                        <a:avLst/>
                      </a:prstGeom>
                      <a:ln w="19050"/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108" name="橢圓 107">
                        <a:extLst>
                          <a:ext uri="{FF2B5EF4-FFF2-40B4-BE49-F238E27FC236}">
                            <a16:creationId xmlns:a16="http://schemas.microsoft.com/office/drawing/2014/main" id="{D2799BDC-7AD9-861C-F971-4ADBC6F657E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50107" y="1127508"/>
                        <a:ext cx="360000" cy="36000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altLang="zh-TW" dirty="0">
                            <a:solidFill>
                              <a:schemeClr val="tx1"/>
                            </a:solidFill>
                          </a:rPr>
                          <a:t>2</a:t>
                        </a:r>
                        <a:endParaRPr lang="zh-TW" altLang="en-US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</p:grpSp>
              <p:grpSp>
                <p:nvGrpSpPr>
                  <p:cNvPr id="74" name="群組 73">
                    <a:extLst>
                      <a:ext uri="{FF2B5EF4-FFF2-40B4-BE49-F238E27FC236}">
                        <a16:creationId xmlns:a16="http://schemas.microsoft.com/office/drawing/2014/main" id="{39F464F3-7BB8-D188-C91B-D18F7453A10C}"/>
                      </a:ext>
                    </a:extLst>
                  </p:cNvPr>
                  <p:cNvGrpSpPr/>
                  <p:nvPr/>
                </p:nvGrpSpPr>
                <p:grpSpPr>
                  <a:xfrm>
                    <a:off x="712043" y="1831111"/>
                    <a:ext cx="6099117" cy="1037515"/>
                    <a:chOff x="1897599" y="1994704"/>
                    <a:chExt cx="5494904" cy="1037515"/>
                  </a:xfrm>
                </p:grpSpPr>
                <p:sp>
                  <p:nvSpPr>
                    <p:cNvPr id="72" name="矩形: 圓角 71">
                      <a:extLst>
                        <a:ext uri="{FF2B5EF4-FFF2-40B4-BE49-F238E27FC236}">
                          <a16:creationId xmlns:a16="http://schemas.microsoft.com/office/drawing/2014/main" id="{E6A49323-101D-CF52-4200-A88C7712862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784992" y="2428538"/>
                      <a:ext cx="4607511" cy="603681"/>
                    </a:xfrm>
                    <a:prstGeom prst="roundRect">
                      <a:avLst/>
                    </a:pr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190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73" name="矩形: 圓角 72">
                      <a:extLst>
                        <a:ext uri="{FF2B5EF4-FFF2-40B4-BE49-F238E27FC236}">
                          <a16:creationId xmlns:a16="http://schemas.microsoft.com/office/drawing/2014/main" id="{98A9219D-F807-623A-491D-73EFE0E324D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69271" y="2290821"/>
                      <a:ext cx="4607511" cy="603681"/>
                    </a:xfrm>
                    <a:prstGeom prst="roundRect">
                      <a:avLst/>
                    </a:pr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190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71" name="矩形: 圓角 70">
                      <a:extLst>
                        <a:ext uri="{FF2B5EF4-FFF2-40B4-BE49-F238E27FC236}">
                          <a16:creationId xmlns:a16="http://schemas.microsoft.com/office/drawing/2014/main" id="{9760FEDF-6E46-BA00-7565-551C6D56BF6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183435" y="2158828"/>
                      <a:ext cx="4607511" cy="603681"/>
                    </a:xfrm>
                    <a:prstGeom prst="roundRect">
                      <a:avLst/>
                    </a:pr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190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p:txBody>
                </p:sp>
                <p:sp>
                  <p:nvSpPr>
                    <p:cNvPr id="70" name="矩形: 圓角 69">
                      <a:extLst>
                        <a:ext uri="{FF2B5EF4-FFF2-40B4-BE49-F238E27FC236}">
                          <a16:creationId xmlns:a16="http://schemas.microsoft.com/office/drawing/2014/main" id="{603D58DD-B1F1-3186-DC57-F766CA46ED0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97599" y="1994704"/>
                      <a:ext cx="4607511" cy="603681"/>
                    </a:xfrm>
                    <a:prstGeom prst="roundRect">
                      <a:avLst/>
                    </a:pr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 w="19050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Head 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grpSp>
                <p:nvGrpSpPr>
                  <p:cNvPr id="149" name="群組 148">
                    <a:extLst>
                      <a:ext uri="{FF2B5EF4-FFF2-40B4-BE49-F238E27FC236}">
                        <a16:creationId xmlns:a16="http://schemas.microsoft.com/office/drawing/2014/main" id="{F2D7F6F8-865E-DCF4-4F28-64EEC0A88708}"/>
                      </a:ext>
                    </a:extLst>
                  </p:cNvPr>
                  <p:cNvGrpSpPr/>
                  <p:nvPr/>
                </p:nvGrpSpPr>
                <p:grpSpPr>
                  <a:xfrm>
                    <a:off x="5376254" y="925926"/>
                    <a:ext cx="1425794" cy="1337094"/>
                    <a:chOff x="783802" y="925926"/>
                    <a:chExt cx="1425794" cy="1337094"/>
                  </a:xfrm>
                </p:grpSpPr>
                <p:grpSp>
                  <p:nvGrpSpPr>
                    <p:cNvPr id="150" name="群組 149">
                      <a:extLst>
                        <a:ext uri="{FF2B5EF4-FFF2-40B4-BE49-F238E27FC236}">
                          <a16:creationId xmlns:a16="http://schemas.microsoft.com/office/drawing/2014/main" id="{BE904228-A454-D35C-95F7-91793509BDF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849596" y="1359080"/>
                      <a:ext cx="360000" cy="903940"/>
                      <a:chOff x="4750107" y="1127508"/>
                      <a:chExt cx="360000" cy="903940"/>
                    </a:xfrm>
                  </p:grpSpPr>
                  <p:cxnSp>
                    <p:nvCxnSpPr>
                      <p:cNvPr id="160" name="直線接點 159">
                        <a:extLst>
                          <a:ext uri="{FF2B5EF4-FFF2-40B4-BE49-F238E27FC236}">
                            <a16:creationId xmlns:a16="http://schemas.microsoft.com/office/drawing/2014/main" id="{22224128-BE10-0E23-CFA5-3E3438A5A990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4939565" y="1491448"/>
                        <a:ext cx="0" cy="540000"/>
                      </a:xfrm>
                      <a:prstGeom prst="line">
                        <a:avLst/>
                      </a:prstGeom>
                      <a:ln w="19050"/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161" name="橢圓 160">
                        <a:extLst>
                          <a:ext uri="{FF2B5EF4-FFF2-40B4-BE49-F238E27FC236}">
                            <a16:creationId xmlns:a16="http://schemas.microsoft.com/office/drawing/2014/main" id="{50C2AE3A-1335-DE73-E61B-17BB7F97921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50107" y="1127508"/>
                        <a:ext cx="360000" cy="36000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altLang="zh-TW" dirty="0">
                            <a:solidFill>
                              <a:schemeClr val="tx1"/>
                            </a:solidFill>
                          </a:rPr>
                          <a:t>8</a:t>
                        </a:r>
                        <a:endParaRPr lang="zh-TW" altLang="en-US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151" name="群組 150">
                      <a:extLst>
                        <a:ext uri="{FF2B5EF4-FFF2-40B4-BE49-F238E27FC236}">
                          <a16:creationId xmlns:a16="http://schemas.microsoft.com/office/drawing/2014/main" id="{DAF0A728-3DD2-E2EF-557A-CA1829AE4AD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486739" y="1232154"/>
                      <a:ext cx="360000" cy="903940"/>
                      <a:chOff x="4750107" y="1127508"/>
                      <a:chExt cx="360000" cy="903940"/>
                    </a:xfrm>
                  </p:grpSpPr>
                  <p:cxnSp>
                    <p:nvCxnSpPr>
                      <p:cNvPr id="158" name="直線接點 157">
                        <a:extLst>
                          <a:ext uri="{FF2B5EF4-FFF2-40B4-BE49-F238E27FC236}">
                            <a16:creationId xmlns:a16="http://schemas.microsoft.com/office/drawing/2014/main" id="{4031D07D-18B9-7687-C999-BE382230871C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4939565" y="1491448"/>
                        <a:ext cx="0" cy="540000"/>
                      </a:xfrm>
                      <a:prstGeom prst="line">
                        <a:avLst/>
                      </a:prstGeom>
                      <a:ln w="19050"/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159" name="橢圓 158">
                        <a:extLst>
                          <a:ext uri="{FF2B5EF4-FFF2-40B4-BE49-F238E27FC236}">
                            <a16:creationId xmlns:a16="http://schemas.microsoft.com/office/drawing/2014/main" id="{309FCE1C-D8F5-2624-E2C6-AE825F0CC3F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50107" y="1127508"/>
                        <a:ext cx="360000" cy="36000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altLang="zh-TW" dirty="0">
                            <a:solidFill>
                              <a:schemeClr val="tx1"/>
                            </a:solidFill>
                          </a:rPr>
                          <a:t>7</a:t>
                        </a:r>
                        <a:endParaRPr lang="zh-TW" altLang="en-US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152" name="群組 151">
                      <a:extLst>
                        <a:ext uri="{FF2B5EF4-FFF2-40B4-BE49-F238E27FC236}">
                          <a16:creationId xmlns:a16="http://schemas.microsoft.com/office/drawing/2014/main" id="{D31E1631-8C7A-25D5-71EB-505E52452DF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125129" y="1101397"/>
                      <a:ext cx="360000" cy="903940"/>
                      <a:chOff x="4750107" y="1127508"/>
                      <a:chExt cx="360000" cy="903940"/>
                    </a:xfrm>
                  </p:grpSpPr>
                  <p:cxnSp>
                    <p:nvCxnSpPr>
                      <p:cNvPr id="156" name="直線接點 155">
                        <a:extLst>
                          <a:ext uri="{FF2B5EF4-FFF2-40B4-BE49-F238E27FC236}">
                            <a16:creationId xmlns:a16="http://schemas.microsoft.com/office/drawing/2014/main" id="{398EB0FE-54AA-6853-5B51-6FB52FF0E6ED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4939565" y="1491448"/>
                        <a:ext cx="0" cy="540000"/>
                      </a:xfrm>
                      <a:prstGeom prst="line">
                        <a:avLst/>
                      </a:prstGeom>
                      <a:ln w="19050"/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157" name="橢圓 156">
                        <a:extLst>
                          <a:ext uri="{FF2B5EF4-FFF2-40B4-BE49-F238E27FC236}">
                            <a16:creationId xmlns:a16="http://schemas.microsoft.com/office/drawing/2014/main" id="{CC512B09-A885-85B2-389B-DA0EBA90988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50107" y="1127508"/>
                        <a:ext cx="360000" cy="36000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altLang="zh-TW" dirty="0">
                            <a:solidFill>
                              <a:schemeClr val="tx1"/>
                            </a:solidFill>
                          </a:rPr>
                          <a:t>6</a:t>
                        </a:r>
                        <a:endParaRPr lang="zh-TW" altLang="en-US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  <p:grpSp>
                  <p:nvGrpSpPr>
                    <p:cNvPr id="153" name="群組 152">
                      <a:extLst>
                        <a:ext uri="{FF2B5EF4-FFF2-40B4-BE49-F238E27FC236}">
                          <a16:creationId xmlns:a16="http://schemas.microsoft.com/office/drawing/2014/main" id="{8D3F4E6E-D646-0EDD-5B93-87228D68303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83802" y="925926"/>
                      <a:ext cx="360000" cy="903940"/>
                      <a:chOff x="4750107" y="1127508"/>
                      <a:chExt cx="360000" cy="903940"/>
                    </a:xfrm>
                  </p:grpSpPr>
                  <p:cxnSp>
                    <p:nvCxnSpPr>
                      <p:cNvPr id="154" name="直線接點 153">
                        <a:extLst>
                          <a:ext uri="{FF2B5EF4-FFF2-40B4-BE49-F238E27FC236}">
                            <a16:creationId xmlns:a16="http://schemas.microsoft.com/office/drawing/2014/main" id="{66FA895D-0CDE-5094-9A1C-B64301FD9F7F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4939565" y="1491448"/>
                        <a:ext cx="0" cy="540000"/>
                      </a:xfrm>
                      <a:prstGeom prst="line">
                        <a:avLst/>
                      </a:prstGeom>
                      <a:ln w="19050"/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155" name="橢圓 154">
                        <a:extLst>
                          <a:ext uri="{FF2B5EF4-FFF2-40B4-BE49-F238E27FC236}">
                            <a16:creationId xmlns:a16="http://schemas.microsoft.com/office/drawing/2014/main" id="{4A5A02D9-FFE8-8369-DABE-BB7067F0FD1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50107" y="1127508"/>
                        <a:ext cx="360000" cy="360000"/>
                      </a:xfrm>
                      <a:prstGeom prst="ellipse">
                        <a:avLst/>
                      </a:prstGeom>
                      <a:noFill/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altLang="zh-TW" dirty="0">
                            <a:solidFill>
                              <a:schemeClr val="tx1"/>
                            </a:solidFill>
                          </a:rPr>
                          <a:t>5</a:t>
                        </a:r>
                        <a:endParaRPr lang="zh-TW" altLang="en-US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189" name="群組 188">
                  <a:extLst>
                    <a:ext uri="{FF2B5EF4-FFF2-40B4-BE49-F238E27FC236}">
                      <a16:creationId xmlns:a16="http://schemas.microsoft.com/office/drawing/2014/main" id="{938B6926-FC97-FB82-25A4-CB9B764440E4}"/>
                    </a:ext>
                  </a:extLst>
                </p:cNvPr>
                <p:cNvGrpSpPr/>
                <p:nvPr/>
              </p:nvGrpSpPr>
              <p:grpSpPr>
                <a:xfrm>
                  <a:off x="775053" y="2472563"/>
                  <a:ext cx="707115" cy="1202792"/>
                  <a:chOff x="775053" y="2472563"/>
                  <a:chExt cx="707115" cy="1202792"/>
                </a:xfrm>
              </p:grpSpPr>
              <p:grpSp>
                <p:nvGrpSpPr>
                  <p:cNvPr id="186" name="群組 185">
                    <a:extLst>
                      <a:ext uri="{FF2B5EF4-FFF2-40B4-BE49-F238E27FC236}">
                        <a16:creationId xmlns:a16="http://schemas.microsoft.com/office/drawing/2014/main" id="{8AF1BBAB-47FC-148C-98EF-F8647FD89768}"/>
                      </a:ext>
                    </a:extLst>
                  </p:cNvPr>
                  <p:cNvGrpSpPr/>
                  <p:nvPr/>
                </p:nvGrpSpPr>
                <p:grpSpPr>
                  <a:xfrm>
                    <a:off x="775053" y="2472563"/>
                    <a:ext cx="707115" cy="857632"/>
                    <a:chOff x="775053" y="2472563"/>
                    <a:chExt cx="707115" cy="857632"/>
                  </a:xfrm>
                </p:grpSpPr>
                <p:cxnSp>
                  <p:nvCxnSpPr>
                    <p:cNvPr id="179" name="直線接點 178">
                      <a:extLst>
                        <a:ext uri="{FF2B5EF4-FFF2-40B4-BE49-F238E27FC236}">
                          <a16:creationId xmlns:a16="http://schemas.microsoft.com/office/drawing/2014/main" id="{BCC1BA2D-F7FD-CA43-17B2-06F0DD9B0E0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1193426" y="2888408"/>
                      <a:ext cx="288742" cy="441787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6" name="直線接點 175">
                      <a:extLst>
                        <a:ext uri="{FF2B5EF4-FFF2-40B4-BE49-F238E27FC236}">
                          <a16:creationId xmlns:a16="http://schemas.microsoft.com/office/drawing/2014/main" id="{EEF08F4F-C876-E979-AD39-01153196F8C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775053" y="2472563"/>
                      <a:ext cx="418373" cy="857632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7" name="直線接點 176">
                      <a:extLst>
                        <a:ext uri="{FF2B5EF4-FFF2-40B4-BE49-F238E27FC236}">
                          <a16:creationId xmlns:a16="http://schemas.microsoft.com/office/drawing/2014/main" id="{5184DCA8-0036-1EE6-9FD6-AF7D0CA0D39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937298" y="2629076"/>
                      <a:ext cx="256128" cy="701119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8" name="直線接點 177">
                      <a:extLst>
                        <a:ext uri="{FF2B5EF4-FFF2-40B4-BE49-F238E27FC236}">
                          <a16:creationId xmlns:a16="http://schemas.microsoft.com/office/drawing/2014/main" id="{D8738012-4B3A-1366-50A7-28C17A75BD6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1120558" y="2761359"/>
                      <a:ext cx="72868" cy="568836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187" name="直線接點 186">
                    <a:extLst>
                      <a:ext uri="{FF2B5EF4-FFF2-40B4-BE49-F238E27FC236}">
                        <a16:creationId xmlns:a16="http://schemas.microsoft.com/office/drawing/2014/main" id="{0D1E40BB-61E0-433C-6F05-3EAA82C388C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193426" y="3330195"/>
                    <a:ext cx="0" cy="34516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90" name="群組 189">
                  <a:extLst>
                    <a:ext uri="{FF2B5EF4-FFF2-40B4-BE49-F238E27FC236}">
                      <a16:creationId xmlns:a16="http://schemas.microsoft.com/office/drawing/2014/main" id="{C2B00D14-2EE6-8EA0-EBE1-1959AF90ABD4}"/>
                    </a:ext>
                  </a:extLst>
                </p:cNvPr>
                <p:cNvGrpSpPr/>
                <p:nvPr/>
              </p:nvGrpSpPr>
              <p:grpSpPr>
                <a:xfrm>
                  <a:off x="2054299" y="2460110"/>
                  <a:ext cx="707115" cy="1202792"/>
                  <a:chOff x="775053" y="2472563"/>
                  <a:chExt cx="707115" cy="1202792"/>
                </a:xfrm>
              </p:grpSpPr>
              <p:grpSp>
                <p:nvGrpSpPr>
                  <p:cNvPr id="191" name="群組 190">
                    <a:extLst>
                      <a:ext uri="{FF2B5EF4-FFF2-40B4-BE49-F238E27FC236}">
                        <a16:creationId xmlns:a16="http://schemas.microsoft.com/office/drawing/2014/main" id="{5E260B19-BCD6-ED27-3935-EE5DDCFBBB19}"/>
                      </a:ext>
                    </a:extLst>
                  </p:cNvPr>
                  <p:cNvGrpSpPr/>
                  <p:nvPr/>
                </p:nvGrpSpPr>
                <p:grpSpPr>
                  <a:xfrm>
                    <a:off x="775053" y="2472563"/>
                    <a:ext cx="707115" cy="857632"/>
                    <a:chOff x="775053" y="2472563"/>
                    <a:chExt cx="707115" cy="857632"/>
                  </a:xfrm>
                </p:grpSpPr>
                <p:cxnSp>
                  <p:nvCxnSpPr>
                    <p:cNvPr id="193" name="直線接點 192">
                      <a:extLst>
                        <a:ext uri="{FF2B5EF4-FFF2-40B4-BE49-F238E27FC236}">
                          <a16:creationId xmlns:a16="http://schemas.microsoft.com/office/drawing/2014/main" id="{A7CC6EAA-EF82-9BA6-B79C-3A1959A07C4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1193426" y="2888408"/>
                      <a:ext cx="288742" cy="441787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4" name="直線接點 193">
                      <a:extLst>
                        <a:ext uri="{FF2B5EF4-FFF2-40B4-BE49-F238E27FC236}">
                          <a16:creationId xmlns:a16="http://schemas.microsoft.com/office/drawing/2014/main" id="{6640FAD1-73F9-EE5D-8EEB-BA24176A5BD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775053" y="2472563"/>
                      <a:ext cx="418373" cy="857632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5" name="直線接點 194">
                      <a:extLst>
                        <a:ext uri="{FF2B5EF4-FFF2-40B4-BE49-F238E27FC236}">
                          <a16:creationId xmlns:a16="http://schemas.microsoft.com/office/drawing/2014/main" id="{BFB681C8-9251-0199-45B4-83CB04C43D2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937298" y="2629076"/>
                      <a:ext cx="256128" cy="701119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96" name="直線接點 195">
                      <a:extLst>
                        <a:ext uri="{FF2B5EF4-FFF2-40B4-BE49-F238E27FC236}">
                          <a16:creationId xmlns:a16="http://schemas.microsoft.com/office/drawing/2014/main" id="{31F78B31-121C-5554-F540-E1B3ED637AD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1120558" y="2761359"/>
                      <a:ext cx="72868" cy="568836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192" name="直線接點 191">
                    <a:extLst>
                      <a:ext uri="{FF2B5EF4-FFF2-40B4-BE49-F238E27FC236}">
                        <a16:creationId xmlns:a16="http://schemas.microsoft.com/office/drawing/2014/main" id="{D89E8FC3-0E14-8B29-43EF-695522C205F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193426" y="3330195"/>
                    <a:ext cx="0" cy="34516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97" name="群組 196">
                  <a:extLst>
                    <a:ext uri="{FF2B5EF4-FFF2-40B4-BE49-F238E27FC236}">
                      <a16:creationId xmlns:a16="http://schemas.microsoft.com/office/drawing/2014/main" id="{F182CF94-D991-26C4-C408-3111BE742579}"/>
                    </a:ext>
                  </a:extLst>
                </p:cNvPr>
                <p:cNvGrpSpPr/>
                <p:nvPr/>
              </p:nvGrpSpPr>
              <p:grpSpPr>
                <a:xfrm>
                  <a:off x="3535957" y="2467079"/>
                  <a:ext cx="707115" cy="1202792"/>
                  <a:chOff x="775053" y="2472563"/>
                  <a:chExt cx="707115" cy="1202792"/>
                </a:xfrm>
              </p:grpSpPr>
              <p:grpSp>
                <p:nvGrpSpPr>
                  <p:cNvPr id="198" name="群組 197">
                    <a:extLst>
                      <a:ext uri="{FF2B5EF4-FFF2-40B4-BE49-F238E27FC236}">
                        <a16:creationId xmlns:a16="http://schemas.microsoft.com/office/drawing/2014/main" id="{BC53B6D2-E975-0B65-B4AC-41670172D2CF}"/>
                      </a:ext>
                    </a:extLst>
                  </p:cNvPr>
                  <p:cNvGrpSpPr/>
                  <p:nvPr/>
                </p:nvGrpSpPr>
                <p:grpSpPr>
                  <a:xfrm>
                    <a:off x="775053" y="2472563"/>
                    <a:ext cx="707115" cy="857632"/>
                    <a:chOff x="775053" y="2472563"/>
                    <a:chExt cx="707115" cy="857632"/>
                  </a:xfrm>
                </p:grpSpPr>
                <p:cxnSp>
                  <p:nvCxnSpPr>
                    <p:cNvPr id="200" name="直線接點 199">
                      <a:extLst>
                        <a:ext uri="{FF2B5EF4-FFF2-40B4-BE49-F238E27FC236}">
                          <a16:creationId xmlns:a16="http://schemas.microsoft.com/office/drawing/2014/main" id="{D0ADA5F3-2E2E-FFD8-7FD2-68DFD8E6150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1193426" y="2888408"/>
                      <a:ext cx="288742" cy="441787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1" name="直線接點 200">
                      <a:extLst>
                        <a:ext uri="{FF2B5EF4-FFF2-40B4-BE49-F238E27FC236}">
                          <a16:creationId xmlns:a16="http://schemas.microsoft.com/office/drawing/2014/main" id="{AEFCAD0A-9D74-A515-44FB-FB0BD292236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775053" y="2472563"/>
                      <a:ext cx="418373" cy="857632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2" name="直線接點 201">
                      <a:extLst>
                        <a:ext uri="{FF2B5EF4-FFF2-40B4-BE49-F238E27FC236}">
                          <a16:creationId xmlns:a16="http://schemas.microsoft.com/office/drawing/2014/main" id="{1ABAFB35-4146-26DF-17AD-6F57B905B3B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937298" y="2629076"/>
                      <a:ext cx="256128" cy="701119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3" name="直線接點 202">
                      <a:extLst>
                        <a:ext uri="{FF2B5EF4-FFF2-40B4-BE49-F238E27FC236}">
                          <a16:creationId xmlns:a16="http://schemas.microsoft.com/office/drawing/2014/main" id="{31AE0891-5340-C2AF-8F67-ADFF5E4C693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1120558" y="2761359"/>
                      <a:ext cx="72868" cy="568836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199" name="直線接點 198">
                    <a:extLst>
                      <a:ext uri="{FF2B5EF4-FFF2-40B4-BE49-F238E27FC236}">
                        <a16:creationId xmlns:a16="http://schemas.microsoft.com/office/drawing/2014/main" id="{28034BCB-4E26-22C7-7B92-9EFFAEBB83D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193426" y="3330195"/>
                    <a:ext cx="0" cy="34516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04" name="群組 203">
                  <a:extLst>
                    <a:ext uri="{FF2B5EF4-FFF2-40B4-BE49-F238E27FC236}">
                      <a16:creationId xmlns:a16="http://schemas.microsoft.com/office/drawing/2014/main" id="{CA777EBC-8139-5EC2-FC3B-A9A2624AF58C}"/>
                    </a:ext>
                  </a:extLst>
                </p:cNvPr>
                <p:cNvGrpSpPr/>
                <p:nvPr/>
              </p:nvGrpSpPr>
              <p:grpSpPr>
                <a:xfrm>
                  <a:off x="5194377" y="2460110"/>
                  <a:ext cx="707115" cy="1202792"/>
                  <a:chOff x="775053" y="2472563"/>
                  <a:chExt cx="707115" cy="1202792"/>
                </a:xfrm>
              </p:grpSpPr>
              <p:grpSp>
                <p:nvGrpSpPr>
                  <p:cNvPr id="205" name="群組 204">
                    <a:extLst>
                      <a:ext uri="{FF2B5EF4-FFF2-40B4-BE49-F238E27FC236}">
                        <a16:creationId xmlns:a16="http://schemas.microsoft.com/office/drawing/2014/main" id="{7E7F5D3F-8BFE-5E71-F092-95683FB31127}"/>
                      </a:ext>
                    </a:extLst>
                  </p:cNvPr>
                  <p:cNvGrpSpPr/>
                  <p:nvPr/>
                </p:nvGrpSpPr>
                <p:grpSpPr>
                  <a:xfrm>
                    <a:off x="775053" y="2472563"/>
                    <a:ext cx="707115" cy="857632"/>
                    <a:chOff x="775053" y="2472563"/>
                    <a:chExt cx="707115" cy="857632"/>
                  </a:xfrm>
                </p:grpSpPr>
                <p:cxnSp>
                  <p:nvCxnSpPr>
                    <p:cNvPr id="207" name="直線接點 206">
                      <a:extLst>
                        <a:ext uri="{FF2B5EF4-FFF2-40B4-BE49-F238E27FC236}">
                          <a16:creationId xmlns:a16="http://schemas.microsoft.com/office/drawing/2014/main" id="{1FBF7DCF-EA44-E945-7B0F-6CEA2D736F9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1193426" y="2888408"/>
                      <a:ext cx="288742" cy="441787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8" name="直線接點 207">
                      <a:extLst>
                        <a:ext uri="{FF2B5EF4-FFF2-40B4-BE49-F238E27FC236}">
                          <a16:creationId xmlns:a16="http://schemas.microsoft.com/office/drawing/2014/main" id="{F5519612-BD62-973E-844E-28D26CA688A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775053" y="2472563"/>
                      <a:ext cx="418373" cy="857632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9" name="直線接點 208">
                      <a:extLst>
                        <a:ext uri="{FF2B5EF4-FFF2-40B4-BE49-F238E27FC236}">
                          <a16:creationId xmlns:a16="http://schemas.microsoft.com/office/drawing/2014/main" id="{DD154046-BC3B-5D59-E7D9-D2C33CA93D0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937298" y="2629076"/>
                      <a:ext cx="256128" cy="701119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10" name="直線接點 209">
                      <a:extLst>
                        <a:ext uri="{FF2B5EF4-FFF2-40B4-BE49-F238E27FC236}">
                          <a16:creationId xmlns:a16="http://schemas.microsoft.com/office/drawing/2014/main" id="{EA6F9447-8F29-72E6-1374-D27245F2909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1120558" y="2761359"/>
                      <a:ext cx="72868" cy="568836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206" name="直線接點 205">
                    <a:extLst>
                      <a:ext uri="{FF2B5EF4-FFF2-40B4-BE49-F238E27FC236}">
                        <a16:creationId xmlns:a16="http://schemas.microsoft.com/office/drawing/2014/main" id="{E563166B-2BB7-8E9A-A6D0-67115051C82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193426" y="3330195"/>
                    <a:ext cx="0" cy="34516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221" name="群組 220">
                <a:extLst>
                  <a:ext uri="{FF2B5EF4-FFF2-40B4-BE49-F238E27FC236}">
                    <a16:creationId xmlns:a16="http://schemas.microsoft.com/office/drawing/2014/main" id="{1AB4927E-B8BA-86E9-1A7C-8ED9F0D45B55}"/>
                  </a:ext>
                </a:extLst>
              </p:cNvPr>
              <p:cNvGrpSpPr/>
              <p:nvPr/>
            </p:nvGrpSpPr>
            <p:grpSpPr>
              <a:xfrm>
                <a:off x="1255878" y="4872017"/>
                <a:ext cx="4839969" cy="689547"/>
                <a:chOff x="1255878" y="4872017"/>
                <a:chExt cx="4839969" cy="689547"/>
              </a:xfrm>
            </p:grpSpPr>
            <p:sp>
              <p:nvSpPr>
                <p:cNvPr id="212" name="橢圓 211">
                  <a:extLst>
                    <a:ext uri="{FF2B5EF4-FFF2-40B4-BE49-F238E27FC236}">
                      <a16:creationId xmlns:a16="http://schemas.microsoft.com/office/drawing/2014/main" id="{11431317-B349-36BE-4903-99EFB1C85867}"/>
                    </a:ext>
                  </a:extLst>
                </p:cNvPr>
                <p:cNvSpPr/>
                <p:nvPr/>
              </p:nvSpPr>
              <p:spPr>
                <a:xfrm>
                  <a:off x="1255878" y="5199363"/>
                  <a:ext cx="360000" cy="360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dirty="0">
                      <a:solidFill>
                        <a:schemeClr val="tx1"/>
                      </a:solidFill>
                    </a:rPr>
                    <a:t>1</a:t>
                  </a:r>
                  <a:endParaRPr lang="zh-TW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3" name="橢圓 212">
                  <a:extLst>
                    <a:ext uri="{FF2B5EF4-FFF2-40B4-BE49-F238E27FC236}">
                      <a16:creationId xmlns:a16="http://schemas.microsoft.com/office/drawing/2014/main" id="{3049E11F-3207-EDE5-EAFE-D95C3AF1D429}"/>
                    </a:ext>
                  </a:extLst>
                </p:cNvPr>
                <p:cNvSpPr/>
                <p:nvPr/>
              </p:nvSpPr>
              <p:spPr>
                <a:xfrm>
                  <a:off x="2525607" y="5199363"/>
                  <a:ext cx="360000" cy="360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dirty="0">
                      <a:solidFill>
                        <a:schemeClr val="tx1"/>
                      </a:solidFill>
                    </a:rPr>
                    <a:t>2</a:t>
                  </a:r>
                  <a:endParaRPr lang="zh-TW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4" name="橢圓 213">
                  <a:extLst>
                    <a:ext uri="{FF2B5EF4-FFF2-40B4-BE49-F238E27FC236}">
                      <a16:creationId xmlns:a16="http://schemas.microsoft.com/office/drawing/2014/main" id="{01B20321-1A1B-0AAE-1CB3-072935AAE254}"/>
                    </a:ext>
                  </a:extLst>
                </p:cNvPr>
                <p:cNvSpPr/>
                <p:nvPr/>
              </p:nvSpPr>
              <p:spPr>
                <a:xfrm>
                  <a:off x="5735847" y="5201564"/>
                  <a:ext cx="360000" cy="360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dirty="0">
                      <a:solidFill>
                        <a:schemeClr val="tx1"/>
                      </a:solidFill>
                    </a:rPr>
                    <a:t>4</a:t>
                  </a:r>
                  <a:endParaRPr lang="zh-TW" alt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5" name="橢圓 214">
                  <a:extLst>
                    <a:ext uri="{FF2B5EF4-FFF2-40B4-BE49-F238E27FC236}">
                      <a16:creationId xmlns:a16="http://schemas.microsoft.com/office/drawing/2014/main" id="{C184DB9B-43F6-EAEF-9C18-A8349673F21C}"/>
                    </a:ext>
                  </a:extLst>
                </p:cNvPr>
                <p:cNvSpPr/>
                <p:nvPr/>
              </p:nvSpPr>
              <p:spPr>
                <a:xfrm>
                  <a:off x="4155336" y="5201564"/>
                  <a:ext cx="360000" cy="360000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dirty="0">
                      <a:solidFill>
                        <a:schemeClr val="tx1"/>
                      </a:solidFill>
                    </a:rPr>
                    <a:t>3</a:t>
                  </a:r>
                  <a:endParaRPr lang="zh-TW" altLang="en-US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216" name="直線接點 215">
                  <a:extLst>
                    <a:ext uri="{FF2B5EF4-FFF2-40B4-BE49-F238E27FC236}">
                      <a16:creationId xmlns:a16="http://schemas.microsoft.com/office/drawing/2014/main" id="{E542C5D8-956D-31AA-6D44-54AF636531C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430866" y="4872017"/>
                  <a:ext cx="0" cy="327346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8" name="直線接點 217">
                  <a:extLst>
                    <a:ext uri="{FF2B5EF4-FFF2-40B4-BE49-F238E27FC236}">
                      <a16:creationId xmlns:a16="http://schemas.microsoft.com/office/drawing/2014/main" id="{0914FE01-D405-5639-561D-DAFCCBCFD2F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705607" y="4872017"/>
                  <a:ext cx="0" cy="327346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9" name="直線接點 218">
                  <a:extLst>
                    <a:ext uri="{FF2B5EF4-FFF2-40B4-BE49-F238E27FC236}">
                      <a16:creationId xmlns:a16="http://schemas.microsoft.com/office/drawing/2014/main" id="{D168BC7B-6B0C-F04C-FB79-73EEA64ACD3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335336" y="4872017"/>
                  <a:ext cx="0" cy="327346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0" name="直線接點 219">
                  <a:extLst>
                    <a:ext uri="{FF2B5EF4-FFF2-40B4-BE49-F238E27FC236}">
                      <a16:creationId xmlns:a16="http://schemas.microsoft.com/office/drawing/2014/main" id="{0251D039-58CD-8965-849D-CFF26EB1602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915847" y="4872017"/>
                  <a:ext cx="0" cy="327346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25" name="群組 224">
              <a:extLst>
                <a:ext uri="{FF2B5EF4-FFF2-40B4-BE49-F238E27FC236}">
                  <a16:creationId xmlns:a16="http://schemas.microsoft.com/office/drawing/2014/main" id="{F0BB29CE-5103-B12E-1B6A-36EBE208B524}"/>
                </a:ext>
              </a:extLst>
            </p:cNvPr>
            <p:cNvGrpSpPr/>
            <p:nvPr/>
          </p:nvGrpSpPr>
          <p:grpSpPr>
            <a:xfrm>
              <a:off x="421108" y="1161561"/>
              <a:ext cx="975613" cy="4175860"/>
              <a:chOff x="421108" y="1161561"/>
              <a:chExt cx="975613" cy="4175860"/>
            </a:xfrm>
          </p:grpSpPr>
          <p:sp>
            <p:nvSpPr>
              <p:cNvPr id="223" name="文字方塊 222">
                <a:extLst>
                  <a:ext uri="{FF2B5EF4-FFF2-40B4-BE49-F238E27FC236}">
                    <a16:creationId xmlns:a16="http://schemas.microsoft.com/office/drawing/2014/main" id="{D7F00A91-289B-D2A1-E4FE-60A7FC2B4195}"/>
                  </a:ext>
                </a:extLst>
              </p:cNvPr>
              <p:cNvSpPr txBox="1"/>
              <p:nvPr/>
            </p:nvSpPr>
            <p:spPr>
              <a:xfrm>
                <a:off x="421109" y="4968089"/>
                <a:ext cx="88588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Inputs:</a:t>
                </a:r>
                <a:endParaRPr lang="zh-TW" altLang="en-US" dirty="0"/>
              </a:p>
            </p:txBody>
          </p:sp>
          <p:sp>
            <p:nvSpPr>
              <p:cNvPr id="224" name="文字方塊 223">
                <a:extLst>
                  <a:ext uri="{FF2B5EF4-FFF2-40B4-BE49-F238E27FC236}">
                    <a16:creationId xmlns:a16="http://schemas.microsoft.com/office/drawing/2014/main" id="{FBF99730-01F8-C895-9C6A-89E0B0010547}"/>
                  </a:ext>
                </a:extLst>
              </p:cNvPr>
              <p:cNvSpPr txBox="1"/>
              <p:nvPr/>
            </p:nvSpPr>
            <p:spPr>
              <a:xfrm>
                <a:off x="421108" y="1161561"/>
                <a:ext cx="9756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/>
                  <a:t>outputs:</a:t>
                </a:r>
                <a:endParaRPr lang="zh-TW" altLang="en-US" dirty="0"/>
              </a:p>
            </p:txBody>
          </p:sp>
        </p:grpSp>
      </p:grpSp>
      <p:sp>
        <p:nvSpPr>
          <p:cNvPr id="227" name="文字方塊 226">
            <a:extLst>
              <a:ext uri="{FF2B5EF4-FFF2-40B4-BE49-F238E27FC236}">
                <a16:creationId xmlns:a16="http://schemas.microsoft.com/office/drawing/2014/main" id="{2CECFF8A-4FE6-61B0-20C2-0CF6610D5910}"/>
              </a:ext>
            </a:extLst>
          </p:cNvPr>
          <p:cNvSpPr txBox="1"/>
          <p:nvPr/>
        </p:nvSpPr>
        <p:spPr>
          <a:xfrm>
            <a:off x="350282" y="5572343"/>
            <a:ext cx="114729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Head 1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對應標準的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next-token prediction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計算成本主要來自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shared trunk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，多個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prediction heads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的額外成本相對有限，因此可透過一次預測多個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future tokens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加速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decoding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0CB4890D-89D9-301A-3313-F16F05FC3CD0}"/>
              </a:ext>
            </a:extLst>
          </p:cNvPr>
          <p:cNvSpPr/>
          <p:nvPr/>
        </p:nvSpPr>
        <p:spPr>
          <a:xfrm>
            <a:off x="347472" y="474979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60707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Multi-Token Prediction Architecture</a:t>
            </a:r>
          </a:p>
        </p:txBody>
      </p:sp>
    </p:spTree>
    <p:extLst>
      <p:ext uri="{BB962C8B-B14F-4D97-AF65-F5344CB8AC3E}">
        <p14:creationId xmlns:p14="http://schemas.microsoft.com/office/powerpoint/2010/main" val="9868103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5EDE07AD-13A0-2A8E-3C07-2F85A1FA04F6}"/>
              </a:ext>
            </a:extLst>
          </p:cNvPr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5B839B"/>
          </a:solidFill>
          <a:ln w="12700">
            <a:solidFill>
              <a:srgbClr val="5B839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52C52477-F705-FD06-FEC3-A0873DE68E3E}"/>
              </a:ext>
            </a:extLst>
          </p:cNvPr>
          <p:cNvSpPr/>
          <p:nvPr/>
        </p:nvSpPr>
        <p:spPr>
          <a:xfrm>
            <a:off x="347472" y="27432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E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Part</a:t>
            </a:r>
            <a:r>
              <a:rPr lang="zh-TW" altLang="en-US" b="1" dirty="0">
                <a:solidFill>
                  <a:srgbClr val="1B2E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 </a:t>
            </a:r>
            <a:r>
              <a:rPr lang="en-US" b="1" dirty="0">
                <a:solidFill>
                  <a:srgbClr val="1B2E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2: Related Work</a:t>
            </a:r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A17979C9-87ED-7BE5-4E5E-D7FF91BCD99C}"/>
              </a:ext>
            </a:extLst>
          </p:cNvPr>
          <p:cNvSpPr/>
          <p:nvPr/>
        </p:nvSpPr>
        <p:spPr>
          <a:xfrm>
            <a:off x="347472" y="45720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60707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Baseline Training</a:t>
            </a:r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DE8C5B00-025E-1617-CD8C-31F3167B97CD}"/>
              </a:ext>
            </a:extLst>
          </p:cNvPr>
          <p:cNvSpPr/>
          <p:nvPr/>
        </p:nvSpPr>
        <p:spPr>
          <a:xfrm>
            <a:off x="347472" y="749808"/>
            <a:ext cx="11475720" cy="0"/>
          </a:xfrm>
          <a:prstGeom prst="line">
            <a:avLst/>
          </a:prstGeom>
          <a:noFill/>
          <a:ln w="12700">
            <a:solidFill>
              <a:srgbClr val="C8D6D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9E713648-263A-2A5F-5E28-13D213A06B89}"/>
              </a:ext>
            </a:extLst>
          </p:cNvPr>
          <p:cNvSpPr/>
          <p:nvPr/>
        </p:nvSpPr>
        <p:spPr>
          <a:xfrm>
            <a:off x="685800" y="868680"/>
            <a:ext cx="107899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>
              <a:buNone/>
            </a:pP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未加入 </a:t>
            </a:r>
            <a:r>
              <a:rPr 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consistency 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時，各 </a:t>
            </a:r>
            <a:r>
              <a:rPr 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heads 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僅針對對應的 </a:t>
            </a:r>
            <a:r>
              <a:rPr 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ground-truth token 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獨立計算 </a:t>
            </a:r>
            <a:r>
              <a:rPr 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CE loss。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43F953AE-D463-A63B-D541-D8DDDED1AC4A}"/>
              </a:ext>
            </a:extLst>
          </p:cNvPr>
          <p:cNvSpPr txBox="1"/>
          <p:nvPr/>
        </p:nvSpPr>
        <p:spPr>
          <a:xfrm>
            <a:off x="685800" y="5653884"/>
            <a:ext cx="97565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優點：架構簡單，與標準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LM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訓練流程相容。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限制：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Heads 2–K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的預測分布可能與較可靠的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Head 1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不一致。</a:t>
            </a:r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EE5BC8D6-A272-14A8-0DC0-D6539CA32A7A}"/>
              </a:ext>
            </a:extLst>
          </p:cNvPr>
          <p:cNvGrpSpPr/>
          <p:nvPr/>
        </p:nvGrpSpPr>
        <p:grpSpPr>
          <a:xfrm>
            <a:off x="793461" y="2624041"/>
            <a:ext cx="3756816" cy="2330611"/>
            <a:chOff x="997647" y="2064747"/>
            <a:chExt cx="3756816" cy="2330611"/>
          </a:xfrm>
        </p:grpSpPr>
        <p:sp>
          <p:nvSpPr>
            <p:cNvPr id="13" name="矩形: 圓角 12">
              <a:extLst>
                <a:ext uri="{FF2B5EF4-FFF2-40B4-BE49-F238E27FC236}">
                  <a16:creationId xmlns:a16="http://schemas.microsoft.com/office/drawing/2014/main" id="{EEEB34FA-2893-8F34-5B86-60AC2D5F2369}"/>
                </a:ext>
              </a:extLst>
            </p:cNvPr>
            <p:cNvSpPr/>
            <p:nvPr/>
          </p:nvSpPr>
          <p:spPr>
            <a:xfrm>
              <a:off x="997647" y="3738410"/>
              <a:ext cx="3756816" cy="656948"/>
            </a:xfrm>
            <a:prstGeom prst="round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Shared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14" name="群組 13">
              <a:extLst>
                <a:ext uri="{FF2B5EF4-FFF2-40B4-BE49-F238E27FC236}">
                  <a16:creationId xmlns:a16="http://schemas.microsoft.com/office/drawing/2014/main" id="{F25EA1F2-8DAC-339C-A2D6-1A2C0679D00D}"/>
                </a:ext>
              </a:extLst>
            </p:cNvPr>
            <p:cNvGrpSpPr/>
            <p:nvPr/>
          </p:nvGrpSpPr>
          <p:grpSpPr>
            <a:xfrm>
              <a:off x="997647" y="2064747"/>
              <a:ext cx="3756816" cy="1577318"/>
              <a:chOff x="997647" y="2064747"/>
              <a:chExt cx="3756816" cy="1577318"/>
            </a:xfrm>
          </p:grpSpPr>
          <p:grpSp>
            <p:nvGrpSpPr>
              <p:cNvPr id="15" name="群組 14">
                <a:extLst>
                  <a:ext uri="{FF2B5EF4-FFF2-40B4-BE49-F238E27FC236}">
                    <a16:creationId xmlns:a16="http://schemas.microsoft.com/office/drawing/2014/main" id="{8327126C-F05C-6139-F352-2A1E33C8C764}"/>
                  </a:ext>
                </a:extLst>
              </p:cNvPr>
              <p:cNvGrpSpPr/>
              <p:nvPr/>
            </p:nvGrpSpPr>
            <p:grpSpPr>
              <a:xfrm>
                <a:off x="997647" y="2064747"/>
                <a:ext cx="3756816" cy="1577318"/>
                <a:chOff x="1189606" y="2432455"/>
                <a:chExt cx="3756816" cy="1577318"/>
              </a:xfrm>
            </p:grpSpPr>
            <p:grpSp>
              <p:nvGrpSpPr>
                <p:cNvPr id="17" name="群組 16">
                  <a:extLst>
                    <a:ext uri="{FF2B5EF4-FFF2-40B4-BE49-F238E27FC236}">
                      <a16:creationId xmlns:a16="http://schemas.microsoft.com/office/drawing/2014/main" id="{7B2EC2A7-1768-8B1D-1FBC-399795A83D3D}"/>
                    </a:ext>
                  </a:extLst>
                </p:cNvPr>
                <p:cNvGrpSpPr/>
                <p:nvPr/>
              </p:nvGrpSpPr>
              <p:grpSpPr>
                <a:xfrm>
                  <a:off x="1189606" y="2432455"/>
                  <a:ext cx="3756816" cy="996039"/>
                  <a:chOff x="1189606" y="2646026"/>
                  <a:chExt cx="3756816" cy="996039"/>
                </a:xfrm>
              </p:grpSpPr>
              <p:sp>
                <p:nvSpPr>
                  <p:cNvPr id="24" name="矩形: 圓角 23">
                    <a:extLst>
                      <a:ext uri="{FF2B5EF4-FFF2-40B4-BE49-F238E27FC236}">
                        <a16:creationId xmlns:a16="http://schemas.microsoft.com/office/drawing/2014/main" id="{B173B7A4-8000-C810-1398-F89860E722FF}"/>
                      </a:ext>
                    </a:extLst>
                  </p:cNvPr>
                  <p:cNvSpPr/>
                  <p:nvPr/>
                </p:nvSpPr>
                <p:spPr>
                  <a:xfrm>
                    <a:off x="1189606" y="2654423"/>
                    <a:ext cx="1020934" cy="601586"/>
                  </a:xfrm>
                  <a:prstGeom prst="roundRect">
                    <a:avLst/>
                  </a:prstGeom>
                </p:spPr>
                <p:style>
                  <a:lnRef idx="2">
                    <a:schemeClr val="accent5">
                      <a:shade val="15000"/>
                    </a:schemeClr>
                  </a:lnRef>
                  <a:fillRef idx="1">
                    <a:schemeClr val="accent5"/>
                  </a:fillRef>
                  <a:effectRef idx="0">
                    <a:schemeClr val="accent5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dirty="0">
                        <a:solidFill>
                          <a:schemeClr val="tx1"/>
                        </a:solidFill>
                      </a:rPr>
                      <a:t>Head 1</a:t>
                    </a:r>
                    <a:endParaRPr lang="zh-TW" alt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5" name="矩形: 圓角 24">
                    <a:extLst>
                      <a:ext uri="{FF2B5EF4-FFF2-40B4-BE49-F238E27FC236}">
                        <a16:creationId xmlns:a16="http://schemas.microsoft.com/office/drawing/2014/main" id="{619F46DE-D676-1C33-B286-39B225C931E8}"/>
                      </a:ext>
                    </a:extLst>
                  </p:cNvPr>
                  <p:cNvSpPr/>
                  <p:nvPr/>
                </p:nvSpPr>
                <p:spPr>
                  <a:xfrm>
                    <a:off x="2336303" y="2648089"/>
                    <a:ext cx="1020934" cy="601586"/>
                  </a:xfrm>
                  <a:prstGeom prst="roundRect">
                    <a:avLst/>
                  </a:prstGeom>
                </p:spPr>
                <p:style>
                  <a:lnRef idx="2">
                    <a:schemeClr val="accent5">
                      <a:shade val="15000"/>
                    </a:schemeClr>
                  </a:lnRef>
                  <a:fillRef idx="1">
                    <a:schemeClr val="accent5"/>
                  </a:fillRef>
                  <a:effectRef idx="0">
                    <a:schemeClr val="accent5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dirty="0">
                        <a:solidFill>
                          <a:schemeClr val="tx1"/>
                        </a:solidFill>
                      </a:rPr>
                      <a:t>Head 2</a:t>
                    </a:r>
                    <a:endParaRPr lang="zh-TW" alt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6" name="文字方塊 25">
                    <a:extLst>
                      <a:ext uri="{FF2B5EF4-FFF2-40B4-BE49-F238E27FC236}">
                        <a16:creationId xmlns:a16="http://schemas.microsoft.com/office/drawing/2014/main" id="{6046C5E0-BCC3-CA6D-7CC1-1BF47A9731D9}"/>
                      </a:ext>
                    </a:extLst>
                  </p:cNvPr>
                  <p:cNvSpPr txBox="1"/>
                  <p:nvPr/>
                </p:nvSpPr>
                <p:spPr>
                  <a:xfrm>
                    <a:off x="3357237" y="2698844"/>
                    <a:ext cx="568251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lang="en-US" altLang="zh-TW" dirty="0"/>
                      <a:t>… …</a:t>
                    </a:r>
                    <a:endParaRPr lang="zh-TW" altLang="en-US" dirty="0"/>
                  </a:p>
                </p:txBody>
              </p:sp>
              <p:sp>
                <p:nvSpPr>
                  <p:cNvPr id="27" name="矩形: 圓角 26">
                    <a:extLst>
                      <a:ext uri="{FF2B5EF4-FFF2-40B4-BE49-F238E27FC236}">
                        <a16:creationId xmlns:a16="http://schemas.microsoft.com/office/drawing/2014/main" id="{6A293CB9-0883-B24B-BEB6-CD5DD3AF81B0}"/>
                      </a:ext>
                    </a:extLst>
                  </p:cNvPr>
                  <p:cNvSpPr/>
                  <p:nvPr/>
                </p:nvSpPr>
                <p:spPr>
                  <a:xfrm>
                    <a:off x="3925488" y="2646026"/>
                    <a:ext cx="1020934" cy="601586"/>
                  </a:xfrm>
                  <a:prstGeom prst="roundRect">
                    <a:avLst/>
                  </a:prstGeom>
                </p:spPr>
                <p:style>
                  <a:lnRef idx="2">
                    <a:schemeClr val="accent5">
                      <a:shade val="15000"/>
                    </a:schemeClr>
                  </a:lnRef>
                  <a:fillRef idx="1">
                    <a:schemeClr val="accent5"/>
                  </a:fillRef>
                  <a:effectRef idx="0">
                    <a:schemeClr val="accent5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dirty="0">
                        <a:solidFill>
                          <a:schemeClr val="tx1"/>
                        </a:solidFill>
                      </a:rPr>
                      <a:t>Head K</a:t>
                    </a:r>
                    <a:endParaRPr lang="zh-TW" alt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8" name="箭號: 上彎 27">
                    <a:extLst>
                      <a:ext uri="{FF2B5EF4-FFF2-40B4-BE49-F238E27FC236}">
                        <a16:creationId xmlns:a16="http://schemas.microsoft.com/office/drawing/2014/main" id="{FD61E278-2EA3-EA08-3AD8-A2C0549A8BC1}"/>
                      </a:ext>
                    </a:extLst>
                  </p:cNvPr>
                  <p:cNvSpPr/>
                  <p:nvPr/>
                </p:nvSpPr>
                <p:spPr>
                  <a:xfrm>
                    <a:off x="2210540" y="3256009"/>
                    <a:ext cx="602206" cy="386056"/>
                  </a:xfrm>
                  <a:prstGeom prst="bentUpArrow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2">
                      <a:shade val="15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29" name="箭號: 上彎 28">
                    <a:extLst>
                      <a:ext uri="{FF2B5EF4-FFF2-40B4-BE49-F238E27FC236}">
                        <a16:creationId xmlns:a16="http://schemas.microsoft.com/office/drawing/2014/main" id="{0D3C8C67-9A4D-6DEF-5A63-977BE7FEEA07}"/>
                      </a:ext>
                    </a:extLst>
                  </p:cNvPr>
                  <p:cNvSpPr/>
                  <p:nvPr/>
                </p:nvSpPr>
                <p:spPr>
                  <a:xfrm>
                    <a:off x="2548322" y="3256009"/>
                    <a:ext cx="1871282" cy="386056"/>
                  </a:xfrm>
                  <a:prstGeom prst="bentUpArrow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2">
                      <a:shade val="15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dirty="0"/>
                  </a:p>
                </p:txBody>
              </p:sp>
              <p:sp>
                <p:nvSpPr>
                  <p:cNvPr id="30" name="箭號: 上彎 29">
                    <a:extLst>
                      <a:ext uri="{FF2B5EF4-FFF2-40B4-BE49-F238E27FC236}">
                        <a16:creationId xmlns:a16="http://schemas.microsoft.com/office/drawing/2014/main" id="{309908DF-928A-44E2-F350-7DD4F4646E29}"/>
                      </a:ext>
                    </a:extLst>
                  </p:cNvPr>
                  <p:cNvSpPr/>
                  <p:nvPr/>
                </p:nvSpPr>
                <p:spPr>
                  <a:xfrm flipH="1">
                    <a:off x="1454462" y="3256009"/>
                    <a:ext cx="862088" cy="386056"/>
                  </a:xfrm>
                  <a:prstGeom prst="bentUpArrow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2">
                      <a:shade val="15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</p:grpSp>
            <p:grpSp>
              <p:nvGrpSpPr>
                <p:cNvPr id="18" name="群組 17">
                  <a:extLst>
                    <a:ext uri="{FF2B5EF4-FFF2-40B4-BE49-F238E27FC236}">
                      <a16:creationId xmlns:a16="http://schemas.microsoft.com/office/drawing/2014/main" id="{862D8634-4B05-C00E-7C28-29BFD742C411}"/>
                    </a:ext>
                  </a:extLst>
                </p:cNvPr>
                <p:cNvGrpSpPr/>
                <p:nvPr/>
              </p:nvGrpSpPr>
              <p:grpSpPr>
                <a:xfrm>
                  <a:off x="1733345" y="3068176"/>
                  <a:ext cx="2902647" cy="941597"/>
                  <a:chOff x="1653159" y="2701033"/>
                  <a:chExt cx="2902647" cy="941597"/>
                </a:xfrm>
              </p:grpSpPr>
              <p:sp>
                <p:nvSpPr>
                  <p:cNvPr id="19" name="矩形 18">
                    <a:extLst>
                      <a:ext uri="{FF2B5EF4-FFF2-40B4-BE49-F238E27FC236}">
                        <a16:creationId xmlns:a16="http://schemas.microsoft.com/office/drawing/2014/main" id="{7EFD04CA-935A-5775-973E-7A07CA80CC9F}"/>
                      </a:ext>
                    </a:extLst>
                  </p:cNvPr>
                  <p:cNvSpPr/>
                  <p:nvPr/>
                </p:nvSpPr>
                <p:spPr>
                  <a:xfrm>
                    <a:off x="1653159" y="2701033"/>
                    <a:ext cx="125767" cy="656948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20" name="矩形 19">
                    <a:extLst>
                      <a:ext uri="{FF2B5EF4-FFF2-40B4-BE49-F238E27FC236}">
                        <a16:creationId xmlns:a16="http://schemas.microsoft.com/office/drawing/2014/main" id="{F791B0EA-285F-F9AD-5704-157CE644FDA3}"/>
                      </a:ext>
                    </a:extLst>
                  </p:cNvPr>
                  <p:cNvSpPr/>
                  <p:nvPr/>
                </p:nvSpPr>
                <p:spPr>
                  <a:xfrm>
                    <a:off x="2849206" y="2701033"/>
                    <a:ext cx="125767" cy="656948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21" name="矩形 20">
                    <a:extLst>
                      <a:ext uri="{FF2B5EF4-FFF2-40B4-BE49-F238E27FC236}">
                        <a16:creationId xmlns:a16="http://schemas.microsoft.com/office/drawing/2014/main" id="{73B1DDA4-808F-230D-9AA2-D39F2B6E7902}"/>
                      </a:ext>
                    </a:extLst>
                  </p:cNvPr>
                  <p:cNvSpPr/>
                  <p:nvPr/>
                </p:nvSpPr>
                <p:spPr>
                  <a:xfrm>
                    <a:off x="4430039" y="2701033"/>
                    <a:ext cx="125767" cy="656948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/>
                  </a:p>
                </p:txBody>
              </p:sp>
              <p:sp>
                <p:nvSpPr>
                  <p:cNvPr id="22" name="矩形 21">
                    <a:extLst>
                      <a:ext uri="{FF2B5EF4-FFF2-40B4-BE49-F238E27FC236}">
                        <a16:creationId xmlns:a16="http://schemas.microsoft.com/office/drawing/2014/main" id="{BDC62DA5-8AE3-5A36-3901-EADC980912E7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2972039" y="1899981"/>
                    <a:ext cx="144000" cy="2772000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dirty="0"/>
                  </a:p>
                </p:txBody>
              </p:sp>
              <p:sp>
                <p:nvSpPr>
                  <p:cNvPr id="23" name="箭號: 向下 22">
                    <a:extLst>
                      <a:ext uri="{FF2B5EF4-FFF2-40B4-BE49-F238E27FC236}">
                        <a16:creationId xmlns:a16="http://schemas.microsoft.com/office/drawing/2014/main" id="{9F8662B1-484F-49DB-2891-BB9F91B1B154}"/>
                      </a:ext>
                    </a:extLst>
                  </p:cNvPr>
                  <p:cNvSpPr/>
                  <p:nvPr/>
                </p:nvSpPr>
                <p:spPr>
                  <a:xfrm>
                    <a:off x="2431366" y="3227138"/>
                    <a:ext cx="190347" cy="415492"/>
                  </a:xfrm>
                  <a:prstGeom prst="downArrow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dirty="0"/>
                  </a:p>
                </p:txBody>
              </p:sp>
            </p:grpSp>
          </p:grpSp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C64C7616-92D2-7F7C-5687-95055867C59C}"/>
                  </a:ext>
                </a:extLst>
              </p:cNvPr>
              <p:cNvSpPr/>
              <p:nvPr/>
            </p:nvSpPr>
            <p:spPr>
              <a:xfrm>
                <a:off x="2124589" y="3008203"/>
                <a:ext cx="125767" cy="61200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</p:grpSp>
      <p:grpSp>
        <p:nvGrpSpPr>
          <p:cNvPr id="31" name="群組 30">
            <a:extLst>
              <a:ext uri="{FF2B5EF4-FFF2-40B4-BE49-F238E27FC236}">
                <a16:creationId xmlns:a16="http://schemas.microsoft.com/office/drawing/2014/main" id="{13D76BE9-0FE7-0261-9583-71484387C7FE}"/>
              </a:ext>
            </a:extLst>
          </p:cNvPr>
          <p:cNvGrpSpPr/>
          <p:nvPr/>
        </p:nvGrpSpPr>
        <p:grpSpPr>
          <a:xfrm>
            <a:off x="661764" y="1524859"/>
            <a:ext cx="3964602" cy="1067017"/>
            <a:chOff x="661764" y="1524859"/>
            <a:chExt cx="3964602" cy="1067017"/>
          </a:xfrm>
        </p:grpSpPr>
        <p:sp>
          <p:nvSpPr>
            <p:cNvPr id="32" name="矩形: 圓角 31">
              <a:extLst>
                <a:ext uri="{FF2B5EF4-FFF2-40B4-BE49-F238E27FC236}">
                  <a16:creationId xmlns:a16="http://schemas.microsoft.com/office/drawing/2014/main" id="{65EA22F7-442C-2F9C-57CB-552699B66B86}"/>
                </a:ext>
              </a:extLst>
            </p:cNvPr>
            <p:cNvSpPr/>
            <p:nvPr/>
          </p:nvSpPr>
          <p:spPr>
            <a:xfrm>
              <a:off x="661764" y="1526922"/>
              <a:ext cx="1143293" cy="601586"/>
            </a:xfrm>
            <a:prstGeom prst="round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CE</a:t>
              </a:r>
              <a:r>
                <a:rPr lang="zh-TW" altLang="en-US" dirty="0">
                  <a:solidFill>
                    <a:schemeClr val="tx1"/>
                  </a:solidFill>
                </a:rPr>
                <a:t> </a:t>
              </a:r>
              <a:r>
                <a:rPr lang="en-US" altLang="zh-TW" dirty="0">
                  <a:solidFill>
                    <a:schemeClr val="tx1"/>
                  </a:solidFill>
                </a:rPr>
                <a:t>Loss 1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3" name="矩形: 圓角 32">
              <a:extLst>
                <a:ext uri="{FF2B5EF4-FFF2-40B4-BE49-F238E27FC236}">
                  <a16:creationId xmlns:a16="http://schemas.microsoft.com/office/drawing/2014/main" id="{505EA2DC-C2D1-FE0A-88F7-BE18740E4005}"/>
                </a:ext>
              </a:extLst>
            </p:cNvPr>
            <p:cNvSpPr/>
            <p:nvPr/>
          </p:nvSpPr>
          <p:spPr>
            <a:xfrm>
              <a:off x="1895754" y="1524859"/>
              <a:ext cx="1143292" cy="601586"/>
            </a:xfrm>
            <a:prstGeom prst="round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CE</a:t>
              </a:r>
              <a:r>
                <a:rPr lang="zh-TW" altLang="en-US" dirty="0">
                  <a:solidFill>
                    <a:schemeClr val="tx1"/>
                  </a:solidFill>
                </a:rPr>
                <a:t> </a:t>
              </a:r>
              <a:r>
                <a:rPr lang="en-US" altLang="zh-TW" dirty="0">
                  <a:solidFill>
                    <a:schemeClr val="tx1"/>
                  </a:solidFill>
                </a:rPr>
                <a:t>Loss 2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4" name="文字方塊 33">
              <a:extLst>
                <a:ext uri="{FF2B5EF4-FFF2-40B4-BE49-F238E27FC236}">
                  <a16:creationId xmlns:a16="http://schemas.microsoft.com/office/drawing/2014/main" id="{7F6E45B6-37AF-45B1-B793-2AB3359CBEBF}"/>
                </a:ext>
              </a:extLst>
            </p:cNvPr>
            <p:cNvSpPr txBox="1"/>
            <p:nvPr/>
          </p:nvSpPr>
          <p:spPr>
            <a:xfrm>
              <a:off x="2983065" y="1577676"/>
              <a:ext cx="568251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TW" dirty="0"/>
                <a:t>… …</a:t>
              </a:r>
              <a:endParaRPr lang="zh-TW" altLang="en-US" dirty="0"/>
            </a:p>
          </p:txBody>
        </p:sp>
        <p:sp>
          <p:nvSpPr>
            <p:cNvPr id="35" name="矩形: 圓角 34">
              <a:extLst>
                <a:ext uri="{FF2B5EF4-FFF2-40B4-BE49-F238E27FC236}">
                  <a16:creationId xmlns:a16="http://schemas.microsoft.com/office/drawing/2014/main" id="{A81DBE75-D33A-0DFE-BF8A-1D4C16C3502E}"/>
                </a:ext>
              </a:extLst>
            </p:cNvPr>
            <p:cNvSpPr/>
            <p:nvPr/>
          </p:nvSpPr>
          <p:spPr>
            <a:xfrm>
              <a:off x="3512991" y="1524859"/>
              <a:ext cx="1113375" cy="601586"/>
            </a:xfrm>
            <a:prstGeom prst="round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chemeClr val="tx1"/>
                  </a:solidFill>
                </a:rPr>
                <a:t>CE</a:t>
              </a:r>
              <a:r>
                <a:rPr lang="zh-TW" altLang="en-US" dirty="0">
                  <a:solidFill>
                    <a:schemeClr val="tx1"/>
                  </a:solidFill>
                </a:rPr>
                <a:t> </a:t>
              </a:r>
              <a:r>
                <a:rPr lang="en-US" altLang="zh-TW" dirty="0">
                  <a:solidFill>
                    <a:schemeClr val="tx1"/>
                  </a:solidFill>
                </a:rPr>
                <a:t>Loss K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36" name="群組 35">
              <a:extLst>
                <a:ext uri="{FF2B5EF4-FFF2-40B4-BE49-F238E27FC236}">
                  <a16:creationId xmlns:a16="http://schemas.microsoft.com/office/drawing/2014/main" id="{54D837D7-DCA7-F910-A693-EEDD0D295477}"/>
                </a:ext>
              </a:extLst>
            </p:cNvPr>
            <p:cNvGrpSpPr/>
            <p:nvPr/>
          </p:nvGrpSpPr>
          <p:grpSpPr>
            <a:xfrm>
              <a:off x="1064954" y="2205820"/>
              <a:ext cx="408075" cy="386056"/>
              <a:chOff x="1064954" y="2205820"/>
              <a:chExt cx="408075" cy="386056"/>
            </a:xfrm>
          </p:grpSpPr>
          <p:sp>
            <p:nvSpPr>
              <p:cNvPr id="43" name="箭號: 向上 42">
                <a:extLst>
                  <a:ext uri="{FF2B5EF4-FFF2-40B4-BE49-F238E27FC236}">
                    <a16:creationId xmlns:a16="http://schemas.microsoft.com/office/drawing/2014/main" id="{FEC7BD18-E720-D70F-AFDF-60548FF14174}"/>
                  </a:ext>
                </a:extLst>
              </p:cNvPr>
              <p:cNvSpPr/>
              <p:nvPr/>
            </p:nvSpPr>
            <p:spPr>
              <a:xfrm>
                <a:off x="1064954" y="2205820"/>
                <a:ext cx="144000" cy="386056"/>
              </a:xfrm>
              <a:prstGeom prst="upArrow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4" name="箭號: 向上 43">
                <a:extLst>
                  <a:ext uri="{FF2B5EF4-FFF2-40B4-BE49-F238E27FC236}">
                    <a16:creationId xmlns:a16="http://schemas.microsoft.com/office/drawing/2014/main" id="{9680672D-4AB8-E922-B110-7D75E774E36D}"/>
                  </a:ext>
                </a:extLst>
              </p:cNvPr>
              <p:cNvSpPr/>
              <p:nvPr/>
            </p:nvSpPr>
            <p:spPr>
              <a:xfrm flipV="1">
                <a:off x="1329029" y="2205820"/>
                <a:ext cx="144000" cy="386056"/>
              </a:xfrm>
              <a:prstGeom prst="upArrow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37" name="群組 36">
              <a:extLst>
                <a:ext uri="{FF2B5EF4-FFF2-40B4-BE49-F238E27FC236}">
                  <a16:creationId xmlns:a16="http://schemas.microsoft.com/office/drawing/2014/main" id="{72F289FD-26C5-E706-5894-952AAC7CD54E}"/>
                </a:ext>
              </a:extLst>
            </p:cNvPr>
            <p:cNvGrpSpPr/>
            <p:nvPr/>
          </p:nvGrpSpPr>
          <p:grpSpPr>
            <a:xfrm>
              <a:off x="2250939" y="2205820"/>
              <a:ext cx="408075" cy="386056"/>
              <a:chOff x="1064954" y="2205820"/>
              <a:chExt cx="408075" cy="386056"/>
            </a:xfrm>
          </p:grpSpPr>
          <p:sp>
            <p:nvSpPr>
              <p:cNvPr id="41" name="箭號: 向上 40">
                <a:extLst>
                  <a:ext uri="{FF2B5EF4-FFF2-40B4-BE49-F238E27FC236}">
                    <a16:creationId xmlns:a16="http://schemas.microsoft.com/office/drawing/2014/main" id="{443D3998-6FE4-37C9-2B80-CCB1650B7F08}"/>
                  </a:ext>
                </a:extLst>
              </p:cNvPr>
              <p:cNvSpPr/>
              <p:nvPr/>
            </p:nvSpPr>
            <p:spPr>
              <a:xfrm>
                <a:off x="1064954" y="2205820"/>
                <a:ext cx="144000" cy="386056"/>
              </a:xfrm>
              <a:prstGeom prst="upArrow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2" name="箭號: 向上 41">
                <a:extLst>
                  <a:ext uri="{FF2B5EF4-FFF2-40B4-BE49-F238E27FC236}">
                    <a16:creationId xmlns:a16="http://schemas.microsoft.com/office/drawing/2014/main" id="{2663853C-C3D1-FD9F-F005-EF522E23CD6A}"/>
                  </a:ext>
                </a:extLst>
              </p:cNvPr>
              <p:cNvSpPr/>
              <p:nvPr/>
            </p:nvSpPr>
            <p:spPr>
              <a:xfrm flipV="1">
                <a:off x="1329029" y="2205820"/>
                <a:ext cx="144000" cy="386056"/>
              </a:xfrm>
              <a:prstGeom prst="upArrow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38" name="群組 37">
              <a:extLst>
                <a:ext uri="{FF2B5EF4-FFF2-40B4-BE49-F238E27FC236}">
                  <a16:creationId xmlns:a16="http://schemas.microsoft.com/office/drawing/2014/main" id="{463A5FD0-5EEB-A66E-2930-C6B6DF801E6E}"/>
                </a:ext>
              </a:extLst>
            </p:cNvPr>
            <p:cNvGrpSpPr/>
            <p:nvPr/>
          </p:nvGrpSpPr>
          <p:grpSpPr>
            <a:xfrm>
              <a:off x="3910042" y="2182215"/>
              <a:ext cx="408075" cy="386056"/>
              <a:chOff x="1064954" y="2205820"/>
              <a:chExt cx="408075" cy="386056"/>
            </a:xfrm>
          </p:grpSpPr>
          <p:sp>
            <p:nvSpPr>
              <p:cNvPr id="39" name="箭號: 向上 38">
                <a:extLst>
                  <a:ext uri="{FF2B5EF4-FFF2-40B4-BE49-F238E27FC236}">
                    <a16:creationId xmlns:a16="http://schemas.microsoft.com/office/drawing/2014/main" id="{EE5611D3-FCC3-9C4B-5CA6-93F51C27918A}"/>
                  </a:ext>
                </a:extLst>
              </p:cNvPr>
              <p:cNvSpPr/>
              <p:nvPr/>
            </p:nvSpPr>
            <p:spPr>
              <a:xfrm>
                <a:off x="1064954" y="2205820"/>
                <a:ext cx="144000" cy="386056"/>
              </a:xfrm>
              <a:prstGeom prst="upArrow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0" name="箭號: 向上 39">
                <a:extLst>
                  <a:ext uri="{FF2B5EF4-FFF2-40B4-BE49-F238E27FC236}">
                    <a16:creationId xmlns:a16="http://schemas.microsoft.com/office/drawing/2014/main" id="{1687B27C-A8CD-8E73-4F2F-1264259F7EC1}"/>
                  </a:ext>
                </a:extLst>
              </p:cNvPr>
              <p:cNvSpPr/>
              <p:nvPr/>
            </p:nvSpPr>
            <p:spPr>
              <a:xfrm flipV="1">
                <a:off x="1329029" y="2205820"/>
                <a:ext cx="144000" cy="386056"/>
              </a:xfrm>
              <a:prstGeom prst="upArrow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</p:grpSp>
      <p:grpSp>
        <p:nvGrpSpPr>
          <p:cNvPr id="45" name="群組 44">
            <a:extLst>
              <a:ext uri="{FF2B5EF4-FFF2-40B4-BE49-F238E27FC236}">
                <a16:creationId xmlns:a16="http://schemas.microsoft.com/office/drawing/2014/main" id="{7D097BA6-9A0F-90AB-2319-26C147C59566}"/>
              </a:ext>
            </a:extLst>
          </p:cNvPr>
          <p:cNvGrpSpPr/>
          <p:nvPr/>
        </p:nvGrpSpPr>
        <p:grpSpPr>
          <a:xfrm>
            <a:off x="4729325" y="1162178"/>
            <a:ext cx="2441359" cy="1200329"/>
            <a:chOff x="4831952" y="1346844"/>
            <a:chExt cx="2441359" cy="1200329"/>
          </a:xfrm>
        </p:grpSpPr>
        <p:sp>
          <p:nvSpPr>
            <p:cNvPr id="46" name="文字方塊 45">
              <a:extLst>
                <a:ext uri="{FF2B5EF4-FFF2-40B4-BE49-F238E27FC236}">
                  <a16:creationId xmlns:a16="http://schemas.microsoft.com/office/drawing/2014/main" id="{373B616B-0AC5-5E9D-DDC0-AEE7A0E5554C}"/>
                </a:ext>
              </a:extLst>
            </p:cNvPr>
            <p:cNvSpPr txBox="1"/>
            <p:nvPr/>
          </p:nvSpPr>
          <p:spPr>
            <a:xfrm>
              <a:off x="4831952" y="1346844"/>
              <a:ext cx="2441359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300000"/>
                </a:lnSpc>
                <a:buFont typeface="Arial" panose="020B0604020202020204" pitchFamily="34" charset="0"/>
                <a:buChar char="•"/>
              </a:pPr>
              <a:r>
                <a:rPr lang="en-US" altLang="zh-TW" dirty="0"/>
                <a:t>Forward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TW" dirty="0"/>
                <a:t>Backward</a:t>
              </a:r>
            </a:p>
          </p:txBody>
        </p:sp>
        <p:sp>
          <p:nvSpPr>
            <p:cNvPr id="47" name="箭號: 向上 46">
              <a:extLst>
                <a:ext uri="{FF2B5EF4-FFF2-40B4-BE49-F238E27FC236}">
                  <a16:creationId xmlns:a16="http://schemas.microsoft.com/office/drawing/2014/main" id="{1CA5CDD3-E55D-02F4-368B-1D7450E7C482}"/>
                </a:ext>
              </a:extLst>
            </p:cNvPr>
            <p:cNvSpPr/>
            <p:nvPr/>
          </p:nvSpPr>
          <p:spPr>
            <a:xfrm>
              <a:off x="4879090" y="1688203"/>
              <a:ext cx="215809" cy="386056"/>
            </a:xfrm>
            <a:prstGeom prst="upArrow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8" name="箭號: 向上 47">
              <a:extLst>
                <a:ext uri="{FF2B5EF4-FFF2-40B4-BE49-F238E27FC236}">
                  <a16:creationId xmlns:a16="http://schemas.microsoft.com/office/drawing/2014/main" id="{4437B719-3AB2-6CE3-EA5D-4B318D7BF182}"/>
                </a:ext>
              </a:extLst>
            </p:cNvPr>
            <p:cNvSpPr/>
            <p:nvPr/>
          </p:nvSpPr>
          <p:spPr>
            <a:xfrm>
              <a:off x="4880218" y="2131127"/>
              <a:ext cx="215809" cy="386056"/>
            </a:xfrm>
            <a:prstGeom prst="upArrow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49" name="矩形: 圓角 48">
            <a:extLst>
              <a:ext uri="{FF2B5EF4-FFF2-40B4-BE49-F238E27FC236}">
                <a16:creationId xmlns:a16="http://schemas.microsoft.com/office/drawing/2014/main" id="{7B90194D-DCB9-8D91-AFB9-EFC5E82628A7}"/>
              </a:ext>
            </a:extLst>
          </p:cNvPr>
          <p:cNvSpPr/>
          <p:nvPr/>
        </p:nvSpPr>
        <p:spPr>
          <a:xfrm>
            <a:off x="6137598" y="1503537"/>
            <a:ext cx="4279037" cy="2991957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TW" dirty="0"/>
              <a:t>z = </a:t>
            </a:r>
            <a:r>
              <a:rPr lang="en-US" altLang="zh-TW" dirty="0" err="1"/>
              <a:t>model.shared</a:t>
            </a:r>
            <a:r>
              <a:rPr lang="en-US" altLang="zh-TW" dirty="0"/>
              <a:t>(x)</a:t>
            </a:r>
          </a:p>
          <a:p>
            <a:r>
              <a:rPr lang="en-US" altLang="zh-TW" dirty="0"/>
              <a:t>d = </a:t>
            </a:r>
            <a:r>
              <a:rPr lang="en-US" altLang="zh-TW" dirty="0" err="1"/>
              <a:t>z.detach</a:t>
            </a:r>
            <a:r>
              <a:rPr lang="en-US" altLang="zh-TW" dirty="0"/>
              <a:t>()</a:t>
            </a:r>
          </a:p>
          <a:p>
            <a:r>
              <a:rPr lang="en-US" altLang="zh-TW" dirty="0" err="1"/>
              <a:t>d.requires_grad</a:t>
            </a:r>
            <a:r>
              <a:rPr lang="en-US" altLang="zh-TW" dirty="0"/>
              <a:t> = True</a:t>
            </a:r>
          </a:p>
          <a:p>
            <a:endParaRPr lang="en-US" altLang="zh-TW" dirty="0"/>
          </a:p>
          <a:p>
            <a:r>
              <a:rPr lang="en-US" altLang="zh-TW" dirty="0"/>
              <a:t>for </a:t>
            </a:r>
            <a:r>
              <a:rPr lang="en-US" altLang="zh-TW" dirty="0" err="1"/>
              <a:t>i</a:t>
            </a:r>
            <a:r>
              <a:rPr lang="en-US" altLang="zh-TW" dirty="0"/>
              <a:t> in range(n):</a:t>
            </a:r>
          </a:p>
          <a:p>
            <a:r>
              <a:rPr lang="en-US" altLang="zh-TW" dirty="0"/>
              <a:t>    p = </a:t>
            </a:r>
            <a:r>
              <a:rPr lang="en-US" altLang="zh-TW" dirty="0" err="1"/>
              <a:t>model.head</a:t>
            </a:r>
            <a:r>
              <a:rPr lang="en-US" altLang="zh-TW" dirty="0"/>
              <a:t>[</a:t>
            </a:r>
            <a:r>
              <a:rPr lang="en-US" altLang="zh-TW" dirty="0" err="1"/>
              <a:t>i</a:t>
            </a:r>
            <a:r>
              <a:rPr lang="en-US" altLang="zh-TW" dirty="0"/>
              <a:t>](d)</a:t>
            </a:r>
          </a:p>
          <a:p>
            <a:r>
              <a:rPr lang="en-US" altLang="zh-TW" dirty="0"/>
              <a:t>    loss(p, y[</a:t>
            </a:r>
            <a:r>
              <a:rPr lang="en-US" altLang="zh-TW" dirty="0" err="1"/>
              <a:t>i</a:t>
            </a:r>
            <a:r>
              <a:rPr lang="en-US" altLang="zh-TW" dirty="0"/>
              <a:t>]).backward()</a:t>
            </a:r>
          </a:p>
          <a:p>
            <a:r>
              <a:rPr lang="en-US" altLang="zh-TW" dirty="0"/>
              <a:t> </a:t>
            </a:r>
          </a:p>
          <a:p>
            <a:r>
              <a:rPr lang="en-US" altLang="zh-TW" dirty="0" err="1"/>
              <a:t>z.backward</a:t>
            </a:r>
            <a:r>
              <a:rPr lang="en-US" altLang="zh-TW" dirty="0"/>
              <a:t>(gradient=</a:t>
            </a:r>
            <a:r>
              <a:rPr lang="en-US" altLang="zh-TW" dirty="0" err="1"/>
              <a:t>d.grad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F2E8ADC-552C-60BD-F702-F6CAED0F7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611112"/>
            <a:ext cx="2743200" cy="265224"/>
          </a:xfrm>
        </p:spPr>
        <p:txBody>
          <a:bodyPr/>
          <a:lstStyle/>
          <a:p>
            <a:fld id="{A98399F2-4B7C-4808-8B27-A13C76E6A9FD}" type="slidenum">
              <a:rPr lang="zh-TW" altLang="en-US" smtClean="0">
                <a:solidFill>
                  <a:schemeClr val="bg2"/>
                </a:solidFill>
              </a:rPr>
              <a:t>10</a:t>
            </a:fld>
            <a:endParaRPr lang="zh-TW" altLang="en-US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99792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D1FF0A30-0594-EB2E-C03B-D6ECD1F5815C}"/>
              </a:ext>
            </a:extLst>
          </p:cNvPr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5B839B"/>
          </a:solidFill>
          <a:ln w="12700">
            <a:solidFill>
              <a:srgbClr val="5B839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2EE5B06C-E6D2-FD6A-7058-EE921DC7B422}"/>
              </a:ext>
            </a:extLst>
          </p:cNvPr>
          <p:cNvSpPr/>
          <p:nvPr/>
        </p:nvSpPr>
        <p:spPr>
          <a:xfrm>
            <a:off x="0" y="2496312"/>
            <a:ext cx="12191695" cy="676656"/>
          </a:xfrm>
          <a:prstGeom prst="rect">
            <a:avLst/>
          </a:prstGeom>
          <a:solidFill>
            <a:srgbClr val="5B839B"/>
          </a:solidFill>
          <a:ln w="12700">
            <a:solidFill>
              <a:srgbClr val="5B839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C4C5F3F7-6909-D322-DB3C-EEFA70F79481}"/>
              </a:ext>
            </a:extLst>
          </p:cNvPr>
          <p:cNvSpPr/>
          <p:nvPr/>
        </p:nvSpPr>
        <p:spPr>
          <a:xfrm>
            <a:off x="457200" y="2660904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Proposed Method</a:t>
            </a:r>
            <a:endParaRPr lang="en-US" sz="20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0FE6882-B7B0-F2AF-719F-B27BC5D80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611112"/>
            <a:ext cx="2743200" cy="246888"/>
          </a:xfrm>
        </p:spPr>
        <p:txBody>
          <a:bodyPr/>
          <a:lstStyle/>
          <a:p>
            <a:fld id="{A98399F2-4B7C-4808-8B27-A13C76E6A9FD}" type="slidenum">
              <a:rPr lang="zh-TW" altLang="en-US" smtClean="0">
                <a:solidFill>
                  <a:schemeClr val="bg2"/>
                </a:solidFill>
              </a:rPr>
              <a:t>11</a:t>
            </a:fld>
            <a:endParaRPr lang="zh-TW" altLang="en-US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52327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5F3ECEC0-B1EA-EE1E-1D3A-F58873052B7F}"/>
              </a:ext>
            </a:extLst>
          </p:cNvPr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5B839B"/>
          </a:solidFill>
          <a:ln w="12700">
            <a:solidFill>
              <a:srgbClr val="5B839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318ED0CB-9DF7-A8D5-AF9A-6A60ABE2765D}"/>
              </a:ext>
            </a:extLst>
          </p:cNvPr>
          <p:cNvSpPr/>
          <p:nvPr/>
        </p:nvSpPr>
        <p:spPr>
          <a:xfrm>
            <a:off x="347472" y="27432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E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Part</a:t>
            </a:r>
            <a:r>
              <a:rPr lang="zh-TW" altLang="en-US" b="1" dirty="0">
                <a:solidFill>
                  <a:srgbClr val="1B2E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 </a:t>
            </a:r>
            <a:r>
              <a:rPr lang="en-US" b="1" dirty="0">
                <a:solidFill>
                  <a:srgbClr val="1B2E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3: Proposed Method</a:t>
            </a:r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2D811688-07B4-BC53-3A07-4C16D79B54C7}"/>
              </a:ext>
            </a:extLst>
          </p:cNvPr>
          <p:cNvSpPr/>
          <p:nvPr/>
        </p:nvSpPr>
        <p:spPr>
          <a:xfrm>
            <a:off x="347472" y="45720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0707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Selective Distribution Consistency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3BB07815-CEB4-7046-D8A1-801EBA09383D}"/>
              </a:ext>
            </a:extLst>
          </p:cNvPr>
          <p:cNvSpPr/>
          <p:nvPr/>
        </p:nvSpPr>
        <p:spPr>
          <a:xfrm>
            <a:off x="347472" y="749808"/>
            <a:ext cx="11475720" cy="0"/>
          </a:xfrm>
          <a:prstGeom prst="line">
            <a:avLst/>
          </a:prstGeom>
          <a:noFill/>
          <a:ln w="12700">
            <a:solidFill>
              <a:srgbClr val="C8D6D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BD63D5E1-9012-11EC-4EE2-E4FFC9B1F1E7}"/>
              </a:ext>
            </a:extLst>
          </p:cNvPr>
          <p:cNvSpPr txBox="1"/>
          <p:nvPr/>
        </p:nvSpPr>
        <p:spPr>
          <a:xfrm>
            <a:off x="347472" y="5716106"/>
            <a:ext cx="113042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Confidence threshold </a:t>
            </a:r>
            <a:r>
              <a:rPr lang="el-GR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τ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決定哪些低信心度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tokens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會被遮罩。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若 </a:t>
            </a:r>
            <a:r>
              <a:rPr lang="el-GR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τ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設定過高，過多低信心度位置將被排除，使訓練過度集中於高信心度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tokens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，可能導致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Oracle PPL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與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draft acceptance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表現惡化，並使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Generative PPL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與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repetition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上升。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: 圓角 10">
                <a:extLst>
                  <a:ext uri="{FF2B5EF4-FFF2-40B4-BE49-F238E27FC236}">
                    <a16:creationId xmlns:a16="http://schemas.microsoft.com/office/drawing/2014/main" id="{237625A2-D553-99AE-3D41-F2F35D461DE4}"/>
                  </a:ext>
                </a:extLst>
              </p:cNvPr>
              <p:cNvSpPr/>
              <p:nvPr/>
            </p:nvSpPr>
            <p:spPr>
              <a:xfrm>
                <a:off x="787179" y="1187587"/>
                <a:ext cx="1424066" cy="749675"/>
              </a:xfrm>
              <a:prstGeom prst="roundRect">
                <a:avLst/>
              </a:prstGeom>
              <a:solidFill>
                <a:srgbClr val="FFD9D9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>
                    <a:solidFill>
                      <a:schemeClr val="tx1"/>
                    </a:solidFill>
                  </a:rPr>
                  <a:t>Teacher logits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矩形: 圓角 10">
                <a:extLst>
                  <a:ext uri="{FF2B5EF4-FFF2-40B4-BE49-F238E27FC236}">
                    <a16:creationId xmlns:a16="http://schemas.microsoft.com/office/drawing/2014/main" id="{237625A2-D553-99AE-3D41-F2F35D461D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179" y="1187587"/>
                <a:ext cx="1424066" cy="749675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190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: 圓角 11">
                <a:extLst>
                  <a:ext uri="{FF2B5EF4-FFF2-40B4-BE49-F238E27FC236}">
                    <a16:creationId xmlns:a16="http://schemas.microsoft.com/office/drawing/2014/main" id="{2CC6A9CC-C7BF-7DF8-3274-1F2BE44850D3}"/>
                  </a:ext>
                </a:extLst>
              </p:cNvPr>
              <p:cNvSpPr/>
              <p:nvPr/>
            </p:nvSpPr>
            <p:spPr>
              <a:xfrm>
                <a:off x="787179" y="2264026"/>
                <a:ext cx="1424066" cy="749675"/>
              </a:xfrm>
              <a:prstGeom prst="roundRect">
                <a:avLst/>
              </a:prstGeom>
              <a:solidFill>
                <a:srgbClr val="ECDEF6"/>
              </a:solidFill>
              <a:ln w="19050"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>
                    <a:solidFill>
                      <a:schemeClr val="tx1"/>
                    </a:solidFill>
                  </a:rPr>
                  <a:t>Student logits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矩形: 圓角 11">
                <a:extLst>
                  <a:ext uri="{FF2B5EF4-FFF2-40B4-BE49-F238E27FC236}">
                    <a16:creationId xmlns:a16="http://schemas.microsoft.com/office/drawing/2014/main" id="{2CC6A9CC-C7BF-7DF8-3274-1F2BE44850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179" y="2264026"/>
                <a:ext cx="1424066" cy="749675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: 圓角 12">
                <a:extLst>
                  <a:ext uri="{FF2B5EF4-FFF2-40B4-BE49-F238E27FC236}">
                    <a16:creationId xmlns:a16="http://schemas.microsoft.com/office/drawing/2014/main" id="{36635636-AD3E-2965-1719-2734700001B3}"/>
                  </a:ext>
                </a:extLst>
              </p:cNvPr>
              <p:cNvSpPr/>
              <p:nvPr/>
            </p:nvSpPr>
            <p:spPr>
              <a:xfrm>
                <a:off x="2630656" y="1187583"/>
                <a:ext cx="1424066" cy="749675"/>
              </a:xfrm>
              <a:prstGeom prst="roundRect">
                <a:avLst/>
              </a:prstGeom>
              <a:solidFill>
                <a:srgbClr val="FFD9D9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>
                    <a:solidFill>
                      <a:schemeClr val="tx1"/>
                    </a:solidFill>
                  </a:rPr>
                  <a:t>Softmax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矩形: 圓角 12">
                <a:extLst>
                  <a:ext uri="{FF2B5EF4-FFF2-40B4-BE49-F238E27FC236}">
                    <a16:creationId xmlns:a16="http://schemas.microsoft.com/office/drawing/2014/main" id="{36635636-AD3E-2965-1719-2734700001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0656" y="1187583"/>
                <a:ext cx="1424066" cy="749675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: 圓角 13">
                <a:extLst>
                  <a:ext uri="{FF2B5EF4-FFF2-40B4-BE49-F238E27FC236}">
                    <a16:creationId xmlns:a16="http://schemas.microsoft.com/office/drawing/2014/main" id="{D89C4B6E-B69B-F516-FFC0-1180B6E369DC}"/>
                  </a:ext>
                </a:extLst>
              </p:cNvPr>
              <p:cNvSpPr/>
              <p:nvPr/>
            </p:nvSpPr>
            <p:spPr>
              <a:xfrm>
                <a:off x="2630656" y="2264025"/>
                <a:ext cx="1424066" cy="749675"/>
              </a:xfrm>
              <a:prstGeom prst="roundRect">
                <a:avLst/>
              </a:prstGeom>
              <a:solidFill>
                <a:srgbClr val="ECDEF6"/>
              </a:solidFill>
              <a:ln w="19050"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>
                    <a:solidFill>
                      <a:schemeClr val="tx1"/>
                    </a:solidFill>
                  </a:rPr>
                  <a:t>Softmax</a:t>
                </a:r>
                <a:endParaRPr lang="en-US" altLang="zh-TW" sz="160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矩形: 圓角 13">
                <a:extLst>
                  <a:ext uri="{FF2B5EF4-FFF2-40B4-BE49-F238E27FC236}">
                    <a16:creationId xmlns:a16="http://schemas.microsoft.com/office/drawing/2014/main" id="{D89C4B6E-B69B-F516-FFC0-1180B6E369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0656" y="2264025"/>
                <a:ext cx="1424066" cy="749675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19050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: 圓角 14">
                <a:extLst>
                  <a:ext uri="{FF2B5EF4-FFF2-40B4-BE49-F238E27FC236}">
                    <a16:creationId xmlns:a16="http://schemas.microsoft.com/office/drawing/2014/main" id="{0E4407B8-0D64-7B16-B568-94246727D524}"/>
                  </a:ext>
                </a:extLst>
              </p:cNvPr>
              <p:cNvSpPr/>
              <p:nvPr/>
            </p:nvSpPr>
            <p:spPr>
              <a:xfrm>
                <a:off x="4474133" y="1102157"/>
                <a:ext cx="1500320" cy="911174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>
                    <a:solidFill>
                      <a:schemeClr val="tx1"/>
                    </a:solidFill>
                  </a:rPr>
                  <a:t>Confidence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TW" sz="16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16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TW" sz="16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ar-AE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ar-AE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ar-AE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TW" altLang="ar-AE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num>
                        <m:den>
                          <m:func>
                            <m:funcPr>
                              <m:ctrlPr>
                                <a:rPr lang="ar-AE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 sz="16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zh-TW" altLang="ar-AE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矩形: 圓角 14">
                <a:extLst>
                  <a:ext uri="{FF2B5EF4-FFF2-40B4-BE49-F238E27FC236}">
                    <a16:creationId xmlns:a16="http://schemas.microsoft.com/office/drawing/2014/main" id="{0E4407B8-0D64-7B16-B568-94246727D5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4133" y="1102157"/>
                <a:ext cx="1500320" cy="911174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19050">
                <a:solidFill>
                  <a:schemeClr val="accent6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: 圓角 15">
                <a:extLst>
                  <a:ext uri="{FF2B5EF4-FFF2-40B4-BE49-F238E27FC236}">
                    <a16:creationId xmlns:a16="http://schemas.microsoft.com/office/drawing/2014/main" id="{6D666C39-64BC-4606-A332-6E21F971A325}"/>
                  </a:ext>
                </a:extLst>
              </p:cNvPr>
              <p:cNvSpPr/>
              <p:nvPr/>
            </p:nvSpPr>
            <p:spPr>
              <a:xfrm>
                <a:off x="6393864" y="1187583"/>
                <a:ext cx="1573517" cy="749675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>
                    <a:solidFill>
                      <a:schemeClr val="tx1"/>
                    </a:solidFill>
                  </a:rPr>
                  <a:t>Threshold mask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TW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d>
                        <m:dPr>
                          <m:ctrlP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zh-TW" alt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矩形: 圓角 15">
                <a:extLst>
                  <a:ext uri="{FF2B5EF4-FFF2-40B4-BE49-F238E27FC236}">
                    <a16:creationId xmlns:a16="http://schemas.microsoft.com/office/drawing/2014/main" id="{6D666C39-64BC-4606-A332-6E21F971A3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3864" y="1187583"/>
                <a:ext cx="1573517" cy="749675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 w="19050"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: 圓角 16">
                <a:extLst>
                  <a:ext uri="{FF2B5EF4-FFF2-40B4-BE49-F238E27FC236}">
                    <a16:creationId xmlns:a16="http://schemas.microsoft.com/office/drawing/2014/main" id="{CD7590F2-E210-FA89-DD83-5E875778964B}"/>
                  </a:ext>
                </a:extLst>
              </p:cNvPr>
              <p:cNvSpPr/>
              <p:nvPr/>
            </p:nvSpPr>
            <p:spPr>
              <a:xfrm>
                <a:off x="8572256" y="1187586"/>
                <a:ext cx="3063484" cy="1826115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19050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>
                    <a:solidFill>
                      <a:schemeClr val="tx1"/>
                    </a:solidFill>
                  </a:rPr>
                  <a:t>SDC Loss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𝑆𝐷𝐶</m:t>
                          </m:r>
                        </m:sub>
                      </m:sSub>
                      <m:r>
                        <a:rPr lang="en-US" altLang="zh-TW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TW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TW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𝐾𝐿</m:t>
                              </m:r>
                            </m:sub>
                          </m:sSub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||</m:t>
                          </m:r>
                          <m:sSubSup>
                            <m:sSubSupPr>
                              <m:ctrlP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sub>
                            <m:sup>
                              <m: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矩形: 圓角 16">
                <a:extLst>
                  <a:ext uri="{FF2B5EF4-FFF2-40B4-BE49-F238E27FC236}">
                    <a16:creationId xmlns:a16="http://schemas.microsoft.com/office/drawing/2014/main" id="{CD7590F2-E210-FA89-DD83-5E87577896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2256" y="1187586"/>
                <a:ext cx="3063484" cy="1826115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  <a:ln w="19050">
                <a:solidFill>
                  <a:schemeClr val="accent5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B40C4B3F-241C-9EC7-55FE-9F48A24F1B70}"/>
              </a:ext>
            </a:extLst>
          </p:cNvPr>
          <p:cNvCxnSpPr>
            <a:stCxn id="11" idx="3"/>
            <a:endCxn id="13" idx="1"/>
          </p:cNvCxnSpPr>
          <p:nvPr/>
        </p:nvCxnSpPr>
        <p:spPr>
          <a:xfrm flipV="1">
            <a:off x="2211245" y="1562421"/>
            <a:ext cx="419411" cy="4"/>
          </a:xfrm>
          <a:prstGeom prst="straightConnector1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F8DEC1A3-0469-6B45-B13B-BF8FD48AF5BF}"/>
              </a:ext>
            </a:extLst>
          </p:cNvPr>
          <p:cNvCxnSpPr/>
          <p:nvPr/>
        </p:nvCxnSpPr>
        <p:spPr>
          <a:xfrm flipV="1">
            <a:off x="5974453" y="1562419"/>
            <a:ext cx="419411" cy="4"/>
          </a:xfrm>
          <a:prstGeom prst="straightConnector1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6837BB5D-B718-3747-2628-6CB19D7D4233}"/>
              </a:ext>
            </a:extLst>
          </p:cNvPr>
          <p:cNvCxnSpPr>
            <a:cxnSpLocks/>
          </p:cNvCxnSpPr>
          <p:nvPr/>
        </p:nvCxnSpPr>
        <p:spPr>
          <a:xfrm>
            <a:off x="7967381" y="1562419"/>
            <a:ext cx="604875" cy="0"/>
          </a:xfrm>
          <a:prstGeom prst="straightConnector1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58775742-89EC-F042-2DA1-C3CD5AAC9D5C}"/>
              </a:ext>
            </a:extLst>
          </p:cNvPr>
          <p:cNvCxnSpPr/>
          <p:nvPr/>
        </p:nvCxnSpPr>
        <p:spPr>
          <a:xfrm flipV="1">
            <a:off x="2211245" y="2638861"/>
            <a:ext cx="419411" cy="4"/>
          </a:xfrm>
          <a:prstGeom prst="straightConnector1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D5AC57CF-6153-9B30-9875-4EAF8F8481C1}"/>
              </a:ext>
            </a:extLst>
          </p:cNvPr>
          <p:cNvCxnSpPr>
            <a:cxnSpLocks/>
          </p:cNvCxnSpPr>
          <p:nvPr/>
        </p:nvCxnSpPr>
        <p:spPr>
          <a:xfrm>
            <a:off x="4050600" y="2638865"/>
            <a:ext cx="4521656" cy="0"/>
          </a:xfrm>
          <a:prstGeom prst="straightConnector1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DB8CBC18-5881-AE4D-8408-36EBCAAD5CA9}"/>
                  </a:ext>
                </a:extLst>
              </p:cNvPr>
              <p:cNvSpPr txBox="1"/>
              <p:nvPr/>
            </p:nvSpPr>
            <p:spPr>
              <a:xfrm>
                <a:off x="787179" y="3244880"/>
                <a:ext cx="2204596" cy="20712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TW" altLang="en-US" sz="140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ar-AE" altLang="zh-TW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ar-AE" sz="1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ar-AE" altLang="zh-TW" sz="140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grow m:val="on"/>
                          <m:ctrlPr>
                            <a:rPr lang="ar-AE" altLang="zh-TW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TW" altLang="ar-AE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ar-AE" altLang="zh-TW" sz="140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altLang="zh-TW" sz="14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zh-TW" altLang="ar-AE" sz="1400" i="1"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TW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altLang="zh-TW" sz="1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TW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TW" sz="1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e>
                      </m:nary>
                      <m:func>
                        <m:funcPr>
                          <m:ctrlPr>
                            <a:rPr lang="ar-AE" altLang="zh-TW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14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p>
                            <m:sSupPr>
                              <m:ctrlP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en-US" altLang="zh-TW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1400"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400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altLang="zh-TW" sz="140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zh-TW" altLang="en-US" sz="14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e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TW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TW" sz="1400" i="1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zh-TW" altLang="en-US" sz="14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TW" sz="1400" i="1" dirty="0"/>
              </a:p>
              <a:p>
                <a:endParaRPr lang="en-US" altLang="zh-TW" sz="1400" i="1" dirty="0"/>
              </a:p>
              <a:p>
                <a:r>
                  <a:rPr lang="en-US" altLang="zh-TW" sz="1400" i="1" dirty="0"/>
                  <a:t>V = vocabulary size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TW" altLang="en-US" sz="1400" i="1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zh-TW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TW" sz="1400" i="1" dirty="0"/>
                        <m:t>Confidence</m:t>
                      </m:r>
                      <m:r>
                        <m:rPr>
                          <m:nor/>
                        </m:rPr>
                        <a:rPr lang="en-US" altLang="zh-TW" sz="1400" i="1" dirty="0"/>
                        <m:t> </m:t>
                      </m:r>
                      <m:r>
                        <m:rPr>
                          <m:nor/>
                        </m:rPr>
                        <a:rPr lang="en-US" altLang="zh-TW" sz="1400" i="1" dirty="0"/>
                        <m:t>threshold</m:t>
                      </m:r>
                    </m:oMath>
                  </m:oMathPara>
                </a14:m>
                <a:endParaRPr lang="en-US" altLang="zh-TW" sz="1400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altLang="zh-TW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r>
                        <a:rPr lang="en-US" altLang="zh-TW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TW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𝐾𝐿</m:t>
                      </m:r>
                      <m:r>
                        <a:rPr lang="en-US" altLang="zh-TW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zh-TW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  <m:r>
                        <a:rPr lang="en-US" altLang="zh-TW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𝑖𝑣𝑒𝑟𝑔𝑒𝑛𝑐𝑒</m:t>
                      </m:r>
                    </m:oMath>
                  </m:oMathPara>
                </a14:m>
                <a:endParaRPr lang="en-US" altLang="zh-TW" sz="1400" i="1" dirty="0"/>
              </a:p>
            </p:txBody>
          </p:sp>
        </mc:Choice>
        <mc:Fallback xmlns="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DB8CBC18-5881-AE4D-8408-36EBCAAD5C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179" y="3244880"/>
                <a:ext cx="2204596" cy="2071273"/>
              </a:xfrm>
              <a:prstGeom prst="rect">
                <a:avLst/>
              </a:prstGeom>
              <a:blipFill>
                <a:blip r:embed="rId9"/>
                <a:stretch>
                  <a:fillRect l="-14917" t="-20882" b="-2970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20151D9A-B4EC-8617-3889-429C1C2FC035}"/>
              </a:ext>
            </a:extLst>
          </p:cNvPr>
          <p:cNvCxnSpPr/>
          <p:nvPr/>
        </p:nvCxnSpPr>
        <p:spPr>
          <a:xfrm flipV="1">
            <a:off x="4054722" y="1560291"/>
            <a:ext cx="419411" cy="4"/>
          </a:xfrm>
          <a:prstGeom prst="straightConnector1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: 圓角 24">
            <a:extLst>
              <a:ext uri="{FF2B5EF4-FFF2-40B4-BE49-F238E27FC236}">
                <a16:creationId xmlns:a16="http://schemas.microsoft.com/office/drawing/2014/main" id="{49A939F9-FB72-797D-294A-69028F5FF531}"/>
              </a:ext>
            </a:extLst>
          </p:cNvPr>
          <p:cNvSpPr/>
          <p:nvPr/>
        </p:nvSpPr>
        <p:spPr>
          <a:xfrm>
            <a:off x="8233651" y="3264400"/>
            <a:ext cx="3402089" cy="243402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TW" sz="1400" dirty="0">
                <a:solidFill>
                  <a:schemeClr val="tx1"/>
                </a:solidFill>
              </a:rPr>
              <a:t>t = </a:t>
            </a:r>
            <a:r>
              <a:rPr lang="en-US" altLang="zh-TW" sz="1400" dirty="0" err="1">
                <a:solidFill>
                  <a:schemeClr val="tx1"/>
                </a:solidFill>
              </a:rPr>
              <a:t>softmax</a:t>
            </a:r>
            <a:r>
              <a:rPr lang="en-US" altLang="zh-TW" sz="1400" dirty="0">
                <a:solidFill>
                  <a:schemeClr val="tx1"/>
                </a:solidFill>
              </a:rPr>
              <a:t>(</a:t>
            </a:r>
            <a:r>
              <a:rPr lang="en-US" altLang="zh-TW" sz="1400" dirty="0" err="1">
                <a:solidFill>
                  <a:schemeClr val="tx1"/>
                </a:solidFill>
              </a:rPr>
              <a:t>model.head</a:t>
            </a:r>
            <a:r>
              <a:rPr lang="en-US" altLang="zh-TW" sz="1400" dirty="0">
                <a:solidFill>
                  <a:schemeClr val="tx1"/>
                </a:solidFill>
              </a:rPr>
              <a:t>[0](d).detach())</a:t>
            </a:r>
          </a:p>
          <a:p>
            <a:r>
              <a:rPr lang="en-US" altLang="zh-TW" sz="1400" dirty="0">
                <a:solidFill>
                  <a:schemeClr val="tx1"/>
                </a:solidFill>
              </a:rPr>
              <a:t>c = confidence(t)</a:t>
            </a:r>
          </a:p>
          <a:p>
            <a:r>
              <a:rPr lang="en-US" altLang="zh-TW" sz="1400" dirty="0">
                <a:solidFill>
                  <a:schemeClr val="tx1"/>
                </a:solidFill>
              </a:rPr>
              <a:t>for </a:t>
            </a:r>
            <a:r>
              <a:rPr lang="en-US" altLang="zh-TW" sz="1400" dirty="0" err="1">
                <a:solidFill>
                  <a:schemeClr val="tx1"/>
                </a:solidFill>
              </a:rPr>
              <a:t>i</a:t>
            </a:r>
            <a:r>
              <a:rPr lang="en-US" altLang="zh-TW" sz="1400" dirty="0">
                <a:solidFill>
                  <a:schemeClr val="tx1"/>
                </a:solidFill>
              </a:rPr>
              <a:t> in range(1,n):</a:t>
            </a:r>
          </a:p>
          <a:p>
            <a:r>
              <a:rPr lang="en-US" altLang="zh-TW" sz="1400" dirty="0">
                <a:solidFill>
                  <a:schemeClr val="tx1"/>
                </a:solidFill>
              </a:rPr>
              <a:t>    s = </a:t>
            </a:r>
            <a:r>
              <a:rPr lang="en-US" altLang="zh-TW" sz="1400" dirty="0" err="1">
                <a:solidFill>
                  <a:schemeClr val="tx1"/>
                </a:solidFill>
              </a:rPr>
              <a:t>softmax</a:t>
            </a:r>
            <a:r>
              <a:rPr lang="en-US" altLang="zh-TW" sz="1400" dirty="0">
                <a:solidFill>
                  <a:schemeClr val="tx1"/>
                </a:solidFill>
              </a:rPr>
              <a:t>(</a:t>
            </a:r>
            <a:r>
              <a:rPr lang="en-US" altLang="zh-TW" sz="1400" dirty="0" err="1">
                <a:solidFill>
                  <a:schemeClr val="tx1"/>
                </a:solidFill>
              </a:rPr>
              <a:t>model.head</a:t>
            </a:r>
            <a:r>
              <a:rPr lang="en-US" altLang="zh-TW" sz="1400" dirty="0">
                <a:solidFill>
                  <a:schemeClr val="tx1"/>
                </a:solidFill>
              </a:rPr>
              <a:t>[</a:t>
            </a:r>
            <a:r>
              <a:rPr lang="en-US" altLang="zh-TW" sz="1400" dirty="0" err="1">
                <a:solidFill>
                  <a:schemeClr val="tx1"/>
                </a:solidFill>
              </a:rPr>
              <a:t>i</a:t>
            </a:r>
            <a:r>
              <a:rPr lang="en-US" altLang="zh-TW" sz="1400" dirty="0">
                <a:solidFill>
                  <a:schemeClr val="tx1"/>
                </a:solidFill>
              </a:rPr>
              <a:t>](d))</a:t>
            </a:r>
          </a:p>
          <a:p>
            <a:r>
              <a:rPr lang="en-US" altLang="zh-TW" sz="1400" dirty="0">
                <a:solidFill>
                  <a:schemeClr val="tx1"/>
                </a:solidFill>
              </a:rPr>
              <a:t>    </a:t>
            </a:r>
            <a:r>
              <a:rPr lang="en-US" altLang="zh-TW" sz="1400" dirty="0" err="1">
                <a:solidFill>
                  <a:schemeClr val="tx1"/>
                </a:solidFill>
              </a:rPr>
              <a:t>sdc_loss</a:t>
            </a:r>
            <a:r>
              <a:rPr lang="en-US" altLang="zh-TW" sz="1400" dirty="0">
                <a:solidFill>
                  <a:schemeClr val="tx1"/>
                </a:solidFill>
              </a:rPr>
              <a:t> = 0</a:t>
            </a:r>
          </a:p>
          <a:p>
            <a:endParaRPr lang="en-US" altLang="zh-TW" sz="1400" dirty="0">
              <a:solidFill>
                <a:schemeClr val="tx1"/>
              </a:solidFill>
            </a:endParaRPr>
          </a:p>
          <a:p>
            <a:r>
              <a:rPr lang="en-US" altLang="zh-TW" sz="1400" dirty="0">
                <a:solidFill>
                  <a:schemeClr val="tx1"/>
                </a:solidFill>
              </a:rPr>
              <a:t>    for j in range(</a:t>
            </a:r>
            <a:r>
              <a:rPr lang="en-US" altLang="zh-TW" sz="1400" dirty="0" err="1">
                <a:solidFill>
                  <a:schemeClr val="tx1"/>
                </a:solidFill>
              </a:rPr>
              <a:t>c.length</a:t>
            </a:r>
            <a:r>
              <a:rPr lang="en-US" altLang="zh-TW" sz="1400" dirty="0">
                <a:solidFill>
                  <a:schemeClr val="tx1"/>
                </a:solidFill>
              </a:rPr>
              <a:t>):</a:t>
            </a:r>
          </a:p>
          <a:p>
            <a:r>
              <a:rPr lang="en-US" altLang="zh-TW" sz="1400" dirty="0">
                <a:solidFill>
                  <a:schemeClr val="tx1"/>
                </a:solidFill>
              </a:rPr>
              <a:t>        if c[j] &gt; threshold:</a:t>
            </a:r>
          </a:p>
          <a:p>
            <a:r>
              <a:rPr lang="en-US" altLang="zh-TW" sz="1400" dirty="0">
                <a:solidFill>
                  <a:schemeClr val="tx1"/>
                </a:solidFill>
              </a:rPr>
              <a:t>            </a:t>
            </a:r>
            <a:r>
              <a:rPr lang="en-US" altLang="zh-TW" sz="1400" dirty="0" err="1">
                <a:solidFill>
                  <a:schemeClr val="tx1"/>
                </a:solidFill>
              </a:rPr>
              <a:t>sdc_loss</a:t>
            </a:r>
            <a:r>
              <a:rPr lang="en-US" altLang="zh-TW" sz="1400" dirty="0">
                <a:solidFill>
                  <a:schemeClr val="tx1"/>
                </a:solidFill>
              </a:rPr>
              <a:t> += kl(t[j],  s[j])</a:t>
            </a:r>
          </a:p>
          <a:p>
            <a:r>
              <a:rPr lang="en-US" altLang="zh-TW" sz="1400" dirty="0">
                <a:solidFill>
                  <a:schemeClr val="tx1"/>
                </a:solidFill>
              </a:rPr>
              <a:t>    </a:t>
            </a:r>
            <a:r>
              <a:rPr lang="en-US" altLang="zh-TW" sz="1400" dirty="0" err="1">
                <a:solidFill>
                  <a:schemeClr val="tx1"/>
                </a:solidFill>
              </a:rPr>
              <a:t>total_loss</a:t>
            </a:r>
            <a:r>
              <a:rPr lang="en-US" altLang="zh-TW" sz="1400" dirty="0">
                <a:solidFill>
                  <a:schemeClr val="tx1"/>
                </a:solidFill>
              </a:rPr>
              <a:t> += </a:t>
            </a:r>
            <a:r>
              <a:rPr lang="en-US" altLang="zh-TW" sz="1400" dirty="0" err="1">
                <a:solidFill>
                  <a:schemeClr val="tx1"/>
                </a:solidFill>
              </a:rPr>
              <a:t>sdc_loss</a:t>
            </a:r>
            <a:endParaRPr lang="en-US" altLang="zh-TW" sz="1400" dirty="0">
              <a:solidFill>
                <a:schemeClr val="tx1"/>
              </a:solidFill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0F5527B-0C1C-AA8C-CFC7-84114A1DB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611112"/>
            <a:ext cx="2743200" cy="246888"/>
          </a:xfrm>
        </p:spPr>
        <p:txBody>
          <a:bodyPr/>
          <a:lstStyle/>
          <a:p>
            <a:fld id="{A98399F2-4B7C-4808-8B27-A13C76E6A9FD}" type="slidenum">
              <a:rPr lang="zh-TW" altLang="en-US" smtClean="0">
                <a:solidFill>
                  <a:schemeClr val="bg2"/>
                </a:solidFill>
              </a:rPr>
              <a:t>12</a:t>
            </a:fld>
            <a:endParaRPr lang="zh-TW" altLang="en-US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50646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1573D0EA-AF46-A3FF-B054-585EBFA0928F}"/>
              </a:ext>
            </a:extLst>
          </p:cNvPr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5B839B"/>
          </a:solidFill>
          <a:ln w="12700">
            <a:solidFill>
              <a:srgbClr val="5B839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08F29EAD-D533-0B61-2726-3E8377AE68C2}"/>
              </a:ext>
            </a:extLst>
          </p:cNvPr>
          <p:cNvSpPr/>
          <p:nvPr/>
        </p:nvSpPr>
        <p:spPr>
          <a:xfrm>
            <a:off x="347472" y="27432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E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Part</a:t>
            </a:r>
            <a:r>
              <a:rPr lang="zh-TW" altLang="en-US" b="1" dirty="0">
                <a:solidFill>
                  <a:srgbClr val="1B2E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 </a:t>
            </a:r>
            <a:r>
              <a:rPr lang="en-US" b="1" dirty="0">
                <a:solidFill>
                  <a:srgbClr val="1B2E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3: Proposed Method</a:t>
            </a:r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8791945F-3741-A814-1ED6-881AC78AEB8D}"/>
              </a:ext>
            </a:extLst>
          </p:cNvPr>
          <p:cNvSpPr/>
          <p:nvPr/>
        </p:nvSpPr>
        <p:spPr>
          <a:xfrm>
            <a:off x="347472" y="45720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0707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Latent Consistency Matching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286C9BB0-08CF-1710-CAD3-6992250DA91C}"/>
              </a:ext>
            </a:extLst>
          </p:cNvPr>
          <p:cNvSpPr/>
          <p:nvPr/>
        </p:nvSpPr>
        <p:spPr>
          <a:xfrm>
            <a:off x="347472" y="749808"/>
            <a:ext cx="11475720" cy="0"/>
          </a:xfrm>
          <a:prstGeom prst="line">
            <a:avLst/>
          </a:prstGeom>
          <a:noFill/>
          <a:ln w="12700">
            <a:solidFill>
              <a:srgbClr val="C8D6D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D01170F5-6B4F-2AC4-ABE4-99011DDF0B29}"/>
              </a:ext>
            </a:extLst>
          </p:cNvPr>
          <p:cNvSpPr/>
          <p:nvPr/>
        </p:nvSpPr>
        <p:spPr>
          <a:xfrm>
            <a:off x="731520" y="1051560"/>
            <a:ext cx="106984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143" tIns="1143" rIns="1143" bIns="1143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LCM </a:t>
            </a:r>
            <a:r>
              <a:rPr lang="zh-TW" altLang="en-US" sz="14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不直接對齊 </a:t>
            </a:r>
            <a:r>
              <a:rPr lang="en-US" sz="14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probability distribution，</a:t>
            </a:r>
            <a:r>
              <a:rPr lang="zh-TW" altLang="en-US" sz="14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而是在 </a:t>
            </a:r>
            <a:r>
              <a:rPr lang="en-US" sz="14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latent / hidden representation </a:t>
            </a:r>
            <a:r>
              <a:rPr lang="zh-TW" altLang="en-US" sz="14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層級對齊 </a:t>
            </a:r>
            <a:r>
              <a:rPr lang="en-US" sz="14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teacher head </a:t>
            </a:r>
            <a:r>
              <a:rPr lang="zh-TW" altLang="en-US" sz="14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與 </a:t>
            </a:r>
            <a:r>
              <a:rPr lang="en-US" sz="14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student heads。</a:t>
            </a:r>
            <a:endParaRPr lang="en-US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1F989B06-B8F9-3F0A-2FA4-977D7723EBB4}"/>
                  </a:ext>
                </a:extLst>
              </p:cNvPr>
              <p:cNvSpPr txBox="1"/>
              <p:nvPr/>
            </p:nvSpPr>
            <p:spPr>
              <a:xfrm>
                <a:off x="731519" y="4868969"/>
                <a:ext cx="2194896" cy="8617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14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sequence</m:t>
                      </m:r>
                      <m:r>
                        <m:rPr>
                          <m:nor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length</m:t>
                      </m:r>
                    </m:oMath>
                  </m:oMathPara>
                </a14:m>
                <a:endParaRPr lang="en-US" altLang="zh-TW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00" b="0" i="0" smtClean="0"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altLang="zh-TW" sz="1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hidden</m:t>
                      </m:r>
                      <m:r>
                        <m:rPr>
                          <m:nor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state</m:t>
                      </m:r>
                      <m:r>
                        <m:rPr>
                          <m:nor/>
                        </m:rPr>
                        <a:rPr lang="en-US" altLang="zh-TW" sz="1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dimension</m:t>
                      </m:r>
                    </m:oMath>
                  </m:oMathPara>
                </a14:m>
                <a:endParaRPr lang="en-US" altLang="zh-TW" sz="14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1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US" altLang="zh-TW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altLang="zh-TW" sz="14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zh-TW" sz="1400" b="0" i="0" smtClean="0">
                        <a:latin typeface="Cambria Math" panose="02040503050406030204" pitchFamily="18" charset="0"/>
                      </a:rPr>
                      <m:t>teacher</m:t>
                    </m:r>
                    <m:r>
                      <m:rPr>
                        <m:nor/>
                      </m:rPr>
                      <a:rPr lang="en-US" altLang="zh-TW" sz="1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TW" sz="1400">
                        <a:latin typeface="Cambria Math" panose="02040503050406030204" pitchFamily="18" charset="0"/>
                      </a:rPr>
                      <m:t>hidden</m:t>
                    </m:r>
                    <m:r>
                      <m:rPr>
                        <m:nor/>
                      </m:rPr>
                      <a:rPr lang="en-US" altLang="zh-TW" sz="1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TW" sz="1400" b="0" i="0" smtClean="0">
                        <a:latin typeface="Cambria Math" panose="02040503050406030204" pitchFamily="18" charset="0"/>
                      </a:rPr>
                      <m:t>state</m:t>
                    </m:r>
                  </m:oMath>
                </a14:m>
                <a:r>
                  <a:rPr lang="en-US" altLang="zh-TW" sz="1400" dirty="0"/>
                  <a:t>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p>
                      </m:sSup>
                      <m:r>
                        <a:rPr lang="en-US" altLang="zh-TW" sz="1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TW" sz="1400" b="0" i="0" smtClean="0">
                          <a:latin typeface="Cambria Math" panose="02040503050406030204" pitchFamily="18" charset="0"/>
                        </a:rPr>
                        <m:t>student</m:t>
                      </m:r>
                      <m:r>
                        <m:rPr>
                          <m:nor/>
                        </m:rPr>
                        <a:rPr lang="en-US" altLang="zh-TW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hidden</m:t>
                      </m:r>
                      <m:r>
                        <m:rPr>
                          <m:nor/>
                        </m:rPr>
                        <a:rPr lang="en-US" altLang="zh-TW" sz="1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1400">
                          <a:latin typeface="Cambria Math" panose="02040503050406030204" pitchFamily="18" charset="0"/>
                        </a:rPr>
                        <m:t>state</m:t>
                      </m:r>
                    </m:oMath>
                  </m:oMathPara>
                </a14:m>
                <a:endParaRPr lang="en-US" altLang="zh-TW" sz="1400" dirty="0"/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1F989B06-B8F9-3F0A-2FA4-977D7723EB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19" y="4868969"/>
                <a:ext cx="2194896" cy="861774"/>
              </a:xfrm>
              <a:prstGeom prst="rect">
                <a:avLst/>
              </a:prstGeom>
              <a:blipFill>
                <a:blip r:embed="rId2"/>
                <a:stretch>
                  <a:fillRect l="-2778" b="-7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: 圓角 11">
                <a:extLst>
                  <a:ext uri="{FF2B5EF4-FFF2-40B4-BE49-F238E27FC236}">
                    <a16:creationId xmlns:a16="http://schemas.microsoft.com/office/drawing/2014/main" id="{C2D2F876-6541-1C66-FAF4-C6C8CFE199A4}"/>
                  </a:ext>
                </a:extLst>
              </p:cNvPr>
              <p:cNvSpPr/>
              <p:nvPr/>
            </p:nvSpPr>
            <p:spPr>
              <a:xfrm>
                <a:off x="731519" y="1508760"/>
                <a:ext cx="2047191" cy="749675"/>
              </a:xfrm>
              <a:prstGeom prst="roundRect">
                <a:avLst/>
              </a:prstGeom>
              <a:solidFill>
                <a:srgbClr val="FFD9D9"/>
              </a:solidFill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sz="16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teacher</m:t>
                      </m:r>
                      <m:r>
                        <m:rPr>
                          <m:nor/>
                        </m:rPr>
                        <a:rPr lang="en-US" altLang="zh-TW" sz="16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16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hidden</m:t>
                      </m:r>
                      <m:r>
                        <m:rPr>
                          <m:nor/>
                        </m:rPr>
                        <a:rPr lang="en-US" altLang="zh-TW" sz="16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16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state</m:t>
                      </m:r>
                    </m:oMath>
                  </m:oMathPara>
                </a14:m>
                <a:endParaRPr lang="en-US" altLang="zh-TW" sz="1600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矩形: 圓角 11">
                <a:extLst>
                  <a:ext uri="{FF2B5EF4-FFF2-40B4-BE49-F238E27FC236}">
                    <a16:creationId xmlns:a16="http://schemas.microsoft.com/office/drawing/2014/main" id="{C2D2F876-6541-1C66-FAF4-C6C8CFE199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19" y="1508760"/>
                <a:ext cx="2047191" cy="749675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: 圓角 12">
                <a:extLst>
                  <a:ext uri="{FF2B5EF4-FFF2-40B4-BE49-F238E27FC236}">
                    <a16:creationId xmlns:a16="http://schemas.microsoft.com/office/drawing/2014/main" id="{9FE6CF04-DDA0-DFF5-F9C8-9CFA2292BA4B}"/>
                  </a:ext>
                </a:extLst>
              </p:cNvPr>
              <p:cNvSpPr/>
              <p:nvPr/>
            </p:nvSpPr>
            <p:spPr>
              <a:xfrm>
                <a:off x="731520" y="2400500"/>
                <a:ext cx="2047190" cy="749675"/>
              </a:xfrm>
              <a:prstGeom prst="roundRect">
                <a:avLst/>
              </a:prstGeom>
              <a:solidFill>
                <a:srgbClr val="ECDEF6"/>
              </a:solidFill>
              <a:ln w="19050"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sz="16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student</m:t>
                      </m:r>
                      <m:r>
                        <m:rPr>
                          <m:nor/>
                        </m:rPr>
                        <a:rPr lang="en-US" altLang="zh-TW" sz="1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16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hidden</m:t>
                      </m:r>
                      <m:r>
                        <m:rPr>
                          <m:nor/>
                        </m:rPr>
                        <a:rPr lang="en-US" altLang="zh-TW" sz="16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16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state</m:t>
                      </m:r>
                    </m:oMath>
                  </m:oMathPara>
                </a14:m>
                <a:endParaRPr lang="en-US" altLang="zh-TW" sz="160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p>
                      </m:sSup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矩形: 圓角 12">
                <a:extLst>
                  <a:ext uri="{FF2B5EF4-FFF2-40B4-BE49-F238E27FC236}">
                    <a16:creationId xmlns:a16="http://schemas.microsoft.com/office/drawing/2014/main" id="{9FE6CF04-DDA0-DFF5-F9C8-9CFA2292BA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" y="2400500"/>
                <a:ext cx="2047190" cy="749675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: 圓角 13">
                <a:extLst>
                  <a:ext uri="{FF2B5EF4-FFF2-40B4-BE49-F238E27FC236}">
                    <a16:creationId xmlns:a16="http://schemas.microsoft.com/office/drawing/2014/main" id="{51436AB8-F252-92F0-8581-EE80BBDA8C21}"/>
                  </a:ext>
                </a:extLst>
              </p:cNvPr>
              <p:cNvSpPr/>
              <p:nvPr/>
            </p:nvSpPr>
            <p:spPr>
              <a:xfrm>
                <a:off x="3301515" y="1508760"/>
                <a:ext cx="3782865" cy="1641415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600" dirty="0">
                    <a:solidFill>
                      <a:schemeClr val="tx1"/>
                    </a:solidFill>
                  </a:rPr>
                  <a:t>LCM loss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𝐿𝐶𝑀</m:t>
                          </m:r>
                        </m:sub>
                      </m:sSub>
                      <m:r>
                        <a:rPr lang="en-US" altLang="zh-TW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altLang="zh-TW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TW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TW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TW" sz="1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TW" sz="1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altLang="zh-TW" sz="1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altLang="zh-TW" sz="1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sub>
                                        <m:sup>
                                          <m:r>
                                            <a:rPr lang="en-US" altLang="zh-TW" sz="1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p>
                                      </m:sSubSup>
                                      <m:r>
                                        <a:rPr lang="en-US" altLang="zh-TW" sz="16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en-US" altLang="zh-TW" sz="1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TW" sz="1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1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altLang="zh-TW" sz="1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altLang="zh-TW" sz="1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sub>
                                        <m:sup>
                                          <m:r>
                                            <a:rPr lang="en-US" altLang="zh-TW" sz="16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  <m:sup>
                                  <m:r>
                                    <a:rPr lang="en-US" altLang="zh-TW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 lang="zh-TW" alt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矩形: 圓角 13">
                <a:extLst>
                  <a:ext uri="{FF2B5EF4-FFF2-40B4-BE49-F238E27FC236}">
                    <a16:creationId xmlns:a16="http://schemas.microsoft.com/office/drawing/2014/main" id="{51436AB8-F252-92F0-8581-EE80BBDA8C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1515" y="1508760"/>
                <a:ext cx="3782865" cy="1641415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1905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63D84166-2218-1401-C1DF-6ECBE34F62C6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2778710" y="1883598"/>
            <a:ext cx="522805" cy="0"/>
          </a:xfrm>
          <a:prstGeom prst="straightConnector1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81D7C412-98DB-2623-3C77-04A4CAB611E4}"/>
              </a:ext>
            </a:extLst>
          </p:cNvPr>
          <p:cNvCxnSpPr>
            <a:cxnSpLocks/>
          </p:cNvCxnSpPr>
          <p:nvPr/>
        </p:nvCxnSpPr>
        <p:spPr>
          <a:xfrm>
            <a:off x="2778710" y="2763967"/>
            <a:ext cx="522805" cy="0"/>
          </a:xfrm>
          <a:prstGeom prst="straightConnector1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5FEC60A1-208A-D87A-E4BC-806E02DA99AA}"/>
              </a:ext>
            </a:extLst>
          </p:cNvPr>
          <p:cNvSpPr/>
          <p:nvPr/>
        </p:nvSpPr>
        <p:spPr>
          <a:xfrm>
            <a:off x="7133119" y="3665823"/>
            <a:ext cx="4690073" cy="240629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600" dirty="0" err="1">
                <a:solidFill>
                  <a:schemeClr val="tx1"/>
                </a:solidFill>
              </a:rPr>
              <a:t>h_t</a:t>
            </a:r>
            <a:r>
              <a:rPr lang="en-US" altLang="zh-TW" sz="1600" dirty="0">
                <a:solidFill>
                  <a:schemeClr val="tx1"/>
                </a:solidFill>
              </a:rPr>
              <a:t> = </a:t>
            </a:r>
            <a:r>
              <a:rPr lang="en-US" altLang="zh-TW" sz="1600" dirty="0" err="1">
                <a:solidFill>
                  <a:schemeClr val="tx1"/>
                </a:solidFill>
              </a:rPr>
              <a:t>model.head</a:t>
            </a:r>
            <a:r>
              <a:rPr lang="en-US" altLang="zh-TW" sz="1600" dirty="0">
                <a:solidFill>
                  <a:schemeClr val="tx1"/>
                </a:solidFill>
              </a:rPr>
              <a:t>[0](d).</a:t>
            </a:r>
            <a:r>
              <a:rPr lang="en-US" altLang="zh-TW" sz="1600" dirty="0" err="1">
                <a:solidFill>
                  <a:schemeClr val="tx1"/>
                </a:solidFill>
              </a:rPr>
              <a:t>last_hidden_state.detach</a:t>
            </a:r>
            <a:r>
              <a:rPr lang="en-US" altLang="zh-TW" sz="1600" dirty="0">
                <a:solidFill>
                  <a:schemeClr val="tx1"/>
                </a:solidFill>
              </a:rPr>
              <a:t>()</a:t>
            </a:r>
          </a:p>
          <a:p>
            <a:endParaRPr lang="en-US" altLang="zh-TW" sz="1600" dirty="0">
              <a:solidFill>
                <a:schemeClr val="tx1"/>
              </a:solidFill>
            </a:endParaRPr>
          </a:p>
          <a:p>
            <a:r>
              <a:rPr lang="en-US" altLang="zh-TW" sz="1600" dirty="0">
                <a:solidFill>
                  <a:schemeClr val="tx1"/>
                </a:solidFill>
              </a:rPr>
              <a:t>for </a:t>
            </a:r>
            <a:r>
              <a:rPr lang="en-US" altLang="zh-TW" sz="1600" dirty="0" err="1">
                <a:solidFill>
                  <a:schemeClr val="tx1"/>
                </a:solidFill>
              </a:rPr>
              <a:t>i</a:t>
            </a:r>
            <a:r>
              <a:rPr lang="en-US" altLang="zh-TW" sz="1600" dirty="0">
                <a:solidFill>
                  <a:schemeClr val="tx1"/>
                </a:solidFill>
              </a:rPr>
              <a:t> in range(1,n):</a:t>
            </a:r>
          </a:p>
          <a:p>
            <a:r>
              <a:rPr lang="en-US" altLang="zh-TW" sz="1600" dirty="0">
                <a:solidFill>
                  <a:schemeClr val="tx1"/>
                </a:solidFill>
              </a:rPr>
              <a:t>    </a:t>
            </a:r>
            <a:r>
              <a:rPr lang="en-US" altLang="zh-TW" sz="1600" dirty="0" err="1">
                <a:solidFill>
                  <a:schemeClr val="tx1"/>
                </a:solidFill>
              </a:rPr>
              <a:t>h_s</a:t>
            </a:r>
            <a:r>
              <a:rPr lang="en-US" altLang="zh-TW" sz="1600" dirty="0">
                <a:solidFill>
                  <a:schemeClr val="tx1"/>
                </a:solidFill>
              </a:rPr>
              <a:t> = </a:t>
            </a:r>
            <a:r>
              <a:rPr lang="en-US" altLang="zh-TW" sz="1600" dirty="0" err="1">
                <a:solidFill>
                  <a:schemeClr val="tx1"/>
                </a:solidFill>
              </a:rPr>
              <a:t>model.head</a:t>
            </a:r>
            <a:r>
              <a:rPr lang="en-US" altLang="zh-TW" sz="1600" dirty="0">
                <a:solidFill>
                  <a:schemeClr val="tx1"/>
                </a:solidFill>
              </a:rPr>
              <a:t>[</a:t>
            </a:r>
            <a:r>
              <a:rPr lang="en-US" altLang="zh-TW" sz="1600" dirty="0" err="1">
                <a:solidFill>
                  <a:schemeClr val="tx1"/>
                </a:solidFill>
              </a:rPr>
              <a:t>i</a:t>
            </a:r>
            <a:r>
              <a:rPr lang="en-US" altLang="zh-TW" sz="1600" dirty="0">
                <a:solidFill>
                  <a:schemeClr val="tx1"/>
                </a:solidFill>
              </a:rPr>
              <a:t>](d).</a:t>
            </a:r>
            <a:r>
              <a:rPr lang="en-US" altLang="zh-TW" sz="1600" dirty="0" err="1">
                <a:solidFill>
                  <a:schemeClr val="tx1"/>
                </a:solidFill>
              </a:rPr>
              <a:t>last_hidden_state</a:t>
            </a:r>
            <a:endParaRPr lang="en-US" altLang="zh-TW" sz="1600" dirty="0">
              <a:solidFill>
                <a:schemeClr val="tx1"/>
              </a:solidFill>
            </a:endParaRPr>
          </a:p>
          <a:p>
            <a:r>
              <a:rPr lang="en-US" altLang="zh-TW" sz="1600" dirty="0">
                <a:solidFill>
                  <a:schemeClr val="tx1"/>
                </a:solidFill>
              </a:rPr>
              <a:t>    </a:t>
            </a:r>
          </a:p>
          <a:p>
            <a:r>
              <a:rPr lang="en-US" altLang="zh-TW" sz="1600" dirty="0">
                <a:solidFill>
                  <a:schemeClr val="tx1"/>
                </a:solidFill>
              </a:rPr>
              <a:t>    </a:t>
            </a:r>
            <a:r>
              <a:rPr lang="en-US" altLang="zh-TW" sz="1600" dirty="0" err="1">
                <a:solidFill>
                  <a:schemeClr val="tx1"/>
                </a:solidFill>
              </a:rPr>
              <a:t>lcm_loss</a:t>
            </a:r>
            <a:r>
              <a:rPr lang="en-US" altLang="zh-TW" sz="1600" dirty="0">
                <a:solidFill>
                  <a:schemeClr val="tx1"/>
                </a:solidFill>
              </a:rPr>
              <a:t> = (</a:t>
            </a:r>
            <a:r>
              <a:rPr lang="en-US" altLang="zh-TW" sz="1600" dirty="0" err="1">
                <a:solidFill>
                  <a:schemeClr val="tx1"/>
                </a:solidFill>
              </a:rPr>
              <a:t>h_t</a:t>
            </a:r>
            <a:r>
              <a:rPr lang="en-US" altLang="zh-TW" sz="1600" dirty="0">
                <a:solidFill>
                  <a:schemeClr val="tx1"/>
                </a:solidFill>
              </a:rPr>
              <a:t> - </a:t>
            </a:r>
            <a:r>
              <a:rPr lang="en-US" altLang="zh-TW" sz="1600" dirty="0" err="1">
                <a:solidFill>
                  <a:schemeClr val="tx1"/>
                </a:solidFill>
              </a:rPr>
              <a:t>h_s</a:t>
            </a:r>
            <a:r>
              <a:rPr lang="en-US" altLang="zh-TW" sz="1600" dirty="0">
                <a:solidFill>
                  <a:schemeClr val="tx1"/>
                </a:solidFill>
              </a:rPr>
              <a:t>).pow(2).mean()</a:t>
            </a:r>
          </a:p>
          <a:p>
            <a:r>
              <a:rPr lang="en-US" altLang="zh-TW" sz="1600" dirty="0">
                <a:solidFill>
                  <a:schemeClr val="tx1"/>
                </a:solidFill>
              </a:rPr>
              <a:t>    </a:t>
            </a:r>
            <a:r>
              <a:rPr lang="en-US" altLang="zh-TW" sz="1600" dirty="0" err="1">
                <a:solidFill>
                  <a:schemeClr val="tx1"/>
                </a:solidFill>
              </a:rPr>
              <a:t>total_loss</a:t>
            </a:r>
            <a:r>
              <a:rPr lang="en-US" altLang="zh-TW" sz="1600" dirty="0">
                <a:solidFill>
                  <a:schemeClr val="tx1"/>
                </a:solidFill>
              </a:rPr>
              <a:t> += </a:t>
            </a:r>
            <a:r>
              <a:rPr lang="en-US" altLang="zh-TW" sz="1600" dirty="0" err="1">
                <a:solidFill>
                  <a:schemeClr val="tx1"/>
                </a:solidFill>
              </a:rPr>
              <a:t>lcm_loss</a:t>
            </a:r>
            <a:endParaRPr lang="en-US" altLang="zh-TW" sz="1600" dirty="0">
              <a:solidFill>
                <a:schemeClr val="tx1"/>
              </a:solidFill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029E285-5C11-3673-8EBB-687CDC918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610795"/>
            <a:ext cx="2743200" cy="246888"/>
          </a:xfrm>
        </p:spPr>
        <p:txBody>
          <a:bodyPr/>
          <a:lstStyle/>
          <a:p>
            <a:fld id="{A98399F2-4B7C-4808-8B27-A13C76E6A9FD}" type="slidenum">
              <a:rPr lang="zh-TW" altLang="en-US" smtClean="0">
                <a:solidFill>
                  <a:schemeClr val="bg2"/>
                </a:solidFill>
              </a:rPr>
              <a:t>13</a:t>
            </a:fld>
            <a:endParaRPr lang="zh-TW" altLang="en-US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03095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17C9F098-DE57-3A42-CA10-9CE52E003229}"/>
              </a:ext>
            </a:extLst>
          </p:cNvPr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5B839B"/>
          </a:solidFill>
          <a:ln w="12700">
            <a:solidFill>
              <a:srgbClr val="5B839B"/>
            </a:solidFill>
            <a:prstDash val="solid"/>
          </a:ln>
        </p:spPr>
        <p:txBody>
          <a:bodyPr/>
          <a:lstStyle/>
          <a:p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92AD38D-E914-B210-DA90-FA0657E1D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495" y="6611112"/>
            <a:ext cx="2743200" cy="251844"/>
          </a:xfrm>
        </p:spPr>
        <p:txBody>
          <a:bodyPr/>
          <a:lstStyle/>
          <a:p>
            <a:fld id="{A98399F2-4B7C-4808-8B27-A13C76E6A9FD}" type="slidenum">
              <a:rPr lang="zh-TW" altLang="en-US" smtClean="0">
                <a:solidFill>
                  <a:schemeClr val="bg1"/>
                </a:solidFill>
              </a:rPr>
              <a:t>14</a:t>
            </a:fld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290D5411-92F0-3E9B-36F9-6AC525126917}"/>
              </a:ext>
            </a:extLst>
          </p:cNvPr>
          <p:cNvSpPr/>
          <p:nvPr/>
        </p:nvSpPr>
        <p:spPr>
          <a:xfrm>
            <a:off x="347472" y="27432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E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Part 3: Proposed method</a:t>
            </a:r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237EA2C1-24DB-8A86-2095-D482CE46196B}"/>
              </a:ext>
            </a:extLst>
          </p:cNvPr>
          <p:cNvSpPr/>
          <p:nvPr/>
        </p:nvSpPr>
        <p:spPr>
          <a:xfrm>
            <a:off x="347472" y="45720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0707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Method Overview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86BAD6AB-2481-BA5C-2827-7ED3AEAB2E28}"/>
              </a:ext>
            </a:extLst>
          </p:cNvPr>
          <p:cNvSpPr/>
          <p:nvPr/>
        </p:nvSpPr>
        <p:spPr>
          <a:xfrm>
            <a:off x="347472" y="749808"/>
            <a:ext cx="11475720" cy="0"/>
          </a:xfrm>
          <a:prstGeom prst="line">
            <a:avLst/>
          </a:prstGeom>
          <a:noFill/>
          <a:ln w="12700">
            <a:solidFill>
              <a:srgbClr val="C8D6DE"/>
            </a:solidFill>
            <a:prstDash val="solid"/>
          </a:ln>
        </p:spPr>
        <p:txBody>
          <a:bodyPr/>
          <a:lstStyle/>
          <a:p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DF026A3A-B314-B966-B845-2DEF84AD9331}"/>
              </a:ext>
            </a:extLst>
          </p:cNvPr>
          <p:cNvSpPr/>
          <p:nvPr/>
        </p:nvSpPr>
        <p:spPr>
          <a:xfrm>
            <a:off x="502920" y="914399"/>
            <a:ext cx="11064240" cy="498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TW" altLang="en-US" sz="14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本研究結合 </a:t>
            </a:r>
            <a:r>
              <a:rPr lang="en-US" altLang="zh-TW" sz="14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MTP CE loss</a:t>
            </a:r>
            <a:r>
              <a:rPr lang="zh-TW" altLang="en-US" sz="14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、</a:t>
            </a:r>
            <a:r>
              <a:rPr lang="en-US" altLang="zh-TW" sz="14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SDC loss </a:t>
            </a:r>
            <a:r>
              <a:rPr lang="zh-TW" altLang="en-US" sz="14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與 </a:t>
            </a:r>
            <a:r>
              <a:rPr lang="en-US" altLang="zh-TW" sz="14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LCM loss</a:t>
            </a:r>
            <a:r>
              <a:rPr lang="zh-TW" altLang="en-US" sz="14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，使 </a:t>
            </a:r>
            <a:r>
              <a:rPr lang="en-US" altLang="zh-TW" sz="14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teacher head </a:t>
            </a:r>
            <a:r>
              <a:rPr lang="zh-TW" altLang="en-US" sz="14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與 </a:t>
            </a:r>
            <a:r>
              <a:rPr lang="en-US" altLang="zh-TW" sz="14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student heads </a:t>
            </a:r>
            <a:r>
              <a:rPr lang="zh-TW" altLang="en-US" sz="14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在 </a:t>
            </a:r>
            <a:r>
              <a:rPr lang="en-US" altLang="zh-TW" sz="14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probability distribution </a:t>
            </a:r>
            <a:r>
              <a:rPr lang="zh-TW" altLang="en-US" sz="14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與 </a:t>
            </a:r>
            <a:r>
              <a:rPr lang="en-US" altLang="zh-TW" sz="14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latent</a:t>
            </a:r>
            <a:r>
              <a:rPr lang="zh-TW" altLang="en-US" sz="14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 </a:t>
            </a:r>
            <a:r>
              <a:rPr lang="en-US" altLang="zh-TW" sz="14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representation </a:t>
            </a:r>
            <a:r>
              <a:rPr lang="zh-TW" altLang="en-US" sz="1400" b="1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層級保持一致。</a:t>
            </a:r>
          </a:p>
        </p:txBody>
      </p: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900054B5-782B-0391-DD00-B726944066FC}"/>
              </a:ext>
            </a:extLst>
          </p:cNvPr>
          <p:cNvGrpSpPr/>
          <p:nvPr/>
        </p:nvGrpSpPr>
        <p:grpSpPr>
          <a:xfrm>
            <a:off x="8147842" y="1303478"/>
            <a:ext cx="4204444" cy="2180212"/>
            <a:chOff x="8039317" y="1029799"/>
            <a:chExt cx="4204444" cy="2180212"/>
          </a:xfrm>
        </p:grpSpPr>
        <p:grpSp>
          <p:nvGrpSpPr>
            <p:cNvPr id="12" name="群組 11">
              <a:extLst>
                <a:ext uri="{FF2B5EF4-FFF2-40B4-BE49-F238E27FC236}">
                  <a16:creationId xmlns:a16="http://schemas.microsoft.com/office/drawing/2014/main" id="{1A52BF00-3821-3994-2787-4FBD4EC13920}"/>
                </a:ext>
              </a:extLst>
            </p:cNvPr>
            <p:cNvGrpSpPr/>
            <p:nvPr/>
          </p:nvGrpSpPr>
          <p:grpSpPr>
            <a:xfrm>
              <a:off x="8039317" y="1029799"/>
              <a:ext cx="4204444" cy="2180212"/>
              <a:chOff x="4627273" y="1343142"/>
              <a:chExt cx="4204444" cy="1452328"/>
            </a:xfrm>
          </p:grpSpPr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EE6B8F08-19D0-531E-B08A-98C871885590}"/>
                  </a:ext>
                </a:extLst>
              </p:cNvPr>
              <p:cNvSpPr txBox="1"/>
              <p:nvPr/>
            </p:nvSpPr>
            <p:spPr>
              <a:xfrm>
                <a:off x="4627273" y="1343142"/>
                <a:ext cx="4204444" cy="1452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TW" sz="14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Forward</a:t>
                </a: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TW" sz="14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Backward</a:t>
                </a: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TW" sz="14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Teacher Probability / Latent Representation</a:t>
                </a: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TW" sz="14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Student Latent Representation</a:t>
                </a: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TW" sz="1400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Student Probability Distribution</a:t>
                </a:r>
              </a:p>
            </p:txBody>
          </p:sp>
          <p:sp>
            <p:nvSpPr>
              <p:cNvPr id="16" name="箭號: 向上 15">
                <a:extLst>
                  <a:ext uri="{FF2B5EF4-FFF2-40B4-BE49-F238E27FC236}">
                    <a16:creationId xmlns:a16="http://schemas.microsoft.com/office/drawing/2014/main" id="{1A089C36-FE2B-BE41-7BEF-4E3BE8ACF6AA}"/>
                  </a:ext>
                </a:extLst>
              </p:cNvPr>
              <p:cNvSpPr/>
              <p:nvPr/>
            </p:nvSpPr>
            <p:spPr>
              <a:xfrm>
                <a:off x="4655611" y="1387211"/>
                <a:ext cx="215809" cy="239811"/>
              </a:xfrm>
              <a:prstGeom prst="upArrow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17" name="箭號: 向上 16">
                <a:extLst>
                  <a:ext uri="{FF2B5EF4-FFF2-40B4-BE49-F238E27FC236}">
                    <a16:creationId xmlns:a16="http://schemas.microsoft.com/office/drawing/2014/main" id="{70AD19A1-857D-CC17-BB70-B9FEF815E57B}"/>
                  </a:ext>
                </a:extLst>
              </p:cNvPr>
              <p:cNvSpPr/>
              <p:nvPr/>
            </p:nvSpPr>
            <p:spPr>
              <a:xfrm>
                <a:off x="4655611" y="1673937"/>
                <a:ext cx="215809" cy="239811"/>
              </a:xfrm>
              <a:prstGeom prst="upArrow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  <p:sp>
          <p:nvSpPr>
            <p:cNvPr id="13" name="箭號: 向上 12">
              <a:extLst>
                <a:ext uri="{FF2B5EF4-FFF2-40B4-BE49-F238E27FC236}">
                  <a16:creationId xmlns:a16="http://schemas.microsoft.com/office/drawing/2014/main" id="{035184CF-F636-7677-D1A7-F06A0C8C036C}"/>
                </a:ext>
              </a:extLst>
            </p:cNvPr>
            <p:cNvSpPr/>
            <p:nvPr/>
          </p:nvSpPr>
          <p:spPr>
            <a:xfrm>
              <a:off x="8067655" y="1966546"/>
              <a:ext cx="215809" cy="360000"/>
            </a:xfrm>
            <a:prstGeom prst="up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4" name="箭號: 向上 13">
              <a:extLst>
                <a:ext uri="{FF2B5EF4-FFF2-40B4-BE49-F238E27FC236}">
                  <a16:creationId xmlns:a16="http://schemas.microsoft.com/office/drawing/2014/main" id="{19F64B9C-B725-CD0D-1A09-EF2FA9C964B7}"/>
                </a:ext>
              </a:extLst>
            </p:cNvPr>
            <p:cNvSpPr/>
            <p:nvPr/>
          </p:nvSpPr>
          <p:spPr>
            <a:xfrm>
              <a:off x="8069786" y="2398459"/>
              <a:ext cx="215809" cy="360000"/>
            </a:xfrm>
            <a:prstGeom prst="upArrow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8" name="群組 17">
            <a:extLst>
              <a:ext uri="{FF2B5EF4-FFF2-40B4-BE49-F238E27FC236}">
                <a16:creationId xmlns:a16="http://schemas.microsoft.com/office/drawing/2014/main" id="{ABEDE5F4-CF9C-7C53-F2E8-59EA9F61C57F}"/>
              </a:ext>
            </a:extLst>
          </p:cNvPr>
          <p:cNvGrpSpPr/>
          <p:nvPr/>
        </p:nvGrpSpPr>
        <p:grpSpPr>
          <a:xfrm>
            <a:off x="57720" y="1359977"/>
            <a:ext cx="7955280" cy="4523313"/>
            <a:chOff x="605936" y="1262331"/>
            <a:chExt cx="10121382" cy="4523313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7B3D166D-013A-8D43-0247-96F9FE9B323B}"/>
                </a:ext>
              </a:extLst>
            </p:cNvPr>
            <p:cNvSpPr/>
            <p:nvPr/>
          </p:nvSpPr>
          <p:spPr>
            <a:xfrm>
              <a:off x="1319365" y="3120056"/>
              <a:ext cx="9036000" cy="72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20" name="群組 19">
              <a:extLst>
                <a:ext uri="{FF2B5EF4-FFF2-40B4-BE49-F238E27FC236}">
                  <a16:creationId xmlns:a16="http://schemas.microsoft.com/office/drawing/2014/main" id="{1E842CD2-BD40-510E-9020-F1DC2816F00D}"/>
                </a:ext>
              </a:extLst>
            </p:cNvPr>
            <p:cNvGrpSpPr/>
            <p:nvPr/>
          </p:nvGrpSpPr>
          <p:grpSpPr>
            <a:xfrm>
              <a:off x="3318716" y="2926550"/>
              <a:ext cx="613876" cy="468000"/>
              <a:chOff x="2136461" y="3605615"/>
              <a:chExt cx="613876" cy="468000"/>
            </a:xfrm>
          </p:grpSpPr>
          <p:sp>
            <p:nvSpPr>
              <p:cNvPr id="84" name="箭號: 向上 83">
                <a:extLst>
                  <a:ext uri="{FF2B5EF4-FFF2-40B4-BE49-F238E27FC236}">
                    <a16:creationId xmlns:a16="http://schemas.microsoft.com/office/drawing/2014/main" id="{A173EDCC-DE15-4B9D-BBE1-B5B198BFB8F9}"/>
                  </a:ext>
                </a:extLst>
              </p:cNvPr>
              <p:cNvSpPr/>
              <p:nvPr/>
            </p:nvSpPr>
            <p:spPr>
              <a:xfrm>
                <a:off x="2136461" y="3605615"/>
                <a:ext cx="144000" cy="468000"/>
              </a:xfrm>
              <a:prstGeom prst="upArrow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85" name="箭號: 向上 84">
                <a:extLst>
                  <a:ext uri="{FF2B5EF4-FFF2-40B4-BE49-F238E27FC236}">
                    <a16:creationId xmlns:a16="http://schemas.microsoft.com/office/drawing/2014/main" id="{44AB310F-56A1-8F94-4C59-7887EE6BF6BE}"/>
                  </a:ext>
                </a:extLst>
              </p:cNvPr>
              <p:cNvSpPr/>
              <p:nvPr/>
            </p:nvSpPr>
            <p:spPr>
              <a:xfrm>
                <a:off x="2606337" y="3605615"/>
                <a:ext cx="144000" cy="234000"/>
              </a:xfrm>
              <a:prstGeom prst="upArrow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  <p:sp>
          <p:nvSpPr>
            <p:cNvPr id="21" name="箭號: 向上 20">
              <a:extLst>
                <a:ext uri="{FF2B5EF4-FFF2-40B4-BE49-F238E27FC236}">
                  <a16:creationId xmlns:a16="http://schemas.microsoft.com/office/drawing/2014/main" id="{63C84C60-E543-0998-396B-43BBE6A17344}"/>
                </a:ext>
              </a:extLst>
            </p:cNvPr>
            <p:cNvSpPr/>
            <p:nvPr/>
          </p:nvSpPr>
          <p:spPr>
            <a:xfrm>
              <a:off x="2313345" y="2926550"/>
              <a:ext cx="144000" cy="468000"/>
            </a:xfrm>
            <a:prstGeom prst="upArrow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22" name="群組 21">
              <a:extLst>
                <a:ext uri="{FF2B5EF4-FFF2-40B4-BE49-F238E27FC236}">
                  <a16:creationId xmlns:a16="http://schemas.microsoft.com/office/drawing/2014/main" id="{0B3EA01F-9D24-745B-16DE-6B55174E0970}"/>
                </a:ext>
              </a:extLst>
            </p:cNvPr>
            <p:cNvGrpSpPr/>
            <p:nvPr/>
          </p:nvGrpSpPr>
          <p:grpSpPr>
            <a:xfrm>
              <a:off x="4678555" y="2901221"/>
              <a:ext cx="613876" cy="468000"/>
              <a:chOff x="2136461" y="3605615"/>
              <a:chExt cx="613876" cy="468000"/>
            </a:xfrm>
          </p:grpSpPr>
          <p:sp>
            <p:nvSpPr>
              <p:cNvPr id="82" name="箭號: 向上 81">
                <a:extLst>
                  <a:ext uri="{FF2B5EF4-FFF2-40B4-BE49-F238E27FC236}">
                    <a16:creationId xmlns:a16="http://schemas.microsoft.com/office/drawing/2014/main" id="{904AA130-27FF-D0FE-5A18-443DF50ADDC6}"/>
                  </a:ext>
                </a:extLst>
              </p:cNvPr>
              <p:cNvSpPr/>
              <p:nvPr/>
            </p:nvSpPr>
            <p:spPr>
              <a:xfrm>
                <a:off x="2136461" y="3605615"/>
                <a:ext cx="144000" cy="468000"/>
              </a:xfrm>
              <a:prstGeom prst="upArrow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83" name="箭號: 向上 82">
                <a:extLst>
                  <a:ext uri="{FF2B5EF4-FFF2-40B4-BE49-F238E27FC236}">
                    <a16:creationId xmlns:a16="http://schemas.microsoft.com/office/drawing/2014/main" id="{9035ECEB-0BF3-75CF-9E59-44B69259ABA1}"/>
                  </a:ext>
                </a:extLst>
              </p:cNvPr>
              <p:cNvSpPr/>
              <p:nvPr/>
            </p:nvSpPr>
            <p:spPr>
              <a:xfrm>
                <a:off x="2606337" y="3605615"/>
                <a:ext cx="144000" cy="234000"/>
              </a:xfrm>
              <a:prstGeom prst="upArrow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  <p:grpSp>
          <p:nvGrpSpPr>
            <p:cNvPr id="23" name="群組 22">
              <a:extLst>
                <a:ext uri="{FF2B5EF4-FFF2-40B4-BE49-F238E27FC236}">
                  <a16:creationId xmlns:a16="http://schemas.microsoft.com/office/drawing/2014/main" id="{83EA5CE0-7BEE-6DD4-6F4C-B0377CCB274E}"/>
                </a:ext>
              </a:extLst>
            </p:cNvPr>
            <p:cNvGrpSpPr/>
            <p:nvPr/>
          </p:nvGrpSpPr>
          <p:grpSpPr>
            <a:xfrm>
              <a:off x="605936" y="1262331"/>
              <a:ext cx="10121382" cy="4523313"/>
              <a:chOff x="605936" y="1262331"/>
              <a:chExt cx="10121382" cy="4523313"/>
            </a:xfrm>
          </p:grpSpPr>
          <p:sp>
            <p:nvSpPr>
              <p:cNvPr id="24" name="矩形: 圓角 23">
                <a:extLst>
                  <a:ext uri="{FF2B5EF4-FFF2-40B4-BE49-F238E27FC236}">
                    <a16:creationId xmlns:a16="http://schemas.microsoft.com/office/drawing/2014/main" id="{D0027A6E-A654-D0FD-F500-0FF0DE1F0AE4}"/>
                  </a:ext>
                </a:extLst>
              </p:cNvPr>
              <p:cNvSpPr/>
              <p:nvPr/>
            </p:nvSpPr>
            <p:spPr>
              <a:xfrm>
                <a:off x="3045074" y="2240001"/>
                <a:ext cx="1277949" cy="601586"/>
              </a:xfrm>
              <a:prstGeom prst="round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100" b="1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LCM Loss 2</a:t>
                </a:r>
                <a:endParaRPr lang="zh-TW" altLang="en-US" sz="11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25" name="矩形: 圓角 24">
                <a:extLst>
                  <a:ext uri="{FF2B5EF4-FFF2-40B4-BE49-F238E27FC236}">
                    <a16:creationId xmlns:a16="http://schemas.microsoft.com/office/drawing/2014/main" id="{E606BAC3-F8EA-C1ED-EB93-03B7DB2A8494}"/>
                  </a:ext>
                </a:extLst>
              </p:cNvPr>
              <p:cNvSpPr/>
              <p:nvPr/>
            </p:nvSpPr>
            <p:spPr>
              <a:xfrm>
                <a:off x="1839926" y="2235684"/>
                <a:ext cx="1143292" cy="601586"/>
              </a:xfrm>
              <a:prstGeom prst="round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100" b="1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CE</a:t>
                </a:r>
                <a:r>
                  <a:rPr lang="zh-TW" altLang="en-US" sz="1100" b="1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 </a:t>
                </a:r>
                <a:r>
                  <a:rPr lang="en-US" altLang="zh-TW" sz="1100" b="1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Loss 2</a:t>
                </a:r>
                <a:endParaRPr lang="zh-TW" altLang="en-US" sz="11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26" name="箭號: 向上 25">
                <a:extLst>
                  <a:ext uri="{FF2B5EF4-FFF2-40B4-BE49-F238E27FC236}">
                    <a16:creationId xmlns:a16="http://schemas.microsoft.com/office/drawing/2014/main" id="{084A4308-6B27-1624-81E3-98425AA28A92}"/>
                  </a:ext>
                </a:extLst>
              </p:cNvPr>
              <p:cNvSpPr/>
              <p:nvPr/>
            </p:nvSpPr>
            <p:spPr>
              <a:xfrm>
                <a:off x="2339572" y="1994190"/>
                <a:ext cx="144000" cy="216000"/>
              </a:xfrm>
              <a:prstGeom prst="upArrow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27" name="箭號: 向上 26">
                <a:extLst>
                  <a:ext uri="{FF2B5EF4-FFF2-40B4-BE49-F238E27FC236}">
                    <a16:creationId xmlns:a16="http://schemas.microsoft.com/office/drawing/2014/main" id="{8BFF931C-9E9F-462B-6CF1-451B642699F4}"/>
                  </a:ext>
                </a:extLst>
              </p:cNvPr>
              <p:cNvSpPr/>
              <p:nvPr/>
            </p:nvSpPr>
            <p:spPr>
              <a:xfrm>
                <a:off x="3553654" y="1995537"/>
                <a:ext cx="144000" cy="216000"/>
              </a:xfrm>
              <a:prstGeom prst="upArrow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grpSp>
            <p:nvGrpSpPr>
              <p:cNvPr id="28" name="群組 27">
                <a:extLst>
                  <a:ext uri="{FF2B5EF4-FFF2-40B4-BE49-F238E27FC236}">
                    <a16:creationId xmlns:a16="http://schemas.microsoft.com/office/drawing/2014/main" id="{56D9BB14-0A18-40C0-730E-6373AEEB997F}"/>
                  </a:ext>
                </a:extLst>
              </p:cNvPr>
              <p:cNvGrpSpPr/>
              <p:nvPr/>
            </p:nvGrpSpPr>
            <p:grpSpPr>
              <a:xfrm>
                <a:off x="605936" y="1262331"/>
                <a:ext cx="10121382" cy="4523313"/>
                <a:chOff x="605936" y="1262331"/>
                <a:chExt cx="10121382" cy="4523313"/>
              </a:xfrm>
            </p:grpSpPr>
            <p:sp>
              <p:nvSpPr>
                <p:cNvPr id="31" name="矩形: 圓角 30">
                  <a:extLst>
                    <a:ext uri="{FF2B5EF4-FFF2-40B4-BE49-F238E27FC236}">
                      <a16:creationId xmlns:a16="http://schemas.microsoft.com/office/drawing/2014/main" id="{D71E5A92-F395-3C5C-A083-184E38D69030}"/>
                    </a:ext>
                  </a:extLst>
                </p:cNvPr>
                <p:cNvSpPr/>
                <p:nvPr/>
              </p:nvSpPr>
              <p:spPr>
                <a:xfrm>
                  <a:off x="705606" y="5128696"/>
                  <a:ext cx="6871658" cy="656948"/>
                </a:xfrm>
                <a:prstGeom prst="roundRect">
                  <a:avLst/>
                </a:prstGeom>
              </p:spPr>
              <p:style>
                <a:lnRef idx="2">
                  <a:schemeClr val="accent6">
                    <a:shade val="15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dirty="0">
                      <a:solidFill>
                        <a:schemeClr val="tx1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Shared</a:t>
                  </a:r>
                  <a:endParaRPr lang="zh-TW" altLang="en-US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endParaRPr>
                </a:p>
              </p:txBody>
            </p:sp>
            <p:sp>
              <p:nvSpPr>
                <p:cNvPr id="32" name="矩形: 圓角 31">
                  <a:extLst>
                    <a:ext uri="{FF2B5EF4-FFF2-40B4-BE49-F238E27FC236}">
                      <a16:creationId xmlns:a16="http://schemas.microsoft.com/office/drawing/2014/main" id="{BECEECDF-421B-68C7-36BE-3A97A56AC0AA}"/>
                    </a:ext>
                  </a:extLst>
                </p:cNvPr>
                <p:cNvSpPr/>
                <p:nvPr/>
              </p:nvSpPr>
              <p:spPr>
                <a:xfrm>
                  <a:off x="605936" y="3518732"/>
                  <a:ext cx="1143293" cy="601586"/>
                </a:xfrm>
                <a:prstGeom prst="roundRect">
                  <a:avLst/>
                </a:prstGeom>
              </p:spPr>
              <p:style>
                <a:lnRef idx="2">
                  <a:schemeClr val="accent5">
                    <a:shade val="15000"/>
                  </a:schemeClr>
                </a:lnRef>
                <a:fillRef idx="1">
                  <a:schemeClr val="accent5"/>
                </a:fillRef>
                <a:effectRef idx="0">
                  <a:schemeClr val="accent5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400" b="1" dirty="0">
                      <a:solidFill>
                        <a:schemeClr val="tx1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Head 1</a:t>
                  </a:r>
                  <a:endParaRPr lang="zh-TW" altLang="en-US" sz="1400" b="1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endParaRPr>
                </a:p>
              </p:txBody>
            </p:sp>
            <p:grpSp>
              <p:nvGrpSpPr>
                <p:cNvPr id="33" name="群組 32">
                  <a:extLst>
                    <a:ext uri="{FF2B5EF4-FFF2-40B4-BE49-F238E27FC236}">
                      <a16:creationId xmlns:a16="http://schemas.microsoft.com/office/drawing/2014/main" id="{83608CAB-C64C-6A56-8F31-AD7B86B139A3}"/>
                    </a:ext>
                  </a:extLst>
                </p:cNvPr>
                <p:cNvGrpSpPr/>
                <p:nvPr/>
              </p:nvGrpSpPr>
              <p:grpSpPr>
                <a:xfrm>
                  <a:off x="910033" y="4146873"/>
                  <a:ext cx="7872902" cy="966351"/>
                  <a:chOff x="927788" y="4825938"/>
                  <a:chExt cx="5865080" cy="966351"/>
                </a:xfrm>
              </p:grpSpPr>
              <p:grpSp>
                <p:nvGrpSpPr>
                  <p:cNvPr id="71" name="群組 70">
                    <a:extLst>
                      <a:ext uri="{FF2B5EF4-FFF2-40B4-BE49-F238E27FC236}">
                        <a16:creationId xmlns:a16="http://schemas.microsoft.com/office/drawing/2014/main" id="{B8750EE4-010D-B544-A221-BF2BB2C321E6}"/>
                      </a:ext>
                    </a:extLst>
                  </p:cNvPr>
                  <p:cNvGrpSpPr/>
                  <p:nvPr/>
                </p:nvGrpSpPr>
                <p:grpSpPr>
                  <a:xfrm>
                    <a:off x="927788" y="4843550"/>
                    <a:ext cx="5544147" cy="948739"/>
                    <a:chOff x="1653159" y="2701033"/>
                    <a:chExt cx="2817772" cy="948739"/>
                  </a:xfrm>
                </p:grpSpPr>
                <p:sp>
                  <p:nvSpPr>
                    <p:cNvPr id="77" name="矩形 76">
                      <a:extLst>
                        <a:ext uri="{FF2B5EF4-FFF2-40B4-BE49-F238E27FC236}">
                          <a16:creationId xmlns:a16="http://schemas.microsoft.com/office/drawing/2014/main" id="{0A1222BF-1E48-5561-CCEA-BDBB1ACE828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53159" y="2701033"/>
                      <a:ext cx="40892" cy="656948"/>
                    </a:xfrm>
                    <a:prstGeom prst="rect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p:txBody>
                </p:sp>
                <p:sp>
                  <p:nvSpPr>
                    <p:cNvPr id="78" name="矩形 77">
                      <a:extLst>
                        <a:ext uri="{FF2B5EF4-FFF2-40B4-BE49-F238E27FC236}">
                          <a16:creationId xmlns:a16="http://schemas.microsoft.com/office/drawing/2014/main" id="{CA65722C-D2E7-2B26-4FB3-F3E1E110A3C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49206" y="2701033"/>
                      <a:ext cx="40892" cy="656948"/>
                    </a:xfrm>
                    <a:prstGeom prst="rect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p:txBody>
                </p:sp>
                <p:sp>
                  <p:nvSpPr>
                    <p:cNvPr id="79" name="矩形 78">
                      <a:extLst>
                        <a:ext uri="{FF2B5EF4-FFF2-40B4-BE49-F238E27FC236}">
                          <a16:creationId xmlns:a16="http://schemas.microsoft.com/office/drawing/2014/main" id="{12856073-4E8F-724F-F877-9C2C49D10CB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30039" y="2701033"/>
                      <a:ext cx="40892" cy="656948"/>
                    </a:xfrm>
                    <a:prstGeom prst="rect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p:txBody>
                </p:sp>
                <p:sp>
                  <p:nvSpPr>
                    <p:cNvPr id="80" name="矩形 79">
                      <a:extLst>
                        <a:ext uri="{FF2B5EF4-FFF2-40B4-BE49-F238E27FC236}">
                          <a16:creationId xmlns:a16="http://schemas.microsoft.com/office/drawing/2014/main" id="{511BE064-4C00-38B6-AE27-7003C47E2D0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2990039" y="1917493"/>
                      <a:ext cx="108000" cy="2772000"/>
                    </a:xfrm>
                    <a:prstGeom prst="rect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p:txBody>
                </p:sp>
                <p:sp>
                  <p:nvSpPr>
                    <p:cNvPr id="81" name="箭號: 向下 80">
                      <a:extLst>
                        <a:ext uri="{FF2B5EF4-FFF2-40B4-BE49-F238E27FC236}">
                          <a16:creationId xmlns:a16="http://schemas.microsoft.com/office/drawing/2014/main" id="{985BA7CC-CCCA-4E6D-2B97-7895F315C75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31366" y="3253772"/>
                      <a:ext cx="81783" cy="396000"/>
                    </a:xfrm>
                    <a:prstGeom prst="downArrow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p:txBody>
                </p:sp>
              </p:grpSp>
              <p:grpSp>
                <p:nvGrpSpPr>
                  <p:cNvPr id="72" name="群組 71">
                    <a:extLst>
                      <a:ext uri="{FF2B5EF4-FFF2-40B4-BE49-F238E27FC236}">
                        <a16:creationId xmlns:a16="http://schemas.microsoft.com/office/drawing/2014/main" id="{544F6709-B540-5E6F-AD73-44C8CC584E28}"/>
                      </a:ext>
                    </a:extLst>
                  </p:cNvPr>
                  <p:cNvGrpSpPr/>
                  <p:nvPr/>
                </p:nvGrpSpPr>
                <p:grpSpPr>
                  <a:xfrm>
                    <a:off x="1121379" y="4825938"/>
                    <a:ext cx="5671489" cy="945473"/>
                    <a:chOff x="1024147" y="4805717"/>
                    <a:chExt cx="2965142" cy="945473"/>
                  </a:xfrm>
                </p:grpSpPr>
                <p:sp>
                  <p:nvSpPr>
                    <p:cNvPr id="73" name="箭號: 上彎 72">
                      <a:extLst>
                        <a:ext uri="{FF2B5EF4-FFF2-40B4-BE49-F238E27FC236}">
                          <a16:creationId xmlns:a16="http://schemas.microsoft.com/office/drawing/2014/main" id="{EC26C22B-613D-EEAB-69A3-16E4AF5CCB4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80225" y="4805717"/>
                      <a:ext cx="602206" cy="386056"/>
                    </a:xfrm>
                    <a:prstGeom prst="bentUpArrow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2">
                        <a:shade val="15000"/>
                      </a:schemeClr>
                    </a:lnRef>
                    <a:fillRef idx="1">
                      <a:schemeClr val="accent2"/>
                    </a:fillRef>
                    <a:effectRef idx="0">
                      <a:schemeClr val="accent2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p:txBody>
                </p:sp>
                <p:sp>
                  <p:nvSpPr>
                    <p:cNvPr id="74" name="箭號: 上彎 73">
                      <a:extLst>
                        <a:ext uri="{FF2B5EF4-FFF2-40B4-BE49-F238E27FC236}">
                          <a16:creationId xmlns:a16="http://schemas.microsoft.com/office/drawing/2014/main" id="{334EBA7C-1D12-C528-8A3B-4827EB8BA14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118007" y="4805717"/>
                      <a:ext cx="1871282" cy="386056"/>
                    </a:xfrm>
                    <a:prstGeom prst="bentUpArrow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2">
                        <a:shade val="15000"/>
                      </a:schemeClr>
                    </a:lnRef>
                    <a:fillRef idx="1">
                      <a:schemeClr val="accent2"/>
                    </a:fillRef>
                    <a:effectRef idx="0">
                      <a:schemeClr val="accent2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p:txBody>
                </p:sp>
                <p:sp>
                  <p:nvSpPr>
                    <p:cNvPr id="75" name="箭號: 上彎 74">
                      <a:extLst>
                        <a:ext uri="{FF2B5EF4-FFF2-40B4-BE49-F238E27FC236}">
                          <a16:creationId xmlns:a16="http://schemas.microsoft.com/office/drawing/2014/main" id="{B69358BB-4561-002F-7891-6126DB4DCE5C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1024147" y="4805717"/>
                      <a:ext cx="862088" cy="386056"/>
                    </a:xfrm>
                    <a:prstGeom prst="bentUpArrow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2">
                        <a:shade val="15000"/>
                      </a:schemeClr>
                    </a:lnRef>
                    <a:fillRef idx="1">
                      <a:schemeClr val="accent2"/>
                    </a:fillRef>
                    <a:effectRef idx="0">
                      <a:schemeClr val="accent2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p:txBody>
                </p:sp>
                <p:sp>
                  <p:nvSpPr>
                    <p:cNvPr id="76" name="矩形 75">
                      <a:extLst>
                        <a:ext uri="{FF2B5EF4-FFF2-40B4-BE49-F238E27FC236}">
                          <a16:creationId xmlns:a16="http://schemas.microsoft.com/office/drawing/2014/main" id="{E058954E-C539-AD43-5D48-108391B325D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86233" y="5139190"/>
                      <a:ext cx="42064" cy="612000"/>
                    </a:xfrm>
                    <a:prstGeom prst="rect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2">
                        <a:shade val="15000"/>
                      </a:schemeClr>
                    </a:lnRef>
                    <a:fillRef idx="1">
                      <a:schemeClr val="accent2"/>
                    </a:fillRef>
                    <a:effectRef idx="0">
                      <a:schemeClr val="accent2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p:txBody>
                </p:sp>
              </p:grpSp>
            </p:grpSp>
            <p:sp>
              <p:nvSpPr>
                <p:cNvPr id="34" name="矩形: 圓角 33">
                  <a:extLst>
                    <a:ext uri="{FF2B5EF4-FFF2-40B4-BE49-F238E27FC236}">
                      <a16:creationId xmlns:a16="http://schemas.microsoft.com/office/drawing/2014/main" id="{71E181DE-1993-41ED-ADC8-C3D6192B967F}"/>
                    </a:ext>
                  </a:extLst>
                </p:cNvPr>
                <p:cNvSpPr/>
                <p:nvPr/>
              </p:nvSpPr>
              <p:spPr>
                <a:xfrm>
                  <a:off x="605936" y="2237747"/>
                  <a:ext cx="1143293" cy="601586"/>
                </a:xfrm>
                <a:prstGeom prst="roundRect">
                  <a:avLst/>
                </a:prstGeom>
              </p:spPr>
              <p:style>
                <a:lnRef idx="2">
                  <a:schemeClr val="accent4">
                    <a:shade val="15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1100" b="1" dirty="0">
                      <a:solidFill>
                        <a:schemeClr val="tx1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CE</a:t>
                  </a:r>
                  <a:r>
                    <a:rPr lang="zh-TW" altLang="en-US" sz="1100" b="1" dirty="0">
                      <a:solidFill>
                        <a:schemeClr val="tx1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 </a:t>
                  </a:r>
                  <a:r>
                    <a:rPr lang="en-US" altLang="zh-TW" sz="1100" b="1" dirty="0">
                      <a:solidFill>
                        <a:schemeClr val="tx1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Loss 1</a:t>
                  </a:r>
                  <a:endParaRPr lang="zh-TW" altLang="en-US" sz="1100" b="1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endParaRPr>
                </a:p>
              </p:txBody>
            </p:sp>
            <p:grpSp>
              <p:nvGrpSpPr>
                <p:cNvPr id="35" name="群組 34">
                  <a:extLst>
                    <a:ext uri="{FF2B5EF4-FFF2-40B4-BE49-F238E27FC236}">
                      <a16:creationId xmlns:a16="http://schemas.microsoft.com/office/drawing/2014/main" id="{A0CEF7BF-F705-CFDC-D5B1-419775BA8F8B}"/>
                    </a:ext>
                  </a:extLst>
                </p:cNvPr>
                <p:cNvGrpSpPr/>
                <p:nvPr/>
              </p:nvGrpSpPr>
              <p:grpSpPr>
                <a:xfrm>
                  <a:off x="910033" y="2931776"/>
                  <a:ext cx="517331" cy="494512"/>
                  <a:chOff x="857746" y="3610841"/>
                  <a:chExt cx="517331" cy="494512"/>
                </a:xfrm>
              </p:grpSpPr>
              <p:grpSp>
                <p:nvGrpSpPr>
                  <p:cNvPr id="67" name="群組 66">
                    <a:extLst>
                      <a:ext uri="{FF2B5EF4-FFF2-40B4-BE49-F238E27FC236}">
                        <a16:creationId xmlns:a16="http://schemas.microsoft.com/office/drawing/2014/main" id="{DDB0F865-4A95-2265-1853-A8D7AD49EF0C}"/>
                      </a:ext>
                    </a:extLst>
                  </p:cNvPr>
                  <p:cNvGrpSpPr/>
                  <p:nvPr/>
                </p:nvGrpSpPr>
                <p:grpSpPr>
                  <a:xfrm>
                    <a:off x="857746" y="3610841"/>
                    <a:ext cx="337591" cy="494512"/>
                    <a:chOff x="2230583" y="2141666"/>
                    <a:chExt cx="337591" cy="494512"/>
                  </a:xfrm>
                </p:grpSpPr>
                <p:sp>
                  <p:nvSpPr>
                    <p:cNvPr id="69" name="箭號: 向上 68">
                      <a:extLst>
                        <a:ext uri="{FF2B5EF4-FFF2-40B4-BE49-F238E27FC236}">
                          <a16:creationId xmlns:a16="http://schemas.microsoft.com/office/drawing/2014/main" id="{ED9B7001-5180-618A-6869-D914D7A718B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230583" y="2141666"/>
                      <a:ext cx="144000" cy="468000"/>
                    </a:xfrm>
                    <a:prstGeom prst="upArrow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2">
                        <a:shade val="15000"/>
                      </a:schemeClr>
                    </a:lnRef>
                    <a:fillRef idx="1">
                      <a:schemeClr val="accent2"/>
                    </a:fillRef>
                    <a:effectRef idx="0">
                      <a:schemeClr val="accent2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p:txBody>
                </p:sp>
                <p:sp>
                  <p:nvSpPr>
                    <p:cNvPr id="70" name="箭號: 向上 69">
                      <a:extLst>
                        <a:ext uri="{FF2B5EF4-FFF2-40B4-BE49-F238E27FC236}">
                          <a16:creationId xmlns:a16="http://schemas.microsoft.com/office/drawing/2014/main" id="{CA355550-243B-F420-B982-D89AC23476B9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2424174" y="2168178"/>
                      <a:ext cx="144000" cy="468000"/>
                    </a:xfrm>
                    <a:prstGeom prst="upArrow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p:txBody>
                </p:sp>
              </p:grpSp>
              <p:sp>
                <p:nvSpPr>
                  <p:cNvPr id="68" name="矩形 67">
                    <a:extLst>
                      <a:ext uri="{FF2B5EF4-FFF2-40B4-BE49-F238E27FC236}">
                        <a16:creationId xmlns:a16="http://schemas.microsoft.com/office/drawing/2014/main" id="{33699C96-2DE7-8F8F-E083-7C05201B4DF5}"/>
                      </a:ext>
                    </a:extLst>
                  </p:cNvPr>
                  <p:cNvSpPr/>
                  <p:nvPr/>
                </p:nvSpPr>
                <p:spPr>
                  <a:xfrm>
                    <a:off x="1267077" y="3844841"/>
                    <a:ext cx="108000" cy="234000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dirty="0">
                      <a:latin typeface="微軟正黑體" panose="020B0604030504040204" pitchFamily="34" charset="-120"/>
                      <a:ea typeface="微軟正黑體" panose="020B0604030504040204" pitchFamily="34" charset="-120"/>
                    </a:endParaRPr>
                  </a:p>
                </p:txBody>
              </p:sp>
            </p:grpSp>
            <p:grpSp>
              <p:nvGrpSpPr>
                <p:cNvPr id="36" name="群組 35">
                  <a:extLst>
                    <a:ext uri="{FF2B5EF4-FFF2-40B4-BE49-F238E27FC236}">
                      <a16:creationId xmlns:a16="http://schemas.microsoft.com/office/drawing/2014/main" id="{0750793B-AAEE-3280-3FE1-36F8EA1E5C5D}"/>
                    </a:ext>
                  </a:extLst>
                </p:cNvPr>
                <p:cNvGrpSpPr/>
                <p:nvPr/>
              </p:nvGrpSpPr>
              <p:grpSpPr>
                <a:xfrm>
                  <a:off x="6062367" y="1262331"/>
                  <a:ext cx="571221" cy="2823813"/>
                  <a:chOff x="4361572" y="1328190"/>
                  <a:chExt cx="571221" cy="2823813"/>
                </a:xfrm>
              </p:grpSpPr>
              <p:sp>
                <p:nvSpPr>
                  <p:cNvPr id="64" name="文字方塊 63">
                    <a:extLst>
                      <a:ext uri="{FF2B5EF4-FFF2-40B4-BE49-F238E27FC236}">
                        <a16:creationId xmlns:a16="http://schemas.microsoft.com/office/drawing/2014/main" id="{C69C4A1B-7173-EB49-E84E-60390F596D80}"/>
                      </a:ext>
                    </a:extLst>
                  </p:cNvPr>
                  <p:cNvSpPr txBox="1"/>
                  <p:nvPr/>
                </p:nvSpPr>
                <p:spPr>
                  <a:xfrm>
                    <a:off x="4364542" y="3505672"/>
                    <a:ext cx="568251" cy="646331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lang="en-US" altLang="zh-TW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rPr>
                      <a:t>… …</a:t>
                    </a:r>
                    <a:endParaRPr lang="zh-TW" altLang="en-US" dirty="0">
                      <a:latin typeface="微軟正黑體" panose="020B0604030504040204" pitchFamily="34" charset="-120"/>
                      <a:ea typeface="微軟正黑體" panose="020B0604030504040204" pitchFamily="34" charset="-120"/>
                    </a:endParaRPr>
                  </a:p>
                </p:txBody>
              </p:sp>
              <p:sp>
                <p:nvSpPr>
                  <p:cNvPr id="65" name="文字方塊 64">
                    <a:extLst>
                      <a:ext uri="{FF2B5EF4-FFF2-40B4-BE49-F238E27FC236}">
                        <a16:creationId xmlns:a16="http://schemas.microsoft.com/office/drawing/2014/main" id="{38181FA2-00FB-26EA-BA26-513D24CCB3A5}"/>
                      </a:ext>
                    </a:extLst>
                  </p:cNvPr>
                  <p:cNvSpPr txBox="1"/>
                  <p:nvPr/>
                </p:nvSpPr>
                <p:spPr>
                  <a:xfrm>
                    <a:off x="4364542" y="2213312"/>
                    <a:ext cx="568251" cy="646331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lang="en-US" altLang="zh-TW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rPr>
                      <a:t>… …</a:t>
                    </a:r>
                    <a:endParaRPr lang="zh-TW" altLang="en-US" dirty="0">
                      <a:latin typeface="微軟正黑體" panose="020B0604030504040204" pitchFamily="34" charset="-120"/>
                      <a:ea typeface="微軟正黑體" panose="020B0604030504040204" pitchFamily="34" charset="-120"/>
                    </a:endParaRPr>
                  </a:p>
                </p:txBody>
              </p:sp>
              <p:sp>
                <p:nvSpPr>
                  <p:cNvPr id="66" name="文字方塊 65">
                    <a:extLst>
                      <a:ext uri="{FF2B5EF4-FFF2-40B4-BE49-F238E27FC236}">
                        <a16:creationId xmlns:a16="http://schemas.microsoft.com/office/drawing/2014/main" id="{2576391F-9DB9-3493-3EF2-DAE8676ED557}"/>
                      </a:ext>
                    </a:extLst>
                  </p:cNvPr>
                  <p:cNvSpPr txBox="1"/>
                  <p:nvPr/>
                </p:nvSpPr>
                <p:spPr>
                  <a:xfrm>
                    <a:off x="4361572" y="1328190"/>
                    <a:ext cx="568251" cy="646331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>
                    <a:spAutoFit/>
                  </a:bodyPr>
                  <a:lstStyle/>
                  <a:p>
                    <a:pPr algn="ctr"/>
                    <a:r>
                      <a:rPr lang="en-US" altLang="zh-TW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rPr>
                      <a:t>… …</a:t>
                    </a:r>
                    <a:endParaRPr lang="zh-TW" altLang="en-US" dirty="0">
                      <a:latin typeface="微軟正黑體" panose="020B0604030504040204" pitchFamily="34" charset="-120"/>
                      <a:ea typeface="微軟正黑體" panose="020B0604030504040204" pitchFamily="34" charset="-120"/>
                    </a:endParaRPr>
                  </a:p>
                </p:txBody>
              </p:sp>
            </p:grpSp>
            <p:grpSp>
              <p:nvGrpSpPr>
                <p:cNvPr id="37" name="群組 36">
                  <a:extLst>
                    <a:ext uri="{FF2B5EF4-FFF2-40B4-BE49-F238E27FC236}">
                      <a16:creationId xmlns:a16="http://schemas.microsoft.com/office/drawing/2014/main" id="{EBE49EDA-0AFA-00C8-1B24-8DCC0A63B8CB}"/>
                    </a:ext>
                  </a:extLst>
                </p:cNvPr>
                <p:cNvGrpSpPr/>
                <p:nvPr/>
              </p:nvGrpSpPr>
              <p:grpSpPr>
                <a:xfrm>
                  <a:off x="1833985" y="1382471"/>
                  <a:ext cx="4020558" cy="2747159"/>
                  <a:chOff x="1833985" y="1382471"/>
                  <a:chExt cx="2577457" cy="2747159"/>
                </a:xfrm>
              </p:grpSpPr>
              <p:sp>
                <p:nvSpPr>
                  <p:cNvPr id="57" name="矩形: 圓角 56">
                    <a:extLst>
                      <a:ext uri="{FF2B5EF4-FFF2-40B4-BE49-F238E27FC236}">
                        <a16:creationId xmlns:a16="http://schemas.microsoft.com/office/drawing/2014/main" id="{55F74A24-C87C-9388-E7CE-5304840C498E}"/>
                      </a:ext>
                    </a:extLst>
                  </p:cNvPr>
                  <p:cNvSpPr/>
                  <p:nvPr/>
                </p:nvSpPr>
                <p:spPr>
                  <a:xfrm>
                    <a:off x="1839926" y="3528044"/>
                    <a:ext cx="2337467" cy="601586"/>
                  </a:xfrm>
                  <a:prstGeom prst="roundRect">
                    <a:avLst/>
                  </a:prstGeom>
                </p:spPr>
                <p:style>
                  <a:lnRef idx="2">
                    <a:schemeClr val="accent5">
                      <a:shade val="15000"/>
                    </a:schemeClr>
                  </a:lnRef>
                  <a:fillRef idx="1">
                    <a:schemeClr val="accent5"/>
                  </a:fillRef>
                  <a:effectRef idx="0">
                    <a:schemeClr val="accent5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6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rPr>
                      <a:t>Head 2</a:t>
                    </a:r>
                    <a:endParaRPr lang="zh-TW" altLang="en-US" sz="1600" dirty="0">
                      <a:solidFill>
                        <a:schemeClr val="tx1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</a:endParaRPr>
                  </a:p>
                </p:txBody>
              </p:sp>
              <p:sp>
                <p:nvSpPr>
                  <p:cNvPr id="58" name="矩形: 圓角 57">
                    <a:extLst>
                      <a:ext uri="{FF2B5EF4-FFF2-40B4-BE49-F238E27FC236}">
                        <a16:creationId xmlns:a16="http://schemas.microsoft.com/office/drawing/2014/main" id="{0F5F5805-BBD4-6702-9562-2F776DC9A5A4}"/>
                      </a:ext>
                    </a:extLst>
                  </p:cNvPr>
                  <p:cNvSpPr/>
                  <p:nvPr/>
                </p:nvSpPr>
                <p:spPr>
                  <a:xfrm>
                    <a:off x="1833985" y="1382471"/>
                    <a:ext cx="2337467" cy="601586"/>
                  </a:xfrm>
                  <a:prstGeom prst="roundRect">
                    <a:avLst/>
                  </a:prstGeom>
                  <a:solidFill>
                    <a:schemeClr val="tx2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5">
                      <a:shade val="15000"/>
                    </a:schemeClr>
                  </a:lnRef>
                  <a:fillRef idx="1">
                    <a:schemeClr val="accent5"/>
                  </a:fillRef>
                  <a:effectRef idx="0">
                    <a:schemeClr val="accent5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rPr>
                      <a:t>Add</a:t>
                    </a:r>
                    <a:endParaRPr lang="zh-TW" altLang="en-US" dirty="0">
                      <a:solidFill>
                        <a:schemeClr val="tx1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</a:endParaRPr>
                  </a:p>
                </p:txBody>
              </p:sp>
              <p:grpSp>
                <p:nvGrpSpPr>
                  <p:cNvPr id="59" name="群組 58">
                    <a:extLst>
                      <a:ext uri="{FF2B5EF4-FFF2-40B4-BE49-F238E27FC236}">
                        <a16:creationId xmlns:a16="http://schemas.microsoft.com/office/drawing/2014/main" id="{AFEF954C-3329-1C5E-27AF-472D88120563}"/>
                      </a:ext>
                    </a:extLst>
                  </p:cNvPr>
                  <p:cNvGrpSpPr/>
                  <p:nvPr/>
                </p:nvGrpSpPr>
                <p:grpSpPr>
                  <a:xfrm>
                    <a:off x="4181160" y="1647994"/>
                    <a:ext cx="230282" cy="2314767"/>
                    <a:chOff x="4198915" y="2327059"/>
                    <a:chExt cx="230282" cy="2314767"/>
                  </a:xfrm>
                </p:grpSpPr>
                <p:sp>
                  <p:nvSpPr>
                    <p:cNvPr id="60" name="矩形 59">
                      <a:extLst>
                        <a:ext uri="{FF2B5EF4-FFF2-40B4-BE49-F238E27FC236}">
                          <a16:creationId xmlns:a16="http://schemas.microsoft.com/office/drawing/2014/main" id="{7049A5A6-3E88-E7B3-7401-C348DE19988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69619" y="2327060"/>
                      <a:ext cx="59578" cy="2268000"/>
                    </a:xfrm>
                    <a:prstGeom prst="rect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p:txBody>
                </p:sp>
                <p:grpSp>
                  <p:nvGrpSpPr>
                    <p:cNvPr id="61" name="群組 60">
                      <a:extLst>
                        <a:ext uri="{FF2B5EF4-FFF2-40B4-BE49-F238E27FC236}">
                          <a16:creationId xmlns:a16="http://schemas.microsoft.com/office/drawing/2014/main" id="{33656695-902B-13CE-AF46-91B0C2C230D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198915" y="2327059"/>
                      <a:ext cx="200493" cy="2314767"/>
                      <a:chOff x="4198915" y="2327059"/>
                      <a:chExt cx="200493" cy="2314767"/>
                    </a:xfrm>
                  </p:grpSpPr>
                  <p:sp>
                    <p:nvSpPr>
                      <p:cNvPr id="62" name="矩形 61">
                        <a:extLst>
                          <a:ext uri="{FF2B5EF4-FFF2-40B4-BE49-F238E27FC236}">
                            <a16:creationId xmlns:a16="http://schemas.microsoft.com/office/drawing/2014/main" id="{11BB2F8F-0226-3B69-9F7D-353969A44CD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198915" y="2327059"/>
                        <a:ext cx="200493" cy="72000"/>
                      </a:xfrm>
                      <a:prstGeom prst="rect">
                        <a:avLst/>
                      </a:prstGeom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endParaRPr>
                      </a:p>
                    </p:txBody>
                  </p:sp>
                  <p:sp>
                    <p:nvSpPr>
                      <p:cNvPr id="63" name="箭號: 向左 62">
                        <a:extLst>
                          <a:ext uri="{FF2B5EF4-FFF2-40B4-BE49-F238E27FC236}">
                            <a16:creationId xmlns:a16="http://schemas.microsoft.com/office/drawing/2014/main" id="{65BDC8C3-AAE8-B309-89D1-2EBB2E4DF1F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207826" y="4461826"/>
                        <a:ext cx="180000" cy="180000"/>
                      </a:xfrm>
                      <a:prstGeom prst="leftArrow">
                        <a:avLst/>
                      </a:prstGeom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TW" altLang="en-US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38" name="群組 37">
                  <a:extLst>
                    <a:ext uri="{FF2B5EF4-FFF2-40B4-BE49-F238E27FC236}">
                      <a16:creationId xmlns:a16="http://schemas.microsoft.com/office/drawing/2014/main" id="{ABC573B0-D8E3-7481-A0FF-097851200FE8}"/>
                    </a:ext>
                  </a:extLst>
                </p:cNvPr>
                <p:cNvGrpSpPr/>
                <p:nvPr/>
              </p:nvGrpSpPr>
              <p:grpSpPr>
                <a:xfrm>
                  <a:off x="6794792" y="1379985"/>
                  <a:ext cx="3932526" cy="2782428"/>
                  <a:chOff x="5119943" y="1347202"/>
                  <a:chExt cx="3932526" cy="2782428"/>
                </a:xfrm>
              </p:grpSpPr>
              <p:sp>
                <p:nvSpPr>
                  <p:cNvPr id="39" name="矩形: 圓角 38">
                    <a:extLst>
                      <a:ext uri="{FF2B5EF4-FFF2-40B4-BE49-F238E27FC236}">
                        <a16:creationId xmlns:a16="http://schemas.microsoft.com/office/drawing/2014/main" id="{1FC3DA65-E2E6-14DD-67BC-7EE5F1A590DE}"/>
                      </a:ext>
                    </a:extLst>
                  </p:cNvPr>
                  <p:cNvSpPr/>
                  <p:nvPr/>
                </p:nvSpPr>
                <p:spPr>
                  <a:xfrm>
                    <a:off x="5119943" y="2235684"/>
                    <a:ext cx="1113375" cy="601586"/>
                  </a:xfrm>
                  <a:prstGeom prst="round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1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rPr>
                      <a:t>CE</a:t>
                    </a:r>
                    <a:r>
                      <a:rPr lang="zh-TW" altLang="en-US" sz="11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rPr>
                      <a:t> </a:t>
                    </a:r>
                    <a:r>
                      <a:rPr lang="en-US" altLang="zh-TW" sz="11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rPr>
                      <a:t>Loss K</a:t>
                    </a:r>
                    <a:endParaRPr lang="zh-TW" altLang="en-US" sz="1100" b="1" dirty="0">
                      <a:solidFill>
                        <a:schemeClr val="tx1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</a:endParaRPr>
                  </a:p>
                </p:txBody>
              </p:sp>
              <p:grpSp>
                <p:nvGrpSpPr>
                  <p:cNvPr id="40" name="群組 39">
                    <a:extLst>
                      <a:ext uri="{FF2B5EF4-FFF2-40B4-BE49-F238E27FC236}">
                        <a16:creationId xmlns:a16="http://schemas.microsoft.com/office/drawing/2014/main" id="{6AD31FD9-CFC9-3BC6-DAA9-4BA363EEF52C}"/>
                      </a:ext>
                    </a:extLst>
                  </p:cNvPr>
                  <p:cNvGrpSpPr/>
                  <p:nvPr/>
                </p:nvGrpSpPr>
                <p:grpSpPr>
                  <a:xfrm>
                    <a:off x="6621178" y="2926550"/>
                    <a:ext cx="613876" cy="468000"/>
                    <a:chOff x="2136461" y="3605615"/>
                    <a:chExt cx="613876" cy="468000"/>
                  </a:xfrm>
                </p:grpSpPr>
                <p:sp>
                  <p:nvSpPr>
                    <p:cNvPr id="55" name="箭號: 向上 54">
                      <a:extLst>
                        <a:ext uri="{FF2B5EF4-FFF2-40B4-BE49-F238E27FC236}">
                          <a16:creationId xmlns:a16="http://schemas.microsoft.com/office/drawing/2014/main" id="{9EE21966-B3AD-3C8F-923E-329C0708068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136461" y="3605615"/>
                      <a:ext cx="144000" cy="468000"/>
                    </a:xfrm>
                    <a:prstGeom prst="upArrow">
                      <a:avLst/>
                    </a:prstGeom>
                    <a:solidFill>
                      <a:srgbClr val="00B050"/>
                    </a:solidFill>
                    <a:ln>
                      <a:noFill/>
                    </a:ln>
                  </p:spPr>
                  <p:style>
                    <a:lnRef idx="2">
                      <a:schemeClr val="accent2">
                        <a:shade val="15000"/>
                      </a:schemeClr>
                    </a:lnRef>
                    <a:fillRef idx="1">
                      <a:schemeClr val="accent2"/>
                    </a:fillRef>
                    <a:effectRef idx="0">
                      <a:schemeClr val="accent2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p:txBody>
                </p:sp>
                <p:sp>
                  <p:nvSpPr>
                    <p:cNvPr id="56" name="箭號: 向上 55">
                      <a:extLst>
                        <a:ext uri="{FF2B5EF4-FFF2-40B4-BE49-F238E27FC236}">
                          <a16:creationId xmlns:a16="http://schemas.microsoft.com/office/drawing/2014/main" id="{779FDD16-A83A-3C5F-9569-4923C899FC1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06337" y="3605615"/>
                      <a:ext cx="144000" cy="234000"/>
                    </a:xfrm>
                    <a:prstGeom prst="upArrow">
                      <a:avLst/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p:txBody>
                </p:sp>
              </p:grpSp>
              <p:sp>
                <p:nvSpPr>
                  <p:cNvPr id="41" name="箭號: 向上 40">
                    <a:extLst>
                      <a:ext uri="{FF2B5EF4-FFF2-40B4-BE49-F238E27FC236}">
                        <a16:creationId xmlns:a16="http://schemas.microsoft.com/office/drawing/2014/main" id="{AA3F0EB9-080C-EB04-42F5-AC1F024EC1FE}"/>
                      </a:ext>
                    </a:extLst>
                  </p:cNvPr>
                  <p:cNvSpPr/>
                  <p:nvPr/>
                </p:nvSpPr>
                <p:spPr>
                  <a:xfrm>
                    <a:off x="5609384" y="2926550"/>
                    <a:ext cx="144000" cy="468000"/>
                  </a:xfrm>
                  <a:prstGeom prst="upArrow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2">
                      <a:shade val="15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>
                      <a:latin typeface="微軟正黑體" panose="020B0604030504040204" pitchFamily="34" charset="-120"/>
                      <a:ea typeface="微軟正黑體" panose="020B0604030504040204" pitchFamily="34" charset="-120"/>
                    </a:endParaRPr>
                  </a:p>
                </p:txBody>
              </p:sp>
              <p:sp>
                <p:nvSpPr>
                  <p:cNvPr id="42" name="箭號: 向上 41">
                    <a:extLst>
                      <a:ext uri="{FF2B5EF4-FFF2-40B4-BE49-F238E27FC236}">
                        <a16:creationId xmlns:a16="http://schemas.microsoft.com/office/drawing/2014/main" id="{A85BE5B5-C490-1D33-0D5D-CCB43FE4BF59}"/>
                      </a:ext>
                    </a:extLst>
                  </p:cNvPr>
                  <p:cNvSpPr/>
                  <p:nvPr/>
                </p:nvSpPr>
                <p:spPr>
                  <a:xfrm>
                    <a:off x="5609384" y="1984057"/>
                    <a:ext cx="144000" cy="216000"/>
                  </a:xfrm>
                  <a:prstGeom prst="upArrow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2">
                      <a:shade val="15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>
                      <a:latin typeface="微軟正黑體" panose="020B0604030504040204" pitchFamily="34" charset="-120"/>
                      <a:ea typeface="微軟正黑體" panose="020B0604030504040204" pitchFamily="34" charset="-120"/>
                    </a:endParaRPr>
                  </a:p>
                </p:txBody>
              </p:sp>
              <p:sp>
                <p:nvSpPr>
                  <p:cNvPr id="43" name="箭號: 向上 42">
                    <a:extLst>
                      <a:ext uri="{FF2B5EF4-FFF2-40B4-BE49-F238E27FC236}">
                        <a16:creationId xmlns:a16="http://schemas.microsoft.com/office/drawing/2014/main" id="{A334D02C-5A7E-7BC5-3DD6-815FD87C566C}"/>
                      </a:ext>
                    </a:extLst>
                  </p:cNvPr>
                  <p:cNvSpPr/>
                  <p:nvPr/>
                </p:nvSpPr>
                <p:spPr>
                  <a:xfrm>
                    <a:off x="6832604" y="1984057"/>
                    <a:ext cx="144000" cy="216000"/>
                  </a:xfrm>
                  <a:prstGeom prst="upArrow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2">
                      <a:shade val="15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>
                      <a:latin typeface="微軟正黑體" panose="020B0604030504040204" pitchFamily="34" charset="-120"/>
                      <a:ea typeface="微軟正黑體" panose="020B0604030504040204" pitchFamily="34" charset="-120"/>
                    </a:endParaRPr>
                  </a:p>
                </p:txBody>
              </p:sp>
              <p:sp>
                <p:nvSpPr>
                  <p:cNvPr id="44" name="矩形: 圓角 43">
                    <a:extLst>
                      <a:ext uri="{FF2B5EF4-FFF2-40B4-BE49-F238E27FC236}">
                        <a16:creationId xmlns:a16="http://schemas.microsoft.com/office/drawing/2014/main" id="{85CFA479-001F-0F49-5FBF-0EB96FBBD5A0}"/>
                      </a:ext>
                    </a:extLst>
                  </p:cNvPr>
                  <p:cNvSpPr/>
                  <p:nvPr/>
                </p:nvSpPr>
                <p:spPr>
                  <a:xfrm>
                    <a:off x="5119943" y="3528044"/>
                    <a:ext cx="3562573" cy="601586"/>
                  </a:xfrm>
                  <a:prstGeom prst="roundRect">
                    <a:avLst/>
                  </a:prstGeom>
                </p:spPr>
                <p:style>
                  <a:lnRef idx="2">
                    <a:schemeClr val="accent5">
                      <a:shade val="15000"/>
                    </a:schemeClr>
                  </a:lnRef>
                  <a:fillRef idx="1">
                    <a:schemeClr val="accent5"/>
                  </a:fillRef>
                  <a:effectRef idx="0">
                    <a:schemeClr val="accent5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6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rPr>
                      <a:t>Head K</a:t>
                    </a:r>
                    <a:endParaRPr lang="zh-TW" altLang="en-US" sz="1600" dirty="0">
                      <a:solidFill>
                        <a:schemeClr val="tx1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</a:endParaRPr>
                  </a:p>
                </p:txBody>
              </p:sp>
              <p:grpSp>
                <p:nvGrpSpPr>
                  <p:cNvPr id="45" name="群組 44">
                    <a:extLst>
                      <a:ext uri="{FF2B5EF4-FFF2-40B4-BE49-F238E27FC236}">
                        <a16:creationId xmlns:a16="http://schemas.microsoft.com/office/drawing/2014/main" id="{C01835E1-C7A3-AA46-CECE-06514EB0096E}"/>
                      </a:ext>
                    </a:extLst>
                  </p:cNvPr>
                  <p:cNvGrpSpPr/>
                  <p:nvPr/>
                </p:nvGrpSpPr>
                <p:grpSpPr>
                  <a:xfrm>
                    <a:off x="8694245" y="1647994"/>
                    <a:ext cx="312802" cy="2314744"/>
                    <a:chOff x="4194267" y="2327059"/>
                    <a:chExt cx="205141" cy="2314744"/>
                  </a:xfrm>
                </p:grpSpPr>
                <p:sp>
                  <p:nvSpPr>
                    <p:cNvPr id="53" name="矩形 52">
                      <a:extLst>
                        <a:ext uri="{FF2B5EF4-FFF2-40B4-BE49-F238E27FC236}">
                          <a16:creationId xmlns:a16="http://schemas.microsoft.com/office/drawing/2014/main" id="{B52811F9-156B-8D2D-CDF1-7DC2E62D084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98915" y="2327059"/>
                      <a:ext cx="200493" cy="90000"/>
                    </a:xfrm>
                    <a:prstGeom prst="rect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p:txBody>
                </p:sp>
                <p:sp>
                  <p:nvSpPr>
                    <p:cNvPr id="54" name="箭號: 向左 53">
                      <a:extLst>
                        <a:ext uri="{FF2B5EF4-FFF2-40B4-BE49-F238E27FC236}">
                          <a16:creationId xmlns:a16="http://schemas.microsoft.com/office/drawing/2014/main" id="{C1AB85D7-8D07-959F-546C-18711124BCB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94267" y="4461803"/>
                      <a:ext cx="180000" cy="180000"/>
                    </a:xfrm>
                    <a:prstGeom prst="leftArrow">
                      <a:avLst/>
                    </a:prstGeom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TW" altLang="en-US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p:txBody>
                </p:sp>
              </p:grpSp>
              <p:sp>
                <p:nvSpPr>
                  <p:cNvPr id="46" name="矩形: 圓角 45">
                    <a:extLst>
                      <a:ext uri="{FF2B5EF4-FFF2-40B4-BE49-F238E27FC236}">
                        <a16:creationId xmlns:a16="http://schemas.microsoft.com/office/drawing/2014/main" id="{0CEFFEE3-513E-954C-0097-93A32C4703B3}"/>
                      </a:ext>
                    </a:extLst>
                  </p:cNvPr>
                  <p:cNvSpPr/>
                  <p:nvPr/>
                </p:nvSpPr>
                <p:spPr>
                  <a:xfrm>
                    <a:off x="5119943" y="1347202"/>
                    <a:ext cx="3564200" cy="601586"/>
                  </a:xfrm>
                  <a:prstGeom prst="roundRect">
                    <a:avLst/>
                  </a:prstGeom>
                  <a:solidFill>
                    <a:schemeClr val="tx2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5">
                      <a:shade val="15000"/>
                    </a:schemeClr>
                  </a:lnRef>
                  <a:fillRef idx="1">
                    <a:schemeClr val="accent5"/>
                  </a:fillRef>
                  <a:effectRef idx="0">
                    <a:schemeClr val="accent5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rPr>
                      <a:t>Add</a:t>
                    </a:r>
                    <a:endParaRPr lang="zh-TW" altLang="en-US" dirty="0">
                      <a:solidFill>
                        <a:schemeClr val="tx1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</a:endParaRPr>
                  </a:p>
                </p:txBody>
              </p:sp>
              <p:sp>
                <p:nvSpPr>
                  <p:cNvPr id="47" name="矩形 46">
                    <a:extLst>
                      <a:ext uri="{FF2B5EF4-FFF2-40B4-BE49-F238E27FC236}">
                        <a16:creationId xmlns:a16="http://schemas.microsoft.com/office/drawing/2014/main" id="{5EC48091-B2E7-5434-E138-CCC4B773A822}"/>
                      </a:ext>
                    </a:extLst>
                  </p:cNvPr>
                  <p:cNvSpPr/>
                  <p:nvPr/>
                </p:nvSpPr>
                <p:spPr>
                  <a:xfrm>
                    <a:off x="8961624" y="1647995"/>
                    <a:ext cx="90845" cy="2268000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dirty="0">
                      <a:latin typeface="微軟正黑體" panose="020B0604030504040204" pitchFamily="34" charset="-120"/>
                      <a:ea typeface="微軟正黑體" panose="020B0604030504040204" pitchFamily="34" charset="-120"/>
                    </a:endParaRPr>
                  </a:p>
                </p:txBody>
              </p:sp>
              <p:sp>
                <p:nvSpPr>
                  <p:cNvPr id="48" name="矩形: 圓角 47">
                    <a:extLst>
                      <a:ext uri="{FF2B5EF4-FFF2-40B4-BE49-F238E27FC236}">
                        <a16:creationId xmlns:a16="http://schemas.microsoft.com/office/drawing/2014/main" id="{C050283C-EF63-902E-DF81-124B17048713}"/>
                      </a:ext>
                    </a:extLst>
                  </p:cNvPr>
                  <p:cNvSpPr/>
                  <p:nvPr/>
                </p:nvSpPr>
                <p:spPr>
                  <a:xfrm>
                    <a:off x="6295316" y="2241003"/>
                    <a:ext cx="1277949" cy="601586"/>
                  </a:xfrm>
                  <a:prstGeom prst="round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1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rPr>
                      <a:t>LCM Loss K</a:t>
                    </a:r>
                    <a:endParaRPr lang="zh-TW" altLang="en-US" sz="1100" b="1" dirty="0">
                      <a:solidFill>
                        <a:schemeClr val="tx1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</a:endParaRPr>
                  </a:p>
                </p:txBody>
              </p:sp>
              <p:sp>
                <p:nvSpPr>
                  <p:cNvPr id="49" name="矩形: 圓角 48">
                    <a:extLst>
                      <a:ext uri="{FF2B5EF4-FFF2-40B4-BE49-F238E27FC236}">
                        <a16:creationId xmlns:a16="http://schemas.microsoft.com/office/drawing/2014/main" id="{64958959-8FC5-B8E9-F36C-1FC4FF8A5E60}"/>
                      </a:ext>
                    </a:extLst>
                  </p:cNvPr>
                  <p:cNvSpPr/>
                  <p:nvPr/>
                </p:nvSpPr>
                <p:spPr>
                  <a:xfrm>
                    <a:off x="7619682" y="2233629"/>
                    <a:ext cx="1277949" cy="601586"/>
                  </a:xfrm>
                  <a:prstGeom prst="roundRect">
                    <a:avLst/>
                  </a:prstGeom>
                </p:spPr>
                <p:style>
                  <a:lnRef idx="2">
                    <a:schemeClr val="accent4">
                      <a:shade val="15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1100" b="1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rPr>
                      <a:t>SDC Loss K</a:t>
                    </a:r>
                    <a:endParaRPr lang="zh-TW" altLang="en-US" sz="1100" b="1" dirty="0">
                      <a:solidFill>
                        <a:schemeClr val="tx1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</a:endParaRPr>
                  </a:p>
                </p:txBody>
              </p:sp>
              <p:sp>
                <p:nvSpPr>
                  <p:cNvPr id="50" name="箭號: 向上 49">
                    <a:extLst>
                      <a:ext uri="{FF2B5EF4-FFF2-40B4-BE49-F238E27FC236}">
                        <a16:creationId xmlns:a16="http://schemas.microsoft.com/office/drawing/2014/main" id="{0185C914-59C8-02B7-8D94-0D37B872E0BC}"/>
                      </a:ext>
                    </a:extLst>
                  </p:cNvPr>
                  <p:cNvSpPr/>
                  <p:nvPr/>
                </p:nvSpPr>
                <p:spPr>
                  <a:xfrm>
                    <a:off x="8568611" y="2920788"/>
                    <a:ext cx="144000" cy="234000"/>
                  </a:xfrm>
                  <a:prstGeom prst="upArrow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dirty="0">
                      <a:latin typeface="微軟正黑體" panose="020B0604030504040204" pitchFamily="34" charset="-120"/>
                      <a:ea typeface="微軟正黑體" panose="020B0604030504040204" pitchFamily="34" charset="-120"/>
                    </a:endParaRPr>
                  </a:p>
                </p:txBody>
              </p:sp>
              <p:sp>
                <p:nvSpPr>
                  <p:cNvPr id="51" name="箭號: 向上 50">
                    <a:extLst>
                      <a:ext uri="{FF2B5EF4-FFF2-40B4-BE49-F238E27FC236}">
                        <a16:creationId xmlns:a16="http://schemas.microsoft.com/office/drawing/2014/main" id="{CB23C83F-8767-A781-C50C-20E612CC195A}"/>
                      </a:ext>
                    </a:extLst>
                  </p:cNvPr>
                  <p:cNvSpPr/>
                  <p:nvPr/>
                </p:nvSpPr>
                <p:spPr>
                  <a:xfrm>
                    <a:off x="8192058" y="1986450"/>
                    <a:ext cx="144000" cy="216000"/>
                  </a:xfrm>
                  <a:prstGeom prst="upArrow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2">
                      <a:shade val="15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>
                      <a:latin typeface="微軟正黑體" panose="020B0604030504040204" pitchFamily="34" charset="-120"/>
                      <a:ea typeface="微軟正黑體" panose="020B0604030504040204" pitchFamily="34" charset="-120"/>
                    </a:endParaRPr>
                  </a:p>
                </p:txBody>
              </p:sp>
              <p:sp>
                <p:nvSpPr>
                  <p:cNvPr id="52" name="箭號: 向上 51">
                    <a:extLst>
                      <a:ext uri="{FF2B5EF4-FFF2-40B4-BE49-F238E27FC236}">
                        <a16:creationId xmlns:a16="http://schemas.microsoft.com/office/drawing/2014/main" id="{FF5780A4-09FC-8A66-4A17-0C73DE62B4A5}"/>
                      </a:ext>
                    </a:extLst>
                  </p:cNvPr>
                  <p:cNvSpPr/>
                  <p:nvPr/>
                </p:nvSpPr>
                <p:spPr>
                  <a:xfrm>
                    <a:off x="8088527" y="2928996"/>
                    <a:ext cx="144000" cy="468000"/>
                  </a:xfrm>
                  <a:prstGeom prst="upArrow">
                    <a:avLst/>
                  </a:prstGeom>
                  <a:solidFill>
                    <a:srgbClr val="7030A0"/>
                  </a:solidFill>
                  <a:ln>
                    <a:noFill/>
                  </a:ln>
                </p:spPr>
                <p:style>
                  <a:lnRef idx="2">
                    <a:schemeClr val="accent2">
                      <a:shade val="15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dirty="0">
                      <a:latin typeface="微軟正黑體" panose="020B0604030504040204" pitchFamily="34" charset="-120"/>
                      <a:ea typeface="微軟正黑體" panose="020B0604030504040204" pitchFamily="34" charset="-120"/>
                    </a:endParaRPr>
                  </a:p>
                </p:txBody>
              </p:sp>
            </p:grpSp>
          </p:grpSp>
          <p:sp>
            <p:nvSpPr>
              <p:cNvPr id="29" name="矩形: 圓角 28">
                <a:extLst>
                  <a:ext uri="{FF2B5EF4-FFF2-40B4-BE49-F238E27FC236}">
                    <a16:creationId xmlns:a16="http://schemas.microsoft.com/office/drawing/2014/main" id="{6EC2B0BC-8D2E-A8F4-AC3D-29F7774CB9B0}"/>
                  </a:ext>
                </a:extLst>
              </p:cNvPr>
              <p:cNvSpPr/>
              <p:nvPr/>
            </p:nvSpPr>
            <p:spPr>
              <a:xfrm>
                <a:off x="4396742" y="2238264"/>
                <a:ext cx="1277949" cy="601586"/>
              </a:xfrm>
              <a:prstGeom prst="round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100" b="1" dirty="0">
                    <a:solidFill>
                      <a:schemeClr val="tx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SDC Loss 2</a:t>
                </a:r>
                <a:endParaRPr lang="zh-TW" altLang="en-US" sz="1100" b="1" dirty="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30" name="箭號: 向上 29">
                <a:extLst>
                  <a:ext uri="{FF2B5EF4-FFF2-40B4-BE49-F238E27FC236}">
                    <a16:creationId xmlns:a16="http://schemas.microsoft.com/office/drawing/2014/main" id="{C01E838F-A7FE-9FFF-153D-B6372FFA1FB4}"/>
                  </a:ext>
                </a:extLst>
              </p:cNvPr>
              <p:cNvSpPr/>
              <p:nvPr/>
            </p:nvSpPr>
            <p:spPr>
              <a:xfrm>
                <a:off x="4963716" y="1996796"/>
                <a:ext cx="144000" cy="216000"/>
              </a:xfrm>
              <a:prstGeom prst="upArrow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</p:grpSp>
      <p:sp>
        <p:nvSpPr>
          <p:cNvPr id="86" name="箭號: 向上 85">
            <a:extLst>
              <a:ext uri="{FF2B5EF4-FFF2-40B4-BE49-F238E27FC236}">
                <a16:creationId xmlns:a16="http://schemas.microsoft.com/office/drawing/2014/main" id="{3A0FF195-172A-423E-ABC8-97F08035DFDB}"/>
              </a:ext>
            </a:extLst>
          </p:cNvPr>
          <p:cNvSpPr/>
          <p:nvPr/>
        </p:nvSpPr>
        <p:spPr>
          <a:xfrm>
            <a:off x="8182025" y="3094694"/>
            <a:ext cx="215809" cy="360000"/>
          </a:xfrm>
          <a:prstGeom prst="upArrow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AE55943C-4A22-96EC-0FE5-CE2CDA45B33F}"/>
              </a:ext>
            </a:extLst>
          </p:cNvPr>
          <p:cNvGrpSpPr/>
          <p:nvPr/>
        </p:nvGrpSpPr>
        <p:grpSpPr>
          <a:xfrm>
            <a:off x="7187811" y="5096926"/>
            <a:ext cx="5728232" cy="786364"/>
            <a:chOff x="6584535" y="4608216"/>
            <a:chExt cx="5728232" cy="78636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文字方塊 86">
                  <a:extLst>
                    <a:ext uri="{FF2B5EF4-FFF2-40B4-BE49-F238E27FC236}">
                      <a16:creationId xmlns:a16="http://schemas.microsoft.com/office/drawing/2014/main" id="{64AFC7C3-1290-0262-914D-63F3E40C9B83}"/>
                    </a:ext>
                  </a:extLst>
                </p:cNvPr>
                <p:cNvSpPr txBox="1"/>
                <p:nvPr/>
              </p:nvSpPr>
              <p:spPr>
                <a:xfrm>
                  <a:off x="6785797" y="5056026"/>
                  <a:ext cx="552697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altLang="zh-TW" sz="1600"/>
                            <m:t>S</m:t>
                          </m:r>
                        </m:e>
                        <m:sub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</m:sSub>
                    </m:oMath>
                  </a14:m>
                  <a:r>
                    <a:rPr lang="en-US" altLang="zh-TW" sz="1600" dirty="0"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,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TW" sz="1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</m:sSub>
                    </m:oMath>
                  </a14:m>
                  <a:r>
                    <a:rPr lang="en-US" altLang="zh-TW" sz="1600" dirty="0"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: loss weights</a:t>
                  </a:r>
                </a:p>
              </p:txBody>
            </p:sp>
          </mc:Choice>
          <mc:Fallback xmlns="">
            <p:sp>
              <p:nvSpPr>
                <p:cNvPr id="87" name="文字方塊 86">
                  <a:extLst>
                    <a:ext uri="{FF2B5EF4-FFF2-40B4-BE49-F238E27FC236}">
                      <a16:creationId xmlns:a16="http://schemas.microsoft.com/office/drawing/2014/main" id="{64AFC7C3-1290-0262-914D-63F3E40C9B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85797" y="5056026"/>
                  <a:ext cx="5526970" cy="338554"/>
                </a:xfrm>
                <a:prstGeom prst="rect">
                  <a:avLst/>
                </a:prstGeom>
                <a:blipFill>
                  <a:blip r:embed="rId2"/>
                  <a:stretch>
                    <a:fillRect t="-7273" b="-2181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文字方塊 87">
                  <a:extLst>
                    <a:ext uri="{FF2B5EF4-FFF2-40B4-BE49-F238E27FC236}">
                      <a16:creationId xmlns:a16="http://schemas.microsoft.com/office/drawing/2014/main" id="{D40F25B6-DEBA-E63B-0D4D-200DD1605C63}"/>
                    </a:ext>
                  </a:extLst>
                </p:cNvPr>
                <p:cNvSpPr txBox="1"/>
                <p:nvPr/>
              </p:nvSpPr>
              <p:spPr>
                <a:xfrm>
                  <a:off x="6584535" y="4608216"/>
                  <a:ext cx="416362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𝑡𝑜𝑡𝑎𝑙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𝐶𝐸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altLang="zh-TW"/>
                                  <m:t>S</m:t>
                                </m:r>
                              </m:e>
                              <m:sub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sub>
                            </m:sSub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𝑆𝐷𝐶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sub>
                            </m:sSub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𝐿𝐶𝑀</m:t>
                            </m:r>
                          </m:sub>
                        </m:sSub>
                      </m:oMath>
                    </m:oMathPara>
                  </a14:m>
                  <a:endParaRPr lang="zh-TW" altLang="en-US" dirty="0">
                    <a:latin typeface="微軟正黑體" panose="020B0604030504040204" pitchFamily="34" charset="-120"/>
                    <a:ea typeface="微軟正黑體" panose="020B0604030504040204" pitchFamily="34" charset="-120"/>
                  </a:endParaRPr>
                </a:p>
              </p:txBody>
            </p:sp>
          </mc:Choice>
          <mc:Fallback xmlns="">
            <p:sp>
              <p:nvSpPr>
                <p:cNvPr id="88" name="文字方塊 87">
                  <a:extLst>
                    <a:ext uri="{FF2B5EF4-FFF2-40B4-BE49-F238E27FC236}">
                      <a16:creationId xmlns:a16="http://schemas.microsoft.com/office/drawing/2014/main" id="{D40F25B6-DEBA-E63B-0D4D-200DD1605C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84535" y="4608216"/>
                  <a:ext cx="4163627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7439491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CE5BD35F-12A9-164B-112C-34537F4AA41C}"/>
              </a:ext>
            </a:extLst>
          </p:cNvPr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5B839B"/>
          </a:solidFill>
          <a:ln w="12700">
            <a:solidFill>
              <a:srgbClr val="5B839B"/>
            </a:solidFill>
            <a:prstDash val="solid"/>
          </a:ln>
        </p:spPr>
        <p:txBody>
          <a:bodyPr/>
          <a:lstStyle/>
          <a:p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1805A2C2-4192-126E-F6A5-83058157C425}"/>
              </a:ext>
            </a:extLst>
          </p:cNvPr>
          <p:cNvSpPr/>
          <p:nvPr/>
        </p:nvSpPr>
        <p:spPr>
          <a:xfrm>
            <a:off x="0" y="2496312"/>
            <a:ext cx="12191695" cy="676656"/>
          </a:xfrm>
          <a:prstGeom prst="rect">
            <a:avLst/>
          </a:prstGeom>
          <a:solidFill>
            <a:srgbClr val="5B839B"/>
          </a:solidFill>
          <a:ln w="12700">
            <a:solidFill>
              <a:srgbClr val="5B839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BF71064F-0026-1663-C4BE-F4C3FC855C56}"/>
              </a:ext>
            </a:extLst>
          </p:cNvPr>
          <p:cNvSpPr/>
          <p:nvPr/>
        </p:nvSpPr>
        <p:spPr>
          <a:xfrm>
            <a:off x="457200" y="2660904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Experimental Results</a:t>
            </a:r>
            <a:endParaRPr lang="en-US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1F05858-5EB9-4A74-6134-3FF790FAC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495" y="6611112"/>
            <a:ext cx="2743200" cy="246888"/>
          </a:xfrm>
        </p:spPr>
        <p:txBody>
          <a:bodyPr/>
          <a:lstStyle/>
          <a:p>
            <a:fld id="{A98399F2-4B7C-4808-8B27-A13C76E6A9FD}" type="slidenum">
              <a:rPr lang="zh-TW" altLang="en-US" smtClean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15</a:t>
            </a:fld>
            <a:endParaRPr lang="zh-TW" altLang="en-US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566041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0D209D6A-B14A-41D2-4AE8-F5FEA4A57120}"/>
              </a:ext>
            </a:extLst>
          </p:cNvPr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5B839B"/>
          </a:solidFill>
          <a:ln w="12700">
            <a:solidFill>
              <a:srgbClr val="5B839B"/>
            </a:solidFill>
            <a:prstDash val="solid"/>
          </a:ln>
        </p:spPr>
        <p:txBody>
          <a:bodyPr/>
          <a:lstStyle/>
          <a:p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081B6FAB-7337-3B14-55C8-52607EA57591}"/>
              </a:ext>
            </a:extLst>
          </p:cNvPr>
          <p:cNvSpPr/>
          <p:nvPr/>
        </p:nvSpPr>
        <p:spPr>
          <a:xfrm>
            <a:off x="347471" y="274320"/>
            <a:ext cx="339002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TW" b="1" dirty="0">
                <a:solidFill>
                  <a:srgbClr val="1B2E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Part</a:t>
            </a:r>
            <a:r>
              <a:rPr lang="zh-TW" altLang="en-US" b="1" dirty="0">
                <a:solidFill>
                  <a:srgbClr val="1B2E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 </a:t>
            </a:r>
            <a:r>
              <a:rPr lang="en-US" altLang="zh-TW" b="1" dirty="0">
                <a:solidFill>
                  <a:srgbClr val="1B2E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4: Experimental Results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91402FD1-BD31-030F-DBA9-8492CA693046}"/>
              </a:ext>
            </a:extLst>
          </p:cNvPr>
          <p:cNvSpPr/>
          <p:nvPr/>
        </p:nvSpPr>
        <p:spPr>
          <a:xfrm>
            <a:off x="347471" y="493548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0707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Evaluation Metrics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CACF4955-644B-C071-6077-65889268307F}"/>
              </a:ext>
            </a:extLst>
          </p:cNvPr>
          <p:cNvSpPr/>
          <p:nvPr/>
        </p:nvSpPr>
        <p:spPr>
          <a:xfrm>
            <a:off x="347472" y="749808"/>
            <a:ext cx="11475720" cy="0"/>
          </a:xfrm>
          <a:prstGeom prst="line">
            <a:avLst/>
          </a:prstGeom>
          <a:noFill/>
          <a:ln w="12700">
            <a:solidFill>
              <a:srgbClr val="C8D6DE"/>
            </a:solidFill>
            <a:prstDash val="solid"/>
          </a:ln>
        </p:spPr>
        <p:txBody>
          <a:bodyPr/>
          <a:lstStyle/>
          <a:p>
            <a:endParaRPr lang="zh-TW" alt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表格 9">
                <a:extLst>
                  <a:ext uri="{FF2B5EF4-FFF2-40B4-BE49-F238E27FC236}">
                    <a16:creationId xmlns:a16="http://schemas.microsoft.com/office/drawing/2014/main" id="{B47DC393-BE3D-9749-5DB3-D678D63F1B1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06776615"/>
                  </p:ext>
                </p:extLst>
              </p:nvPr>
            </p:nvGraphicFramePr>
            <p:xfrm>
              <a:off x="494811" y="1181303"/>
              <a:ext cx="11202378" cy="4740099"/>
            </p:xfrm>
            <a:graphic>
              <a:graphicData uri="http://schemas.openxmlformats.org/drawingml/2006/table">
                <a:tbl>
                  <a:tblPr firstRow="1" bandRow="1">
                    <a:tableStyleId>{5FD0F851-EC5A-4D38-B0AD-8093EC10F338}</a:tableStyleId>
                  </a:tblPr>
                  <a:tblGrid>
                    <a:gridCol w="3118401">
                      <a:extLst>
                        <a:ext uri="{9D8B030D-6E8A-4147-A177-3AD203B41FA5}">
                          <a16:colId xmlns:a16="http://schemas.microsoft.com/office/drawing/2014/main" val="1065077904"/>
                        </a:ext>
                      </a:extLst>
                    </a:gridCol>
                    <a:gridCol w="4856085">
                      <a:extLst>
                        <a:ext uri="{9D8B030D-6E8A-4147-A177-3AD203B41FA5}">
                          <a16:colId xmlns:a16="http://schemas.microsoft.com/office/drawing/2014/main" val="978672596"/>
                        </a:ext>
                      </a:extLst>
                    </a:gridCol>
                    <a:gridCol w="3227892">
                      <a:extLst>
                        <a:ext uri="{9D8B030D-6E8A-4147-A177-3AD203B41FA5}">
                          <a16:colId xmlns:a16="http://schemas.microsoft.com/office/drawing/2014/main" val="1651558404"/>
                        </a:ext>
                      </a:extLst>
                    </a:gridCol>
                  </a:tblGrid>
                  <a:tr h="67715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Metric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Definition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備註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19705471"/>
                      </a:ext>
                    </a:extLst>
                  </a:tr>
                  <a:tr h="67715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Oracle PPL by Head</a:t>
                          </a:r>
                          <a:r>
                            <a:rPr lang="zh-TW" altLang="en-US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（</a:t>
                          </a:r>
                          <a:r>
                            <a:rPr lang="en-US" altLang="zh-TW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Heads 1–K</a:t>
                          </a:r>
                          <a:r>
                            <a:rPr lang="zh-TW" altLang="en-US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）</a:t>
                          </a:r>
                          <a:endParaRPr lang="en-US" altLang="zh-TW" sz="1400" dirty="0"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zh-TW" altLang="en-US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各 </a:t>
                          </a:r>
                          <a:r>
                            <a:rPr lang="en-US" altLang="zh-TW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head </a:t>
                          </a:r>
                          <a:r>
                            <a:rPr lang="zh-TW" altLang="en-US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在 </a:t>
                          </a:r>
                          <a:r>
                            <a:rPr lang="en-US" altLang="zh-TW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token prediction </a:t>
                          </a:r>
                          <a:r>
                            <a:rPr lang="zh-TW" altLang="en-US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上的 </a:t>
                          </a:r>
                          <a:r>
                            <a:rPr lang="en-US" altLang="zh-TW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perplexity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zh-TW" altLang="en-US" sz="1200" dirty="0"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63415258"/>
                      </a:ext>
                    </a:extLst>
                  </a:tr>
                  <a:tr h="67715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Average Draft Tokens Accepted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zh-TW" altLang="en-US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在 </a:t>
                          </a:r>
                          <a:r>
                            <a:rPr lang="en-US" altLang="zh-TW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prefix lengths 1–1024 </a:t>
                          </a:r>
                          <a:r>
                            <a:rPr lang="zh-TW" altLang="en-US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下計算 </a:t>
                          </a:r>
                          <a:r>
                            <a:rPr lang="en-US" altLang="zh-TW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average accepted draft tokens</a:t>
                          </a:r>
                          <a:r>
                            <a:rPr lang="zh-TW" altLang="en-US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，並對所有長度取平均。</a:t>
                          </a:r>
                          <a:endParaRPr lang="en-US" altLang="zh-TW" sz="1400" dirty="0"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zh-TW" altLang="en-US" sz="12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將 </a:t>
                          </a:r>
                          <a:r>
                            <a:rPr lang="en-US" altLang="zh-TW" sz="12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prefix length </a:t>
                          </a:r>
                          <a:r>
                            <a:rPr lang="zh-TW" altLang="en-US" sz="12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由 </a:t>
                          </a:r>
                          <a:r>
                            <a:rPr lang="en-US" altLang="zh-TW" sz="12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1 </a:t>
                          </a:r>
                          <a:r>
                            <a:rPr lang="zh-TW" altLang="en-US" sz="12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依序增加至 </a:t>
                          </a:r>
                          <a:r>
                            <a:rPr lang="en-US" altLang="zh-TW" sz="12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1024</a:t>
                          </a:r>
                          <a:r>
                            <a:rPr lang="zh-TW" altLang="en-US" sz="12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，計算各長度的 </a:t>
                          </a:r>
                          <a:r>
                            <a:rPr lang="en-US" altLang="zh-TW" sz="12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accepted tokens </a:t>
                          </a:r>
                          <a:r>
                            <a:rPr lang="zh-TW" altLang="en-US" sz="12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後再取平均。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80944447"/>
                      </a:ext>
                    </a:extLst>
                  </a:tr>
                  <a:tr h="677157">
                    <a:tc>
                      <a:txBody>
                        <a:bodyPr/>
                        <a:lstStyle/>
                        <a:p>
                          <a:r>
                            <a:rPr lang="en-US" altLang="zh-TW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Average Draft Tokens Accepted vs. Prefix Length</a:t>
                          </a:r>
                          <a:endParaRPr lang="zh-TW" altLang="en-US" sz="1400" dirty="0"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zh-TW" altLang="en-US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分別統計 </a:t>
                          </a:r>
                          <a:r>
                            <a:rPr lang="en-US" altLang="zh-TW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prefix lengths 128</a:t>
                          </a:r>
                          <a:r>
                            <a:rPr lang="zh-TW" altLang="en-US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、</a:t>
                          </a:r>
                          <a:r>
                            <a:rPr lang="en-US" altLang="zh-TW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256</a:t>
                          </a:r>
                          <a:r>
                            <a:rPr lang="zh-TW" altLang="en-US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、</a:t>
                          </a:r>
                          <a:r>
                            <a:rPr lang="en-US" altLang="zh-TW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512 </a:t>
                          </a:r>
                          <a:r>
                            <a:rPr lang="zh-TW" altLang="en-US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與 </a:t>
                          </a:r>
                          <a:r>
                            <a:rPr lang="en-US" altLang="zh-TW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768 </a:t>
                          </a:r>
                          <a:r>
                            <a:rPr lang="zh-TW" altLang="en-US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下的 </a:t>
                          </a:r>
                          <a:r>
                            <a:rPr lang="en-US" altLang="zh-TW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average accepted draft tokens</a:t>
                          </a:r>
                          <a:r>
                            <a:rPr lang="zh-TW" altLang="en-US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。</a:t>
                          </a:r>
                          <a:endParaRPr lang="en-US" altLang="zh-TW" sz="1400" dirty="0"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2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Prefix lengths of 128, 256, 512, and 768 with random contiguous slicing.</a:t>
                          </a:r>
                          <a:endParaRPr lang="zh-TW" altLang="en-US" sz="1200" dirty="0"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18520907"/>
                      </a:ext>
                    </a:extLst>
                  </a:tr>
                  <a:tr h="67715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Generative PPL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zh-TW" altLang="en-US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生成文字由外部 </a:t>
                          </a:r>
                          <a:r>
                            <a:rPr lang="en-US" altLang="zh-TW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LM </a:t>
                          </a:r>
                          <a:r>
                            <a:rPr lang="zh-TW" altLang="en-US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評估的 </a:t>
                          </a:r>
                          <a:r>
                            <a:rPr lang="en-US" altLang="zh-TW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perplexity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TW" altLang="en-US" sz="12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使用 </a:t>
                          </a:r>
                          <a:r>
                            <a:rPr lang="en-US" altLang="zh-TW" sz="12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GPT-2 Large </a:t>
                          </a:r>
                          <a:r>
                            <a:rPr lang="zh-TW" altLang="en-US" sz="12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作為外部評估模型，並對 </a:t>
                          </a:r>
                          <a:r>
                            <a:rPr lang="en-US" altLang="zh-TW" sz="12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200 </a:t>
                          </a:r>
                          <a:r>
                            <a:rPr lang="zh-TW" altLang="en-US" sz="12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個 </a:t>
                          </a:r>
                          <a:r>
                            <a:rPr lang="en-US" altLang="zh-TW" sz="12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generated responses </a:t>
                          </a:r>
                          <a:r>
                            <a:rPr lang="zh-TW" altLang="en-US" sz="12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的結果取平均。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59289110"/>
                      </a:ext>
                    </a:extLst>
                  </a:tr>
                  <a:tr h="67715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Entropy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 xmlns:m="http://schemas.openxmlformats.org/officeDocument/2006/math">
                              <m:r>
                                <a:rPr lang="en-US" altLang="zh-TW" sz="1400" b="0" i="1" smtClean="0">
                                  <a:latin typeface="Cambria Math" panose="02040503050406030204" pitchFamily="18" charset="0"/>
                                  <a:ea typeface="微軟正黑體" panose="020B0604030504040204" pitchFamily="34" charset="-120"/>
                                </a:rPr>
                                <m:t>−</m:t>
                              </m:r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n-US" altLang="zh-TW" sz="1400" b="0" i="1" smtClean="0">
                                      <a:latin typeface="Cambria Math" panose="02040503050406030204" pitchFamily="18" charset="0"/>
                                      <a:ea typeface="微軟正黑體" panose="020B0604030504040204" pitchFamily="34" charset="-12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r>
                                    <a:rPr lang="en-US" altLang="zh-TW" sz="1400" b="0" i="1" smtClean="0">
                                      <a:latin typeface="Cambria Math" panose="02040503050406030204" pitchFamily="18" charset="0"/>
                                      <a:ea typeface="微軟正黑體" panose="020B0604030504040204" pitchFamily="34" charset="-120"/>
                                    </a:rPr>
                                    <m:t>𝑝𝑙𝑜𝑔𝑝</m:t>
                                  </m:r>
                                </m:e>
                              </m:nary>
                              <m:r>
                                <a:rPr lang="zh-TW" altLang="en-US" sz="1400" b="0" i="1" smtClean="0">
                                  <a:latin typeface="Cambria Math" panose="02040503050406030204" pitchFamily="18" charset="0"/>
                                  <a:ea typeface="微軟正黑體" panose="020B0604030504040204" pitchFamily="34" charset="-120"/>
                                </a:rPr>
                                <m:t>，</m:t>
                              </m:r>
                            </m:oMath>
                          </a14:m>
                          <a:r>
                            <a:rPr lang="zh-TW" altLang="en-US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生成分佈的不確定性 </a:t>
                          </a:r>
                          <a:r>
                            <a:rPr lang="en-US" altLang="zh-TW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/ </a:t>
                          </a:r>
                          <a:r>
                            <a:rPr lang="zh-TW" altLang="en-US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多樣性指標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zh-TW" altLang="en-US" sz="12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對 </a:t>
                          </a:r>
                          <a:r>
                            <a:rPr lang="en-US" altLang="zh-TW" sz="12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200 </a:t>
                          </a:r>
                          <a:r>
                            <a:rPr lang="zh-TW" altLang="en-US" sz="12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個 </a:t>
                          </a:r>
                          <a:r>
                            <a:rPr lang="en-US" altLang="zh-TW" sz="12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generated responses </a:t>
                          </a:r>
                          <a:r>
                            <a:rPr lang="zh-TW" altLang="en-US" sz="12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的結果取平均。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64976817"/>
                      </a:ext>
                    </a:extLst>
                  </a:tr>
                  <a:tr h="67715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4-gram repetition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zh-TW" altLang="en-US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生成文字重複程度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TW" altLang="en-US" sz="12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對 </a:t>
                          </a:r>
                          <a:r>
                            <a:rPr lang="en-US" altLang="zh-TW" sz="12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200 </a:t>
                          </a:r>
                          <a:r>
                            <a:rPr lang="zh-TW" altLang="en-US" sz="12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個 </a:t>
                          </a:r>
                          <a:r>
                            <a:rPr lang="en-US" altLang="zh-TW" sz="12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generated responses </a:t>
                          </a:r>
                          <a:r>
                            <a:rPr lang="zh-TW" altLang="en-US" sz="12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的結果取平均。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9229758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表格 9">
                <a:extLst>
                  <a:ext uri="{FF2B5EF4-FFF2-40B4-BE49-F238E27FC236}">
                    <a16:creationId xmlns:a16="http://schemas.microsoft.com/office/drawing/2014/main" id="{B47DC393-BE3D-9749-5DB3-D678D63F1B1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06776615"/>
                  </p:ext>
                </p:extLst>
              </p:nvPr>
            </p:nvGraphicFramePr>
            <p:xfrm>
              <a:off x="494811" y="1181303"/>
              <a:ext cx="11202378" cy="4740099"/>
            </p:xfrm>
            <a:graphic>
              <a:graphicData uri="http://schemas.openxmlformats.org/drawingml/2006/table">
                <a:tbl>
                  <a:tblPr firstRow="1" bandRow="1">
                    <a:tableStyleId>{5FD0F851-EC5A-4D38-B0AD-8093EC10F338}</a:tableStyleId>
                  </a:tblPr>
                  <a:tblGrid>
                    <a:gridCol w="3118401">
                      <a:extLst>
                        <a:ext uri="{9D8B030D-6E8A-4147-A177-3AD203B41FA5}">
                          <a16:colId xmlns:a16="http://schemas.microsoft.com/office/drawing/2014/main" val="1065077904"/>
                        </a:ext>
                      </a:extLst>
                    </a:gridCol>
                    <a:gridCol w="4856085">
                      <a:extLst>
                        <a:ext uri="{9D8B030D-6E8A-4147-A177-3AD203B41FA5}">
                          <a16:colId xmlns:a16="http://schemas.microsoft.com/office/drawing/2014/main" val="978672596"/>
                        </a:ext>
                      </a:extLst>
                    </a:gridCol>
                    <a:gridCol w="3227892">
                      <a:extLst>
                        <a:ext uri="{9D8B030D-6E8A-4147-A177-3AD203B41FA5}">
                          <a16:colId xmlns:a16="http://schemas.microsoft.com/office/drawing/2014/main" val="1651558404"/>
                        </a:ext>
                      </a:extLst>
                    </a:gridCol>
                  </a:tblGrid>
                  <a:tr h="67715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Metric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Definition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備註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19705471"/>
                      </a:ext>
                    </a:extLst>
                  </a:tr>
                  <a:tr h="67715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Oracle PPL by Head</a:t>
                          </a:r>
                          <a:r>
                            <a:rPr lang="zh-TW" altLang="en-US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（</a:t>
                          </a:r>
                          <a:r>
                            <a:rPr lang="en-US" altLang="zh-TW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Heads 1–K</a:t>
                          </a:r>
                          <a:r>
                            <a:rPr lang="zh-TW" altLang="en-US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）</a:t>
                          </a:r>
                          <a:endParaRPr lang="en-US" altLang="zh-TW" sz="1400" dirty="0"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zh-TW" altLang="en-US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各 </a:t>
                          </a:r>
                          <a:r>
                            <a:rPr lang="en-US" altLang="zh-TW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head </a:t>
                          </a:r>
                          <a:r>
                            <a:rPr lang="zh-TW" altLang="en-US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在 </a:t>
                          </a:r>
                          <a:r>
                            <a:rPr lang="en-US" altLang="zh-TW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token prediction </a:t>
                          </a:r>
                          <a:r>
                            <a:rPr lang="zh-TW" altLang="en-US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上的 </a:t>
                          </a:r>
                          <a:r>
                            <a:rPr lang="en-US" altLang="zh-TW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perplexity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zh-TW" altLang="en-US" sz="1200" dirty="0"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63415258"/>
                      </a:ext>
                    </a:extLst>
                  </a:tr>
                  <a:tr h="67715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Average Draft Tokens Accepted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zh-TW" altLang="en-US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在 </a:t>
                          </a:r>
                          <a:r>
                            <a:rPr lang="en-US" altLang="zh-TW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prefix lengths 1–1024 </a:t>
                          </a:r>
                          <a:r>
                            <a:rPr lang="zh-TW" altLang="en-US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下計算 </a:t>
                          </a:r>
                          <a:r>
                            <a:rPr lang="en-US" altLang="zh-TW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average accepted draft tokens</a:t>
                          </a:r>
                          <a:r>
                            <a:rPr lang="zh-TW" altLang="en-US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，並對所有長度取平均。</a:t>
                          </a:r>
                          <a:endParaRPr lang="en-US" altLang="zh-TW" sz="1400" dirty="0"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zh-TW" altLang="en-US" sz="12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將 </a:t>
                          </a:r>
                          <a:r>
                            <a:rPr lang="en-US" altLang="zh-TW" sz="12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prefix length </a:t>
                          </a:r>
                          <a:r>
                            <a:rPr lang="zh-TW" altLang="en-US" sz="12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由 </a:t>
                          </a:r>
                          <a:r>
                            <a:rPr lang="en-US" altLang="zh-TW" sz="12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1 </a:t>
                          </a:r>
                          <a:r>
                            <a:rPr lang="zh-TW" altLang="en-US" sz="12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依序增加至 </a:t>
                          </a:r>
                          <a:r>
                            <a:rPr lang="en-US" altLang="zh-TW" sz="12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1024</a:t>
                          </a:r>
                          <a:r>
                            <a:rPr lang="zh-TW" altLang="en-US" sz="12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，計算各長度的 </a:t>
                          </a:r>
                          <a:r>
                            <a:rPr lang="en-US" altLang="zh-TW" sz="12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accepted tokens </a:t>
                          </a:r>
                          <a:r>
                            <a:rPr lang="zh-TW" altLang="en-US" sz="12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後再取平均。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380944447"/>
                      </a:ext>
                    </a:extLst>
                  </a:tr>
                  <a:tr h="677157">
                    <a:tc>
                      <a:txBody>
                        <a:bodyPr/>
                        <a:lstStyle/>
                        <a:p>
                          <a:r>
                            <a:rPr lang="en-US" altLang="zh-TW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Average Draft Tokens Accepted vs. Prefix Length</a:t>
                          </a:r>
                          <a:endParaRPr lang="zh-TW" altLang="en-US" sz="1400" dirty="0"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zh-TW" altLang="en-US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分別統計 </a:t>
                          </a:r>
                          <a:r>
                            <a:rPr lang="en-US" altLang="zh-TW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prefix lengths 128</a:t>
                          </a:r>
                          <a:r>
                            <a:rPr lang="zh-TW" altLang="en-US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、</a:t>
                          </a:r>
                          <a:r>
                            <a:rPr lang="en-US" altLang="zh-TW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256</a:t>
                          </a:r>
                          <a:r>
                            <a:rPr lang="zh-TW" altLang="en-US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、</a:t>
                          </a:r>
                          <a:r>
                            <a:rPr lang="en-US" altLang="zh-TW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512 </a:t>
                          </a:r>
                          <a:r>
                            <a:rPr lang="zh-TW" altLang="en-US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與 </a:t>
                          </a:r>
                          <a:r>
                            <a:rPr lang="en-US" altLang="zh-TW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768 </a:t>
                          </a:r>
                          <a:r>
                            <a:rPr lang="zh-TW" altLang="en-US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下的 </a:t>
                          </a:r>
                          <a:r>
                            <a:rPr lang="en-US" altLang="zh-TW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average accepted draft tokens</a:t>
                          </a:r>
                          <a:r>
                            <a:rPr lang="zh-TW" altLang="en-US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。</a:t>
                          </a:r>
                          <a:endParaRPr lang="en-US" altLang="zh-TW" sz="1400" dirty="0"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2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Prefix lengths of 128, 256, 512, and 768 with random contiguous slicing.</a:t>
                          </a:r>
                          <a:endParaRPr lang="zh-TW" altLang="en-US" sz="1200" dirty="0">
                            <a:latin typeface="微軟正黑體" panose="020B0604030504040204" pitchFamily="34" charset="-120"/>
                            <a:ea typeface="微軟正黑體" panose="020B0604030504040204" pitchFamily="34" charset="-12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18520907"/>
                      </a:ext>
                    </a:extLst>
                  </a:tr>
                  <a:tr h="67715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Generative PPL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zh-TW" altLang="en-US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生成文字由外部 </a:t>
                          </a:r>
                          <a:r>
                            <a:rPr lang="en-US" altLang="zh-TW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LM </a:t>
                          </a:r>
                          <a:r>
                            <a:rPr lang="zh-TW" altLang="en-US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評估的 </a:t>
                          </a:r>
                          <a:r>
                            <a:rPr lang="en-US" altLang="zh-TW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perplexity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TW" altLang="en-US" sz="12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使用 </a:t>
                          </a:r>
                          <a:r>
                            <a:rPr lang="en-US" altLang="zh-TW" sz="12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GPT-2 Large </a:t>
                          </a:r>
                          <a:r>
                            <a:rPr lang="zh-TW" altLang="en-US" sz="12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作為外部評估模型，並對 </a:t>
                          </a:r>
                          <a:r>
                            <a:rPr lang="en-US" altLang="zh-TW" sz="12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200 </a:t>
                          </a:r>
                          <a:r>
                            <a:rPr lang="zh-TW" altLang="en-US" sz="12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個 </a:t>
                          </a:r>
                          <a:r>
                            <a:rPr lang="en-US" altLang="zh-TW" sz="12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generated responses </a:t>
                          </a:r>
                          <a:r>
                            <a:rPr lang="zh-TW" altLang="en-US" sz="12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的結果取平均。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59289110"/>
                      </a:ext>
                    </a:extLst>
                  </a:tr>
                  <a:tr h="67715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Entropy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4322" t="-497321" r="-66709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zh-TW" altLang="en-US" sz="12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對 </a:t>
                          </a:r>
                          <a:r>
                            <a:rPr lang="en-US" altLang="zh-TW" sz="12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200 </a:t>
                          </a:r>
                          <a:r>
                            <a:rPr lang="zh-TW" altLang="en-US" sz="12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個 </a:t>
                          </a:r>
                          <a:r>
                            <a:rPr lang="en-US" altLang="zh-TW" sz="12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generated responses </a:t>
                          </a:r>
                          <a:r>
                            <a:rPr lang="zh-TW" altLang="en-US" sz="12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的結果取平均。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64976817"/>
                      </a:ext>
                    </a:extLst>
                  </a:tr>
                  <a:tr h="677157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TW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4-gram repetition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zh-TW" altLang="en-US" sz="14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生成文字重複程度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TW" altLang="en-US" sz="12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對 </a:t>
                          </a:r>
                          <a:r>
                            <a:rPr lang="en-US" altLang="zh-TW" sz="12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200 </a:t>
                          </a:r>
                          <a:r>
                            <a:rPr lang="zh-TW" altLang="en-US" sz="12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個 </a:t>
                          </a:r>
                          <a:r>
                            <a:rPr lang="en-US" altLang="zh-TW" sz="12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generated responses </a:t>
                          </a:r>
                          <a:r>
                            <a:rPr lang="zh-TW" altLang="en-US" sz="1200" dirty="0">
                              <a:latin typeface="微軟正黑體" panose="020B0604030504040204" pitchFamily="34" charset="-120"/>
                              <a:ea typeface="微軟正黑體" panose="020B0604030504040204" pitchFamily="34" charset="-120"/>
                            </a:rPr>
                            <a:t>的結果取平均。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9229758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E518777-C1C4-3C28-E21E-ABF43152E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495" y="6611112"/>
            <a:ext cx="2743200" cy="246888"/>
          </a:xfrm>
        </p:spPr>
        <p:txBody>
          <a:bodyPr/>
          <a:lstStyle/>
          <a:p>
            <a:fld id="{A98399F2-4B7C-4808-8B27-A13C76E6A9FD}" type="slidenum">
              <a:rPr lang="zh-TW" altLang="en-US" smtClean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16</a:t>
            </a:fld>
            <a:endParaRPr lang="zh-TW" altLang="en-US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007751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8EDDD34D-DF9C-339C-ED94-CEAAFBB621AB}"/>
              </a:ext>
            </a:extLst>
          </p:cNvPr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5B839B"/>
          </a:solidFill>
          <a:ln w="12700">
            <a:solidFill>
              <a:srgbClr val="5B839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FB5C3920-06C1-C4C8-1162-7F38DE3FF843}"/>
              </a:ext>
            </a:extLst>
          </p:cNvPr>
          <p:cNvSpPr/>
          <p:nvPr/>
        </p:nvSpPr>
        <p:spPr>
          <a:xfrm>
            <a:off x="347472" y="274320"/>
            <a:ext cx="3097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E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Part</a:t>
            </a:r>
            <a:r>
              <a:rPr lang="zh-TW" altLang="en-US" b="1" dirty="0">
                <a:solidFill>
                  <a:srgbClr val="1B2E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 </a:t>
            </a:r>
            <a:r>
              <a:rPr lang="en-US" b="1" dirty="0">
                <a:solidFill>
                  <a:srgbClr val="1B2E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4: Experimental Results</a:t>
            </a:r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12858C2F-BF00-D14D-E98B-F5A9C6205139}"/>
              </a:ext>
            </a:extLst>
          </p:cNvPr>
          <p:cNvSpPr/>
          <p:nvPr/>
        </p:nvSpPr>
        <p:spPr>
          <a:xfrm>
            <a:off x="347472" y="502044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0707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Formal 1.3B Comparison — SDC+LCM vs. Baseline: Oracle PPL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89377490-C045-655E-918C-E2AFC8CCC4BA}"/>
              </a:ext>
            </a:extLst>
          </p:cNvPr>
          <p:cNvSpPr/>
          <p:nvPr/>
        </p:nvSpPr>
        <p:spPr>
          <a:xfrm>
            <a:off x="347472" y="749808"/>
            <a:ext cx="11475720" cy="0"/>
          </a:xfrm>
          <a:prstGeom prst="line">
            <a:avLst/>
          </a:prstGeom>
          <a:noFill/>
          <a:ln w="12700">
            <a:solidFill>
              <a:srgbClr val="C8D6D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42D882C5-AF48-E86D-E103-90CD67259B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9673288"/>
              </p:ext>
            </p:extLst>
          </p:nvPr>
        </p:nvGraphicFramePr>
        <p:xfrm>
          <a:off x="347472" y="1008835"/>
          <a:ext cx="11475720" cy="2950605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2868930">
                  <a:extLst>
                    <a:ext uri="{9D8B030D-6E8A-4147-A177-3AD203B41FA5}">
                      <a16:colId xmlns:a16="http://schemas.microsoft.com/office/drawing/2014/main" val="2798033119"/>
                    </a:ext>
                  </a:extLst>
                </a:gridCol>
                <a:gridCol w="2868930">
                  <a:extLst>
                    <a:ext uri="{9D8B030D-6E8A-4147-A177-3AD203B41FA5}">
                      <a16:colId xmlns:a16="http://schemas.microsoft.com/office/drawing/2014/main" val="2302720759"/>
                    </a:ext>
                  </a:extLst>
                </a:gridCol>
                <a:gridCol w="2868930">
                  <a:extLst>
                    <a:ext uri="{9D8B030D-6E8A-4147-A177-3AD203B41FA5}">
                      <a16:colId xmlns:a16="http://schemas.microsoft.com/office/drawing/2014/main" val="3196848465"/>
                    </a:ext>
                  </a:extLst>
                </a:gridCol>
                <a:gridCol w="2868930">
                  <a:extLst>
                    <a:ext uri="{9D8B030D-6E8A-4147-A177-3AD203B41FA5}">
                      <a16:colId xmlns:a16="http://schemas.microsoft.com/office/drawing/2014/main" val="119275881"/>
                    </a:ext>
                  </a:extLst>
                </a:gridCol>
              </a:tblGrid>
              <a:tr h="5901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Metric</a:t>
                      </a:r>
                      <a:endParaRPr lang="zh-TW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SDC+LCM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Improvement</a:t>
                      </a:r>
                      <a:endParaRPr lang="zh-TW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8462793"/>
                  </a:ext>
                </a:extLst>
              </a:tr>
              <a:tr h="5901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PPL head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19.1695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19.4293</a:t>
                      </a:r>
                      <a:endParaRPr lang="zh-TW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1.34%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3181710"/>
                  </a:ext>
                </a:extLst>
              </a:tr>
              <a:tr h="5901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PPL head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83.7266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87.2351</a:t>
                      </a:r>
                      <a:endParaRPr lang="zh-TW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4.02%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4358862"/>
                  </a:ext>
                </a:extLst>
              </a:tr>
              <a:tr h="5901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PPL head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189.2825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200.0813</a:t>
                      </a:r>
                      <a:endParaRPr lang="zh-TW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5.40%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0447526"/>
                  </a:ext>
                </a:extLst>
              </a:tr>
              <a:tr h="59012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PPL head 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299.5625</a:t>
                      </a:r>
                      <a:endParaRPr lang="zh-TW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318.3247</a:t>
                      </a:r>
                      <a:endParaRPr lang="zh-TW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5.89%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8410621"/>
                  </a:ext>
                </a:extLst>
              </a:tr>
            </a:tbl>
          </a:graphicData>
        </a:graphic>
      </p:graphicFrame>
      <p:sp>
        <p:nvSpPr>
          <p:cNvPr id="11" name="文字方塊 10">
            <a:extLst>
              <a:ext uri="{FF2B5EF4-FFF2-40B4-BE49-F238E27FC236}">
                <a16:creationId xmlns:a16="http://schemas.microsoft.com/office/drawing/2014/main" id="{DECC76E3-BF7B-343A-CA81-874DBFE509F0}"/>
              </a:ext>
            </a:extLst>
          </p:cNvPr>
          <p:cNvSpPr txBox="1"/>
          <p:nvPr/>
        </p:nvSpPr>
        <p:spPr>
          <a:xfrm>
            <a:off x="9259410" y="461072"/>
            <a:ext cx="27431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Model trained on 10B tokens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FF09F6-7F17-A49F-D2F3-AA4CB1A40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495" y="6592072"/>
            <a:ext cx="2743200" cy="265611"/>
          </a:xfrm>
        </p:spPr>
        <p:txBody>
          <a:bodyPr/>
          <a:lstStyle/>
          <a:p>
            <a:fld id="{A98399F2-4B7C-4808-8B27-A13C76E6A9FD}" type="slidenum">
              <a:rPr lang="zh-TW" altLang="en-US" smtClean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17</a:t>
            </a:fld>
            <a:endParaRPr lang="zh-TW" altLang="en-US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992EDA1D-CEF4-9B2B-D5F3-D9CD329047CE}"/>
              </a:ext>
            </a:extLst>
          </p:cNvPr>
          <p:cNvSpPr txBox="1"/>
          <p:nvPr/>
        </p:nvSpPr>
        <p:spPr>
          <a:xfrm>
            <a:off x="223184" y="4696850"/>
            <a:ext cx="11779425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Observation</a:t>
            </a:r>
          </a:p>
          <a:p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相較於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baseline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，預測位置較遠的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heads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整體上獲得更大的改善，其中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Head 4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PPL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降幅最大，達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5.89%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，符合本研究假設。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值得注意的是，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Head 1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PPL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也有小幅改善。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163914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B1710DA8-7949-89DC-9392-328DBF882438}"/>
              </a:ext>
            </a:extLst>
          </p:cNvPr>
          <p:cNvSpPr/>
          <p:nvPr/>
        </p:nvSpPr>
        <p:spPr>
          <a:xfrm>
            <a:off x="0" y="6607903"/>
            <a:ext cx="12191695" cy="246888"/>
          </a:xfrm>
          <a:prstGeom prst="rect">
            <a:avLst/>
          </a:prstGeom>
          <a:solidFill>
            <a:srgbClr val="5B839B"/>
          </a:solidFill>
          <a:ln w="12700">
            <a:solidFill>
              <a:srgbClr val="5B839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5AC42501-20AC-D714-D933-D726611F3B3B}"/>
              </a:ext>
            </a:extLst>
          </p:cNvPr>
          <p:cNvSpPr/>
          <p:nvPr/>
        </p:nvSpPr>
        <p:spPr>
          <a:xfrm>
            <a:off x="347472" y="271111"/>
            <a:ext cx="306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E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Part</a:t>
            </a:r>
            <a:r>
              <a:rPr lang="zh-TW" altLang="en-US" b="1" dirty="0">
                <a:solidFill>
                  <a:srgbClr val="1B2E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 </a:t>
            </a:r>
            <a:r>
              <a:rPr lang="en-US" b="1" dirty="0">
                <a:solidFill>
                  <a:srgbClr val="1B2E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4: Experimental Results</a:t>
            </a:r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0E2A625E-7505-7F37-9A13-70255328D5FC}"/>
              </a:ext>
            </a:extLst>
          </p:cNvPr>
          <p:cNvSpPr/>
          <p:nvPr/>
        </p:nvSpPr>
        <p:spPr>
          <a:xfrm>
            <a:off x="347471" y="492064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0707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Formal 1.3B Comparison — SDC+LCM vs. baseline: Average Draft Tokens Accepted 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E36841D6-5F46-9BE4-B918-3883BA94AAAB}"/>
              </a:ext>
            </a:extLst>
          </p:cNvPr>
          <p:cNvSpPr/>
          <p:nvPr/>
        </p:nvSpPr>
        <p:spPr>
          <a:xfrm>
            <a:off x="347472" y="746599"/>
            <a:ext cx="11475720" cy="0"/>
          </a:xfrm>
          <a:prstGeom prst="line">
            <a:avLst/>
          </a:prstGeom>
          <a:noFill/>
          <a:ln w="12700">
            <a:solidFill>
              <a:srgbClr val="C8D6D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C907E366-F3EF-F511-30F9-B9F33F9E93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2442722"/>
              </p:ext>
            </p:extLst>
          </p:nvPr>
        </p:nvGraphicFramePr>
        <p:xfrm>
          <a:off x="347471" y="1005625"/>
          <a:ext cx="11475720" cy="2804850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2868930">
                  <a:extLst>
                    <a:ext uri="{9D8B030D-6E8A-4147-A177-3AD203B41FA5}">
                      <a16:colId xmlns:a16="http://schemas.microsoft.com/office/drawing/2014/main" val="2798033119"/>
                    </a:ext>
                  </a:extLst>
                </a:gridCol>
                <a:gridCol w="2868930">
                  <a:extLst>
                    <a:ext uri="{9D8B030D-6E8A-4147-A177-3AD203B41FA5}">
                      <a16:colId xmlns:a16="http://schemas.microsoft.com/office/drawing/2014/main" val="2302720759"/>
                    </a:ext>
                  </a:extLst>
                </a:gridCol>
                <a:gridCol w="2868930">
                  <a:extLst>
                    <a:ext uri="{9D8B030D-6E8A-4147-A177-3AD203B41FA5}">
                      <a16:colId xmlns:a16="http://schemas.microsoft.com/office/drawing/2014/main" val="3196848465"/>
                    </a:ext>
                  </a:extLst>
                </a:gridCol>
                <a:gridCol w="2868930">
                  <a:extLst>
                    <a:ext uri="{9D8B030D-6E8A-4147-A177-3AD203B41FA5}">
                      <a16:colId xmlns:a16="http://schemas.microsoft.com/office/drawing/2014/main" val="119275881"/>
                    </a:ext>
                  </a:extLst>
                </a:gridCol>
              </a:tblGrid>
              <a:tr h="46747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Metric</a:t>
                      </a:r>
                      <a:endParaRPr lang="zh-TW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SDC+LCM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Improvement</a:t>
                      </a:r>
                      <a:endParaRPr lang="zh-TW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8462793"/>
                  </a:ext>
                </a:extLst>
              </a:tr>
              <a:tr h="46747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Average</a:t>
                      </a:r>
                      <a:r>
                        <a:rPr lang="en-US" altLang="zh-TW" sz="1600" dirty="0"/>
                        <a:t> Draft Tokens Accepted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0.7302 ± 0.0000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0.7010 ± 0.0000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4.17%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3181710"/>
                  </a:ext>
                </a:extLst>
              </a:tr>
              <a:tr h="46747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Prefix 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0.9653 ± 0.0401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0.9117 ± 0.0205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5.88%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4358862"/>
                  </a:ext>
                </a:extLst>
              </a:tr>
              <a:tr h="46747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Prefix 256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0.9873 ± 0.0063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0.9458 ± 0.0068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4.39%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0447526"/>
                  </a:ext>
                </a:extLst>
              </a:tr>
              <a:tr h="46747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Prefix 512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1.0158 ± 0.0309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0.9689 ± 0.0221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4.84%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8410621"/>
                  </a:ext>
                </a:extLst>
              </a:tr>
              <a:tr h="46747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Prefix 768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1.0272 ± 0.0250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0.9760 ± 0.0222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5.25%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3051542"/>
                  </a:ext>
                </a:extLst>
              </a:tr>
            </a:tbl>
          </a:graphicData>
        </a:graphic>
      </p:graphicFrame>
      <p:sp>
        <p:nvSpPr>
          <p:cNvPr id="11" name="文字方塊 10">
            <a:extLst>
              <a:ext uri="{FF2B5EF4-FFF2-40B4-BE49-F238E27FC236}">
                <a16:creationId xmlns:a16="http://schemas.microsoft.com/office/drawing/2014/main" id="{7BDB80DC-7FDC-5336-E751-B1ABC526DAC4}"/>
              </a:ext>
            </a:extLst>
          </p:cNvPr>
          <p:cNvSpPr txBox="1"/>
          <p:nvPr/>
        </p:nvSpPr>
        <p:spPr>
          <a:xfrm>
            <a:off x="9170634" y="457863"/>
            <a:ext cx="28319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Model trained on 10B tokens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C56437A-C648-5521-F50A-A25F3E745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495" y="6607903"/>
            <a:ext cx="2743200" cy="250097"/>
          </a:xfrm>
        </p:spPr>
        <p:txBody>
          <a:bodyPr/>
          <a:lstStyle/>
          <a:p>
            <a:fld id="{A98399F2-4B7C-4808-8B27-A13C76E6A9FD}" type="slidenum">
              <a:rPr lang="zh-TW" altLang="en-US" smtClean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18</a:t>
            </a:fld>
            <a:endParaRPr lang="zh-TW" altLang="en-US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CDDE939C-85E6-2293-24EC-4E21D1B6C14A}"/>
              </a:ext>
            </a:extLst>
          </p:cNvPr>
          <p:cNvSpPr txBox="1"/>
          <p:nvPr/>
        </p:nvSpPr>
        <p:spPr>
          <a:xfrm>
            <a:off x="347472" y="4133509"/>
            <a:ext cx="544964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Observation</a:t>
            </a:r>
          </a:p>
          <a:p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Average Draft Tokens Accepted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提升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4.17%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當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prefix length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為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768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時，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Draft Tokens Accepted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提升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5.25%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，為各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prefix lengths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中改善幅度最大者。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0D63EA3F-9FD6-5560-A84D-79952FD791B6}"/>
              </a:ext>
            </a:extLst>
          </p:cNvPr>
          <p:cNvSpPr txBox="1"/>
          <p:nvPr/>
        </p:nvSpPr>
        <p:spPr>
          <a:xfrm>
            <a:off x="5797117" y="5241948"/>
            <a:ext cx="639457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Note</a:t>
            </a:r>
          </a:p>
          <a:p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Decoding strategy: Greedy self-speculative decoding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每個 </a:t>
            </a:r>
            <a:r>
              <a:rPr lang="en-US" altLang="zh-TW" sz="1600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decoding step </a:t>
            </a:r>
            <a:r>
              <a:rPr lang="zh-TW" altLang="en-US" sz="1600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僅執行一次 </a:t>
            </a:r>
            <a:r>
              <a:rPr lang="en-US" altLang="zh-TW" sz="1600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forward</a:t>
            </a:r>
            <a:r>
              <a:rPr lang="zh-TW" altLang="en-US" sz="1600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，再統計可接受的 </a:t>
            </a:r>
            <a:r>
              <a:rPr lang="en-US" altLang="zh-TW" sz="1600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draft tokens </a:t>
            </a:r>
            <a:r>
              <a:rPr lang="zh-TW" altLang="en-US" sz="1600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數量。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67863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AD45E23F-159B-9074-D77D-40B1DF0E6080}"/>
              </a:ext>
            </a:extLst>
          </p:cNvPr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5B839B"/>
          </a:solidFill>
          <a:ln w="12700">
            <a:solidFill>
              <a:srgbClr val="5B839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9279BDBC-2DF0-841D-1B15-28B1C6A5097A}"/>
              </a:ext>
            </a:extLst>
          </p:cNvPr>
          <p:cNvSpPr/>
          <p:nvPr/>
        </p:nvSpPr>
        <p:spPr>
          <a:xfrm>
            <a:off x="347472" y="274320"/>
            <a:ext cx="306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E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Part</a:t>
            </a:r>
            <a:r>
              <a:rPr lang="zh-TW" altLang="en-US" b="1" dirty="0">
                <a:solidFill>
                  <a:srgbClr val="1B2E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 </a:t>
            </a:r>
            <a:r>
              <a:rPr lang="en-US" b="1" dirty="0">
                <a:solidFill>
                  <a:srgbClr val="1B2E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4: Experimental Results</a:t>
            </a: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0B7BDA6E-255A-BB65-DAB0-87E0B48A6A5C}"/>
              </a:ext>
            </a:extLst>
          </p:cNvPr>
          <p:cNvSpPr/>
          <p:nvPr/>
        </p:nvSpPr>
        <p:spPr>
          <a:xfrm>
            <a:off x="347471" y="499048"/>
            <a:ext cx="101903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0707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Formal 1.3B Comparison — SDC+LCM vs. Baseline: Generative Quality</a:t>
            </a:r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4B931DF6-CFB6-8BB0-C816-BB1AD8CA62B6}"/>
              </a:ext>
            </a:extLst>
          </p:cNvPr>
          <p:cNvSpPr/>
          <p:nvPr/>
        </p:nvSpPr>
        <p:spPr>
          <a:xfrm>
            <a:off x="347472" y="749808"/>
            <a:ext cx="11475720" cy="0"/>
          </a:xfrm>
          <a:prstGeom prst="line">
            <a:avLst/>
          </a:prstGeom>
          <a:noFill/>
          <a:ln w="12700">
            <a:solidFill>
              <a:srgbClr val="C8D6D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474E11C9-B436-FCC9-3F1A-BBA38604E2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0805320"/>
              </p:ext>
            </p:extLst>
          </p:nvPr>
        </p:nvGraphicFramePr>
        <p:xfrm>
          <a:off x="347471" y="1008834"/>
          <a:ext cx="11475720" cy="2818148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2868930">
                  <a:extLst>
                    <a:ext uri="{9D8B030D-6E8A-4147-A177-3AD203B41FA5}">
                      <a16:colId xmlns:a16="http://schemas.microsoft.com/office/drawing/2014/main" val="2798033119"/>
                    </a:ext>
                  </a:extLst>
                </a:gridCol>
                <a:gridCol w="2868930">
                  <a:extLst>
                    <a:ext uri="{9D8B030D-6E8A-4147-A177-3AD203B41FA5}">
                      <a16:colId xmlns:a16="http://schemas.microsoft.com/office/drawing/2014/main" val="2302720759"/>
                    </a:ext>
                  </a:extLst>
                </a:gridCol>
                <a:gridCol w="2868930">
                  <a:extLst>
                    <a:ext uri="{9D8B030D-6E8A-4147-A177-3AD203B41FA5}">
                      <a16:colId xmlns:a16="http://schemas.microsoft.com/office/drawing/2014/main" val="3196848465"/>
                    </a:ext>
                  </a:extLst>
                </a:gridCol>
                <a:gridCol w="2868930">
                  <a:extLst>
                    <a:ext uri="{9D8B030D-6E8A-4147-A177-3AD203B41FA5}">
                      <a16:colId xmlns:a16="http://schemas.microsoft.com/office/drawing/2014/main" val="119275881"/>
                    </a:ext>
                  </a:extLst>
                </a:gridCol>
              </a:tblGrid>
              <a:tr h="704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Metric</a:t>
                      </a:r>
                      <a:endParaRPr lang="zh-TW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SDC+LCM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/>
                        <a:t>SDC+LCM</a:t>
                      </a:r>
                      <a:r>
                        <a:rPr lang="zh-TW" altLang="en-US" sz="1600" dirty="0"/>
                        <a:t> </a:t>
                      </a:r>
                      <a:r>
                        <a:rPr lang="en-US" altLang="zh-TW" sz="1600" dirty="0"/>
                        <a:t>vs.</a:t>
                      </a:r>
                      <a:r>
                        <a:rPr lang="zh-TW" altLang="en-US" sz="1600" dirty="0"/>
                        <a:t> </a:t>
                      </a:r>
                      <a:r>
                        <a:rPr lang="en-US" altLang="zh-TW" sz="1600" dirty="0"/>
                        <a:t>baseline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8462793"/>
                  </a:ext>
                </a:extLst>
              </a:tr>
              <a:tr h="704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Generative PPL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18.7180 ± 0.8276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39.5580 ± 0.9425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-52.68%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3181710"/>
                  </a:ext>
                </a:extLst>
              </a:tr>
              <a:tr h="704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Entropy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6.8620 ± 0.0202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7.3223 ± 0.0351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-6.29%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4358862"/>
                  </a:ext>
                </a:extLst>
              </a:tr>
              <a:tr h="70453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4-gram repetition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0.0526 ± 0.0147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0.0229 ± 0.0084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+130.17%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0447526"/>
                  </a:ext>
                </a:extLst>
              </a:tr>
            </a:tbl>
          </a:graphicData>
        </a:graphic>
      </p:graphicFrame>
      <p:sp>
        <p:nvSpPr>
          <p:cNvPr id="14" name="文字方塊 13">
            <a:extLst>
              <a:ext uri="{FF2B5EF4-FFF2-40B4-BE49-F238E27FC236}">
                <a16:creationId xmlns:a16="http://schemas.microsoft.com/office/drawing/2014/main" id="{58896C54-110C-1BFA-D35D-E8B3FB79767F}"/>
              </a:ext>
            </a:extLst>
          </p:cNvPr>
          <p:cNvSpPr txBox="1"/>
          <p:nvPr/>
        </p:nvSpPr>
        <p:spPr>
          <a:xfrm>
            <a:off x="9259410" y="461072"/>
            <a:ext cx="27431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Model trained on 10B tokens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339565D-C13D-6AF8-6C29-7E7BF6E4F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495" y="6610796"/>
            <a:ext cx="2743200" cy="246888"/>
          </a:xfrm>
        </p:spPr>
        <p:txBody>
          <a:bodyPr/>
          <a:lstStyle/>
          <a:p>
            <a:fld id="{A98399F2-4B7C-4808-8B27-A13C76E6A9FD}" type="slidenum">
              <a:rPr lang="zh-TW" altLang="en-US" smtClean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19</a:t>
            </a:fld>
            <a:endParaRPr lang="zh-TW" altLang="en-US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1CF20E4C-1F91-BFF6-7963-F44ACBFD985C}"/>
              </a:ext>
            </a:extLst>
          </p:cNvPr>
          <p:cNvSpPr txBox="1"/>
          <p:nvPr/>
        </p:nvSpPr>
        <p:spPr>
          <a:xfrm>
            <a:off x="347471" y="4213026"/>
            <a:ext cx="655714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Observation</a:t>
            </a:r>
          </a:p>
          <a:p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Generative PPL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降低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52.68%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，顯示在外部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LM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評估下，生成文本的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perplexity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明顯改善。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4-gram repetition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上升約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130.17%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，表示重複程度有所增加；但其絕對差值約為 </a:t>
            </a:r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0.03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C2F81284-C265-D3D1-19FD-4871829C7CAF}"/>
              </a:ext>
            </a:extLst>
          </p:cNvPr>
          <p:cNvSpPr txBox="1"/>
          <p:nvPr/>
        </p:nvSpPr>
        <p:spPr>
          <a:xfrm>
            <a:off x="6904618" y="5245157"/>
            <a:ext cx="528707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Note</a:t>
            </a:r>
          </a:p>
          <a:p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Top-p and temperature for sampling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生成過程在達到 </a:t>
            </a:r>
            <a:r>
              <a:rPr lang="en-US" altLang="zh-TW" sz="1600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maximum sequence length </a:t>
            </a:r>
            <a:r>
              <a:rPr lang="zh-TW" altLang="en-US" sz="1600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或產生 </a:t>
            </a:r>
            <a:r>
              <a:rPr lang="en-US" altLang="zh-TW" sz="1600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EOS token </a:t>
            </a:r>
            <a:r>
              <a:rPr lang="zh-TW" altLang="en-US" sz="1600" dirty="0">
                <a:solidFill>
                  <a:srgbClr val="2732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時停止。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01914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6AC1399F-93FD-7791-5F1D-CC0F85DED1EF}"/>
              </a:ext>
            </a:extLst>
          </p:cNvPr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5B839B"/>
          </a:solidFill>
          <a:ln w="12700">
            <a:solidFill>
              <a:srgbClr val="5B839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CD1EA32-D208-544F-534D-7B2308B8C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495" y="6611112"/>
            <a:ext cx="2743200" cy="246888"/>
          </a:xfrm>
        </p:spPr>
        <p:txBody>
          <a:bodyPr/>
          <a:lstStyle/>
          <a:p>
            <a:fld id="{A98399F2-4B7C-4808-8B27-A13C76E6A9FD}" type="slidenum">
              <a:rPr lang="zh-TW" altLang="en-US" smtClean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</a:t>
            </a:fld>
            <a:endParaRPr lang="zh-TW" altLang="en-US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76D77E34-9335-8D14-9AC4-2DFEB2858879}"/>
              </a:ext>
            </a:extLst>
          </p:cNvPr>
          <p:cNvSpPr/>
          <p:nvPr/>
        </p:nvSpPr>
        <p:spPr>
          <a:xfrm>
            <a:off x="347472" y="274320"/>
            <a:ext cx="306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E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Part</a:t>
            </a:r>
            <a:r>
              <a:rPr lang="zh-TW" altLang="en-US" b="1" dirty="0">
                <a:solidFill>
                  <a:srgbClr val="1B2E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 </a:t>
            </a:r>
            <a:r>
              <a:rPr lang="en-US" b="1" dirty="0">
                <a:solidFill>
                  <a:srgbClr val="1B2E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4: Experimental Results</a:t>
            </a: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1ACE38E2-E61F-F518-1FFF-813C8E95BD90}"/>
              </a:ext>
            </a:extLst>
          </p:cNvPr>
          <p:cNvSpPr/>
          <p:nvPr/>
        </p:nvSpPr>
        <p:spPr>
          <a:xfrm>
            <a:off x="347470" y="517529"/>
            <a:ext cx="93735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TW" sz="1600" dirty="0">
                <a:solidFill>
                  <a:srgbClr val="60707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Formal 1.3B Comparison — SDC+LCM vs. Baseline: </a:t>
            </a:r>
            <a:r>
              <a:rPr lang="en-US" sz="1600" dirty="0">
                <a:solidFill>
                  <a:srgbClr val="60707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Zero-Shot PPL Improvement By Head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109752B9-1841-EC52-CDAC-E803B6D4869A}"/>
              </a:ext>
            </a:extLst>
          </p:cNvPr>
          <p:cNvSpPr/>
          <p:nvPr/>
        </p:nvSpPr>
        <p:spPr>
          <a:xfrm>
            <a:off x="347472" y="749808"/>
            <a:ext cx="11475720" cy="0"/>
          </a:xfrm>
          <a:prstGeom prst="line">
            <a:avLst/>
          </a:prstGeom>
          <a:noFill/>
          <a:ln w="12700">
            <a:solidFill>
              <a:srgbClr val="C8D6D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260614E0-D186-D22F-C08A-AD50C47AE7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075901"/>
              </p:ext>
            </p:extLst>
          </p:nvPr>
        </p:nvGraphicFramePr>
        <p:xfrm>
          <a:off x="347471" y="1081227"/>
          <a:ext cx="11193500" cy="3595110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3064771">
                  <a:extLst>
                    <a:ext uri="{9D8B030D-6E8A-4147-A177-3AD203B41FA5}">
                      <a16:colId xmlns:a16="http://schemas.microsoft.com/office/drawing/2014/main" val="2880323015"/>
                    </a:ext>
                  </a:extLst>
                </a:gridCol>
                <a:gridCol w="2040205">
                  <a:extLst>
                    <a:ext uri="{9D8B030D-6E8A-4147-A177-3AD203B41FA5}">
                      <a16:colId xmlns:a16="http://schemas.microsoft.com/office/drawing/2014/main" val="3421584875"/>
                    </a:ext>
                  </a:extLst>
                </a:gridCol>
                <a:gridCol w="1934671">
                  <a:extLst>
                    <a:ext uri="{9D8B030D-6E8A-4147-A177-3AD203B41FA5}">
                      <a16:colId xmlns:a16="http://schemas.microsoft.com/office/drawing/2014/main" val="1184110547"/>
                    </a:ext>
                  </a:extLst>
                </a:gridCol>
                <a:gridCol w="1977348">
                  <a:extLst>
                    <a:ext uri="{9D8B030D-6E8A-4147-A177-3AD203B41FA5}">
                      <a16:colId xmlns:a16="http://schemas.microsoft.com/office/drawing/2014/main" val="3781708433"/>
                    </a:ext>
                  </a:extLst>
                </a:gridCol>
                <a:gridCol w="2176505">
                  <a:extLst>
                    <a:ext uri="{9D8B030D-6E8A-4147-A177-3AD203B41FA5}">
                      <a16:colId xmlns:a16="http://schemas.microsoft.com/office/drawing/2014/main" val="107327293"/>
                    </a:ext>
                  </a:extLst>
                </a:gridCol>
              </a:tblGrid>
              <a:tr h="59918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/>
                        <a:t>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Head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Head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Head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Head 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095099"/>
                  </a:ext>
                </a:extLst>
              </a:tr>
              <a:tr h="59918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/>
                        <a:t>WikiText</a:t>
                      </a:r>
                      <a:endParaRPr lang="en-US" altLang="zh-TW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0.32%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7.57%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7.19%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5.62%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5766225"/>
                  </a:ext>
                </a:extLst>
              </a:tr>
              <a:tr h="59918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PTB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13.82%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9.90%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10.53%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5.63%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8568622"/>
                  </a:ext>
                </a:extLst>
              </a:tr>
              <a:tr h="59918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LAMBADA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38.53%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10.43%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4.44%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3.27%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7155248"/>
                  </a:ext>
                </a:extLst>
              </a:tr>
              <a:tr h="59918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/>
                        <a:t>arXiv</a:t>
                      </a:r>
                      <a:endParaRPr lang="en-US" altLang="zh-TW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1.48%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3.94%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3.71%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0.27%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8960123"/>
                  </a:ext>
                </a:extLst>
              </a:tr>
              <a:tr h="59918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PubMed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7.04%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7.76%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8.33%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8.26%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1699260"/>
                  </a:ext>
                </a:extLst>
              </a:tr>
            </a:tbl>
          </a:graphicData>
        </a:graphic>
      </p:graphicFrame>
      <p:sp>
        <p:nvSpPr>
          <p:cNvPr id="11" name="文字方塊 10">
            <a:extLst>
              <a:ext uri="{FF2B5EF4-FFF2-40B4-BE49-F238E27FC236}">
                <a16:creationId xmlns:a16="http://schemas.microsoft.com/office/drawing/2014/main" id="{8A34E2D6-EDB1-9E22-7D60-8A2D33EC84F0}"/>
              </a:ext>
            </a:extLst>
          </p:cNvPr>
          <p:cNvSpPr txBox="1"/>
          <p:nvPr/>
        </p:nvSpPr>
        <p:spPr>
          <a:xfrm>
            <a:off x="9161756" y="461072"/>
            <a:ext cx="28408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Model trained on 10B tokens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19B868C5-8A25-E4D9-789D-8AD1F545214D}"/>
              </a:ext>
            </a:extLst>
          </p:cNvPr>
          <p:cNvSpPr txBox="1"/>
          <p:nvPr/>
        </p:nvSpPr>
        <p:spPr>
          <a:xfrm>
            <a:off x="347470" y="5044009"/>
            <a:ext cx="11193501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Conclusion</a:t>
            </a:r>
          </a:p>
          <a:p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Head 1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的改善程度可能與資料集特性相關，其中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PTB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LAMBADA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與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PubMed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的提升較為明顯。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WikiText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與 </a:t>
            </a:r>
            <a:r>
              <a:rPr lang="en-US" altLang="zh-TW" sz="1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OpenWebText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均屬於一般領域英文文本，可能因此呈現相似的表現趨勢；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Head 1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改善有限，提升主要集中於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Heads 2–4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雖然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SDC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與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LCM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直接約束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Heads 2–4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，但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Head 4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在不同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unseen datasets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上的改善幅度並不一致，尤其在 </a:t>
            </a:r>
            <a:r>
              <a:rPr lang="en-US" altLang="zh-TW" sz="1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arXiv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上僅提升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0.27%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40775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FC5117D9-E3F0-8AA3-651D-466A7CEF8745}"/>
              </a:ext>
            </a:extLst>
          </p:cNvPr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5B839B"/>
          </a:solidFill>
          <a:ln w="12700">
            <a:solidFill>
              <a:srgbClr val="5B839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7AA86D5A-097E-FB7C-0023-461209AEC35C}"/>
              </a:ext>
            </a:extLst>
          </p:cNvPr>
          <p:cNvSpPr txBox="1"/>
          <p:nvPr/>
        </p:nvSpPr>
        <p:spPr>
          <a:xfrm>
            <a:off x="347470" y="705057"/>
            <a:ext cx="103234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Let S</a:t>
            </a:r>
            <a:r>
              <a:rPr lang="en-US" altLang="zh-TW" sz="1400" b="1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el-GR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τ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and L</a:t>
            </a:r>
            <a:r>
              <a:rPr lang="en-US" altLang="zh-TW" sz="1400" b="1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denote the SDC term weight, confidence threshold, and LCM term weight, respectively.</a:t>
            </a:r>
            <a:endParaRPr lang="zh-TW" altLang="en-US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60BEF78-BCAE-A094-9708-60A5D7276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20929" y="6630152"/>
            <a:ext cx="2743200" cy="224065"/>
          </a:xfrm>
        </p:spPr>
        <p:txBody>
          <a:bodyPr/>
          <a:lstStyle/>
          <a:p>
            <a:fld id="{A98399F2-4B7C-4808-8B27-A13C76E6A9FD}" type="slidenum">
              <a:rPr lang="zh-TW" altLang="en-US" smtClean="0">
                <a:solidFill>
                  <a:schemeClr val="bg2"/>
                </a:solidFill>
              </a:rPr>
              <a:t>21</a:t>
            </a:fld>
            <a:endParaRPr lang="zh-TW" altLang="en-US" dirty="0">
              <a:solidFill>
                <a:schemeClr val="bg2"/>
              </a:solidFill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3AC5825D-35B9-5CD5-CD54-3F87E388EBAB}"/>
              </a:ext>
            </a:extLst>
          </p:cNvPr>
          <p:cNvSpPr/>
          <p:nvPr/>
        </p:nvSpPr>
        <p:spPr>
          <a:xfrm>
            <a:off x="347472" y="274320"/>
            <a:ext cx="306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E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Part</a:t>
            </a:r>
            <a:r>
              <a:rPr lang="zh-TW" altLang="en-US" b="1" dirty="0">
                <a:solidFill>
                  <a:srgbClr val="1B2E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 </a:t>
            </a:r>
            <a:r>
              <a:rPr lang="en-US" b="1" dirty="0">
                <a:solidFill>
                  <a:srgbClr val="1B2E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4: Experimental Results</a:t>
            </a: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D3C4523A-8235-3ED7-6DE2-29CBC80B1335}"/>
              </a:ext>
            </a:extLst>
          </p:cNvPr>
          <p:cNvSpPr/>
          <p:nvPr/>
        </p:nvSpPr>
        <p:spPr>
          <a:xfrm>
            <a:off x="347470" y="476457"/>
            <a:ext cx="93735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Ablation Study — Oracle PPL </a:t>
            </a: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2B2A0058-1864-93F1-A9FC-1216E0990915}"/>
              </a:ext>
            </a:extLst>
          </p:cNvPr>
          <p:cNvSpPr/>
          <p:nvPr/>
        </p:nvSpPr>
        <p:spPr>
          <a:xfrm>
            <a:off x="347472" y="749808"/>
            <a:ext cx="11475720" cy="0"/>
          </a:xfrm>
          <a:prstGeom prst="line">
            <a:avLst/>
          </a:prstGeom>
          <a:noFill/>
          <a:ln w="12700">
            <a:solidFill>
              <a:srgbClr val="C8D6D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2ABDC98F-C3A4-3E55-60C1-E7354E0FE9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2274016"/>
              </p:ext>
            </p:extLst>
          </p:nvPr>
        </p:nvGraphicFramePr>
        <p:xfrm>
          <a:off x="347470" y="1020571"/>
          <a:ext cx="8885307" cy="5251987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2005113">
                  <a:extLst>
                    <a:ext uri="{9D8B030D-6E8A-4147-A177-3AD203B41FA5}">
                      <a16:colId xmlns:a16="http://schemas.microsoft.com/office/drawing/2014/main" val="2880323015"/>
                    </a:ext>
                  </a:extLst>
                </a:gridCol>
                <a:gridCol w="1624613">
                  <a:extLst>
                    <a:ext uri="{9D8B030D-6E8A-4147-A177-3AD203B41FA5}">
                      <a16:colId xmlns:a16="http://schemas.microsoft.com/office/drawing/2014/main" val="3421584875"/>
                    </a:ext>
                  </a:extLst>
                </a:gridCol>
                <a:gridCol w="1740023">
                  <a:extLst>
                    <a:ext uri="{9D8B030D-6E8A-4147-A177-3AD203B41FA5}">
                      <a16:colId xmlns:a16="http://schemas.microsoft.com/office/drawing/2014/main" val="1184110547"/>
                    </a:ext>
                  </a:extLst>
                </a:gridCol>
                <a:gridCol w="1731146">
                  <a:extLst>
                    <a:ext uri="{9D8B030D-6E8A-4147-A177-3AD203B41FA5}">
                      <a16:colId xmlns:a16="http://schemas.microsoft.com/office/drawing/2014/main" val="3781708433"/>
                    </a:ext>
                  </a:extLst>
                </a:gridCol>
                <a:gridCol w="1784412">
                  <a:extLst>
                    <a:ext uri="{9D8B030D-6E8A-4147-A177-3AD203B41FA5}">
                      <a16:colId xmlns:a16="http://schemas.microsoft.com/office/drawing/2014/main" val="107327293"/>
                    </a:ext>
                  </a:extLst>
                </a:gridCol>
              </a:tblGrid>
              <a:tr h="4039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solidFill>
                            <a:schemeClr val="tx1"/>
                          </a:solidFill>
                        </a:rPr>
                        <a:t>Setting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Head 1 PPL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Head 2 PPL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Head 3 PPL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Head 4 PPL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095099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26.2356 ± 0.0000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121.8033 ± 0.0000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269.2450 ± 0.0000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406.6959 ± 0.0000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5766225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S</a:t>
                      </a:r>
                      <a:r>
                        <a:rPr lang="en-US" altLang="zh-TW" sz="1600" baseline="-2500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=1.0,</a:t>
                      </a:r>
                      <a:r>
                        <a:rPr lang="el-GR" altLang="zh-TW" sz="1600" dirty="0">
                          <a:solidFill>
                            <a:schemeClr val="tx1"/>
                          </a:solidFill>
                          <a:latin typeface="+mn-lt"/>
                        </a:rPr>
                        <a:t> τ</a:t>
                      </a:r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+mn-lt"/>
                        </a:rPr>
                        <a:t>=0.0, </a:t>
                      </a:r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L</a:t>
                      </a:r>
                      <a:r>
                        <a:rPr lang="en-US" altLang="zh-TW" sz="1600" baseline="-2500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=0.0</a:t>
                      </a:r>
                      <a:endParaRPr lang="en-US" altLang="zh-TW" sz="160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26.7541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120.6687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261.6664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>
                          <a:solidFill>
                            <a:schemeClr val="tx1"/>
                          </a:solidFill>
                        </a:rPr>
                        <a:t>394.6503 ± 0.0000</a:t>
                      </a: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1088568622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S</a:t>
                      </a:r>
                      <a:r>
                        <a:rPr lang="en-US" altLang="zh-TW" sz="1600" baseline="-2500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=1.0,</a:t>
                      </a:r>
                      <a:r>
                        <a:rPr lang="el-GR" altLang="zh-TW" sz="1600" dirty="0">
                          <a:solidFill>
                            <a:schemeClr val="tx1"/>
                          </a:solidFill>
                          <a:latin typeface="+mn-lt"/>
                        </a:rPr>
                        <a:t> τ</a:t>
                      </a:r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+mn-lt"/>
                        </a:rPr>
                        <a:t>=0.3, </a:t>
                      </a:r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L</a:t>
                      </a:r>
                      <a:r>
                        <a:rPr lang="en-US" altLang="zh-TW" sz="1600" baseline="-2500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=0.0</a:t>
                      </a:r>
                      <a:endParaRPr lang="en-US" altLang="zh-TW" sz="160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26.8150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120.5276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261.9479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394.7055 ± 0.0000</a:t>
                      </a: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3427155248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S</a:t>
                      </a:r>
                      <a:r>
                        <a:rPr lang="en-US" altLang="zh-TW" sz="1600" baseline="-2500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=1.0,</a:t>
                      </a:r>
                      <a:r>
                        <a:rPr lang="el-GR" altLang="zh-TW" sz="1600" dirty="0">
                          <a:solidFill>
                            <a:schemeClr val="tx1"/>
                          </a:solidFill>
                          <a:latin typeface="+mn-lt"/>
                        </a:rPr>
                        <a:t> τ</a:t>
                      </a:r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+mn-lt"/>
                        </a:rPr>
                        <a:t>=0.6, </a:t>
                      </a:r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L</a:t>
                      </a:r>
                      <a:r>
                        <a:rPr lang="en-US" altLang="zh-TW" sz="1600" baseline="-2500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=0.0</a:t>
                      </a:r>
                      <a:endParaRPr lang="en-US" altLang="zh-TW" sz="160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27.7396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129.2922 ± 0.0001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278.8881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417.5874 ± 0.0000</a:t>
                      </a: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678960123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S</a:t>
                      </a:r>
                      <a:r>
                        <a:rPr lang="en-US" altLang="zh-TW" sz="1600" baseline="-2500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=1.5,</a:t>
                      </a:r>
                      <a:r>
                        <a:rPr lang="el-GR" altLang="zh-TW" sz="1600" dirty="0">
                          <a:solidFill>
                            <a:schemeClr val="tx1"/>
                          </a:solidFill>
                          <a:latin typeface="+mn-lt"/>
                        </a:rPr>
                        <a:t> τ</a:t>
                      </a:r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+mn-lt"/>
                        </a:rPr>
                        <a:t>=0.3, </a:t>
                      </a:r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L</a:t>
                      </a:r>
                      <a:r>
                        <a:rPr lang="en-US" altLang="zh-TW" sz="1600" baseline="-2500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=0.0</a:t>
                      </a:r>
                      <a:endParaRPr lang="en-US" altLang="zh-TW" sz="160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27.2684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>
                          <a:solidFill>
                            <a:schemeClr val="tx1"/>
                          </a:solidFill>
                        </a:rPr>
                        <a:t>122.5244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264.6119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397.3106 ± 0.0000</a:t>
                      </a: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1531699260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S</a:t>
                      </a:r>
                      <a:r>
                        <a:rPr lang="en-US" altLang="zh-TW" sz="1600" baseline="-2500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=0.5,</a:t>
                      </a:r>
                      <a:r>
                        <a:rPr lang="el-GR" altLang="zh-TW" sz="1600" dirty="0">
                          <a:solidFill>
                            <a:schemeClr val="tx1"/>
                          </a:solidFill>
                          <a:latin typeface="+mn-lt"/>
                        </a:rPr>
                        <a:t> τ</a:t>
                      </a:r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+mn-lt"/>
                        </a:rPr>
                        <a:t>=0.3, </a:t>
                      </a:r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L</a:t>
                      </a:r>
                      <a:r>
                        <a:rPr lang="en-US" altLang="zh-TW" sz="1600" baseline="-2500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=0.0</a:t>
                      </a:r>
                      <a:endParaRPr lang="en-US" altLang="zh-TW" sz="160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26.4587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120.7186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265.0660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402.0413 ± 0.0000</a:t>
                      </a: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318103260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S</a:t>
                      </a:r>
                      <a:r>
                        <a:rPr lang="en-US" altLang="zh-TW" sz="1600" baseline="-2500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=0.0,</a:t>
                      </a:r>
                      <a:r>
                        <a:rPr lang="el-GR" altLang="zh-TW" sz="1600" dirty="0">
                          <a:solidFill>
                            <a:schemeClr val="tx1"/>
                          </a:solidFill>
                          <a:latin typeface="+mn-lt"/>
                        </a:rPr>
                        <a:t> τ</a:t>
                      </a:r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+mn-lt"/>
                        </a:rPr>
                        <a:t>=0.0, </a:t>
                      </a:r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L</a:t>
                      </a:r>
                      <a:r>
                        <a:rPr lang="en-US" altLang="zh-TW" sz="1600" baseline="-2500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=0.5</a:t>
                      </a:r>
                      <a:endParaRPr lang="en-US" altLang="zh-TW" sz="160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25.7096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118.9247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262.1637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397.9911 ± 0.0000</a:t>
                      </a: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1441213913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S</a:t>
                      </a:r>
                      <a:r>
                        <a:rPr lang="en-US" altLang="zh-TW" sz="1600" baseline="-2500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=0.0,</a:t>
                      </a:r>
                      <a:r>
                        <a:rPr lang="el-GR" altLang="zh-TW" sz="1600" dirty="0">
                          <a:solidFill>
                            <a:schemeClr val="tx1"/>
                          </a:solidFill>
                          <a:latin typeface="+mn-lt"/>
                        </a:rPr>
                        <a:t> τ</a:t>
                      </a:r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+mn-lt"/>
                        </a:rPr>
                        <a:t>=0.0, </a:t>
                      </a:r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L</a:t>
                      </a:r>
                      <a:r>
                        <a:rPr lang="en-US" altLang="zh-TW" sz="1600" baseline="-2500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=1.0</a:t>
                      </a:r>
                      <a:endParaRPr lang="en-US" altLang="zh-TW" sz="160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25.5312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118.5823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261.1872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395.1838 ± 0.0000</a:t>
                      </a: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1591432723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S</a:t>
                      </a:r>
                      <a:r>
                        <a:rPr lang="en-US" altLang="zh-TW" sz="1600" baseline="-2500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=0.0,</a:t>
                      </a:r>
                      <a:r>
                        <a:rPr lang="el-GR" altLang="zh-TW" sz="1600" dirty="0">
                          <a:solidFill>
                            <a:schemeClr val="tx1"/>
                          </a:solidFill>
                          <a:latin typeface="+mn-lt"/>
                        </a:rPr>
                        <a:t> τ</a:t>
                      </a:r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+mn-lt"/>
                        </a:rPr>
                        <a:t>=0.0, </a:t>
                      </a:r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L</a:t>
                      </a:r>
                      <a:r>
                        <a:rPr lang="en-US" altLang="zh-TW" sz="1600" baseline="-2500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=1.5</a:t>
                      </a:r>
                      <a:endParaRPr lang="en-US" altLang="zh-TW" sz="160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25.4583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119.1595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263.2083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398.8679 ± 0.0000</a:t>
                      </a: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1309331485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S</a:t>
                      </a:r>
                      <a:r>
                        <a:rPr lang="en-US" altLang="zh-TW" sz="1600" baseline="-2500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=1.0,</a:t>
                      </a:r>
                      <a:r>
                        <a:rPr lang="el-GR" altLang="zh-TW" sz="1600" dirty="0">
                          <a:solidFill>
                            <a:schemeClr val="tx1"/>
                          </a:solidFill>
                          <a:latin typeface="+mn-lt"/>
                        </a:rPr>
                        <a:t> τ</a:t>
                      </a:r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+mn-lt"/>
                        </a:rPr>
                        <a:t>=0.3, </a:t>
                      </a:r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L</a:t>
                      </a:r>
                      <a:r>
                        <a:rPr lang="en-US" altLang="zh-TW" sz="1600" baseline="-2500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=0.5</a:t>
                      </a:r>
                      <a:endParaRPr lang="en-US" altLang="zh-TW" sz="160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26.2402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118.2168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257.0344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387.7455 ± 0.0000</a:t>
                      </a: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3663042970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S</a:t>
                      </a:r>
                      <a:r>
                        <a:rPr lang="en-US" altLang="zh-TW" sz="1600" baseline="-2500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=1.0,</a:t>
                      </a:r>
                      <a:r>
                        <a:rPr lang="el-GR" altLang="zh-TW" sz="1600" dirty="0">
                          <a:solidFill>
                            <a:schemeClr val="tx1"/>
                          </a:solidFill>
                          <a:latin typeface="+mn-lt"/>
                        </a:rPr>
                        <a:t> τ</a:t>
                      </a:r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+mn-lt"/>
                        </a:rPr>
                        <a:t>=0.3, </a:t>
                      </a:r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L</a:t>
                      </a:r>
                      <a:r>
                        <a:rPr lang="en-US" altLang="zh-TW" sz="1600" baseline="-2500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=1.0</a:t>
                      </a:r>
                      <a:endParaRPr lang="en-US" altLang="zh-TW" sz="160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26.4553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>
                          <a:solidFill>
                            <a:schemeClr val="tx1"/>
                          </a:solidFill>
                        </a:rPr>
                        <a:t>119.2975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>
                          <a:solidFill>
                            <a:schemeClr val="tx1"/>
                          </a:solidFill>
                        </a:rPr>
                        <a:t>258.4100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390.7829 ± 0.0000</a:t>
                      </a: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3253892573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S</a:t>
                      </a:r>
                      <a:r>
                        <a:rPr lang="en-US" altLang="zh-TW" sz="1600" baseline="-2500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=1.5,</a:t>
                      </a:r>
                      <a:r>
                        <a:rPr lang="el-GR" altLang="zh-TW" sz="1600" dirty="0">
                          <a:solidFill>
                            <a:schemeClr val="tx1"/>
                          </a:solidFill>
                          <a:latin typeface="+mn-lt"/>
                        </a:rPr>
                        <a:t> τ</a:t>
                      </a:r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+mn-lt"/>
                        </a:rPr>
                        <a:t>=0.3, </a:t>
                      </a:r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L</a:t>
                      </a:r>
                      <a:r>
                        <a:rPr lang="en-US" altLang="zh-TW" sz="1600" baseline="-2500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=1.0</a:t>
                      </a:r>
                      <a:endParaRPr lang="en-US" altLang="zh-TW" sz="160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26.5485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>
                          <a:solidFill>
                            <a:schemeClr val="tx1"/>
                          </a:solidFill>
                        </a:rPr>
                        <a:t>118.4341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254.9612 ± 0.0000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383.7626 ± 0.0000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2083154564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09E7A320-DACF-E165-DF46-E8D587A76B28}"/>
              </a:ext>
            </a:extLst>
          </p:cNvPr>
          <p:cNvSpPr txBox="1"/>
          <p:nvPr/>
        </p:nvSpPr>
        <p:spPr>
          <a:xfrm>
            <a:off x="9135122" y="461072"/>
            <a:ext cx="28674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Model trained on 1B tokens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B5C35B6D-3CEF-2D98-CE64-708B5A0435B7}"/>
              </a:ext>
            </a:extLst>
          </p:cNvPr>
          <p:cNvSpPr txBox="1"/>
          <p:nvPr/>
        </p:nvSpPr>
        <p:spPr>
          <a:xfrm>
            <a:off x="9244413" y="1012834"/>
            <a:ext cx="3096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Observation</a:t>
            </a: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0A9E9440-0D67-4E18-9787-17F7242972D4}"/>
              </a:ext>
            </a:extLst>
          </p:cNvPr>
          <p:cNvSpPr txBox="1"/>
          <p:nvPr/>
        </p:nvSpPr>
        <p:spPr>
          <a:xfrm>
            <a:off x="9244412" y="1441485"/>
            <a:ext cx="294758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SDC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weight:</a:t>
            </a:r>
          </a:p>
          <a:p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隨著 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</a:t>
            </a:r>
            <a:r>
              <a:rPr lang="en-US" altLang="zh-TW" sz="1200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增加，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Head 1 PPL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呈上升趨勢；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Heads 2–4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的變化相對較小，且未呈現明確的單調趨勢。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EC576B6D-14B0-3F44-7BFC-4A7EFCBA7717}"/>
              </a:ext>
            </a:extLst>
          </p:cNvPr>
          <p:cNvSpPr txBox="1"/>
          <p:nvPr/>
        </p:nvSpPr>
        <p:spPr>
          <a:xfrm>
            <a:off x="9244108" y="2443484"/>
            <a:ext cx="294758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LCM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weight:</a:t>
            </a:r>
          </a:p>
          <a:p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隨著 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</a:t>
            </a:r>
            <a:r>
              <a:rPr lang="en-US" altLang="zh-TW" sz="1200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</a:t>
            </a:r>
            <a:r>
              <a:rPr lang="en-US" altLang="zh-TW" sz="1200" b="1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由 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0.5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增加至 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1.0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，各 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heads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 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PPL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整體改善；但進一步增加至 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1.5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後，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Heads 2–4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 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PPL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略微上升。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F0E9A6C7-4F86-9F1D-EC57-6FDF9AC56298}"/>
              </a:ext>
            </a:extLst>
          </p:cNvPr>
          <p:cNvSpPr txBox="1"/>
          <p:nvPr/>
        </p:nvSpPr>
        <p:spPr>
          <a:xfrm>
            <a:off x="9232777" y="3459147"/>
            <a:ext cx="294758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Confidence Threshold:</a:t>
            </a:r>
          </a:p>
          <a:p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當 </a:t>
            </a:r>
            <a:r>
              <a:rPr lang="el-GR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τ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提高至 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0.6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時，所有 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heads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 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PPL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均明顯上升；</a:t>
            </a:r>
            <a:r>
              <a:rPr lang="el-GR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τ=0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與 </a:t>
            </a:r>
            <a:r>
              <a:rPr lang="el-GR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τ=0.3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之間的差異則相對有限。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9E24CA18-DFA5-64CA-0922-EF8B0EDCFD27}"/>
              </a:ext>
            </a:extLst>
          </p:cNvPr>
          <p:cNvSpPr txBox="1"/>
          <p:nvPr/>
        </p:nvSpPr>
        <p:spPr>
          <a:xfrm>
            <a:off x="9244107" y="4534129"/>
            <a:ext cx="2947587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Conclusion:</a:t>
            </a:r>
          </a:p>
          <a:p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SDC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與 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LCM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聯合訓練可穩定降低 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Heads 2–4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 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PPL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，但 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Head 1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並未同步改善。此現象可能與 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ablation study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僅使用 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1B training tokens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有關，仍需透過更大規模的訓練進一步驗證。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716344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5ECFA86E-2881-6C1A-423C-F7BFABF5C154}"/>
              </a:ext>
            </a:extLst>
          </p:cNvPr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5B839B"/>
          </a:solidFill>
          <a:ln w="12700">
            <a:solidFill>
              <a:srgbClr val="5B839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0E0182C7-7A07-7C7E-CEBE-1A990AD52502}"/>
              </a:ext>
            </a:extLst>
          </p:cNvPr>
          <p:cNvSpPr/>
          <p:nvPr/>
        </p:nvSpPr>
        <p:spPr>
          <a:xfrm>
            <a:off x="347472" y="274320"/>
            <a:ext cx="306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E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Part</a:t>
            </a:r>
            <a:r>
              <a:rPr lang="zh-TW" altLang="en-US" b="1" dirty="0">
                <a:solidFill>
                  <a:srgbClr val="1B2E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 </a:t>
            </a:r>
            <a:r>
              <a:rPr lang="en-US" b="1" dirty="0">
                <a:solidFill>
                  <a:srgbClr val="1B2E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4: Experimental Results</a:t>
            </a: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2BBEAC90-0E4A-F9AC-464B-387FDC13D47B}"/>
              </a:ext>
            </a:extLst>
          </p:cNvPr>
          <p:cNvSpPr/>
          <p:nvPr/>
        </p:nvSpPr>
        <p:spPr>
          <a:xfrm>
            <a:off x="347471" y="493483"/>
            <a:ext cx="93735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Ablation Study — Average Draft Tokens Accepted </a:t>
            </a: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931E18AC-3F04-D257-50A6-8CD794189839}"/>
              </a:ext>
            </a:extLst>
          </p:cNvPr>
          <p:cNvSpPr/>
          <p:nvPr/>
        </p:nvSpPr>
        <p:spPr>
          <a:xfrm>
            <a:off x="347472" y="749808"/>
            <a:ext cx="11475720" cy="0"/>
          </a:xfrm>
          <a:prstGeom prst="line">
            <a:avLst/>
          </a:prstGeom>
          <a:noFill/>
          <a:ln w="12700">
            <a:solidFill>
              <a:srgbClr val="C8D6D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769948AD-2815-5587-DAE4-23AD108037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0306459"/>
              </p:ext>
            </p:extLst>
          </p:nvPr>
        </p:nvGraphicFramePr>
        <p:xfrm>
          <a:off x="347471" y="1143813"/>
          <a:ext cx="9453478" cy="5369140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1969602">
                  <a:extLst>
                    <a:ext uri="{9D8B030D-6E8A-4147-A177-3AD203B41FA5}">
                      <a16:colId xmlns:a16="http://schemas.microsoft.com/office/drawing/2014/main" val="2880323015"/>
                    </a:ext>
                  </a:extLst>
                </a:gridCol>
                <a:gridCol w="1624613">
                  <a:extLst>
                    <a:ext uri="{9D8B030D-6E8A-4147-A177-3AD203B41FA5}">
                      <a16:colId xmlns:a16="http://schemas.microsoft.com/office/drawing/2014/main" val="3421584875"/>
                    </a:ext>
                  </a:extLst>
                </a:gridCol>
                <a:gridCol w="1438183">
                  <a:extLst>
                    <a:ext uri="{9D8B030D-6E8A-4147-A177-3AD203B41FA5}">
                      <a16:colId xmlns:a16="http://schemas.microsoft.com/office/drawing/2014/main" val="1184110547"/>
                    </a:ext>
                  </a:extLst>
                </a:gridCol>
                <a:gridCol w="1411549">
                  <a:extLst>
                    <a:ext uri="{9D8B030D-6E8A-4147-A177-3AD203B41FA5}">
                      <a16:colId xmlns:a16="http://schemas.microsoft.com/office/drawing/2014/main" val="3781708433"/>
                    </a:ext>
                  </a:extLst>
                </a:gridCol>
                <a:gridCol w="1518082">
                  <a:extLst>
                    <a:ext uri="{9D8B030D-6E8A-4147-A177-3AD203B41FA5}">
                      <a16:colId xmlns:a16="http://schemas.microsoft.com/office/drawing/2014/main" val="107327293"/>
                    </a:ext>
                  </a:extLst>
                </a:gridCol>
                <a:gridCol w="1491449">
                  <a:extLst>
                    <a:ext uri="{9D8B030D-6E8A-4147-A177-3AD203B41FA5}">
                      <a16:colId xmlns:a16="http://schemas.microsoft.com/office/drawing/2014/main" val="3215815911"/>
                    </a:ext>
                  </a:extLst>
                </a:gridCol>
              </a:tblGrid>
              <a:tr h="4039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solidFill>
                            <a:schemeClr val="tx1"/>
                          </a:solidFill>
                        </a:rPr>
                        <a:t>Setting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Average Draft Tokens Accepted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Prefix 128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Prefix 256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Prefix 512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</a:rPr>
                        <a:t>Prefix 768</a:t>
                      </a: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57095099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0.6238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0.8251 ± 0.0140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0.8205 ± 0.0062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0.8519 ± 0.0195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0.8552 ± 0.0233</a:t>
                      </a: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4165766225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S</a:t>
                      </a:r>
                      <a:r>
                        <a:rPr lang="en-US" altLang="zh-TW" sz="1600" baseline="-2500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=1.0,</a:t>
                      </a:r>
                      <a:r>
                        <a:rPr lang="el-GR" altLang="zh-TW" sz="1600" dirty="0">
                          <a:solidFill>
                            <a:schemeClr val="tx1"/>
                          </a:solidFill>
                          <a:latin typeface="+mn-lt"/>
                        </a:rPr>
                        <a:t> τ</a:t>
                      </a:r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+mn-lt"/>
                        </a:rPr>
                        <a:t>=0.0, </a:t>
                      </a:r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L</a:t>
                      </a:r>
                      <a:r>
                        <a:rPr lang="en-US" altLang="zh-TW" sz="1600" baseline="-2500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=0.0</a:t>
                      </a:r>
                      <a:endParaRPr lang="en-US" altLang="zh-TW" sz="160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0.6388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0.8374 ± 0.0165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0.8746 ± 0.0108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0.8736 ± 0.0158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0.8802 ± 0.0029</a:t>
                      </a: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1088568622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S</a:t>
                      </a:r>
                      <a:r>
                        <a:rPr lang="en-US" altLang="zh-TW" sz="1600" baseline="-2500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=1.0,</a:t>
                      </a:r>
                      <a:r>
                        <a:rPr lang="el-GR" altLang="zh-TW" sz="1600" dirty="0">
                          <a:solidFill>
                            <a:schemeClr val="tx1"/>
                          </a:solidFill>
                          <a:latin typeface="+mn-lt"/>
                        </a:rPr>
                        <a:t> τ</a:t>
                      </a:r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+mn-lt"/>
                        </a:rPr>
                        <a:t>=0.3, </a:t>
                      </a:r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L</a:t>
                      </a:r>
                      <a:r>
                        <a:rPr lang="en-US" altLang="zh-TW" sz="1600" baseline="-2500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=0.0</a:t>
                      </a:r>
                      <a:endParaRPr lang="en-US" altLang="zh-TW" sz="160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0.6400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0.8406 ± 0.0131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>
                          <a:solidFill>
                            <a:schemeClr val="tx1"/>
                          </a:solidFill>
                        </a:rPr>
                        <a:t>0.8602 ± 0.0232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>
                          <a:solidFill>
                            <a:schemeClr val="tx1"/>
                          </a:solidFill>
                        </a:rPr>
                        <a:t>0.8720 ± 0.0233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0.8772 ± 0.0015</a:t>
                      </a: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3427155248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S</a:t>
                      </a:r>
                      <a:r>
                        <a:rPr lang="en-US" altLang="zh-TW" sz="1600" baseline="-2500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=1.0,</a:t>
                      </a:r>
                      <a:r>
                        <a:rPr lang="el-GR" altLang="zh-TW" sz="1600" dirty="0">
                          <a:solidFill>
                            <a:schemeClr val="tx1"/>
                          </a:solidFill>
                          <a:latin typeface="+mn-lt"/>
                        </a:rPr>
                        <a:t> τ</a:t>
                      </a:r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+mn-lt"/>
                        </a:rPr>
                        <a:t>=0.6, </a:t>
                      </a:r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L</a:t>
                      </a:r>
                      <a:r>
                        <a:rPr lang="en-US" altLang="zh-TW" sz="1600" baseline="-2500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=0.0</a:t>
                      </a:r>
                      <a:endParaRPr lang="en-US" altLang="zh-TW" sz="160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0.6113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0.7908 ± 0.0074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0.7919 ± 0.0086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0.8009 ± 0.0035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0.8174 ± 0.0130</a:t>
                      </a: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678960123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S</a:t>
                      </a:r>
                      <a:r>
                        <a:rPr lang="en-US" altLang="zh-TW" sz="1600" baseline="-2500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=1.5,</a:t>
                      </a:r>
                      <a:r>
                        <a:rPr lang="el-GR" altLang="zh-TW" sz="1600" dirty="0">
                          <a:solidFill>
                            <a:schemeClr val="tx1"/>
                          </a:solidFill>
                          <a:latin typeface="+mn-lt"/>
                        </a:rPr>
                        <a:t> τ</a:t>
                      </a:r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+mn-lt"/>
                        </a:rPr>
                        <a:t>=0.3, </a:t>
                      </a:r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L</a:t>
                      </a:r>
                      <a:r>
                        <a:rPr lang="en-US" altLang="zh-TW" sz="1600" baseline="-2500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=0.0</a:t>
                      </a:r>
                      <a:endParaRPr lang="en-US" altLang="zh-TW" sz="160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0.6414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>
                          <a:solidFill>
                            <a:schemeClr val="tx1"/>
                          </a:solidFill>
                        </a:rPr>
                        <a:t>0.8522 ± 0.0098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0.8581 ± 0.0139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>
                          <a:solidFill>
                            <a:schemeClr val="tx1"/>
                          </a:solidFill>
                        </a:rPr>
                        <a:t>0.8897 ± 0.0043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0.9082 ± 0.0204</a:t>
                      </a: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1531699260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S</a:t>
                      </a:r>
                      <a:r>
                        <a:rPr lang="en-US" altLang="zh-TW" sz="1600" baseline="-2500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=0.5,</a:t>
                      </a:r>
                      <a:r>
                        <a:rPr lang="el-GR" altLang="zh-TW" sz="1600" dirty="0">
                          <a:solidFill>
                            <a:schemeClr val="tx1"/>
                          </a:solidFill>
                          <a:latin typeface="+mn-lt"/>
                        </a:rPr>
                        <a:t> τ</a:t>
                      </a:r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+mn-lt"/>
                        </a:rPr>
                        <a:t>=0.3, </a:t>
                      </a:r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L</a:t>
                      </a:r>
                      <a:r>
                        <a:rPr lang="en-US" altLang="zh-TW" sz="1600" baseline="-2500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=0.0</a:t>
                      </a:r>
                      <a:endParaRPr lang="en-US" altLang="zh-TW" sz="160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0.6345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0.8195 ± 0.0122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0.8416 ± 0.0115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0.8601 ± 0.0065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0.8644 ± 0.0304</a:t>
                      </a: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318103260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S</a:t>
                      </a:r>
                      <a:r>
                        <a:rPr lang="en-US" altLang="zh-TW" sz="1600" baseline="-2500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=0.0,</a:t>
                      </a:r>
                      <a:r>
                        <a:rPr lang="el-GR" altLang="zh-TW" sz="1600" dirty="0">
                          <a:solidFill>
                            <a:schemeClr val="tx1"/>
                          </a:solidFill>
                          <a:latin typeface="+mn-lt"/>
                        </a:rPr>
                        <a:t> τ</a:t>
                      </a:r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+mn-lt"/>
                        </a:rPr>
                        <a:t>=0.0, </a:t>
                      </a:r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L</a:t>
                      </a:r>
                      <a:r>
                        <a:rPr lang="en-US" altLang="zh-TW" sz="1600" baseline="-2500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=0.5</a:t>
                      </a:r>
                      <a:endParaRPr lang="en-US" altLang="zh-TW" sz="160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0.6398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>
                          <a:solidFill>
                            <a:schemeClr val="tx1"/>
                          </a:solidFill>
                        </a:rPr>
                        <a:t>0.8517 ± 0.0156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0.8589 ± 0.0096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>
                          <a:solidFill>
                            <a:schemeClr val="tx1"/>
                          </a:solidFill>
                        </a:rPr>
                        <a:t>0.8794 ± 0.0050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0.8895 ± 0.0257</a:t>
                      </a: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1441213913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S</a:t>
                      </a:r>
                      <a:r>
                        <a:rPr lang="en-US" altLang="zh-TW" sz="1600" baseline="-2500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=0.0,</a:t>
                      </a:r>
                      <a:r>
                        <a:rPr lang="el-GR" altLang="zh-TW" sz="1600" dirty="0">
                          <a:solidFill>
                            <a:schemeClr val="tx1"/>
                          </a:solidFill>
                          <a:latin typeface="+mn-lt"/>
                        </a:rPr>
                        <a:t> τ</a:t>
                      </a:r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+mn-lt"/>
                        </a:rPr>
                        <a:t>=0.0, </a:t>
                      </a:r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L</a:t>
                      </a:r>
                      <a:r>
                        <a:rPr lang="en-US" altLang="zh-TW" sz="1600" baseline="-2500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=1.0</a:t>
                      </a:r>
                      <a:endParaRPr lang="en-US" altLang="zh-TW" sz="160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0.6442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0.8491 ± 0.0130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0.8698 ± 0.0154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0.8919 ± 0.0168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0.8943 ± 0.0012</a:t>
                      </a: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1591432723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S</a:t>
                      </a:r>
                      <a:r>
                        <a:rPr lang="en-US" altLang="zh-TW" sz="1600" baseline="-2500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=0.0,</a:t>
                      </a:r>
                      <a:r>
                        <a:rPr lang="el-GR" altLang="zh-TW" sz="1600" dirty="0">
                          <a:solidFill>
                            <a:schemeClr val="tx1"/>
                          </a:solidFill>
                          <a:latin typeface="+mn-lt"/>
                        </a:rPr>
                        <a:t> τ</a:t>
                      </a:r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+mn-lt"/>
                        </a:rPr>
                        <a:t>=0.0, </a:t>
                      </a:r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L</a:t>
                      </a:r>
                      <a:r>
                        <a:rPr lang="en-US" altLang="zh-TW" sz="1600" baseline="-2500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=1.5</a:t>
                      </a:r>
                      <a:endParaRPr lang="en-US" altLang="zh-TW" sz="160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0.6467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0.8510 ± 0.0112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0.8862 ± 0.0054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0.8951 ± 0.0129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0.9028 ± 0.0327</a:t>
                      </a: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1309331485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S</a:t>
                      </a:r>
                      <a:r>
                        <a:rPr lang="en-US" altLang="zh-TW" sz="1600" baseline="-2500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=1.0,</a:t>
                      </a:r>
                      <a:r>
                        <a:rPr lang="el-GR" altLang="zh-TW" sz="1600" dirty="0">
                          <a:solidFill>
                            <a:schemeClr val="tx1"/>
                          </a:solidFill>
                          <a:latin typeface="+mn-lt"/>
                        </a:rPr>
                        <a:t> τ</a:t>
                      </a:r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+mn-lt"/>
                        </a:rPr>
                        <a:t>=0.3, </a:t>
                      </a:r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L</a:t>
                      </a:r>
                      <a:r>
                        <a:rPr lang="en-US" altLang="zh-TW" sz="1600" baseline="-2500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=0.5</a:t>
                      </a:r>
                      <a:endParaRPr lang="en-US" altLang="zh-TW" sz="160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0.6507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0.8498 ± 0.0339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0.8615 ± 0.0179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0.8987 ± 0.0103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0.8862 ± 0.0151</a:t>
                      </a: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3663042970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S</a:t>
                      </a:r>
                      <a:r>
                        <a:rPr lang="en-US" altLang="zh-TW" sz="1600" baseline="-2500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=1.0,</a:t>
                      </a:r>
                      <a:r>
                        <a:rPr lang="el-GR" altLang="zh-TW" sz="1600" dirty="0">
                          <a:solidFill>
                            <a:schemeClr val="tx1"/>
                          </a:solidFill>
                          <a:latin typeface="+mn-lt"/>
                        </a:rPr>
                        <a:t> τ</a:t>
                      </a:r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+mn-lt"/>
                        </a:rPr>
                        <a:t>=0.3, </a:t>
                      </a:r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L</a:t>
                      </a:r>
                      <a:r>
                        <a:rPr lang="en-US" altLang="zh-TW" sz="1600" baseline="-2500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=1.0</a:t>
                      </a:r>
                      <a:endParaRPr lang="en-US" altLang="zh-TW" sz="160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0.6495 ± 0.0000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>
                          <a:solidFill>
                            <a:schemeClr val="tx1"/>
                          </a:solidFill>
                        </a:rPr>
                        <a:t>0.8402 ± 0.0209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>
                          <a:solidFill>
                            <a:schemeClr val="tx1"/>
                          </a:solidFill>
                        </a:rPr>
                        <a:t>0.8612 ± 0.0043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>
                          <a:solidFill>
                            <a:schemeClr val="tx1"/>
                          </a:solidFill>
                        </a:rPr>
                        <a:t>0.8879 ± 0.0157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>
                          <a:solidFill>
                            <a:schemeClr val="tx1"/>
                          </a:solidFill>
                        </a:rPr>
                        <a:t>0.8950 ± 0.0071</a:t>
                      </a: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3253892573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S</a:t>
                      </a:r>
                      <a:r>
                        <a:rPr lang="en-US" altLang="zh-TW" sz="1600" baseline="-2500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=1.5,</a:t>
                      </a:r>
                      <a:r>
                        <a:rPr lang="el-GR" altLang="zh-TW" sz="1600" dirty="0">
                          <a:solidFill>
                            <a:schemeClr val="tx1"/>
                          </a:solidFill>
                          <a:latin typeface="+mn-lt"/>
                        </a:rPr>
                        <a:t> τ</a:t>
                      </a:r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+mn-lt"/>
                        </a:rPr>
                        <a:t>=0.3, </a:t>
                      </a:r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L</a:t>
                      </a:r>
                      <a:r>
                        <a:rPr lang="en-US" altLang="zh-TW" sz="1600" baseline="-2500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solidFill>
                            <a:schemeClr val="tx1"/>
                          </a:solidFill>
                          <a:latin typeface="+mn-lt"/>
                          <a:ea typeface="微軟正黑體" panose="020B0604030504040204" pitchFamily="34" charset="-120"/>
                        </a:rPr>
                        <a:t>=1.0</a:t>
                      </a:r>
                      <a:endParaRPr lang="en-US" altLang="zh-TW" sz="1600" baseline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0.6525 ± 0.0000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0.8590 ± 0.0101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>
                          <a:solidFill>
                            <a:schemeClr val="tx1"/>
                          </a:solidFill>
                        </a:rPr>
                        <a:t>0.8656 ± 0.0214</a:t>
                      </a: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0.9023 ± 0.0277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33472" marR="33472" marT="16736" marB="1673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0.9044 ± 0.0140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33472" marR="33472" marT="16736" marB="16736" anchor="ctr"/>
                </a:tc>
                <a:extLst>
                  <a:ext uri="{0D108BD9-81ED-4DB2-BD59-A6C34878D82A}">
                    <a16:rowId xmlns:a16="http://schemas.microsoft.com/office/drawing/2014/main" val="2083154564"/>
                  </a:ext>
                </a:extLst>
              </a:tr>
            </a:tbl>
          </a:graphicData>
        </a:graphic>
      </p:graphicFrame>
      <p:sp>
        <p:nvSpPr>
          <p:cNvPr id="11" name="文字方塊 10">
            <a:extLst>
              <a:ext uri="{FF2B5EF4-FFF2-40B4-BE49-F238E27FC236}">
                <a16:creationId xmlns:a16="http://schemas.microsoft.com/office/drawing/2014/main" id="{3940046D-72BA-82CB-8E92-F2F8504EDA92}"/>
              </a:ext>
            </a:extLst>
          </p:cNvPr>
          <p:cNvSpPr txBox="1"/>
          <p:nvPr/>
        </p:nvSpPr>
        <p:spPr>
          <a:xfrm>
            <a:off x="347471" y="805259"/>
            <a:ext cx="93616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Let S</a:t>
            </a:r>
            <a:r>
              <a:rPr lang="en-US" altLang="zh-TW" sz="1400" b="1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el-GR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τ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and L</a:t>
            </a:r>
            <a:r>
              <a:rPr lang="en-US" altLang="zh-TW" sz="1400" b="1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denote the SDC term weight, confidence threshold, and LCM term weight, respectively.</a:t>
            </a:r>
            <a:endParaRPr lang="zh-TW" altLang="en-US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8EFD5CC4-4698-16E3-237A-CD98F27E3C63}"/>
              </a:ext>
            </a:extLst>
          </p:cNvPr>
          <p:cNvSpPr txBox="1"/>
          <p:nvPr/>
        </p:nvSpPr>
        <p:spPr>
          <a:xfrm>
            <a:off x="9448496" y="461072"/>
            <a:ext cx="25541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Model trained on 1B tokens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9EF0724-6B01-B89E-5909-3D4084B01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495" y="6630152"/>
            <a:ext cx="2743200" cy="246888"/>
          </a:xfrm>
        </p:spPr>
        <p:txBody>
          <a:bodyPr/>
          <a:lstStyle/>
          <a:p>
            <a:fld id="{A98399F2-4B7C-4808-8B27-A13C76E6A9FD}" type="slidenum">
              <a:rPr lang="zh-TW" altLang="en-US" smtClean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22</a:t>
            </a:fld>
            <a:endParaRPr lang="zh-TW" altLang="en-US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8754BD05-D9F1-0CF9-04D7-F0149164BCFD}"/>
              </a:ext>
            </a:extLst>
          </p:cNvPr>
          <p:cNvSpPr txBox="1"/>
          <p:nvPr/>
        </p:nvSpPr>
        <p:spPr>
          <a:xfrm>
            <a:off x="9800949" y="1113036"/>
            <a:ext cx="2379110" cy="3628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Observation</a:t>
            </a:r>
          </a:p>
          <a:p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在測試範圍內，提高 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SDC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或 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LCM weight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整體上皆能增加 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Average Draft Tokens Accepted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當 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confidence threshold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提高至 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0.6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時，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Average Draft Tokens Accepted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明顯下降。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與 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Heads 2–4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 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Oracle PPL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趨勢一致，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SDC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與 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LCM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聯合訓練可獲得較佳的整體表現。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817168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4A775969-FCB6-B159-41B0-ED4B3429871C}"/>
              </a:ext>
            </a:extLst>
          </p:cNvPr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5B839B"/>
          </a:solidFill>
          <a:ln w="12700">
            <a:solidFill>
              <a:srgbClr val="5B839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4B9E41B-FA85-B830-ACAC-6684E673F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611112"/>
            <a:ext cx="2743200" cy="246888"/>
          </a:xfrm>
        </p:spPr>
        <p:txBody>
          <a:bodyPr/>
          <a:lstStyle/>
          <a:p>
            <a:fld id="{A98399F2-4B7C-4808-8B27-A13C76E6A9FD}" type="slidenum">
              <a:rPr lang="zh-TW" altLang="en-US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23</a:t>
            </a:fld>
            <a:endParaRPr lang="zh-TW" altLang="en-US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E5057707-2AFD-5ECF-3C7B-7A61B5E57DB8}"/>
              </a:ext>
            </a:extLst>
          </p:cNvPr>
          <p:cNvSpPr/>
          <p:nvPr/>
        </p:nvSpPr>
        <p:spPr>
          <a:xfrm>
            <a:off x="347472" y="274320"/>
            <a:ext cx="3060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E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Part</a:t>
            </a:r>
            <a:r>
              <a:rPr lang="zh-TW" altLang="en-US" b="1" dirty="0">
                <a:solidFill>
                  <a:srgbClr val="1B2E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 </a:t>
            </a:r>
            <a:r>
              <a:rPr lang="en-US" b="1" dirty="0">
                <a:solidFill>
                  <a:srgbClr val="1B2E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4: Experimental Results</a:t>
            </a: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8C06934D-368C-941F-BEA3-A2C9E3BCBFD8}"/>
              </a:ext>
            </a:extLst>
          </p:cNvPr>
          <p:cNvSpPr/>
          <p:nvPr/>
        </p:nvSpPr>
        <p:spPr>
          <a:xfrm>
            <a:off x="347470" y="505450"/>
            <a:ext cx="93735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Ablation Study — Generative Quality</a:t>
            </a: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058BC9D9-F6D8-01A6-E828-4EC70375FC2B}"/>
              </a:ext>
            </a:extLst>
          </p:cNvPr>
          <p:cNvSpPr/>
          <p:nvPr/>
        </p:nvSpPr>
        <p:spPr>
          <a:xfrm>
            <a:off x="347472" y="749808"/>
            <a:ext cx="11475720" cy="0"/>
          </a:xfrm>
          <a:prstGeom prst="line">
            <a:avLst/>
          </a:prstGeom>
          <a:noFill/>
          <a:ln w="12700">
            <a:solidFill>
              <a:srgbClr val="C8D6D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C516F482-FC5B-69AB-595E-3D7730AD82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6719273"/>
              </p:ext>
            </p:extLst>
          </p:nvPr>
        </p:nvGraphicFramePr>
        <p:xfrm>
          <a:off x="347470" y="1063987"/>
          <a:ext cx="7020997" cy="5251987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2013990">
                  <a:extLst>
                    <a:ext uri="{9D8B030D-6E8A-4147-A177-3AD203B41FA5}">
                      <a16:colId xmlns:a16="http://schemas.microsoft.com/office/drawing/2014/main" val="2880323015"/>
                    </a:ext>
                  </a:extLst>
                </a:gridCol>
                <a:gridCol w="1589103">
                  <a:extLst>
                    <a:ext uri="{9D8B030D-6E8A-4147-A177-3AD203B41FA5}">
                      <a16:colId xmlns:a16="http://schemas.microsoft.com/office/drawing/2014/main" val="3421584875"/>
                    </a:ext>
                  </a:extLst>
                </a:gridCol>
                <a:gridCol w="1633491">
                  <a:extLst>
                    <a:ext uri="{9D8B030D-6E8A-4147-A177-3AD203B41FA5}">
                      <a16:colId xmlns:a16="http://schemas.microsoft.com/office/drawing/2014/main" val="1184110547"/>
                    </a:ext>
                  </a:extLst>
                </a:gridCol>
                <a:gridCol w="1784413">
                  <a:extLst>
                    <a:ext uri="{9D8B030D-6E8A-4147-A177-3AD203B41FA5}">
                      <a16:colId xmlns:a16="http://schemas.microsoft.com/office/drawing/2014/main" val="3781708433"/>
                    </a:ext>
                  </a:extLst>
                </a:gridCol>
              </a:tblGrid>
              <a:tr h="4039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/>
                        <a:t>Setting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800" dirty="0"/>
                        <a:t>Generative </a:t>
                      </a:r>
                      <a:r>
                        <a:rPr lang="en-US" sz="1800" dirty="0"/>
                        <a:t>PPL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/>
                        <a:t>Entropy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/>
                        <a:t>4-gram repetition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57095099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/>
                        <a:t>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83.8285 ± 5.1409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7.4068 ± 0.0461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0.0119 ± 0.0097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4165766225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S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=1.0,</a:t>
                      </a:r>
                      <a:r>
                        <a:rPr lang="el-GR" altLang="zh-TW" sz="1600" dirty="0">
                          <a:latin typeface="+mn-lt"/>
                        </a:rPr>
                        <a:t> τ</a:t>
                      </a:r>
                      <a:r>
                        <a:rPr lang="en-US" altLang="zh-TW" sz="1600" dirty="0">
                          <a:latin typeface="+mn-lt"/>
                        </a:rPr>
                        <a:t>=0.0, </a:t>
                      </a:r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L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=0.0</a:t>
                      </a:r>
                      <a:endParaRPr lang="en-US" altLang="zh-TW" sz="1600" baseline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68.0596 ± 4.5760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7.3141 ± 0.0519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0.0193 ± 0.0154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1088568622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S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=1.0,</a:t>
                      </a:r>
                      <a:r>
                        <a:rPr lang="el-GR" altLang="zh-TW" sz="1600" dirty="0">
                          <a:latin typeface="+mn-lt"/>
                        </a:rPr>
                        <a:t> τ</a:t>
                      </a:r>
                      <a:r>
                        <a:rPr lang="en-US" altLang="zh-TW" sz="1600" dirty="0">
                          <a:latin typeface="+mn-lt"/>
                        </a:rPr>
                        <a:t>=0.3, </a:t>
                      </a:r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L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=0.0</a:t>
                      </a:r>
                      <a:endParaRPr lang="en-US" altLang="zh-TW" sz="1600" baseline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48.4875 ± 1.2280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7.1184 ± 0.0336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0.0183 ± 0.0055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3427155248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S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=1.0,</a:t>
                      </a:r>
                      <a:r>
                        <a:rPr lang="el-GR" altLang="zh-TW" sz="1600" dirty="0">
                          <a:latin typeface="+mn-lt"/>
                        </a:rPr>
                        <a:t> τ</a:t>
                      </a:r>
                      <a:r>
                        <a:rPr lang="en-US" altLang="zh-TW" sz="1600" dirty="0">
                          <a:latin typeface="+mn-lt"/>
                        </a:rPr>
                        <a:t>=0.6, </a:t>
                      </a:r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L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=0.0</a:t>
                      </a:r>
                      <a:endParaRPr lang="en-US" altLang="zh-TW" sz="1600" baseline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28.2332 ± 1.2754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6.7789 ± 0.0178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0.0393 ± 0.0080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678960123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S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=1.5,</a:t>
                      </a:r>
                      <a:r>
                        <a:rPr lang="el-GR" altLang="zh-TW" sz="1600" dirty="0">
                          <a:latin typeface="+mn-lt"/>
                        </a:rPr>
                        <a:t> τ</a:t>
                      </a:r>
                      <a:r>
                        <a:rPr lang="en-US" altLang="zh-TW" sz="1600" dirty="0">
                          <a:latin typeface="+mn-lt"/>
                        </a:rPr>
                        <a:t>=0.3, </a:t>
                      </a:r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L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=0.0</a:t>
                      </a:r>
                      <a:endParaRPr lang="en-US" altLang="zh-TW" sz="1600" baseline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31.8082 ± 0.4503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6.8248 ± 0.0353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0.0485 ± 0.0159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1531699260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S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=0.5,</a:t>
                      </a:r>
                      <a:r>
                        <a:rPr lang="el-GR" altLang="zh-TW" sz="1600" dirty="0">
                          <a:latin typeface="+mn-lt"/>
                        </a:rPr>
                        <a:t> τ</a:t>
                      </a:r>
                      <a:r>
                        <a:rPr lang="en-US" altLang="zh-TW" sz="1600" dirty="0">
                          <a:latin typeface="+mn-lt"/>
                        </a:rPr>
                        <a:t>=0.3, </a:t>
                      </a:r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L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=0.0</a:t>
                      </a:r>
                      <a:endParaRPr lang="en-US" altLang="zh-TW" sz="1600" baseline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52.7654 ± 2.2732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7.1490 ± 0.0335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0.0323 ± 0.0169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318103260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S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=0.0,</a:t>
                      </a:r>
                      <a:r>
                        <a:rPr lang="el-GR" altLang="zh-TW" sz="1600" dirty="0">
                          <a:latin typeface="+mn-lt"/>
                        </a:rPr>
                        <a:t> τ</a:t>
                      </a:r>
                      <a:r>
                        <a:rPr lang="en-US" altLang="zh-TW" sz="1600" dirty="0">
                          <a:latin typeface="+mn-lt"/>
                        </a:rPr>
                        <a:t>=0.0, </a:t>
                      </a:r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L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=0.5</a:t>
                      </a:r>
                      <a:endParaRPr lang="en-US" altLang="zh-TW" sz="1600" baseline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26.2091 ± 1.5675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6.8576 ± 0.0374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0.0555 ± 0.0204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1441213913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S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=0.0,</a:t>
                      </a:r>
                      <a:r>
                        <a:rPr lang="el-GR" altLang="zh-TW" sz="1600" dirty="0">
                          <a:latin typeface="+mn-lt"/>
                        </a:rPr>
                        <a:t> τ</a:t>
                      </a:r>
                      <a:r>
                        <a:rPr lang="en-US" altLang="zh-TW" sz="1600" dirty="0">
                          <a:latin typeface="+mn-lt"/>
                        </a:rPr>
                        <a:t>=0.0, </a:t>
                      </a:r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L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=1.0</a:t>
                      </a:r>
                      <a:endParaRPr lang="en-US" altLang="zh-TW" sz="1600" baseline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24.0955 ± 3.2440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6.7935 ± 0.0828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0.0657 ± 0.0388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1591432723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S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=0.0,</a:t>
                      </a:r>
                      <a:r>
                        <a:rPr lang="el-GR" altLang="zh-TW" sz="1600" dirty="0">
                          <a:latin typeface="+mn-lt"/>
                        </a:rPr>
                        <a:t> τ</a:t>
                      </a:r>
                      <a:r>
                        <a:rPr lang="en-US" altLang="zh-TW" sz="1600" dirty="0">
                          <a:latin typeface="+mn-lt"/>
                        </a:rPr>
                        <a:t>=0.0, </a:t>
                      </a:r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L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=1.5</a:t>
                      </a:r>
                      <a:endParaRPr lang="en-US" altLang="zh-TW" sz="1600" baseline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29.9033 ± 0.5373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6.8644 ± 0.0249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b="0" dirty="0">
                          <a:solidFill>
                            <a:schemeClr val="tx1"/>
                          </a:solidFill>
                        </a:rPr>
                        <a:t>0.0215 ± 0.0049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1309331485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S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=1.0,</a:t>
                      </a:r>
                      <a:r>
                        <a:rPr lang="el-GR" altLang="zh-TW" sz="1600" dirty="0">
                          <a:latin typeface="+mn-lt"/>
                        </a:rPr>
                        <a:t> τ</a:t>
                      </a:r>
                      <a:r>
                        <a:rPr lang="en-US" altLang="zh-TW" sz="1600" dirty="0">
                          <a:latin typeface="+mn-lt"/>
                        </a:rPr>
                        <a:t>=0.3, </a:t>
                      </a:r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L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=0.5</a:t>
                      </a:r>
                      <a:endParaRPr lang="en-US" altLang="zh-TW" sz="1600" baseline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b="1" dirty="0">
                          <a:solidFill>
                            <a:schemeClr val="tx1"/>
                          </a:solidFill>
                        </a:rPr>
                        <a:t>21.4788 ± 0.0773</a:t>
                      </a:r>
                      <a:endParaRPr lang="zh-TW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b="0" dirty="0">
                          <a:solidFill>
                            <a:schemeClr val="tx1"/>
                          </a:solidFill>
                        </a:rPr>
                        <a:t>6.6876 ± 0.0421</a:t>
                      </a:r>
                      <a:endParaRPr lang="zh-TW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0.0720 ± 0.0062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3663042970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S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=1.0,</a:t>
                      </a:r>
                      <a:r>
                        <a:rPr lang="el-GR" altLang="zh-TW" sz="1600" dirty="0">
                          <a:latin typeface="+mn-lt"/>
                        </a:rPr>
                        <a:t> τ</a:t>
                      </a:r>
                      <a:r>
                        <a:rPr lang="en-US" altLang="zh-TW" sz="1600" dirty="0">
                          <a:latin typeface="+mn-lt"/>
                        </a:rPr>
                        <a:t>=0.3, </a:t>
                      </a:r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L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=1.0</a:t>
                      </a:r>
                      <a:endParaRPr lang="en-US" altLang="zh-TW" sz="1600" baseline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26.3414 ± 0.3656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6.7567 ± 0.0016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0.0460 ± 0.0160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3253892573"/>
                  </a:ext>
                </a:extLst>
              </a:tr>
              <a:tr h="40399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S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=1.5,</a:t>
                      </a:r>
                      <a:r>
                        <a:rPr lang="el-GR" altLang="zh-TW" sz="1600" dirty="0">
                          <a:latin typeface="+mn-lt"/>
                        </a:rPr>
                        <a:t> τ</a:t>
                      </a:r>
                      <a:r>
                        <a:rPr lang="en-US" altLang="zh-TW" sz="1600" dirty="0">
                          <a:latin typeface="+mn-lt"/>
                        </a:rPr>
                        <a:t>=0.3, </a:t>
                      </a:r>
                      <a:r>
                        <a:rPr lang="en-US" altLang="zh-TW" sz="1600" dirty="0">
                          <a:latin typeface="+mn-lt"/>
                          <a:ea typeface="微軟正黑體" panose="020B0604030504040204" pitchFamily="34" charset="-120"/>
                        </a:rPr>
                        <a:t>L</a:t>
                      </a:r>
                      <a:r>
                        <a:rPr lang="en-US" altLang="zh-TW" sz="1600" baseline="-25000" dirty="0">
                          <a:latin typeface="+mn-lt"/>
                          <a:ea typeface="微軟正黑體" panose="020B0604030504040204" pitchFamily="34" charset="-120"/>
                        </a:rPr>
                        <a:t>W</a:t>
                      </a:r>
                      <a:r>
                        <a:rPr lang="en-US" altLang="zh-TW" sz="1600" baseline="0" dirty="0">
                          <a:latin typeface="+mn-lt"/>
                          <a:ea typeface="微軟正黑體" panose="020B0604030504040204" pitchFamily="34" charset="-120"/>
                        </a:rPr>
                        <a:t>=1.0</a:t>
                      </a:r>
                      <a:endParaRPr lang="en-US" altLang="zh-TW" sz="1600" baseline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25.7832 ± 1.6338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6.7177 ± 0.0455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600" dirty="0"/>
                        <a:t>0.0453 ± 0.0197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2083154564"/>
                  </a:ext>
                </a:extLst>
              </a:tr>
            </a:tbl>
          </a:graphicData>
        </a:graphic>
      </p:graphicFrame>
      <p:sp>
        <p:nvSpPr>
          <p:cNvPr id="11" name="文字方塊 10">
            <a:extLst>
              <a:ext uri="{FF2B5EF4-FFF2-40B4-BE49-F238E27FC236}">
                <a16:creationId xmlns:a16="http://schemas.microsoft.com/office/drawing/2014/main" id="{2EBAF181-8C61-1DC0-AE74-09A0F83D3663}"/>
              </a:ext>
            </a:extLst>
          </p:cNvPr>
          <p:cNvSpPr txBox="1"/>
          <p:nvPr/>
        </p:nvSpPr>
        <p:spPr>
          <a:xfrm>
            <a:off x="285326" y="747141"/>
            <a:ext cx="109715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Let S</a:t>
            </a:r>
            <a:r>
              <a:rPr lang="en-US" altLang="zh-TW" sz="1600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</a:t>
            </a:r>
            <a:r>
              <a:rPr lang="el-GR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τ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, and L</a:t>
            </a:r>
            <a:r>
              <a:rPr lang="en-US" altLang="zh-TW" sz="1600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denote the SDC term weight, confidence threshold, and LCM term weight, respectively.</a:t>
            </a:r>
            <a:endParaRPr lang="zh-TW" alt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063CE1AD-3B9C-58B4-C1AC-C8E97F22BE81}"/>
              </a:ext>
            </a:extLst>
          </p:cNvPr>
          <p:cNvSpPr txBox="1"/>
          <p:nvPr/>
        </p:nvSpPr>
        <p:spPr>
          <a:xfrm>
            <a:off x="9448800" y="461072"/>
            <a:ext cx="25538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Model trained on 1B tokens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EE2D2E5A-5E54-C872-15B4-CC51DC4FB6A0}"/>
              </a:ext>
            </a:extLst>
          </p:cNvPr>
          <p:cNvSpPr txBox="1"/>
          <p:nvPr/>
        </p:nvSpPr>
        <p:spPr>
          <a:xfrm>
            <a:off x="7368772" y="4139830"/>
            <a:ext cx="482322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Observation</a:t>
            </a:r>
          </a:p>
          <a:p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所有加入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consistency loss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的設定皆呈現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entropy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下降與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4-gram repetition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上升的趨勢。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不同超參數設定在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Generative PPL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entropy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與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4-gram repetition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之間呈現明顯的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trade-off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。例如，</a:t>
            </a:r>
            <a:r>
              <a:rPr lang="en-US" altLang="zh-TW" sz="1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S</a:t>
            </a:r>
            <a:r>
              <a:rPr lang="en-US" altLang="zh-TW" sz="1400" baseline="-25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w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=1.0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l-GR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τ=0.3</a:t>
            </a:r>
            <a:r>
              <a:rPr lang="zh-TW" altLang="el-GR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</a:t>
            </a:r>
            <a:r>
              <a:rPr lang="en-US" altLang="zh-TW" sz="1400" baseline="-25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=0.5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可取得最低的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Generative PPL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，但同時具有最高的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4-gram repetition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354904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26F5FCB1-3475-E4BA-5198-CE191C6D1F0B}"/>
              </a:ext>
            </a:extLst>
          </p:cNvPr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5B839B"/>
          </a:solidFill>
          <a:ln w="12700">
            <a:solidFill>
              <a:srgbClr val="5B839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EC1383D0-CD29-D65E-A8FE-68FD8CC6E38F}"/>
              </a:ext>
            </a:extLst>
          </p:cNvPr>
          <p:cNvSpPr/>
          <p:nvPr/>
        </p:nvSpPr>
        <p:spPr>
          <a:xfrm>
            <a:off x="0" y="2496312"/>
            <a:ext cx="12191695" cy="676656"/>
          </a:xfrm>
          <a:prstGeom prst="rect">
            <a:avLst/>
          </a:prstGeom>
          <a:solidFill>
            <a:srgbClr val="5B839B"/>
          </a:solidFill>
          <a:ln w="12700">
            <a:solidFill>
              <a:srgbClr val="5B839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988930A7-81CB-E995-9864-0C85E29BD516}"/>
              </a:ext>
            </a:extLst>
          </p:cNvPr>
          <p:cNvSpPr/>
          <p:nvPr/>
        </p:nvSpPr>
        <p:spPr>
          <a:xfrm>
            <a:off x="457200" y="2660904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Conclusion</a:t>
            </a:r>
            <a:endParaRPr lang="en-US" sz="20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0F1F236-566A-4CC2-2393-FDDC62B64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495" y="6611112"/>
            <a:ext cx="2743200" cy="246888"/>
          </a:xfrm>
        </p:spPr>
        <p:txBody>
          <a:bodyPr/>
          <a:lstStyle/>
          <a:p>
            <a:fld id="{A98399F2-4B7C-4808-8B27-A13C76E6A9FD}" type="slidenum">
              <a:rPr lang="zh-TW" altLang="en-US" smtClean="0">
                <a:solidFill>
                  <a:schemeClr val="bg1"/>
                </a:solidFill>
              </a:rPr>
              <a:t>24</a:t>
            </a:fld>
            <a:endParaRPr lang="zh-TW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26680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EEC64776-2E99-B6FB-5C8F-03197BC0449E}"/>
              </a:ext>
            </a:extLst>
          </p:cNvPr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5B839B"/>
          </a:solidFill>
          <a:ln w="12700">
            <a:solidFill>
              <a:srgbClr val="5B839B"/>
            </a:solidFill>
            <a:prstDash val="solid"/>
          </a:ln>
        </p:spPr>
        <p:txBody>
          <a:bodyPr/>
          <a:lstStyle/>
          <a:p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DC6B1835-635C-4F80-612E-FCCFC22A546E}"/>
              </a:ext>
            </a:extLst>
          </p:cNvPr>
          <p:cNvSpPr/>
          <p:nvPr/>
        </p:nvSpPr>
        <p:spPr>
          <a:xfrm>
            <a:off x="347472" y="27432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E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Part</a:t>
            </a:r>
            <a:r>
              <a:rPr lang="zh-TW" altLang="en-US" b="1" dirty="0">
                <a:solidFill>
                  <a:srgbClr val="1B2E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 </a:t>
            </a:r>
            <a:r>
              <a:rPr lang="en-US" b="1" dirty="0">
                <a:solidFill>
                  <a:srgbClr val="1B2E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5: Conclusion</a:t>
            </a:r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30F11580-A42C-EDDD-3705-F11B9F2BFFC0}"/>
              </a:ext>
            </a:extLst>
          </p:cNvPr>
          <p:cNvSpPr/>
          <p:nvPr/>
        </p:nvSpPr>
        <p:spPr>
          <a:xfrm>
            <a:off x="347472" y="45720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0707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Conclusion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C1BC89B1-DB69-B3D6-A0EB-269DB6465C26}"/>
              </a:ext>
            </a:extLst>
          </p:cNvPr>
          <p:cNvSpPr/>
          <p:nvPr/>
        </p:nvSpPr>
        <p:spPr>
          <a:xfrm>
            <a:off x="347472" y="749808"/>
            <a:ext cx="11475720" cy="0"/>
          </a:xfrm>
          <a:prstGeom prst="line">
            <a:avLst/>
          </a:prstGeom>
          <a:noFill/>
          <a:ln w="12700">
            <a:solidFill>
              <a:srgbClr val="C8D6D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03D1EFE5-CCE9-4DDD-3723-0D96BBF83B00}"/>
              </a:ext>
            </a:extLst>
          </p:cNvPr>
          <p:cNvSpPr/>
          <p:nvPr/>
        </p:nvSpPr>
        <p:spPr>
          <a:xfrm>
            <a:off x="347472" y="4892040"/>
            <a:ext cx="11475720" cy="502920"/>
          </a:xfrm>
          <a:prstGeom prst="rect">
            <a:avLst/>
          </a:prstGeom>
          <a:noFill/>
          <a:ln>
            <a:noFill/>
          </a:ln>
        </p:spPr>
        <p:txBody>
          <a:bodyPr wrap="square" lIns="1143" tIns="1143" rIns="1143" bIns="1143" rtlCol="0" anchor="ctr">
            <a:normAutofit/>
          </a:bodyPr>
          <a:lstStyle/>
          <a:p>
            <a:r>
              <a:rPr 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Consistency-based training </a:t>
            </a: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透過強化各 </a:t>
            </a:r>
            <a:r>
              <a:rPr 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prediction heads </a:t>
            </a: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之間的一致性，改善各 </a:t>
            </a:r>
            <a:r>
              <a:rPr lang="en-US" altLang="zh-TW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head</a:t>
            </a: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的最佳化效果，進而提升 </a:t>
            </a:r>
            <a:r>
              <a:rPr 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MTP </a:t>
            </a: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 </a:t>
            </a:r>
            <a:r>
              <a:rPr 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block decoding</a:t>
            </a:r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的穩定性。</a:t>
            </a:r>
            <a:endParaRPr lang="en-US" sz="16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E3128151-E7C4-035C-451C-1BBB0D1B31F6}"/>
              </a:ext>
            </a:extLst>
          </p:cNvPr>
          <p:cNvSpPr txBox="1"/>
          <p:nvPr/>
        </p:nvSpPr>
        <p:spPr>
          <a:xfrm>
            <a:off x="347472" y="1965960"/>
            <a:ext cx="1132701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本研究在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MTP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架構中加入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SDC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與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LCM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，並在不改變模型架構的情況下改善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prediction heads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的預測品質。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在正式的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1.3B model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實驗中，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SDC+LCM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使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Heads 1–4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PPL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全面下降，其中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Head 4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的降幅最大，達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5.89%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Average Draft Tokens Accepted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從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0.7010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提升至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0.7302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，顯示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self-speculative decoding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能夠接受更多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draft tokens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Generative PPL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從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39.5580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大幅降低至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18.7180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，為主要正向評估指標中改善幅度最大的一項。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4C3F506-AED1-581F-6918-6B50B8911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495" y="6611112"/>
            <a:ext cx="2743200" cy="246888"/>
          </a:xfrm>
        </p:spPr>
        <p:txBody>
          <a:bodyPr/>
          <a:lstStyle/>
          <a:p>
            <a:fld id="{A98399F2-4B7C-4808-8B27-A13C76E6A9FD}" type="slidenum">
              <a:rPr lang="zh-TW" altLang="en-US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25</a:t>
            </a:fld>
            <a:endParaRPr lang="zh-TW" altLang="en-US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429643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42712DEE-27B9-6692-6665-C0F059ACF557}"/>
              </a:ext>
            </a:extLst>
          </p:cNvPr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5B839B"/>
          </a:solidFill>
          <a:ln w="12700">
            <a:solidFill>
              <a:srgbClr val="5B839B"/>
            </a:solidFill>
            <a:prstDash val="solid"/>
          </a:ln>
        </p:spPr>
        <p:txBody>
          <a:bodyPr/>
          <a:lstStyle/>
          <a:p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A995A56-FEA0-A053-1F22-D9D3B3A39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495" y="6611112"/>
            <a:ext cx="2743200" cy="246888"/>
          </a:xfrm>
        </p:spPr>
        <p:txBody>
          <a:bodyPr/>
          <a:lstStyle/>
          <a:p>
            <a:fld id="{A98399F2-4B7C-4808-8B27-A13C76E6A9FD}" type="slidenum">
              <a:rPr lang="zh-TW" altLang="en-US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26</a:t>
            </a:fld>
            <a:endParaRPr lang="zh-TW" altLang="en-US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5F26F63F-8532-04F1-9964-112805509495}"/>
              </a:ext>
            </a:extLst>
          </p:cNvPr>
          <p:cNvSpPr/>
          <p:nvPr/>
        </p:nvSpPr>
        <p:spPr>
          <a:xfrm>
            <a:off x="347472" y="27432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E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Part</a:t>
            </a:r>
            <a:r>
              <a:rPr lang="zh-TW" altLang="en-US" b="1" dirty="0">
                <a:solidFill>
                  <a:srgbClr val="1B2E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 </a:t>
            </a:r>
            <a:r>
              <a:rPr lang="en-US" b="1" dirty="0">
                <a:solidFill>
                  <a:srgbClr val="1B2E3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5: Conclusion</a:t>
            </a:r>
            <a:endParaRPr 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A7E00D96-A7C5-FCFC-DAE8-B4ADA238E429}"/>
              </a:ext>
            </a:extLst>
          </p:cNvPr>
          <p:cNvSpPr/>
          <p:nvPr/>
        </p:nvSpPr>
        <p:spPr>
          <a:xfrm>
            <a:off x="347472" y="457200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0707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Noto Sans CJK TC" pitchFamily="34" charset="-120"/>
              </a:rPr>
              <a:t>Future Work</a:t>
            </a:r>
            <a:endParaRPr lang="en-US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8179D505-56D0-6892-BD03-000F5B5A3F3F}"/>
              </a:ext>
            </a:extLst>
          </p:cNvPr>
          <p:cNvSpPr/>
          <p:nvPr/>
        </p:nvSpPr>
        <p:spPr>
          <a:xfrm>
            <a:off x="347472" y="749808"/>
            <a:ext cx="11475720" cy="0"/>
          </a:xfrm>
          <a:prstGeom prst="line">
            <a:avLst/>
          </a:prstGeom>
          <a:noFill/>
          <a:ln w="12700">
            <a:solidFill>
              <a:srgbClr val="C8D6D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D7ABAA1D-76A5-0413-D261-1B18BAF75060}"/>
              </a:ext>
            </a:extLst>
          </p:cNvPr>
          <p:cNvSpPr txBox="1"/>
          <p:nvPr/>
        </p:nvSpPr>
        <p:spPr>
          <a:xfrm>
            <a:off x="905877" y="1965960"/>
            <a:ext cx="1076861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進一步測試不同的模型規模、更大的訓練資料量，以及更多元的資料集。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進行後續訓練，包括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continued pre-training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與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supervised fine-tuning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SFT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）。</a:t>
            </a:r>
            <a:endParaRPr lang="en-US" altLang="zh-TW" sz="1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在擴大訓練資料量後，進一步實作完整的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greedy self-speculative decoding pipeline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，並比較實際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speed-up 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與 </a:t>
            </a:r>
            <a:r>
              <a:rPr lang="en-US" altLang="zh-TW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oracle upper bound</a:t>
            </a:r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5159576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541</TotalTime>
  <Words>3312</Words>
  <Application>Microsoft Office PowerPoint</Application>
  <PresentationFormat>寬螢幕</PresentationFormat>
  <Paragraphs>614</Paragraphs>
  <Slides>26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26</vt:i4>
      </vt:variant>
    </vt:vector>
  </HeadingPairs>
  <TitlesOfParts>
    <vt:vector size="33" baseType="lpstr">
      <vt:lpstr>Noto Sans CJK TC</vt:lpstr>
      <vt:lpstr>微軟正黑體</vt:lpstr>
      <vt:lpstr>Arial</vt:lpstr>
      <vt:lpstr>Calibri</vt:lpstr>
      <vt:lpstr>Calibri Light</vt:lpstr>
      <vt:lpstr>Cambria Math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陳 九龍</dc:creator>
  <cp:lastModifiedBy>陳 九龍</cp:lastModifiedBy>
  <cp:revision>414</cp:revision>
  <dcterms:created xsi:type="dcterms:W3CDTF">2026-07-31T02:55:52Z</dcterms:created>
  <dcterms:modified xsi:type="dcterms:W3CDTF">2026-08-03T13:47:24Z</dcterms:modified>
</cp:coreProperties>
</file>